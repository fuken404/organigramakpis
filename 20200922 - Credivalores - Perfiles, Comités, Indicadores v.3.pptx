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tiff" ContentType="image/tiff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theme/themeOverride1.xml" ContentType="application/vnd.openxmlformats-officedocument.themeOverr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notesSlides/notesSlide24.xml" ContentType="application/vnd.openxmlformats-officedocument.presentationml.notesSlide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theme/themeOverride3.xml" ContentType="application/vnd.openxmlformats-officedocument.themeOverride+xml"/>
  <Override PartName="/ppt/charts/chart69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theme/themeOverride4.xml" ContentType="application/vnd.openxmlformats-officedocument.themeOverr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88" r:id="rId4"/>
  </p:sldMasterIdLst>
  <p:notesMasterIdLst>
    <p:notesMasterId r:id="rId237"/>
  </p:notesMasterIdLst>
  <p:handoutMasterIdLst>
    <p:handoutMasterId r:id="rId238"/>
  </p:handoutMasterIdLst>
  <p:sldIdLst>
    <p:sldId id="295" r:id="rId5"/>
    <p:sldId id="4413" r:id="rId6"/>
    <p:sldId id="4444" r:id="rId7"/>
    <p:sldId id="4451" r:id="rId8"/>
    <p:sldId id="4432" r:id="rId9"/>
    <p:sldId id="4436" r:id="rId10"/>
    <p:sldId id="4435" r:id="rId11"/>
    <p:sldId id="4437" r:id="rId12"/>
    <p:sldId id="4439" r:id="rId13"/>
    <p:sldId id="4440" r:id="rId14"/>
    <p:sldId id="4438" r:id="rId15"/>
    <p:sldId id="4442" r:id="rId16"/>
    <p:sldId id="4443" r:id="rId17"/>
    <p:sldId id="1547" r:id="rId18"/>
    <p:sldId id="4305" r:id="rId19"/>
    <p:sldId id="4307" r:id="rId20"/>
    <p:sldId id="4308" r:id="rId21"/>
    <p:sldId id="1529" r:id="rId22"/>
    <p:sldId id="1549" r:id="rId23"/>
    <p:sldId id="4306" r:id="rId24"/>
    <p:sldId id="4287" r:id="rId25"/>
    <p:sldId id="4309" r:id="rId26"/>
    <p:sldId id="4288" r:id="rId27"/>
    <p:sldId id="4310" r:id="rId28"/>
    <p:sldId id="4289" r:id="rId29"/>
    <p:sldId id="1542" r:id="rId30"/>
    <p:sldId id="4321" r:id="rId31"/>
    <p:sldId id="4322" r:id="rId32"/>
    <p:sldId id="4323" r:id="rId33"/>
    <p:sldId id="4324" r:id="rId34"/>
    <p:sldId id="1546" r:id="rId35"/>
    <p:sldId id="4325" r:id="rId36"/>
    <p:sldId id="4330" r:id="rId37"/>
    <p:sldId id="1537" r:id="rId38"/>
    <p:sldId id="4315" r:id="rId39"/>
    <p:sldId id="4297" r:id="rId40"/>
    <p:sldId id="4314" r:id="rId41"/>
    <p:sldId id="4333" r:id="rId42"/>
    <p:sldId id="4313" r:id="rId43"/>
    <p:sldId id="4317" r:id="rId44"/>
    <p:sldId id="4320" r:id="rId45"/>
    <p:sldId id="4319" r:id="rId46"/>
    <p:sldId id="1539" r:id="rId47"/>
    <p:sldId id="1550" r:id="rId48"/>
    <p:sldId id="4291" r:id="rId49"/>
    <p:sldId id="4293" r:id="rId50"/>
    <p:sldId id="4292" r:id="rId51"/>
    <p:sldId id="4328" r:id="rId52"/>
    <p:sldId id="4329" r:id="rId53"/>
    <p:sldId id="4294" r:id="rId54"/>
    <p:sldId id="4326" r:id="rId55"/>
    <p:sldId id="1540" r:id="rId56"/>
    <p:sldId id="4331" r:id="rId57"/>
    <p:sldId id="4332" r:id="rId58"/>
    <p:sldId id="1538" r:id="rId59"/>
    <p:sldId id="4286" r:id="rId60"/>
    <p:sldId id="4300" r:id="rId61"/>
    <p:sldId id="4298" r:id="rId62"/>
    <p:sldId id="4296" r:id="rId63"/>
    <p:sldId id="4299" r:id="rId64"/>
    <p:sldId id="1528" r:id="rId65"/>
    <p:sldId id="1535" r:id="rId66"/>
    <p:sldId id="4304" r:id="rId67"/>
    <p:sldId id="4303" r:id="rId68"/>
    <p:sldId id="4301" r:id="rId69"/>
    <p:sldId id="1531" r:id="rId70"/>
    <p:sldId id="4445" r:id="rId71"/>
    <p:sldId id="4302" r:id="rId72"/>
    <p:sldId id="1544" r:id="rId73"/>
    <p:sldId id="4446" r:id="rId74"/>
    <p:sldId id="4414" r:id="rId75"/>
    <p:sldId id="4341" r:id="rId76"/>
    <p:sldId id="4337" r:id="rId77"/>
    <p:sldId id="4520" r:id="rId78"/>
    <p:sldId id="4327" r:id="rId79"/>
    <p:sldId id="4415" r:id="rId80"/>
    <p:sldId id="4336" r:id="rId81"/>
    <p:sldId id="4335" r:id="rId82"/>
    <p:sldId id="4374" r:id="rId83"/>
    <p:sldId id="4429" r:id="rId84"/>
    <p:sldId id="4338" r:id="rId85"/>
    <p:sldId id="4339" r:id="rId86"/>
    <p:sldId id="4373" r:id="rId87"/>
    <p:sldId id="4447" r:id="rId88"/>
    <p:sldId id="4430" r:id="rId89"/>
    <p:sldId id="4431" r:id="rId90"/>
    <p:sldId id="4334" r:id="rId91"/>
    <p:sldId id="4371" r:id="rId92"/>
    <p:sldId id="4372" r:id="rId93"/>
    <p:sldId id="1180" r:id="rId94"/>
    <p:sldId id="4448" r:id="rId95"/>
    <p:sldId id="307" r:id="rId96"/>
    <p:sldId id="1073" r:id="rId97"/>
    <p:sldId id="1072" r:id="rId98"/>
    <p:sldId id="309" r:id="rId99"/>
    <p:sldId id="4117" r:id="rId100"/>
    <p:sldId id="4076" r:id="rId101"/>
    <p:sldId id="4077" r:id="rId102"/>
    <p:sldId id="4078" r:id="rId103"/>
    <p:sldId id="4079" r:id="rId104"/>
    <p:sldId id="4081" r:id="rId105"/>
    <p:sldId id="4080" r:id="rId106"/>
    <p:sldId id="4082" r:id="rId107"/>
    <p:sldId id="4452" r:id="rId108"/>
    <p:sldId id="4089" r:id="rId109"/>
    <p:sldId id="4115" r:id="rId110"/>
    <p:sldId id="4088" r:id="rId111"/>
    <p:sldId id="4083" r:id="rId112"/>
    <p:sldId id="4085" r:id="rId113"/>
    <p:sldId id="4095" r:id="rId114"/>
    <p:sldId id="4096" r:id="rId115"/>
    <p:sldId id="4091" r:id="rId116"/>
    <p:sldId id="4092" r:id="rId117"/>
    <p:sldId id="4086" r:id="rId118"/>
    <p:sldId id="4098" r:id="rId119"/>
    <p:sldId id="4103" r:id="rId120"/>
    <p:sldId id="4104" r:id="rId121"/>
    <p:sldId id="4110" r:id="rId122"/>
    <p:sldId id="4454" r:id="rId123"/>
    <p:sldId id="4097" r:id="rId124"/>
    <p:sldId id="4101" r:id="rId125"/>
    <p:sldId id="4100" r:id="rId126"/>
    <p:sldId id="4102" r:id="rId127"/>
    <p:sldId id="4107" r:id="rId128"/>
    <p:sldId id="4109" r:id="rId129"/>
    <p:sldId id="4108" r:id="rId130"/>
    <p:sldId id="4112" r:id="rId131"/>
    <p:sldId id="4113" r:id="rId132"/>
    <p:sldId id="4122" r:id="rId133"/>
    <p:sldId id="4469" r:id="rId134"/>
    <p:sldId id="4124" r:id="rId135"/>
    <p:sldId id="4126" r:id="rId136"/>
    <p:sldId id="4093" r:id="rId137"/>
    <p:sldId id="4137" r:id="rId138"/>
    <p:sldId id="4455" r:id="rId139"/>
    <p:sldId id="4121" r:id="rId140"/>
    <p:sldId id="4123" r:id="rId141"/>
    <p:sldId id="4457" r:id="rId142"/>
    <p:sldId id="4105" r:id="rId143"/>
    <p:sldId id="4116" r:id="rId144"/>
    <p:sldId id="4111" r:id="rId145"/>
    <p:sldId id="4135" r:id="rId146"/>
    <p:sldId id="4130" r:id="rId147"/>
    <p:sldId id="4138" r:id="rId148"/>
    <p:sldId id="4136" r:id="rId149"/>
    <p:sldId id="4460" r:id="rId150"/>
    <p:sldId id="4139" r:id="rId151"/>
    <p:sldId id="4140" r:id="rId152"/>
    <p:sldId id="4120" r:id="rId153"/>
    <p:sldId id="4134" r:id="rId154"/>
    <p:sldId id="4133" r:id="rId155"/>
    <p:sldId id="4119" r:id="rId156"/>
    <p:sldId id="4118" r:id="rId157"/>
    <p:sldId id="4128" r:id="rId158"/>
    <p:sldId id="4127" r:id="rId159"/>
    <p:sldId id="4125" r:id="rId160"/>
    <p:sldId id="4461" r:id="rId161"/>
    <p:sldId id="4462" r:id="rId162"/>
    <p:sldId id="4463" r:id="rId163"/>
    <p:sldId id="4464" r:id="rId164"/>
    <p:sldId id="4465" r:id="rId165"/>
    <p:sldId id="4466" r:id="rId166"/>
    <p:sldId id="4129" r:id="rId167"/>
    <p:sldId id="4467" r:id="rId168"/>
    <p:sldId id="4131" r:id="rId169"/>
    <p:sldId id="4132" r:id="rId170"/>
    <p:sldId id="4468" r:id="rId171"/>
    <p:sldId id="4450" r:id="rId172"/>
    <p:sldId id="4473" r:id="rId173"/>
    <p:sldId id="4542" r:id="rId174"/>
    <p:sldId id="4476" r:id="rId175"/>
    <p:sldId id="4488" r:id="rId176"/>
    <p:sldId id="4496" r:id="rId177"/>
    <p:sldId id="4484" r:id="rId178"/>
    <p:sldId id="4474" r:id="rId179"/>
    <p:sldId id="4453" r:id="rId180"/>
    <p:sldId id="4483" r:id="rId181"/>
    <p:sldId id="4512" r:id="rId182"/>
    <p:sldId id="4487" r:id="rId183"/>
    <p:sldId id="4485" r:id="rId184"/>
    <p:sldId id="4486" r:id="rId185"/>
    <p:sldId id="4490" r:id="rId186"/>
    <p:sldId id="4477" r:id="rId187"/>
    <p:sldId id="4459" r:id="rId188"/>
    <p:sldId id="4489" r:id="rId189"/>
    <p:sldId id="4501" r:id="rId190"/>
    <p:sldId id="4513" r:id="rId191"/>
    <p:sldId id="4497" r:id="rId192"/>
    <p:sldId id="4498" r:id="rId193"/>
    <p:sldId id="4499" r:id="rId194"/>
    <p:sldId id="4500" r:id="rId195"/>
    <p:sldId id="4479" r:id="rId196"/>
    <p:sldId id="4509" r:id="rId197"/>
    <p:sldId id="4510" r:id="rId198"/>
    <p:sldId id="4511" r:id="rId199"/>
    <p:sldId id="4478" r:id="rId200"/>
    <p:sldId id="4503" r:id="rId201"/>
    <p:sldId id="4505" r:id="rId202"/>
    <p:sldId id="4504" r:id="rId203"/>
    <p:sldId id="4506" r:id="rId204"/>
    <p:sldId id="4502" r:id="rId205"/>
    <p:sldId id="4480" r:id="rId206"/>
    <p:sldId id="4449" r:id="rId207"/>
    <p:sldId id="4456" r:id="rId208"/>
    <p:sldId id="4491" r:id="rId209"/>
    <p:sldId id="4492" r:id="rId210"/>
    <p:sldId id="4493" r:id="rId211"/>
    <p:sldId id="4470" r:id="rId212"/>
    <p:sldId id="4495" r:id="rId213"/>
    <p:sldId id="4494" r:id="rId214"/>
    <p:sldId id="4475" r:id="rId215"/>
    <p:sldId id="4521" r:id="rId216"/>
    <p:sldId id="4522" r:id="rId217"/>
    <p:sldId id="4539" r:id="rId218"/>
    <p:sldId id="4538" r:id="rId219"/>
    <p:sldId id="4523" r:id="rId220"/>
    <p:sldId id="4527" r:id="rId221"/>
    <p:sldId id="4528" r:id="rId222"/>
    <p:sldId id="4526" r:id="rId223"/>
    <p:sldId id="4529" r:id="rId224"/>
    <p:sldId id="4530" r:id="rId225"/>
    <p:sldId id="4531" r:id="rId226"/>
    <p:sldId id="4524" r:id="rId227"/>
    <p:sldId id="4532" r:id="rId228"/>
    <p:sldId id="4533" r:id="rId229"/>
    <p:sldId id="4534" r:id="rId230"/>
    <p:sldId id="4535" r:id="rId231"/>
    <p:sldId id="4536" r:id="rId232"/>
    <p:sldId id="4537" r:id="rId233"/>
    <p:sldId id="4540" r:id="rId234"/>
    <p:sldId id="294" r:id="rId235"/>
    <p:sldId id="4514" r:id="rId236"/>
  </p:sldIdLst>
  <p:sldSz cx="12192000" cy="6858000"/>
  <p:notesSz cx="6858000" cy="9144000"/>
  <p:custDataLst>
    <p:tags r:id="rId239"/>
  </p:custDataLst>
  <p:defaultTextStyle>
    <a:defPPr>
      <a:defRPr lang="es-CO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E81BF"/>
    <a:srgbClr val="4147BF"/>
    <a:srgbClr val="0810C8"/>
    <a:srgbClr val="04047B"/>
    <a:srgbClr val="D9D9D9"/>
    <a:srgbClr val="949494"/>
    <a:srgbClr val="B1B1B1"/>
    <a:srgbClr val="33FB97"/>
    <a:srgbClr val="FECA27"/>
    <a:srgbClr val="4D4D4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775DCB02-9BB8-47FD-8907-85C794F793BA}" styleName="Themed Style 1 - Accent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E269D01E-BC32-4049-B463-5C60D7B0CCD2}" styleName="Themed Style 2 - Accent 4">
    <a:tblBg>
      <a:fillRef idx="3">
        <a:schemeClr val="accent4"/>
      </a:fillRef>
      <a:effectRef idx="3">
        <a:schemeClr val="accent4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4">
                <a:tint val="50000"/>
              </a:schemeClr>
            </a:lnRef>
          </a:left>
          <a:right>
            <a:lnRef idx="1">
              <a:schemeClr val="accent4">
                <a:tint val="50000"/>
              </a:schemeClr>
            </a:lnRef>
          </a:right>
          <a:top>
            <a:lnRef idx="1">
              <a:schemeClr val="accent4">
                <a:tint val="50000"/>
              </a:schemeClr>
            </a:lnRef>
          </a:top>
          <a:bottom>
            <a:lnRef idx="1">
              <a:schemeClr val="accent4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505E3EF-67EA-436B-97B2-0124C06EBD24}" styleName="Medium Style 4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 showGuides="1">
      <p:cViewPr varScale="1">
        <p:scale>
          <a:sx n="66" d="100"/>
          <a:sy n="66" d="100"/>
        </p:scale>
        <p:origin x="0" y="0"/>
      </p:cViewPr>
      <p:guideLst/>
    </p:cSldViewPr>
  </p:slideViewPr>
  <p:notesViewPr>
    <p:cSldViewPr snapToGrid="0" showGuides="1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26" Type="http://schemas.openxmlformats.org/officeDocument/2006/relationships/slide" Target="slides/slide22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149" Type="http://schemas.openxmlformats.org/officeDocument/2006/relationships/slide" Target="slides/slide145.xml"/><Relationship Id="rId5" Type="http://schemas.openxmlformats.org/officeDocument/2006/relationships/slide" Target="slides/slide1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181" Type="http://schemas.openxmlformats.org/officeDocument/2006/relationships/slide" Target="slides/slide177.xml"/><Relationship Id="rId216" Type="http://schemas.openxmlformats.org/officeDocument/2006/relationships/slide" Target="slides/slide212.xml"/><Relationship Id="rId237" Type="http://schemas.openxmlformats.org/officeDocument/2006/relationships/notesMaster" Target="notesMasters/notesMaster1.xml"/><Relationship Id="rId22" Type="http://schemas.openxmlformats.org/officeDocument/2006/relationships/slide" Target="slides/slide18.xml"/><Relationship Id="rId43" Type="http://schemas.openxmlformats.org/officeDocument/2006/relationships/slide" Target="slides/slide39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139" Type="http://schemas.openxmlformats.org/officeDocument/2006/relationships/slide" Target="slides/slide135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71" Type="http://schemas.openxmlformats.org/officeDocument/2006/relationships/slide" Target="slides/slide167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27" Type="http://schemas.openxmlformats.org/officeDocument/2006/relationships/slide" Target="slides/slide223.xml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slide" Target="slides/slide213.xml"/><Relationship Id="rId6" Type="http://schemas.openxmlformats.org/officeDocument/2006/relationships/slide" Target="slides/slide2.xml"/><Relationship Id="rId238" Type="http://schemas.openxmlformats.org/officeDocument/2006/relationships/handoutMaster" Target="handoutMasters/handoutMaster1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28" Type="http://schemas.openxmlformats.org/officeDocument/2006/relationships/slide" Target="slides/slide224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slide" Target="slides/slide214.xml"/><Relationship Id="rId239" Type="http://schemas.openxmlformats.org/officeDocument/2006/relationships/tags" Target="tags/tag1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slide" Target="slides/slide225.xml"/><Relationship Id="rId240" Type="http://schemas.openxmlformats.org/officeDocument/2006/relationships/presProps" Target="presProps.xml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220" Type="http://schemas.openxmlformats.org/officeDocument/2006/relationships/slide" Target="slides/slide216.xml"/><Relationship Id="rId241" Type="http://schemas.openxmlformats.org/officeDocument/2006/relationships/viewProps" Target="viewProps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48" Type="http://schemas.openxmlformats.org/officeDocument/2006/relationships/slide" Target="slides/slide144.xml"/><Relationship Id="rId164" Type="http://schemas.openxmlformats.org/officeDocument/2006/relationships/slide" Target="slides/slide160.xml"/><Relationship Id="rId169" Type="http://schemas.openxmlformats.org/officeDocument/2006/relationships/slide" Target="slides/slide165.xml"/><Relationship Id="rId185" Type="http://schemas.openxmlformats.org/officeDocument/2006/relationships/slide" Target="slides/slide18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80" Type="http://schemas.openxmlformats.org/officeDocument/2006/relationships/slide" Target="slides/slide176.xml"/><Relationship Id="rId210" Type="http://schemas.openxmlformats.org/officeDocument/2006/relationships/slide" Target="slides/slide20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theme" Target="theme/theme1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tableStyles" Target="tableStyles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Hoja_de_c_lculo_de_Microsoft_Excel.xlsx"/><Relationship Id="rId1" Type="http://schemas.openxmlformats.org/officeDocument/2006/relationships/themeOverride" Target="../theme/themeOverride1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Hoja_de_c_lculo_de_Microsoft_Excel1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6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Hoja_de_c_lculo_de_Microsoft_Excel2.xlsx"/><Relationship Id="rId1" Type="http://schemas.openxmlformats.org/officeDocument/2006/relationships/themeOverride" Target="../theme/themeOverride3.xml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8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USER\Dropbox\TALENT%20ADVISOR\1.%20MEMORIA%20INSTITUCIONAL\BANCO%20CREDIFINANCIERA\BCF%20-CV%20-%20PPR\4.%20Papeles%20de%20Trabajo\3.%20Tablas%20de%20Pago\0.%20Tabla%20de%20Pago%20Credifinanciera.xlsx" TargetMode="External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enovo\Desktop\Otros\Tabla%20de%20Pago%20Credifinanciera.xlsx" TargetMode="External"/></Relationships>
</file>

<file path=ppt/charts/_rels/chart8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Hoja_de_c_lculo_de_Microsoft_Excel3.xlsx"/><Relationship Id="rId1" Type="http://schemas.openxmlformats.org/officeDocument/2006/relationships/themeOverride" Target="../theme/themeOverrid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Presidente'!$E$11:$E$16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Presidente'!$AA$1:$AA$6</c:f>
              <c:numCache>
                <c:formatCode>0.00%</c:formatCode>
                <c:ptCount val="6"/>
                <c:pt idx="0">
                  <c:v>1.4414414414414489E-2</c:v>
                </c:pt>
                <c:pt idx="1">
                  <c:v>1.7194579602100912E-2</c:v>
                </c:pt>
                <c:pt idx="2">
                  <c:v>1.7194579602100912E-2</c:v>
                </c:pt>
                <c:pt idx="3">
                  <c:v>2.2315456811382806E-2</c:v>
                </c:pt>
                <c:pt idx="4">
                  <c:v>2.2315456811382806E-2</c:v>
                </c:pt>
                <c:pt idx="5">
                  <c:v>2.6478451429848837E-2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BF-49A3-B660-AC58BB733D71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2"/>
              </a:solidFill>
            </a:ln>
          </c:spPr>
          <c:marker>
            <c:symbol val="none"/>
          </c:marker>
          <c:cat>
            <c:numRef>
              <c:f>'1. Presidente'!$E$11:$E$17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'1. Presidente'!$G$11:$G$17</c:f>
              <c:numCache>
                <c:formatCode>"$"#,##0;[Red]\-"$"#,##0</c:formatCode>
                <c:ptCount val="7"/>
                <c:pt idx="0">
                  <c:v>397119150</c:v>
                </c:pt>
                <c:pt idx="1">
                  <c:v>425740350</c:v>
                </c:pt>
                <c:pt idx="2">
                  <c:v>462342481.68950641</c:v>
                </c:pt>
                <c:pt idx="3">
                  <c:v>502091404.71372193</c:v>
                </c:pt>
                <c:pt idx="4">
                  <c:v>558113400</c:v>
                </c:pt>
                <c:pt idx="5">
                  <c:v>620386177.36777008</c:v>
                </c:pt>
                <c:pt idx="6">
                  <c:v>702520503.69368088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926-43D3-855C-2EF1750C7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137264250</c:v>
                </c:pt>
                <c:pt idx="1">
                  <c:v>154425000</c:v>
                </c:pt>
                <c:pt idx="2">
                  <c:v>174000000</c:v>
                </c:pt>
                <c:pt idx="3">
                  <c:v>196056338.02816898</c:v>
                </c:pt>
                <c:pt idx="4">
                  <c:v>231783549.89089462</c:v>
                </c:pt>
                <c:pt idx="5">
                  <c:v>274021307.04035646</c:v>
                </c:pt>
                <c:pt idx="6">
                  <c:v>341475000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69-41CE-BDC4-2E1C9FDF97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2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45000000</c:v>
                </c:pt>
                <c:pt idx="1">
                  <c:v>51000000</c:v>
                </c:pt>
                <c:pt idx="2">
                  <c:v>60000000</c:v>
                </c:pt>
                <c:pt idx="3">
                  <c:v>70600000</c:v>
                </c:pt>
                <c:pt idx="4">
                  <c:v>84000000</c:v>
                </c:pt>
                <c:pt idx="5">
                  <c:v>99943342.776203975</c:v>
                </c:pt>
                <c:pt idx="6">
                  <c:v>118912759.11049765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822-4455-B32B-96140539AB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6B0-484E-A8F3-BFFA714543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D6E-42D8-9034-2779F6C3F9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2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110442500</c:v>
                </c:pt>
                <c:pt idx="1">
                  <c:v>124250000</c:v>
                </c:pt>
                <c:pt idx="2">
                  <c:v>140000000</c:v>
                </c:pt>
                <c:pt idx="3">
                  <c:v>157746478.87323943</c:v>
                </c:pt>
                <c:pt idx="4">
                  <c:v>186492511.40646693</c:v>
                </c:pt>
                <c:pt idx="5">
                  <c:v>220476913.71063164</c:v>
                </c:pt>
                <c:pt idx="6">
                  <c:v>274750000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F4-46DC-815E-95CFF3C094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7CF-4E8D-A79B-8778627AD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EBB-4EDB-8C9D-9C6043E4CC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800"/>
      </a:pPr>
      <a:endParaRPr lang="es-E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18000000</c:v>
                </c:pt>
                <c:pt idx="1">
                  <c:v>20400000</c:v>
                </c:pt>
                <c:pt idx="2">
                  <c:v>24000000</c:v>
                </c:pt>
                <c:pt idx="3">
                  <c:v>28235294.11764707</c:v>
                </c:pt>
                <c:pt idx="4">
                  <c:v>33240000</c:v>
                </c:pt>
                <c:pt idx="5">
                  <c:v>39131790</c:v>
                </c:pt>
                <c:pt idx="6">
                  <c:v>46800000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28C-4CC3-AEFC-4EB582A438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7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30601993.5</c:v>
                </c:pt>
                <c:pt idx="1">
                  <c:v>34682259.299999997</c:v>
                </c:pt>
                <c:pt idx="2">
                  <c:v>40802658</c:v>
                </c:pt>
                <c:pt idx="3">
                  <c:v>48011127.579999998</c:v>
                </c:pt>
                <c:pt idx="4">
                  <c:v>57123721.200000003</c:v>
                </c:pt>
                <c:pt idx="5">
                  <c:v>67965900.577903688</c:v>
                </c:pt>
                <c:pt idx="6">
                  <c:v>80865944.030367002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BFA-4E94-AF36-E1E874A68F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1C5-4E21-8456-29FF1BC3B3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90-4120-A4EF-B26C7AFF2F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800"/>
      </a:pPr>
      <a:endParaRPr lang="es-E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063-4999-96B4-2335B2E9D6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144837450</c:v>
                </c:pt>
                <c:pt idx="1">
                  <c:v>162945000</c:v>
                </c:pt>
                <c:pt idx="2">
                  <c:v>183600000</c:v>
                </c:pt>
                <c:pt idx="3">
                  <c:v>206873239.4366197</c:v>
                </c:pt>
                <c:pt idx="4">
                  <c:v>244571607.81590948</c:v>
                </c:pt>
                <c:pt idx="5">
                  <c:v>289139723.98051429</c:v>
                </c:pt>
                <c:pt idx="6">
                  <c:v>360315000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72E-43A6-9DC7-FBE6F22E58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7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45000000</c:v>
                </c:pt>
                <c:pt idx="1">
                  <c:v>51000000</c:v>
                </c:pt>
                <c:pt idx="2">
                  <c:v>60000000</c:v>
                </c:pt>
                <c:pt idx="3">
                  <c:v>70600000</c:v>
                </c:pt>
                <c:pt idx="4">
                  <c:v>84000000</c:v>
                </c:pt>
                <c:pt idx="5">
                  <c:v>99943342.776203975</c:v>
                </c:pt>
                <c:pt idx="6">
                  <c:v>118912759.11049765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E03-470D-B37D-288A3ADAC9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45000000</c:v>
                </c:pt>
                <c:pt idx="1">
                  <c:v>51000000</c:v>
                </c:pt>
                <c:pt idx="2">
                  <c:v>60000000</c:v>
                </c:pt>
                <c:pt idx="3">
                  <c:v>70600000</c:v>
                </c:pt>
                <c:pt idx="4">
                  <c:v>84000000</c:v>
                </c:pt>
                <c:pt idx="5">
                  <c:v>99943342.776203975</c:v>
                </c:pt>
                <c:pt idx="6">
                  <c:v>118912759.11049765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731-4265-8EF2-A0ACE39B47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9D1-48F1-BFDB-1294F9184DC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9D1-48F1-BFDB-1294F9184DC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D6-42D4-A341-A01B1A7573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25585200</c:v>
                </c:pt>
                <c:pt idx="1">
                  <c:v>28996560</c:v>
                </c:pt>
                <c:pt idx="2">
                  <c:v>34113600</c:v>
                </c:pt>
                <c:pt idx="3">
                  <c:v>40133647.058823548</c:v>
                </c:pt>
                <c:pt idx="4">
                  <c:v>47247336</c:v>
                </c:pt>
                <c:pt idx="5">
                  <c:v>55621926.305999994</c:v>
                </c:pt>
                <c:pt idx="6">
                  <c:v>66521520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D6-42D4-A341-A01B1A7573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2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25585200</c:v>
                </c:pt>
                <c:pt idx="1">
                  <c:v>28996560</c:v>
                </c:pt>
                <c:pt idx="2">
                  <c:v>34113600</c:v>
                </c:pt>
                <c:pt idx="3">
                  <c:v>40133647.058823548</c:v>
                </c:pt>
                <c:pt idx="4">
                  <c:v>47247336</c:v>
                </c:pt>
                <c:pt idx="5">
                  <c:v>55621926.305999994</c:v>
                </c:pt>
                <c:pt idx="6">
                  <c:v>66521520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452-4758-A2E2-3A63359143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F44-4E32-904A-CCD9D6143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787878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38250000</c:v>
                </c:pt>
                <c:pt idx="1">
                  <c:v>43350000</c:v>
                </c:pt>
                <c:pt idx="2">
                  <c:v>51000000</c:v>
                </c:pt>
                <c:pt idx="3">
                  <c:v>60010000</c:v>
                </c:pt>
                <c:pt idx="4">
                  <c:v>71400000</c:v>
                </c:pt>
                <c:pt idx="5">
                  <c:v>84951841.359773383</c:v>
                </c:pt>
                <c:pt idx="6">
                  <c:v>101075845.24392301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1C1-4E2C-9877-6635310507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F3-4CBE-9DDE-E5F07664E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F3-4CBE-9DDE-E5F07664E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20250000</c:v>
                </c:pt>
                <c:pt idx="1">
                  <c:v>22950000</c:v>
                </c:pt>
                <c:pt idx="2">
                  <c:v>27000000</c:v>
                </c:pt>
                <c:pt idx="3">
                  <c:v>31764705.882352956</c:v>
                </c:pt>
                <c:pt idx="4">
                  <c:v>37395000</c:v>
                </c:pt>
                <c:pt idx="5">
                  <c:v>44023263.749999955</c:v>
                </c:pt>
                <c:pt idx="6">
                  <c:v>52650000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F3-4CBE-9DDE-E5F07664E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126220000</c:v>
                </c:pt>
                <c:pt idx="1">
                  <c:v>142000000</c:v>
                </c:pt>
                <c:pt idx="2">
                  <c:v>160000000</c:v>
                </c:pt>
                <c:pt idx="3">
                  <c:v>180281690.14084503</c:v>
                </c:pt>
                <c:pt idx="4">
                  <c:v>213134298.75024787</c:v>
                </c:pt>
                <c:pt idx="5">
                  <c:v>251973615.66929322</c:v>
                </c:pt>
                <c:pt idx="6">
                  <c:v>314000000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70F-4AA9-B445-56D05E4E40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17117158.5</c:v>
                </c:pt>
                <c:pt idx="1">
                  <c:v>19399446.300000001</c:v>
                </c:pt>
                <c:pt idx="2">
                  <c:v>22822878</c:v>
                </c:pt>
                <c:pt idx="3">
                  <c:v>26850444.705882363</c:v>
                </c:pt>
                <c:pt idx="4">
                  <c:v>31609686.030000001</c:v>
                </c:pt>
                <c:pt idx="5">
                  <c:v>37212502.878817461</c:v>
                </c:pt>
                <c:pt idx="6">
                  <c:v>44504612.100000001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063-4999-96B4-2335B2E9D6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17117158.5</c:v>
                </c:pt>
                <c:pt idx="1">
                  <c:v>19399446.300000001</c:v>
                </c:pt>
                <c:pt idx="2">
                  <c:v>22822878</c:v>
                </c:pt>
                <c:pt idx="3">
                  <c:v>26850444.705882363</c:v>
                </c:pt>
                <c:pt idx="4">
                  <c:v>31609686.030000001</c:v>
                </c:pt>
                <c:pt idx="5">
                  <c:v>37212502.878817461</c:v>
                </c:pt>
                <c:pt idx="6">
                  <c:v>44504612.100000001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063-4999-96B4-2335B2E9D6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17117158.5</c:v>
                </c:pt>
                <c:pt idx="1">
                  <c:v>19399446.300000001</c:v>
                </c:pt>
                <c:pt idx="2">
                  <c:v>22822878</c:v>
                </c:pt>
                <c:pt idx="3">
                  <c:v>26850444.705882363</c:v>
                </c:pt>
                <c:pt idx="4">
                  <c:v>31609686.030000001</c:v>
                </c:pt>
                <c:pt idx="5">
                  <c:v>37212502.878817461</c:v>
                </c:pt>
                <c:pt idx="6">
                  <c:v>44504612.100000001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063-4999-96B4-2335B2E9D6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9D1-48F1-BFDB-1294F9184DC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17117158.5</c:v>
                </c:pt>
                <c:pt idx="1">
                  <c:v>19399446.300000001</c:v>
                </c:pt>
                <c:pt idx="2">
                  <c:v>22822878</c:v>
                </c:pt>
                <c:pt idx="3">
                  <c:v>26850444.705882363</c:v>
                </c:pt>
                <c:pt idx="4">
                  <c:v>31609686.030000001</c:v>
                </c:pt>
                <c:pt idx="5">
                  <c:v>37212502.878817461</c:v>
                </c:pt>
                <c:pt idx="6">
                  <c:v>44504612.100000001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063-4999-96B4-2335B2E9D6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2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56250000</c:v>
                </c:pt>
                <c:pt idx="1">
                  <c:v>63749999.999999993</c:v>
                </c:pt>
                <c:pt idx="2">
                  <c:v>75000000</c:v>
                </c:pt>
                <c:pt idx="3">
                  <c:v>88250000</c:v>
                </c:pt>
                <c:pt idx="4">
                  <c:v>105000000</c:v>
                </c:pt>
                <c:pt idx="5">
                  <c:v>124929178.47025497</c:v>
                </c:pt>
                <c:pt idx="6">
                  <c:v>148640948.88812208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F09-442C-A010-C92BC2CC03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141997500</c:v>
                </c:pt>
                <c:pt idx="1">
                  <c:v>159750000</c:v>
                </c:pt>
                <c:pt idx="2">
                  <c:v>180000000</c:v>
                </c:pt>
                <c:pt idx="3">
                  <c:v>202816901.40845066</c:v>
                </c:pt>
                <c:pt idx="4">
                  <c:v>239776086.09402889</c:v>
                </c:pt>
                <c:pt idx="5">
                  <c:v>283470317.62795496</c:v>
                </c:pt>
                <c:pt idx="6">
                  <c:v>353250000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9B1-444C-8361-6713F0B638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2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'3. Gerentes'!$E$11:$E$16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'3. Gerentes'!$AA$1:$AA$6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3.5333333333333439E-2</c:v>
                </c:pt>
                <c:pt idx="3">
                  <c:v>3.7960339943342802E-2</c:v>
                </c:pt>
                <c:pt idx="4">
                  <c:v>3.7960339943342802E-2</c:v>
                </c:pt>
                <c:pt idx="5">
                  <c:v>3.7960339943342802E-2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CD-482A-9225-074ED39CDF3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'3. Gerentes'!$E$11:$E$17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'3. Gerentes'!$G$11:$G$17</c:f>
              <c:numCache>
                <c:formatCode>"$"#,##0;[Red]\-"$"#,##0</c:formatCode>
                <c:ptCount val="7"/>
                <c:pt idx="0">
                  <c:v>45000000</c:v>
                </c:pt>
                <c:pt idx="1">
                  <c:v>51000000</c:v>
                </c:pt>
                <c:pt idx="2">
                  <c:v>60000000</c:v>
                </c:pt>
                <c:pt idx="3">
                  <c:v>70600000</c:v>
                </c:pt>
                <c:pt idx="4">
                  <c:v>84000000</c:v>
                </c:pt>
                <c:pt idx="5">
                  <c:v>99943342.776203975</c:v>
                </c:pt>
                <c:pt idx="6">
                  <c:v>118912759.11049765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EC9-4E60-A4CF-C5E91A78F2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CBC-4109-AD6F-7FFA913514A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23947500</c:v>
                </c:pt>
                <c:pt idx="1">
                  <c:v>27140500</c:v>
                </c:pt>
                <c:pt idx="2">
                  <c:v>31930000</c:v>
                </c:pt>
                <c:pt idx="3">
                  <c:v>37564705.882352956</c:v>
                </c:pt>
                <c:pt idx="4">
                  <c:v>44223050</c:v>
                </c:pt>
                <c:pt idx="5">
                  <c:v>52061585.612499945</c:v>
                </c:pt>
                <c:pt idx="6">
                  <c:v>62263500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8BB-4E77-AB4C-DE6B3134D2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F4B-46BA-87DB-2B143612AC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19500000</c:v>
                </c:pt>
                <c:pt idx="1">
                  <c:v>22100000</c:v>
                </c:pt>
                <c:pt idx="2">
                  <c:v>26000000</c:v>
                </c:pt>
                <c:pt idx="3">
                  <c:v>30588235.294117659</c:v>
                </c:pt>
                <c:pt idx="4">
                  <c:v>36010000</c:v>
                </c:pt>
                <c:pt idx="5">
                  <c:v>42392772.499999955</c:v>
                </c:pt>
                <c:pt idx="6">
                  <c:v>50700000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8BB-4E77-AB4C-DE6B3134D2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25585200</c:v>
                </c:pt>
                <c:pt idx="1">
                  <c:v>28996560</c:v>
                </c:pt>
                <c:pt idx="2">
                  <c:v>34113600</c:v>
                </c:pt>
                <c:pt idx="3">
                  <c:v>40133647.058823548</c:v>
                </c:pt>
                <c:pt idx="4">
                  <c:v>47247336</c:v>
                </c:pt>
                <c:pt idx="5">
                  <c:v>55621926.305999994</c:v>
                </c:pt>
                <c:pt idx="6">
                  <c:v>66521520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35-4650-A4C9-C96D36D2CC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>
                  <a:lumMod val="95000"/>
                </a:schemeClr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'4. Directores'!$E$11:$E$16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'4. Directores'!$AA$1:$AA$6</c:f>
              <c:numCache>
                <c:formatCode>0.00%</c:formatCode>
                <c:ptCount val="6"/>
                <c:pt idx="0">
                  <c:v>2.6666666666666616E-2</c:v>
                </c:pt>
                <c:pt idx="1">
                  <c:v>3.529411764705892E-2</c:v>
                </c:pt>
                <c:pt idx="2">
                  <c:v>3.529411764705892E-2</c:v>
                </c:pt>
                <c:pt idx="3">
                  <c:v>3.5449999999999982E-2</c:v>
                </c:pt>
                <c:pt idx="4">
                  <c:v>3.5449999999999982E-2</c:v>
                </c:pt>
                <c:pt idx="5">
                  <c:v>3.919171599356952E-2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DA-4DCE-B35B-1F2AB338562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chemeClr val="tx1"/>
              </a:solidFill>
            </a:ln>
          </c:spPr>
          <c:marker>
            <c:symbol val="none"/>
          </c:marker>
          <c:cat>
            <c:numRef>
              <c:f>'4. Directores'!$E$11:$E$17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'4. Directores'!$G$11:$G$17</c:f>
              <c:numCache>
                <c:formatCode>"$"#,##0;[Red]\-"$"#,##0</c:formatCode>
                <c:ptCount val="7"/>
                <c:pt idx="0">
                  <c:v>20250000</c:v>
                </c:pt>
                <c:pt idx="1">
                  <c:v>22950000</c:v>
                </c:pt>
                <c:pt idx="2">
                  <c:v>27000000</c:v>
                </c:pt>
                <c:pt idx="3">
                  <c:v>31764705.882352956</c:v>
                </c:pt>
                <c:pt idx="4">
                  <c:v>37395000</c:v>
                </c:pt>
                <c:pt idx="5">
                  <c:v>44023263.749999955</c:v>
                </c:pt>
                <c:pt idx="6">
                  <c:v>52650000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B72-4D06-823D-FD452CE00D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2.7777777777777801E-3"/>
                <c:y val="0.3708449985418489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s-E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'1. Jefe de Categoria (2)'!$E$11:$E$16</c:f>
              <c:numCache>
                <c:formatCode>##\ "%"</c:formatCode>
                <c:ptCount val="6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</c:numCache>
            </c:numRef>
          </c:cat>
          <c:val>
            <c:numRef>
              <c:f>'1. Jefe de Categoria (2)'!$AA$1:$AA$6</c:f>
              <c:numCache>
                <c:formatCode>0.00%</c:formatCode>
                <c:ptCount val="6"/>
                <c:pt idx="0">
                  <c:v>2.5003961337347391E-2</c:v>
                </c:pt>
                <c:pt idx="1">
                  <c:v>2.5352112676056304E-2</c:v>
                </c:pt>
                <c:pt idx="2">
                  <c:v>2.5352112676056304E-2</c:v>
                </c:pt>
                <c:pt idx="3">
                  <c:v>3.6445862676056207E-2</c:v>
                </c:pt>
                <c:pt idx="4">
                  <c:v>3.6445862676056207E-2</c:v>
                </c:pt>
                <c:pt idx="5">
                  <c:v>4.9232443774680279E-2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88-40DF-A586-E8789E51700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0"/>
        <c:axId val="-2019771048"/>
        <c:axId val="-2019768072"/>
      </c:barChart>
      <c:catAx>
        <c:axId val="-2019771048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es-ES"/>
          </a:p>
        </c:txPr>
        <c:crossAx val="-2019768072"/>
        <c:crosses val="autoZero"/>
        <c:auto val="1"/>
        <c:lblAlgn val="ctr"/>
        <c:lblOffset val="100"/>
        <c:noMultiLvlLbl val="0"/>
      </c:catAx>
      <c:valAx>
        <c:axId val="-2019768072"/>
        <c:scaling>
          <c:orientation val="minMax"/>
          <c:max val="5.000000000000001E-2"/>
        </c:scaling>
        <c:delete val="1"/>
        <c:axPos val="l"/>
        <c:numFmt formatCode="0.00%" sourceLinked="1"/>
        <c:majorTickMark val="out"/>
        <c:minorTickMark val="none"/>
        <c:tickLblPos val="nextTo"/>
        <c:crossAx val="-2019771048"/>
        <c:crosses val="autoZero"/>
        <c:crossBetween val="between"/>
      </c:valAx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44740078881304"/>
          <c:y val="5.1400554097404502E-2"/>
          <c:w val="0.813167989953123"/>
          <c:h val="0.83261956838728501"/>
        </c:manualLayout>
      </c:layout>
      <c:lineChart>
        <c:grouping val="standard"/>
        <c:varyColors val="0"/>
        <c:ser>
          <c:idx val="0"/>
          <c:order val="0"/>
          <c:spPr>
            <a:ln>
              <a:solidFill>
                <a:srgbClr val="4D4D4D"/>
              </a:solidFill>
            </a:ln>
          </c:spPr>
          <c:marker>
            <c:symbol val="none"/>
          </c:marker>
          <c:cat>
            <c:numRef>
              <c:f>'2. VP´s'!$E$11:$E$17</c:f>
              <c:numCache>
                <c:formatCode>##\ "%"</c:formatCode>
                <c:ptCount val="7"/>
                <c:pt idx="0">
                  <c:v>90</c:v>
                </c:pt>
                <c:pt idx="1">
                  <c:v>95</c:v>
                </c:pt>
                <c:pt idx="2">
                  <c:v>100</c:v>
                </c:pt>
                <c:pt idx="3">
                  <c:v>105</c:v>
                </c:pt>
                <c:pt idx="4">
                  <c:v>110</c:v>
                </c:pt>
                <c:pt idx="5">
                  <c:v>115</c:v>
                </c:pt>
                <c:pt idx="6">
                  <c:v>120</c:v>
                </c:pt>
              </c:numCache>
            </c:numRef>
          </c:cat>
          <c:val>
            <c:numRef>
              <c:f>'2. VP´s'!$G$11:$G$17</c:f>
              <c:numCache>
                <c:formatCode>"$"#,##0;[Red]\-"$"#,##0</c:formatCode>
                <c:ptCount val="7"/>
                <c:pt idx="0">
                  <c:v>110442500</c:v>
                </c:pt>
                <c:pt idx="1">
                  <c:v>124250000</c:v>
                </c:pt>
                <c:pt idx="2">
                  <c:v>140000000</c:v>
                </c:pt>
                <c:pt idx="3">
                  <c:v>157746478.87323943</c:v>
                </c:pt>
                <c:pt idx="4">
                  <c:v>186492511.40646693</c:v>
                </c:pt>
                <c:pt idx="5">
                  <c:v>220476913.71063164</c:v>
                </c:pt>
                <c:pt idx="6">
                  <c:v>274750000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17-4D5C-878D-E1246AD913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990105576"/>
        <c:axId val="-2042444056"/>
      </c:lineChart>
      <c:catAx>
        <c:axId val="-1990105576"/>
        <c:scaling>
          <c:orientation val="minMax"/>
        </c:scaling>
        <c:delete val="0"/>
        <c:axPos val="b"/>
        <c:numFmt formatCode="##\ &quot;%&quot;" sourceLinked="1"/>
        <c:majorTickMark val="out"/>
        <c:minorTickMark val="none"/>
        <c:tickLblPos val="low"/>
        <c:txPr>
          <a:bodyPr/>
          <a:lstStyle/>
          <a:p>
            <a:pPr>
              <a:defRPr sz="800"/>
            </a:pPr>
            <a:endParaRPr lang="es-ES"/>
          </a:p>
        </c:txPr>
        <c:crossAx val="-2042444056"/>
        <c:crosses val="autoZero"/>
        <c:auto val="1"/>
        <c:lblAlgn val="ctr"/>
        <c:lblOffset val="100"/>
        <c:tickLblSkip val="1"/>
        <c:noMultiLvlLbl val="0"/>
      </c:catAx>
      <c:valAx>
        <c:axId val="-2042444056"/>
        <c:scaling>
          <c:orientation val="minMax"/>
        </c:scaling>
        <c:delete val="0"/>
        <c:axPos val="l"/>
        <c:numFmt formatCode="&quot;$&quot;#,##0.000;[Red]\-&quot;$&quot;#,##0.000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es-ES"/>
          </a:p>
        </c:txPr>
        <c:crossAx val="-1990105576"/>
        <c:crosses val="autoZero"/>
        <c:crossBetween val="between"/>
        <c:dispUnits>
          <c:builtInUnit val="millions"/>
          <c:dispUnitsLbl>
            <c:layout>
              <c:manualLayout>
                <c:xMode val="edge"/>
                <c:yMode val="edge"/>
                <c:x val="0"/>
                <c:y val="0.3708449427243739"/>
              </c:manualLayout>
            </c:layout>
          </c:dispUnitsLbl>
        </c:dispUnits>
      </c:valAx>
    </c:plotArea>
    <c:plotVisOnly val="1"/>
    <c:dispBlanksAs val="gap"/>
    <c:showDLblsOverMax val="0"/>
  </c:chart>
  <c:spPr>
    <a:ln>
      <a:noFill/>
    </a:ln>
  </c:spPr>
  <c:externalData r:id="rId2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EA69E3E9-BDDD-1541-B63E-8400314367E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_tradnl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A8DE621-FD5F-8341-9D4E-B090D3C49372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6BCAAE-28E2-C745-ACCC-BCEDE94F9BFE}" type="datetimeFigureOut">
              <a:rPr lang="es-ES_tradnl" smtClean="0"/>
              <a:t>05/11/2025</a:t>
            </a:fld>
            <a:endParaRPr lang="es-ES_tradnl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87890A-FC29-B945-AF0B-C0A33A806B25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_tradnl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C8EB971-C35A-854C-BC25-0A5519EA5D9F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F01AB9E-A402-3E40-83B4-F3165D70109F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942252668"/>
      </p:ext>
    </p:extLst>
  </p:cSld>
  <p:clrMap bg1="lt1" tx1="dk1" bg2="lt2" tx2="dk2" accent1="accent1" accent2="accent2" accent3="accent3" accent4="accent4" accent5="accent5" accent6="accent6" hlink="hlink" folHlink="folHlink"/>
  <p:hf hd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latin typeface="Arial" panose="020B0604020202020204" pitchFamily="34" charset="0"/>
              </a:defRPr>
            </a:lvl1pPr>
          </a:lstStyle>
          <a:p>
            <a:fld id="{DFDC8700-3255-C346-9BDA-08E6FC640C30}" type="slidenum">
              <a:rPr lang="es-CO" smtClean="0"/>
              <a:pPr/>
              <a:t>‹#›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2084827623"/>
      </p:ext>
    </p:extLst>
  </p:cSld>
  <p:clrMap bg1="lt1" tx1="dk1" bg2="lt2" tx2="dk2" accent1="accent1" accent2="accent2" accent3="accent3" accent4="accent4" accent5="accent5" accent6="accent6" hlink="hlink" folHlink="folHlink"/>
  <p:hf hdr="0" dt="0"/>
  <p:notesStyle>
    <a:lvl1pPr marL="0" algn="l" defTabSz="914400" rtl="0" eaLnBrk="1" latinLnBrk="0" hangingPunct="1">
      <a:defRPr sz="1200" b="0" i="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defTabSz="914400" rtl="0" eaLnBrk="1" latinLnBrk="0" hangingPunct="1">
      <a:defRPr sz="1200" b="0" i="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defTabSz="914400" rtl="0" eaLnBrk="1" latinLnBrk="0" hangingPunct="1">
      <a:defRPr sz="1200" b="0" i="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defTabSz="914400" rtl="0" eaLnBrk="1" latinLnBrk="0" hangingPunct="1">
      <a:defRPr sz="1200" b="0" i="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defTabSz="914400" rtl="0" eaLnBrk="1" latinLnBrk="0" hangingPunct="1">
      <a:defRPr sz="1200" b="0" i="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14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4393494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Que cuando no este juan Guillermo sea este tipo el que tome el rol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cambio requerido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Tener </a:t>
            </a:r>
            <a:r>
              <a:rPr lang="es-ES" sz="1200" err="1">
                <a:latin typeface="+mn-lt"/>
                <a:cs typeface="Calibri"/>
              </a:rPr>
              <a:t>conveesaciomes</a:t>
            </a:r>
            <a:r>
              <a:rPr lang="es-ES" sz="1200">
                <a:latin typeface="+mn-lt"/>
                <a:cs typeface="Calibri"/>
              </a:rPr>
              <a:t> con  diferentes áreas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Participar en proyectos y derivar que decirle a presidencia -  no es replicar es tener visión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En algunas instancias podría representar a JGB y llevarle desmenuzado que es lo importante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También necesita alguien de indicadores</a:t>
            </a:r>
          </a:p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21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356752748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44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26713778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s-ES" sz="1200">
                <a:solidFill>
                  <a:schemeClr val="bg1"/>
                </a:solidFill>
                <a:latin typeface="+mn-lt"/>
              </a:rPr>
              <a:t>Requerimiento de apoyo en definición de estrategia de transformación interna</a:t>
            </a:r>
          </a:p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55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240335860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71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36147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72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332653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73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66595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74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508391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75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200">
                <a:latin typeface="+mj-lt"/>
              </a:rPr>
              <a:t>Recibir y validar los casos de negocio de los proyectos del plan estratégico a presentar en Junta Directiva</a:t>
            </a:r>
          </a:p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200">
                <a:latin typeface="+mj-lt"/>
              </a:rPr>
              <a:t>Participar en la estructuración de la estrategia a presentar en comité con Junta Directiva aprobarla</a:t>
            </a:r>
          </a:p>
          <a:p>
            <a:pPr defTabSz="91440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200">
                <a:latin typeface="+mj-lt"/>
              </a:rPr>
              <a:t>Identificar sinergias entre </a:t>
            </a:r>
            <a:r>
              <a:rPr lang="es-CO" sz="1200" err="1">
                <a:latin typeface="+mj-lt"/>
              </a:rPr>
              <a:t>VPs</a:t>
            </a:r>
            <a:r>
              <a:rPr lang="es-CO" sz="1200">
                <a:latin typeface="+mj-lt"/>
              </a:rPr>
              <a:t> y dirimir conflictos entre ellos</a:t>
            </a:r>
          </a:p>
          <a:p>
            <a:pPr defTabSz="91440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Definir planes de acción y asignar responsables </a:t>
            </a:r>
          </a:p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395829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76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50633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77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17717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78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413418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79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036044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80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056630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81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185896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82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056222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83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730430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84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15418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85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517186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86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045814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87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893668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88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281721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51AE4E-EC21-4CA5-814D-E0387DB699BB}" type="slidenum">
              <a:rPr lang="es-ES"/>
              <a:pPr/>
              <a:t>89</a:t>
            </a:fld>
            <a:endParaRPr lang="es-ES"/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4175" y="684213"/>
            <a:ext cx="6097588" cy="3430587"/>
          </a:xfrm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551" y="4343912"/>
            <a:ext cx="5032899" cy="4115823"/>
          </a:xfrm>
          <a:noFill/>
          <a:ln/>
        </p:spPr>
        <p:txBody>
          <a:bodyPr/>
          <a:lstStyle/>
          <a:p>
            <a:pPr eaLnBrk="1" hangingPunct="1"/>
            <a:endParaRPr lang="es-CO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743652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197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130379311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es-CO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DC8700-3255-C346-9BDA-08E6FC640C30}" type="slidenum">
              <a:rPr lang="es-CO" smtClean="0"/>
              <a:pPr/>
              <a:t>213</a:t>
            </a:fld>
            <a:r>
              <a:rPr lang="es-CO"/>
              <a:t>of200</a:t>
            </a:r>
          </a:p>
        </p:txBody>
      </p:sp>
    </p:spTree>
    <p:extLst>
      <p:ext uri="{BB962C8B-B14F-4D97-AF65-F5344CB8AC3E}">
        <p14:creationId xmlns:p14="http://schemas.microsoft.com/office/powerpoint/2010/main" val="207095173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7" Type="http://schemas.openxmlformats.org/officeDocument/2006/relationships/image" Target="../media/image7.svg"/><Relationship Id="rId2" Type="http://schemas.openxmlformats.org/officeDocument/2006/relationships/tags" Target="../tags/tag4.xml"/><Relationship Id="rId1" Type="http://schemas.openxmlformats.org/officeDocument/2006/relationships/tags" Target="../tags/tag3.xml"/><Relationship Id="rId6" Type="http://schemas.openxmlformats.org/officeDocument/2006/relationships/image" Target="../media/image6.png"/><Relationship Id="rId5" Type="http://schemas.openxmlformats.org/officeDocument/2006/relationships/image" Target="../media/image1.emf"/><Relationship Id="rId4" Type="http://schemas.openxmlformats.org/officeDocument/2006/relationships/oleObject" Target="../embeddings/oleObject2.bin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4" Type="http://schemas.openxmlformats.org/officeDocument/2006/relationships/image" Target="../media/image1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4" Type="http://schemas.openxmlformats.org/officeDocument/2006/relationships/image" Target="../media/image1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4" Type="http://schemas.openxmlformats.org/officeDocument/2006/relationships/image" Target="../media/image1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4" Type="http://schemas.openxmlformats.org/officeDocument/2006/relationships/image" Target="../media/image1.emf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4" Type="http://schemas.openxmlformats.org/officeDocument/2006/relationships/image" Target="../media/image1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4" Type="http://schemas.openxmlformats.org/officeDocument/2006/relationships/image" Target="../media/image1.emf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1.xml"/><Relationship Id="rId4" Type="http://schemas.openxmlformats.org/officeDocument/2006/relationships/image" Target="../media/image1.emf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2.xml"/><Relationship Id="rId4" Type="http://schemas.openxmlformats.org/officeDocument/2006/relationships/image" Target="../media/image1.emf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3.xml"/><Relationship Id="rId4" Type="http://schemas.openxmlformats.org/officeDocument/2006/relationships/image" Target="../media/image1.emf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4.xml"/><Relationship Id="rId4" Type="http://schemas.openxmlformats.org/officeDocument/2006/relationships/image" Target="../media/image1.emf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5.xml"/><Relationship Id="rId4" Type="http://schemas.openxmlformats.org/officeDocument/2006/relationships/image" Target="../media/image1.emf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6.xml"/><Relationship Id="rId4" Type="http://schemas.openxmlformats.org/officeDocument/2006/relationships/image" Target="../media/image1.emf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7.xml"/><Relationship Id="rId4" Type="http://schemas.openxmlformats.org/officeDocument/2006/relationships/image" Target="../media/image1.emf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8.xml"/><Relationship Id="rId4" Type="http://schemas.openxmlformats.org/officeDocument/2006/relationships/image" Target="../media/image1.emf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9.xml"/><Relationship Id="rId4" Type="http://schemas.openxmlformats.org/officeDocument/2006/relationships/image" Target="../media/image1.emf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0.xml"/><Relationship Id="rId4" Type="http://schemas.openxmlformats.org/officeDocument/2006/relationships/image" Target="../media/image1.emf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1.xml"/><Relationship Id="rId4" Type="http://schemas.openxmlformats.org/officeDocument/2006/relationships/image" Target="../media/image1.emf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2.xml"/><Relationship Id="rId4" Type="http://schemas.openxmlformats.org/officeDocument/2006/relationships/image" Target="../media/image1.emf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3.xml"/><Relationship Id="rId4" Type="http://schemas.openxmlformats.org/officeDocument/2006/relationships/image" Target="../media/image1.emf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4.xml"/><Relationship Id="rId4" Type="http://schemas.openxmlformats.org/officeDocument/2006/relationships/image" Target="../media/image1.emf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5.xml"/><Relationship Id="rId4" Type="http://schemas.openxmlformats.org/officeDocument/2006/relationships/image" Target="../media/image1.emf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6.xml"/><Relationship Id="rId4" Type="http://schemas.openxmlformats.org/officeDocument/2006/relationships/image" Target="../media/image1.emf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7.xml"/><Relationship Id="rId4" Type="http://schemas.openxmlformats.org/officeDocument/2006/relationships/image" Target="../media/image1.emf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8.xml"/><Relationship Id="rId4" Type="http://schemas.openxmlformats.org/officeDocument/2006/relationships/image" Target="../media/image1.emf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9.xml"/><Relationship Id="rId4" Type="http://schemas.openxmlformats.org/officeDocument/2006/relationships/image" Target="../media/image1.emf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0.xml"/><Relationship Id="rId4" Type="http://schemas.openxmlformats.org/officeDocument/2006/relationships/image" Target="../media/image1.emf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1.xml"/><Relationship Id="rId4" Type="http://schemas.openxmlformats.org/officeDocument/2006/relationships/image" Target="../media/image1.emf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2.xml"/><Relationship Id="rId4" Type="http://schemas.openxmlformats.org/officeDocument/2006/relationships/image" Target="../media/image1.emf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3.xml"/><Relationship Id="rId4" Type="http://schemas.openxmlformats.org/officeDocument/2006/relationships/image" Target="../media/image1.emf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4.xml"/><Relationship Id="rId4" Type="http://schemas.openxmlformats.org/officeDocument/2006/relationships/image" Target="../media/image1.emf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5.xml"/><Relationship Id="rId4" Type="http://schemas.openxmlformats.org/officeDocument/2006/relationships/image" Target="../media/image1.emf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6.xml"/><Relationship Id="rId4" Type="http://schemas.openxmlformats.org/officeDocument/2006/relationships/image" Target="../media/image1.emf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7.xml"/><Relationship Id="rId4" Type="http://schemas.openxmlformats.org/officeDocument/2006/relationships/image" Target="../media/image1.emf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8.xml"/><Relationship Id="rId4" Type="http://schemas.openxmlformats.org/officeDocument/2006/relationships/image" Target="../media/image1.emf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9.xml"/><Relationship Id="rId4" Type="http://schemas.openxmlformats.org/officeDocument/2006/relationships/image" Target="../media/image1.emf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0.xml"/><Relationship Id="rId4" Type="http://schemas.openxmlformats.org/officeDocument/2006/relationships/image" Target="../media/image1.emf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Documento Interno">
    <p:bg>
      <p:bgPr>
        <a:solidFill>
          <a:srgbClr val="070D9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>
            <a:extLst>
              <a:ext uri="{FF2B5EF4-FFF2-40B4-BE49-F238E27FC236}">
                <a16:creationId xmlns:a16="http://schemas.microsoft.com/office/drawing/2014/main" id="{AD0F3E6D-CFC2-914B-9CB4-6569F19BAFE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90912" y="468310"/>
            <a:ext cx="1474288" cy="374073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BB051E12-65A3-8E44-BECE-85FB17B3779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05872" y="-1290782"/>
            <a:ext cx="5160670" cy="6151418"/>
          </a:xfrm>
          <a:prstGeom prst="rect">
            <a:avLst/>
          </a:prstGeom>
        </p:spPr>
      </p:pic>
      <p:sp>
        <p:nvSpPr>
          <p:cNvPr id="23" name="Título 1">
            <a:extLst>
              <a:ext uri="{FF2B5EF4-FFF2-40B4-BE49-F238E27FC236}">
                <a16:creationId xmlns:a16="http://schemas.microsoft.com/office/drawing/2014/main" id="{29D676F9-A93A-9B48-B4F9-BCEB6EA395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166" y="3678248"/>
            <a:ext cx="6238196" cy="1089529"/>
          </a:xfrm>
          <a:prstGeom prst="rect">
            <a:avLst/>
          </a:prstGeom>
        </p:spPr>
        <p:txBody>
          <a:bodyPr>
            <a:spAutoFit/>
          </a:bodyPr>
          <a:lstStyle>
            <a:lvl1pPr>
              <a:defRPr sz="3600" b="1">
                <a:solidFill>
                  <a:schemeClr val="bg1"/>
                </a:solidFill>
              </a:defRPr>
            </a:lvl1pPr>
          </a:lstStyle>
          <a:p>
            <a:r>
              <a:rPr lang="es-ES"/>
              <a:t>Título del proyecto</a:t>
            </a:r>
            <a:br>
              <a:rPr lang="es-ES"/>
            </a:br>
            <a:r>
              <a:rPr lang="es-ES"/>
              <a:t>en dos renglones</a:t>
            </a:r>
            <a:endParaRPr lang="es-CO"/>
          </a:p>
        </p:txBody>
      </p:sp>
      <p:sp>
        <p:nvSpPr>
          <p:cNvPr id="12" name="Marcador de texto 2">
            <a:extLst>
              <a:ext uri="{FF2B5EF4-FFF2-40B4-BE49-F238E27FC236}">
                <a16:creationId xmlns:a16="http://schemas.microsoft.com/office/drawing/2014/main" id="{DFC80CA0-6542-4284-83DA-6839FB1CF3E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42166" y="3288784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accent6"/>
                </a:solidFill>
              </a:defRPr>
            </a:lvl1pPr>
          </a:lstStyle>
          <a:p>
            <a:pPr lvl="0"/>
            <a:r>
              <a:rPr lang="es-CO"/>
              <a:t>00 Mes de Año</a:t>
            </a:r>
          </a:p>
        </p:txBody>
      </p:sp>
      <p:sp>
        <p:nvSpPr>
          <p:cNvPr id="15" name="Marcador de texto 2">
            <a:extLst>
              <a:ext uri="{FF2B5EF4-FFF2-40B4-BE49-F238E27FC236}">
                <a16:creationId xmlns:a16="http://schemas.microsoft.com/office/drawing/2014/main" id="{28638F30-60EC-4A69-A003-69B2E25D660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2166" y="5813323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accent6"/>
                </a:solidFill>
              </a:defRPr>
            </a:lvl1pPr>
          </a:lstStyle>
          <a:p>
            <a:pPr lvl="0"/>
            <a:r>
              <a:rPr lang="es-CO"/>
              <a:t>Ciudad, País</a:t>
            </a:r>
          </a:p>
        </p:txBody>
      </p:sp>
      <p:sp>
        <p:nvSpPr>
          <p:cNvPr id="11" name="Marcador de texto 2">
            <a:extLst>
              <a:ext uri="{FF2B5EF4-FFF2-40B4-BE49-F238E27FC236}">
                <a16:creationId xmlns:a16="http://schemas.microsoft.com/office/drawing/2014/main" id="{0D407043-F2F1-46F7-ACB7-4AFE8ED8D2D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42166" y="4869395"/>
            <a:ext cx="5220000" cy="3384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accent6"/>
                </a:solidFill>
              </a:defRPr>
            </a:lvl1pPr>
            <a:lvl2pPr marL="457200" indent="0">
              <a:buNone/>
              <a:defRPr sz="1600">
                <a:solidFill>
                  <a:schemeClr val="bg1"/>
                </a:solidFill>
              </a:defRPr>
            </a:lvl2pPr>
            <a:lvl3pPr marL="914400" indent="0">
              <a:buNone/>
              <a:defRPr sz="1600">
                <a:solidFill>
                  <a:schemeClr val="bg1"/>
                </a:solidFill>
              </a:defRPr>
            </a:lvl3pPr>
            <a:lvl4pPr marL="1371600" indent="0">
              <a:buNone/>
              <a:defRPr sz="1600">
                <a:solidFill>
                  <a:schemeClr val="bg1"/>
                </a:solidFill>
              </a:defRPr>
            </a:lvl4pPr>
            <a:lvl5pPr marL="1828800" indent="0">
              <a:buNone/>
              <a:defRPr sz="16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/>
              <a:t>Etapa del Proyecto o Subtítulo</a:t>
            </a:r>
            <a:endParaRPr lang="es-CO"/>
          </a:p>
        </p:txBody>
      </p:sp>
      <p:sp>
        <p:nvSpPr>
          <p:cNvPr id="9" name="Marcador de texto 4">
            <a:extLst>
              <a:ext uri="{FF2B5EF4-FFF2-40B4-BE49-F238E27FC236}">
                <a16:creationId xmlns:a16="http://schemas.microsoft.com/office/drawing/2014/main" id="{ECBF1F66-FA97-4945-8FB3-990EF38BD8E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42166" y="6155935"/>
            <a:ext cx="7315200" cy="2556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bg1"/>
                </a:solidFill>
              </a:defRPr>
            </a:lvl1pPr>
          </a:lstStyle>
          <a:p>
            <a:pPr lvl="0"/>
            <a:r>
              <a:rPr lang="es-ES"/>
              <a:t>TIPO DE DOCUMENTO EN MAYÚSCULA (</a:t>
            </a:r>
            <a:r>
              <a:rPr lang="es-ES" err="1"/>
              <a:t>Ej</a:t>
            </a:r>
            <a:r>
              <a:rPr lang="es-ES"/>
              <a:t>: ETAPA 1: DIAGNÓSTICO)</a:t>
            </a:r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39614643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95">
          <p15:clr>
            <a:srgbClr val="FBAE40"/>
          </p15:clr>
        </p15:guide>
        <p15:guide id="2" pos="370">
          <p15:clr>
            <a:srgbClr val="FBAE40"/>
          </p15:clr>
        </p15:guide>
        <p15:guide id="3" pos="7333">
          <p15:clr>
            <a:srgbClr val="FBAE40"/>
          </p15:clr>
        </p15:guide>
        <p15:guide id="4" orient="horz" pos="4042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Cobra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Rectangle 35">
            <a:extLst>
              <a:ext uri="{FF2B5EF4-FFF2-40B4-BE49-F238E27FC236}">
                <a16:creationId xmlns:a16="http://schemas.microsoft.com/office/drawing/2014/main" id="{6C6CE665-9EC4-5740-8D09-CAC572757273}"/>
              </a:ext>
            </a:extLst>
          </p:cNvPr>
          <p:cNvSpPr/>
          <p:nvPr userDrawn="1"/>
        </p:nvSpPr>
        <p:spPr>
          <a:xfrm>
            <a:off x="0" y="0"/>
            <a:ext cx="12192000" cy="13407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65E18E6-60C1-D44F-837C-E33CD495513F}"/>
              </a:ext>
            </a:extLst>
          </p:cNvPr>
          <p:cNvSpPr/>
          <p:nvPr userDrawn="1"/>
        </p:nvSpPr>
        <p:spPr>
          <a:xfrm>
            <a:off x="0" y="1340768"/>
            <a:ext cx="12192000" cy="55172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9" name="Título 1">
            <a:extLst>
              <a:ext uri="{FF2B5EF4-FFF2-40B4-BE49-F238E27FC236}">
                <a16:creationId xmlns:a16="http://schemas.microsoft.com/office/drawing/2014/main" id="{6924E0B4-1E09-B146-BFD2-2C7F4F70A28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166" y="3688137"/>
            <a:ext cx="6238196" cy="1089529"/>
          </a:xfrm>
          <a:prstGeom prst="rect">
            <a:avLst/>
          </a:prstGeom>
        </p:spPr>
        <p:txBody>
          <a:bodyPr>
            <a:spAutoFit/>
          </a:bodyPr>
          <a:lstStyle>
            <a:lvl1pPr>
              <a:defRPr sz="3600" b="1">
                <a:solidFill>
                  <a:schemeClr val="bg1"/>
                </a:solidFill>
              </a:defRPr>
            </a:lvl1pPr>
          </a:lstStyle>
          <a:p>
            <a:r>
              <a:rPr lang="es-ES"/>
              <a:t>Título del proyecto</a:t>
            </a:r>
            <a:br>
              <a:rPr lang="es-ES"/>
            </a:br>
            <a:r>
              <a:rPr lang="es-ES"/>
              <a:t>en dos renglones</a:t>
            </a:r>
            <a:endParaRPr lang="es-CO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81401CF-692F-7B49-93D4-2A344391924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90997" y="188641"/>
            <a:ext cx="2468861" cy="97561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</a:defRPr>
            </a:lvl1pPr>
          </a:lstStyle>
          <a:p>
            <a:r>
              <a:rPr lang="es-ES_tradnl"/>
              <a:t>Imagen</a:t>
            </a:r>
          </a:p>
        </p:txBody>
      </p:sp>
      <p:pic>
        <p:nvPicPr>
          <p:cNvPr id="22" name="Imagen 12">
            <a:extLst>
              <a:ext uri="{FF2B5EF4-FFF2-40B4-BE49-F238E27FC236}">
                <a16:creationId xmlns:a16="http://schemas.microsoft.com/office/drawing/2014/main" id="{70CA0805-F7FE-FD4A-A887-F972B999B9F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310613" y="1428808"/>
            <a:ext cx="5618980" cy="6697715"/>
          </a:xfrm>
          <a:prstGeom prst="rect">
            <a:avLst/>
          </a:prstGeom>
        </p:spPr>
      </p:pic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BB0A3045-B916-BB4F-B885-0582C05FADD7}"/>
              </a:ext>
            </a:extLst>
          </p:cNvPr>
          <p:cNvCxnSpPr/>
          <p:nvPr userDrawn="1"/>
        </p:nvCxnSpPr>
        <p:spPr>
          <a:xfrm>
            <a:off x="2495600" y="363116"/>
            <a:ext cx="0" cy="587583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5" name="Graphic 34">
            <a:extLst>
              <a:ext uri="{FF2B5EF4-FFF2-40B4-BE49-F238E27FC236}">
                <a16:creationId xmlns:a16="http://schemas.microsoft.com/office/drawing/2014/main" id="{DE287E5A-5EF5-5D40-9884-EF15575F64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0221" y="275879"/>
            <a:ext cx="1630555" cy="801140"/>
          </a:xfrm>
          <a:prstGeom prst="rect">
            <a:avLst/>
          </a:prstGeom>
        </p:spPr>
      </p:pic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344AE59-7CCB-4EB2-81A8-5BB3CC13B5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42166" y="4869395"/>
            <a:ext cx="5220000" cy="3384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accent6"/>
                </a:solidFill>
              </a:defRPr>
            </a:lvl1pPr>
            <a:lvl2pPr marL="457200" indent="0">
              <a:buNone/>
              <a:defRPr sz="1600">
                <a:solidFill>
                  <a:schemeClr val="bg1"/>
                </a:solidFill>
              </a:defRPr>
            </a:lvl2pPr>
            <a:lvl3pPr marL="914400" indent="0">
              <a:buNone/>
              <a:defRPr sz="1600">
                <a:solidFill>
                  <a:schemeClr val="bg1"/>
                </a:solidFill>
              </a:defRPr>
            </a:lvl3pPr>
            <a:lvl4pPr marL="1371600" indent="0">
              <a:buNone/>
              <a:defRPr sz="1600">
                <a:solidFill>
                  <a:schemeClr val="bg1"/>
                </a:solidFill>
              </a:defRPr>
            </a:lvl4pPr>
            <a:lvl5pPr marL="1828800" indent="0">
              <a:buNone/>
              <a:defRPr sz="16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/>
              <a:t>Etapa del Proyecto o Subtítulo</a:t>
            </a:r>
            <a:endParaRPr lang="es-CO"/>
          </a:p>
        </p:txBody>
      </p:sp>
      <p:sp>
        <p:nvSpPr>
          <p:cNvPr id="15" name="Marcador de texto 2">
            <a:extLst>
              <a:ext uri="{FF2B5EF4-FFF2-40B4-BE49-F238E27FC236}">
                <a16:creationId xmlns:a16="http://schemas.microsoft.com/office/drawing/2014/main" id="{A53BFCD1-2847-4DDE-86D6-F73D9672E54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42166" y="3288784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accent6"/>
                </a:solidFill>
              </a:defRPr>
            </a:lvl1pPr>
          </a:lstStyle>
          <a:p>
            <a:pPr lvl="0"/>
            <a:r>
              <a:rPr lang="es-CO"/>
              <a:t>00 Mes de Año</a:t>
            </a:r>
          </a:p>
        </p:txBody>
      </p:sp>
      <p:sp>
        <p:nvSpPr>
          <p:cNvPr id="16" name="Marcador de texto 2">
            <a:extLst>
              <a:ext uri="{FF2B5EF4-FFF2-40B4-BE49-F238E27FC236}">
                <a16:creationId xmlns:a16="http://schemas.microsoft.com/office/drawing/2014/main" id="{75E3A350-0154-4153-8153-A7395ACC0CC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2166" y="5813323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accent6"/>
                </a:solidFill>
              </a:defRPr>
            </a:lvl1pPr>
          </a:lstStyle>
          <a:p>
            <a:pPr lvl="0"/>
            <a:r>
              <a:rPr lang="es-CO"/>
              <a:t>Ciudad, País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EE92BBF7-201A-48EE-9644-A555D65FEFD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42166" y="6155935"/>
            <a:ext cx="7315200" cy="2556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bg1"/>
                </a:solidFill>
              </a:defRPr>
            </a:lvl1pPr>
          </a:lstStyle>
          <a:p>
            <a:pPr lvl="0"/>
            <a:r>
              <a:rPr lang="es-ES"/>
              <a:t>TIPO DE DOCUMENTO EN MAYÚSCULA (</a:t>
            </a:r>
            <a:r>
              <a:rPr lang="es-ES" err="1"/>
              <a:t>Ej</a:t>
            </a:r>
            <a:r>
              <a:rPr lang="es-ES"/>
              <a:t>: ETAPA 1: DIAGNÓSTICO)</a:t>
            </a:r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3859470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845" userDrawn="1">
          <p15:clr>
            <a:srgbClr val="FBAE40"/>
          </p15:clr>
        </p15:guide>
        <p15:guide id="2" pos="347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Cobranding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>
            <a:extLst>
              <a:ext uri="{FF2B5EF4-FFF2-40B4-BE49-F238E27FC236}">
                <a16:creationId xmlns:a16="http://schemas.microsoft.com/office/drawing/2014/main" id="{BB051E12-65A3-8E44-BECE-85FB17B3779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305872" y="-1290782"/>
            <a:ext cx="5160670" cy="6151418"/>
          </a:xfrm>
          <a:prstGeom prst="rect">
            <a:avLst/>
          </a:prstGeom>
        </p:spPr>
      </p:pic>
      <p:sp>
        <p:nvSpPr>
          <p:cNvPr id="14" name="Título 1">
            <a:extLst>
              <a:ext uri="{FF2B5EF4-FFF2-40B4-BE49-F238E27FC236}">
                <a16:creationId xmlns:a16="http://schemas.microsoft.com/office/drawing/2014/main" id="{E39DE804-28E8-4651-A7CA-F24B14E5718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166" y="3688137"/>
            <a:ext cx="6238196" cy="1089529"/>
          </a:xfrm>
          <a:prstGeom prst="rect">
            <a:avLst/>
          </a:prstGeom>
        </p:spPr>
        <p:txBody>
          <a:bodyPr>
            <a:spAutoFit/>
          </a:bodyPr>
          <a:lstStyle>
            <a:lvl1pPr>
              <a:defRPr sz="3600" b="1">
                <a:solidFill>
                  <a:srgbClr val="4D4D4D"/>
                </a:solidFill>
              </a:defRPr>
            </a:lvl1pPr>
          </a:lstStyle>
          <a:p>
            <a:r>
              <a:rPr lang="es-ES"/>
              <a:t>Título del proyecto</a:t>
            </a:r>
            <a:br>
              <a:rPr lang="es-ES"/>
            </a:br>
            <a:r>
              <a:rPr lang="es-ES"/>
              <a:t>en dos renglones</a:t>
            </a:r>
            <a:endParaRPr lang="es-CO"/>
          </a:p>
        </p:txBody>
      </p:sp>
      <p:sp>
        <p:nvSpPr>
          <p:cNvPr id="18" name="Marcador de texto 2">
            <a:extLst>
              <a:ext uri="{FF2B5EF4-FFF2-40B4-BE49-F238E27FC236}">
                <a16:creationId xmlns:a16="http://schemas.microsoft.com/office/drawing/2014/main" id="{36349BD4-54B4-4A6C-8D56-156E5546EA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42166" y="4869395"/>
            <a:ext cx="5220000" cy="3384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>
                <a:solidFill>
                  <a:schemeClr val="bg1"/>
                </a:solidFill>
              </a:defRPr>
            </a:lvl2pPr>
            <a:lvl3pPr marL="914400" indent="0">
              <a:buNone/>
              <a:defRPr sz="1600">
                <a:solidFill>
                  <a:schemeClr val="bg1"/>
                </a:solidFill>
              </a:defRPr>
            </a:lvl3pPr>
            <a:lvl4pPr marL="1371600" indent="0">
              <a:buNone/>
              <a:defRPr sz="1600">
                <a:solidFill>
                  <a:schemeClr val="bg1"/>
                </a:solidFill>
              </a:defRPr>
            </a:lvl4pPr>
            <a:lvl5pPr marL="1828800" indent="0">
              <a:buNone/>
              <a:defRPr sz="16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/>
              <a:t>Etapa del Proyecto o Subtítulo</a:t>
            </a:r>
            <a:endParaRPr lang="es-CO"/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443B4D1F-0FC5-48A9-93AA-9D33B8C9B6A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42166" y="3288784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00 Mes de Año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C8BD1358-D2DF-4479-B0D8-CDBD19BA61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2166" y="5813323"/>
            <a:ext cx="5220000" cy="28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3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Ciudad, País</a:t>
            </a:r>
          </a:p>
        </p:txBody>
      </p:sp>
      <p:sp>
        <p:nvSpPr>
          <p:cNvPr id="11" name="Marcador de texto 4">
            <a:extLst>
              <a:ext uri="{FF2B5EF4-FFF2-40B4-BE49-F238E27FC236}">
                <a16:creationId xmlns:a16="http://schemas.microsoft.com/office/drawing/2014/main" id="{D869AFE7-CA4F-4ECA-99FF-E0ADBA6CC81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42166" y="6155935"/>
            <a:ext cx="7315200" cy="2556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rgbClr val="4D4D4D"/>
                </a:solidFill>
              </a:defRPr>
            </a:lvl1pPr>
          </a:lstStyle>
          <a:p>
            <a:pPr lvl="0"/>
            <a:r>
              <a:rPr lang="es-ES"/>
              <a:t>TIPO DE DOCUMENTO EN MAYÚSCULA (</a:t>
            </a:r>
            <a:r>
              <a:rPr lang="es-ES" err="1"/>
              <a:t>Ej</a:t>
            </a:r>
            <a:r>
              <a:rPr lang="es-ES"/>
              <a:t>: ETAPA 1: DIAGNÓSTICO)</a:t>
            </a:r>
            <a:endParaRPr lang="es-CO"/>
          </a:p>
        </p:txBody>
      </p:sp>
      <p:cxnSp>
        <p:nvCxnSpPr>
          <p:cNvPr id="15" name="Straight Connector 24">
            <a:extLst>
              <a:ext uri="{FF2B5EF4-FFF2-40B4-BE49-F238E27FC236}">
                <a16:creationId xmlns:a16="http://schemas.microsoft.com/office/drawing/2014/main" id="{BD93F096-16F8-4E16-A76C-51E92190A55B}"/>
              </a:ext>
            </a:extLst>
          </p:cNvPr>
          <p:cNvCxnSpPr/>
          <p:nvPr userDrawn="1"/>
        </p:nvCxnSpPr>
        <p:spPr>
          <a:xfrm>
            <a:off x="2495600" y="363116"/>
            <a:ext cx="0" cy="587583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Graphic 34">
            <a:extLst>
              <a:ext uri="{FF2B5EF4-FFF2-40B4-BE49-F238E27FC236}">
                <a16:creationId xmlns:a16="http://schemas.microsoft.com/office/drawing/2014/main" id="{3B3EB408-1BBA-4650-B95E-66ECA102AD1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0221" y="275879"/>
            <a:ext cx="1630555" cy="801140"/>
          </a:xfrm>
          <a:prstGeom prst="rect">
            <a:avLst/>
          </a:prstGeom>
        </p:spPr>
      </p:pic>
      <p:sp>
        <p:nvSpPr>
          <p:cNvPr id="17" name="Picture Placeholder 19">
            <a:extLst>
              <a:ext uri="{FF2B5EF4-FFF2-40B4-BE49-F238E27FC236}">
                <a16:creationId xmlns:a16="http://schemas.microsoft.com/office/drawing/2014/main" id="{822A18B6-6D9F-4780-A118-056872001DF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90997" y="188641"/>
            <a:ext cx="2468861" cy="97561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</a:defRPr>
            </a:lvl1pPr>
          </a:lstStyle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8573430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95" userDrawn="1">
          <p15:clr>
            <a:srgbClr val="FBAE40"/>
          </p15:clr>
        </p15:guide>
        <p15:guide id="2" pos="370" userDrawn="1">
          <p15:clr>
            <a:srgbClr val="FBAE40"/>
          </p15:clr>
        </p15:guide>
        <p15:guide id="3" pos="7333" userDrawn="1">
          <p15:clr>
            <a:srgbClr val="FBAE40"/>
          </p15:clr>
        </p15:guide>
        <p15:guide id="4" orient="horz" pos="4042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(max 7 línea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FF788874-A91B-2141-908C-EFED54488C6E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5" name="Marcador de texto 3">
            <a:extLst>
              <a:ext uri="{FF2B5EF4-FFF2-40B4-BE49-F238E27FC236}">
                <a16:creationId xmlns:a16="http://schemas.microsoft.com/office/drawing/2014/main" id="{1BF60F45-07D6-7C49-A9C3-5CDB640B8CE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2593" y="3655911"/>
            <a:ext cx="7316787" cy="369332"/>
          </a:xfrm>
          <a:prstGeom prst="rect">
            <a:avLst/>
          </a:prstGeom>
        </p:spPr>
        <p:txBody>
          <a:bodyPr anchor="t">
            <a:spAutoFit/>
          </a:bodyPr>
          <a:lstStyle>
            <a:lvl1pPr marL="342900" indent="-342900">
              <a:lnSpc>
                <a:spcPct val="100000"/>
              </a:lnSpc>
              <a:buClr>
                <a:srgbClr val="4D4D4D"/>
              </a:buClr>
              <a:buFont typeface="+mj-lt"/>
              <a:buAutoNum type="arabicPeriod"/>
              <a:defRPr kumimoji="0" lang="es-ES" sz="1800" b="0" i="0" u="none" strike="noStrike" kern="1200" cap="none" spc="0" normalizeH="0" baseline="0" dirty="0" smtClean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>
              <a:defRPr/>
            </a:lvl2pPr>
          </a:lstStyle>
          <a:p>
            <a:pPr lvl="0"/>
            <a:r>
              <a:rPr lang="es-ES"/>
              <a:t>Haga clic para agregar capítulos / sub capítulos</a:t>
            </a:r>
          </a:p>
        </p:txBody>
      </p:sp>
      <p:pic>
        <p:nvPicPr>
          <p:cNvPr id="6" name="Imagen 12">
            <a:extLst>
              <a:ext uri="{FF2B5EF4-FFF2-40B4-BE49-F238E27FC236}">
                <a16:creationId xmlns:a16="http://schemas.microsoft.com/office/drawing/2014/main" id="{235687B5-1CD7-CB4D-9863-C108CE9086E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72064" y="-1634358"/>
            <a:ext cx="5618980" cy="6697715"/>
          </a:xfrm>
          <a:prstGeom prst="rect">
            <a:avLst/>
          </a:prstGeom>
        </p:spPr>
      </p:pic>
      <p:sp>
        <p:nvSpPr>
          <p:cNvPr id="10" name="Rectángulo 9">
            <a:extLst>
              <a:ext uri="{FF2B5EF4-FFF2-40B4-BE49-F238E27FC236}">
                <a16:creationId xmlns:a16="http://schemas.microsoft.com/office/drawing/2014/main" id="{1DBE4D4A-FCF2-49A3-A47A-804C68BC8E77}"/>
              </a:ext>
            </a:extLst>
          </p:cNvPr>
          <p:cNvSpPr/>
          <p:nvPr userDrawn="1"/>
        </p:nvSpPr>
        <p:spPr>
          <a:xfrm>
            <a:off x="502985" y="2565997"/>
            <a:ext cx="3528000" cy="5256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l">
              <a:spcAft>
                <a:spcPts val="600"/>
              </a:spcAft>
              <a:buClr>
                <a:srgbClr val="F2F2F2"/>
              </a:buClr>
              <a:buFont typeface="Arial" panose="020B0604020202020204" pitchFamily="34" charset="0"/>
              <a:buNone/>
            </a:pPr>
            <a:r>
              <a:rPr lang="es-CO" sz="2000">
                <a:solidFill>
                  <a:schemeClr val="accent1"/>
                </a:solidFill>
                <a:latin typeface="+mj-lt"/>
              </a:rPr>
              <a:t>Contenido</a:t>
            </a:r>
          </a:p>
        </p:txBody>
      </p:sp>
    </p:spTree>
    <p:extLst>
      <p:ext uri="{BB962C8B-B14F-4D97-AF65-F5344CB8AC3E}">
        <p14:creationId xmlns:p14="http://schemas.microsoft.com/office/powerpoint/2010/main" val="28459117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0" userDrawn="1">
          <p15:clr>
            <a:srgbClr val="FBAE40"/>
          </p15:clr>
        </p15:guide>
        <p15:guide id="2" pos="302" userDrawn="1">
          <p15:clr>
            <a:srgbClr val="FBAE40"/>
          </p15:clr>
        </p15:guide>
        <p15:guide id="3" pos="7423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(extendido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FF788874-A91B-2141-908C-EFED54488C6E}"/>
              </a:ext>
            </a:extLst>
          </p:cNvPr>
          <p:cNvSpPr/>
          <p:nvPr userDrawn="1"/>
        </p:nvSpPr>
        <p:spPr>
          <a:xfrm>
            <a:off x="0" y="0"/>
            <a:ext cx="12192000" cy="1961456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pic>
        <p:nvPicPr>
          <p:cNvPr id="6" name="Imagen 12">
            <a:extLst>
              <a:ext uri="{FF2B5EF4-FFF2-40B4-BE49-F238E27FC236}">
                <a16:creationId xmlns:a16="http://schemas.microsoft.com/office/drawing/2014/main" id="{235687B5-1CD7-CB4D-9863-C108CE9086E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6110072">
            <a:off x="8007246" y="-3197937"/>
            <a:ext cx="4471664" cy="5330137"/>
          </a:xfrm>
          <a:prstGeom prst="rect">
            <a:avLst/>
          </a:prstGeom>
        </p:spPr>
      </p:pic>
      <p:sp>
        <p:nvSpPr>
          <p:cNvPr id="10" name="Marcador de texto 3">
            <a:extLst>
              <a:ext uri="{FF2B5EF4-FFF2-40B4-BE49-F238E27FC236}">
                <a16:creationId xmlns:a16="http://schemas.microsoft.com/office/drawing/2014/main" id="{1150E7CB-F59E-3042-9ABD-EB71477C04A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02592" y="2435181"/>
            <a:ext cx="11340000" cy="369332"/>
          </a:xfrm>
          <a:prstGeom prst="rect">
            <a:avLst/>
          </a:prstGeom>
        </p:spPr>
        <p:txBody>
          <a:bodyPr wrap="square" anchor="t">
            <a:spAutoFit/>
          </a:bodyPr>
          <a:lstStyle>
            <a:lvl1pPr marL="342900" indent="-342900">
              <a:lnSpc>
                <a:spcPct val="100000"/>
              </a:lnSpc>
              <a:buClr>
                <a:srgbClr val="4D4D4D"/>
              </a:buClr>
              <a:buFont typeface="+mj-lt"/>
              <a:buAutoNum type="arabicPeriod"/>
              <a:defRPr kumimoji="0" lang="es-ES" sz="1800" b="0" i="0" u="none" strike="noStrike" kern="1200" cap="none" spc="0" normalizeH="0" baseline="0" dirty="0" smtClean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s-ES"/>
              <a:t>Haga clic para agregar capítulos / sub capítulos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82E78014-88A7-4360-81CA-B7AC549F0152}"/>
              </a:ext>
            </a:extLst>
          </p:cNvPr>
          <p:cNvSpPr/>
          <p:nvPr userDrawn="1"/>
        </p:nvSpPr>
        <p:spPr>
          <a:xfrm>
            <a:off x="502985" y="1053829"/>
            <a:ext cx="3528000" cy="5256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l">
              <a:spcAft>
                <a:spcPts val="600"/>
              </a:spcAft>
              <a:buClr>
                <a:srgbClr val="F2F2F2"/>
              </a:buClr>
              <a:buFont typeface="Arial" panose="020B0604020202020204" pitchFamily="34" charset="0"/>
              <a:buNone/>
            </a:pPr>
            <a:r>
              <a:rPr lang="es-CO" sz="2000">
                <a:solidFill>
                  <a:schemeClr val="accent1"/>
                </a:solidFill>
                <a:latin typeface="+mj-lt"/>
              </a:rPr>
              <a:t>Contenido</a:t>
            </a:r>
          </a:p>
        </p:txBody>
      </p:sp>
    </p:spTree>
    <p:extLst>
      <p:ext uri="{BB962C8B-B14F-4D97-AF65-F5344CB8AC3E}">
        <p14:creationId xmlns:p14="http://schemas.microsoft.com/office/powerpoint/2010/main" val="37509223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0">
          <p15:clr>
            <a:srgbClr val="FBAE40"/>
          </p15:clr>
        </p15:guide>
        <p15:guide id="2" pos="302">
          <p15:clr>
            <a:srgbClr val="FBAE40"/>
          </p15:clr>
        </p15:guide>
        <p15:guide id="3" pos="7423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trada de Cap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05AB4CF-0FD9-0F4C-B275-053618A7E060}"/>
              </a:ext>
            </a:extLst>
          </p:cNvPr>
          <p:cNvSpPr/>
          <p:nvPr userDrawn="1"/>
        </p:nvSpPr>
        <p:spPr>
          <a:xfrm>
            <a:off x="0" y="5229200"/>
            <a:ext cx="12192000" cy="16288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Título 1">
            <a:extLst>
              <a:ext uri="{FF2B5EF4-FFF2-40B4-BE49-F238E27FC236}">
                <a16:creationId xmlns:a16="http://schemas.microsoft.com/office/drawing/2014/main" id="{1CE9B335-FEDB-794A-8270-2A7B303CCC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7009" y="5658220"/>
            <a:ext cx="6238196" cy="646331"/>
          </a:xfrm>
          <a:prstGeom prst="rect">
            <a:avLst/>
          </a:prstGeom>
        </p:spPr>
        <p:txBody>
          <a:bodyPr>
            <a:spAutoFit/>
          </a:bodyPr>
          <a:lstStyle>
            <a:lvl1pPr>
              <a:defRPr sz="2000" b="1">
                <a:solidFill>
                  <a:schemeClr val="accent1"/>
                </a:solidFill>
              </a:defRPr>
            </a:lvl1pPr>
          </a:lstStyle>
          <a:p>
            <a:r>
              <a:rPr lang="es-ES"/>
              <a:t>Título del capítulo</a:t>
            </a:r>
            <a:br>
              <a:rPr lang="es-ES"/>
            </a:br>
            <a:r>
              <a:rPr lang="es-ES"/>
              <a:t>en dos renglones</a:t>
            </a:r>
            <a:endParaRPr lang="es-CO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2E7F941-CB76-4446-B344-348E8DCD63D6}"/>
              </a:ext>
            </a:extLst>
          </p:cNvPr>
          <p:cNvSpPr/>
          <p:nvPr userDrawn="1"/>
        </p:nvSpPr>
        <p:spPr>
          <a:xfrm>
            <a:off x="0" y="-41470"/>
            <a:ext cx="12192000" cy="527067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5A8EC84F-3805-2B4E-9569-A27D53D80D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80576" y="476672"/>
            <a:ext cx="428431" cy="428431"/>
          </a:xfrm>
          <a:prstGeom prst="rect">
            <a:avLst/>
          </a:prstGeom>
        </p:spPr>
      </p:pic>
      <p:sp>
        <p:nvSpPr>
          <p:cNvPr id="13" name="Marcador de texto 29">
            <a:extLst>
              <a:ext uri="{FF2B5EF4-FFF2-40B4-BE49-F238E27FC236}">
                <a16:creationId xmlns:a16="http://schemas.microsoft.com/office/drawing/2014/main" id="{8D682728-3491-874D-AB8D-DFA2EAC0710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27009" y="4602683"/>
            <a:ext cx="5149850" cy="338554"/>
          </a:xfrm>
          <a:prstGeom prst="rect">
            <a:avLst/>
          </a:prstGeom>
        </p:spPr>
        <p:txBody>
          <a:bodyPr>
            <a:sp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>
                <a:solidFill>
                  <a:schemeClr val="accent6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O" sz="1600" b="0" i="0" u="none" strike="noStrike" kern="1200" cap="none" spc="0" normalizeH="0" baseline="0" noProof="0">
                <a:ln>
                  <a:noFill/>
                </a:ln>
                <a:solidFill>
                  <a:srgbClr val="33FB97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Etapa / Categoría / Capítulo </a:t>
            </a:r>
          </a:p>
        </p:txBody>
      </p:sp>
    </p:spTree>
    <p:extLst>
      <p:ext uri="{BB962C8B-B14F-4D97-AF65-F5344CB8AC3E}">
        <p14:creationId xmlns:p14="http://schemas.microsoft.com/office/powerpoint/2010/main" val="33519528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18">
          <p15:clr>
            <a:srgbClr val="FBAE40"/>
          </p15:clr>
        </p15:guide>
        <p15:guide id="2" pos="393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trada de Capítulo (con Imagen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>
            <a:extLst>
              <a:ext uri="{FF2B5EF4-FFF2-40B4-BE49-F238E27FC236}">
                <a16:creationId xmlns:a16="http://schemas.microsoft.com/office/drawing/2014/main" id="{6D3079D4-2566-4878-B27E-4A78A7DF666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835535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592" imgH="591" progId="TCLayout.ActiveDocument.1">
                  <p:embed/>
                </p:oleObj>
              </mc:Choice>
              <mc:Fallback>
                <p:oleObj name="Diapositiva de think-cell" r:id="rId4" imgW="592" imgH="591" progId="TCLayout.ActiveDocument.1">
                  <p:embed/>
                  <p:pic>
                    <p:nvPicPr>
                      <p:cNvPr id="3" name="Objeto 2" hidden="1">
                        <a:extLst>
                          <a:ext uri="{FF2B5EF4-FFF2-40B4-BE49-F238E27FC236}">
                            <a16:creationId xmlns:a16="http://schemas.microsoft.com/office/drawing/2014/main" id="{6D3079D4-2566-4878-B27E-4A78A7DF66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>
            <a:extLst>
              <a:ext uri="{FF2B5EF4-FFF2-40B4-BE49-F238E27FC236}">
                <a16:creationId xmlns:a16="http://schemas.microsoft.com/office/drawing/2014/main" id="{D1DC29AA-B18B-453E-B5B2-3D1D4540E925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Tx/>
              <a:buNone/>
            </a:pPr>
            <a:endParaRPr lang="es-ES" sz="1800" b="1" i="0" baseline="0" err="1">
              <a:solidFill>
                <a:schemeClr val="bg2"/>
              </a:solidFill>
              <a:latin typeface="Arial" panose="020B0604020202020204" pitchFamily="34" charset="0"/>
              <a:ea typeface="+mj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ED40AFE-BD27-FE45-A187-D9E6B700290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522919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s-ES"/>
              <a:t>Haga clic en el icono para agregar una imagen</a:t>
            </a:r>
            <a:endParaRPr lang="es-ES_tradnl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05AB4CF-0FD9-0F4C-B275-053618A7E060}"/>
              </a:ext>
            </a:extLst>
          </p:cNvPr>
          <p:cNvSpPr/>
          <p:nvPr userDrawn="1"/>
        </p:nvSpPr>
        <p:spPr>
          <a:xfrm>
            <a:off x="0" y="5229200"/>
            <a:ext cx="12192000" cy="16288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Título 1">
            <a:extLst>
              <a:ext uri="{FF2B5EF4-FFF2-40B4-BE49-F238E27FC236}">
                <a16:creationId xmlns:a16="http://schemas.microsoft.com/office/drawing/2014/main" id="{1CE9B335-FEDB-794A-8270-2A7B303CCC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7009" y="5517232"/>
            <a:ext cx="6238196" cy="590931"/>
          </a:xfrm>
          <a:prstGeom prst="rect">
            <a:avLst/>
          </a:prstGeom>
        </p:spPr>
        <p:txBody>
          <a:bodyPr>
            <a:spAutoFit/>
          </a:bodyPr>
          <a:lstStyle>
            <a:lvl1pPr>
              <a:defRPr sz="1800" b="1">
                <a:solidFill>
                  <a:schemeClr val="bg1"/>
                </a:solidFill>
              </a:defRPr>
            </a:lvl1pPr>
          </a:lstStyle>
          <a:p>
            <a:r>
              <a:rPr lang="es-ES"/>
              <a:t>Título del capítulo</a:t>
            </a:r>
            <a:br>
              <a:rPr lang="es-ES"/>
            </a:br>
            <a:r>
              <a:rPr lang="es-ES"/>
              <a:t>en dos renglones</a:t>
            </a:r>
            <a:endParaRPr lang="es-CO"/>
          </a:p>
        </p:txBody>
      </p:sp>
      <p:sp>
        <p:nvSpPr>
          <p:cNvPr id="9" name="Marcador de texto 29">
            <a:extLst>
              <a:ext uri="{FF2B5EF4-FFF2-40B4-BE49-F238E27FC236}">
                <a16:creationId xmlns:a16="http://schemas.microsoft.com/office/drawing/2014/main" id="{6AB9F182-C0C7-4A44-AD53-B24E2B72FD3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7009" y="6231320"/>
            <a:ext cx="5149850" cy="338554"/>
          </a:xfrm>
          <a:prstGeom prst="rect">
            <a:avLst/>
          </a:prstGeom>
        </p:spPr>
        <p:txBody>
          <a:bodyPr>
            <a:sp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>
                <a:solidFill>
                  <a:schemeClr val="accent6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O" sz="1600" b="0" i="0" u="none" strike="noStrike" kern="1200" cap="none" spc="0" normalizeH="0" baseline="0" noProof="0">
                <a:ln>
                  <a:noFill/>
                </a:ln>
                <a:solidFill>
                  <a:srgbClr val="33FB97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Etapa / Categoría / Capítulo </a:t>
            </a: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5A8EC84F-3805-2B4E-9569-A27D53D80D0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136560" y="5517232"/>
            <a:ext cx="428431" cy="4284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48476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18">
          <p15:clr>
            <a:srgbClr val="FBAE40"/>
          </p15:clr>
        </p15:guide>
        <p15:guide id="2" pos="393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bjetiv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>
            <a:extLst>
              <a:ext uri="{FF2B5EF4-FFF2-40B4-BE49-F238E27FC236}">
                <a16:creationId xmlns:a16="http://schemas.microsoft.com/office/drawing/2014/main" id="{C4FACCB8-7A88-482D-A4D5-961C77B6F3E4}"/>
              </a:ext>
            </a:extLst>
          </p:cNvPr>
          <p:cNvSpPr/>
          <p:nvPr userDrawn="1"/>
        </p:nvSpPr>
        <p:spPr>
          <a:xfrm>
            <a:off x="0" y="0"/>
            <a:ext cx="5094514" cy="6858000"/>
          </a:xfrm>
          <a:prstGeom prst="rect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61D39E3C-222E-48D9-B181-7892C87ED8A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33457" y="2766600"/>
            <a:ext cx="3027600" cy="13248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s-CO"/>
              <a:t>Haga clic para agregar objetivo general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34E033C1-AA26-493F-98C4-49E2197556C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47257" y="498346"/>
            <a:ext cx="3600000" cy="4320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s-CO"/>
              <a:t>Objetivo General</a:t>
            </a:r>
          </a:p>
        </p:txBody>
      </p:sp>
      <p:sp>
        <p:nvSpPr>
          <p:cNvPr id="10" name="Marcador de texto 2">
            <a:extLst>
              <a:ext uri="{FF2B5EF4-FFF2-40B4-BE49-F238E27FC236}">
                <a16:creationId xmlns:a16="http://schemas.microsoft.com/office/drawing/2014/main" id="{1DACA4F2-463E-438E-8A8D-C76A056B480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3257" y="498346"/>
            <a:ext cx="3600000" cy="4320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4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Objetivos Específicos</a:t>
            </a:r>
          </a:p>
        </p:txBody>
      </p:sp>
      <p:sp>
        <p:nvSpPr>
          <p:cNvPr id="7" name="Marcador de contenido 8">
            <a:extLst>
              <a:ext uri="{FF2B5EF4-FFF2-40B4-BE49-F238E27FC236}">
                <a16:creationId xmlns:a16="http://schemas.microsoft.com/office/drawing/2014/main" id="{830B46B8-8276-4E80-BC7B-EB58B1974987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3257" y="1268250"/>
            <a:ext cx="594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defRPr sz="1600">
                <a:solidFill>
                  <a:schemeClr val="accent1"/>
                </a:solidFill>
              </a:defRPr>
            </a:lvl1pPr>
            <a:lvl2pPr marL="625475" indent="-174625">
              <a:lnSpc>
                <a:spcPct val="100000"/>
              </a:lnSpc>
              <a:spcBef>
                <a:spcPts val="300"/>
              </a:spcBef>
              <a:buClr>
                <a:schemeClr val="tx1"/>
              </a:buClr>
              <a:buSzPct val="100000"/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objetivo específico</a:t>
            </a:r>
          </a:p>
          <a:p>
            <a:pPr lvl="1"/>
            <a:r>
              <a:rPr lang="es-ES"/>
              <a:t>Segundo nivel</a:t>
            </a:r>
          </a:p>
        </p:txBody>
      </p:sp>
    </p:spTree>
    <p:extLst>
      <p:ext uri="{BB962C8B-B14F-4D97-AF65-F5344CB8AC3E}">
        <p14:creationId xmlns:p14="http://schemas.microsoft.com/office/powerpoint/2010/main" val="104244808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saje Destacado Gr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866532A-5939-9447-BA5E-C7E0087D045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0393E69-6632-6D45-A904-A617815C5F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401" y="692696"/>
            <a:ext cx="7057121" cy="1325563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</a:lstStyle>
          <a:p>
            <a:r>
              <a:rPr lang="es-ES"/>
              <a:t>Haga clic para modificar el estilo de título del patrón</a:t>
            </a:r>
            <a:endParaRPr lang="es-ES_tradnl"/>
          </a:p>
        </p:txBody>
      </p:sp>
      <p:pic>
        <p:nvPicPr>
          <p:cNvPr id="6" name="Imagen 12">
            <a:extLst>
              <a:ext uri="{FF2B5EF4-FFF2-40B4-BE49-F238E27FC236}">
                <a16:creationId xmlns:a16="http://schemas.microsoft.com/office/drawing/2014/main" id="{3496947F-8F1F-0E4C-B640-0CC3DBFBD1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19999" y="722262"/>
            <a:ext cx="6638525" cy="79129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10816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saje Destacado Gris Con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866532A-5939-9447-BA5E-C7E0087D045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0393E69-6632-6D45-A904-A617815C5F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401" y="692696"/>
            <a:ext cx="7842672" cy="1325563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</a:lstStyle>
          <a:p>
            <a:r>
              <a:rPr lang="es-ES"/>
              <a:t>Haga clic para agregar mensaje</a:t>
            </a:r>
            <a:endParaRPr lang="es-ES_tradnl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EAED85C0-E28C-4BC8-A2C0-545082BC63A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94935" y="2308225"/>
            <a:ext cx="9039615" cy="3857625"/>
          </a:xfrm>
          <a:prstGeom prst="rect">
            <a:avLst/>
          </a:prstGeom>
        </p:spPr>
        <p:txBody>
          <a:bodyPr/>
          <a:lstStyle>
            <a:lvl1pPr marL="177800" indent="-177800">
              <a:spcBef>
                <a:spcPts val="0"/>
              </a:spcBef>
              <a:spcAft>
                <a:spcPts val="1800"/>
              </a:spcAft>
              <a:buFont typeface="Arial" panose="020B0604020202020204" pitchFamily="34" charset="0"/>
              <a:buChar char="•"/>
              <a:defRPr sz="1800"/>
            </a:lvl1pPr>
          </a:lstStyle>
          <a:p>
            <a:pPr lvl="0"/>
            <a:r>
              <a:rPr lang="es-CO"/>
              <a:t>Haga clic para agregar texto</a:t>
            </a:r>
          </a:p>
        </p:txBody>
      </p:sp>
      <p:pic>
        <p:nvPicPr>
          <p:cNvPr id="17" name="Imagen 16">
            <a:extLst>
              <a:ext uri="{FF2B5EF4-FFF2-40B4-BE49-F238E27FC236}">
                <a16:creationId xmlns:a16="http://schemas.microsoft.com/office/drawing/2014/main" id="{E976458A-AB10-4987-92E4-BB40CE0412A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458681" y="-2945080"/>
            <a:ext cx="5160670" cy="61514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729769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ensajes Principal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Marcador de texto 24">
            <a:extLst>
              <a:ext uri="{FF2B5EF4-FFF2-40B4-BE49-F238E27FC236}">
                <a16:creationId xmlns:a16="http://schemas.microsoft.com/office/drawing/2014/main" id="{D5A3DD11-55CA-4641-9BC9-CE60C6D8371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72023" y="1730886"/>
            <a:ext cx="288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1</a:t>
            </a:r>
          </a:p>
        </p:txBody>
      </p:sp>
      <p:sp>
        <p:nvSpPr>
          <p:cNvPr id="26" name="Marcador de texto 24">
            <a:extLst>
              <a:ext uri="{FF2B5EF4-FFF2-40B4-BE49-F238E27FC236}">
                <a16:creationId xmlns:a16="http://schemas.microsoft.com/office/drawing/2014/main" id="{19E73AA7-DE58-47BE-BF6D-9BDED55B2B0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56932" y="1730886"/>
            <a:ext cx="288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2</a:t>
            </a:r>
          </a:p>
        </p:txBody>
      </p:sp>
      <p:sp>
        <p:nvSpPr>
          <p:cNvPr id="27" name="Marcador de texto 24">
            <a:extLst>
              <a:ext uri="{FF2B5EF4-FFF2-40B4-BE49-F238E27FC236}">
                <a16:creationId xmlns:a16="http://schemas.microsoft.com/office/drawing/2014/main" id="{7C51A475-879D-4FCD-8656-74C6DC02FFF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729852" y="1730886"/>
            <a:ext cx="288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3</a:t>
            </a:r>
          </a:p>
        </p:txBody>
      </p:sp>
      <p:cxnSp>
        <p:nvCxnSpPr>
          <p:cNvPr id="9" name="Conector recto 25">
            <a:extLst>
              <a:ext uri="{FF2B5EF4-FFF2-40B4-BE49-F238E27FC236}">
                <a16:creationId xmlns:a16="http://schemas.microsoft.com/office/drawing/2014/main" id="{5FF7A4E8-BE7C-4501-9F00-AF5BA5DD50F7}"/>
              </a:ext>
            </a:extLst>
          </p:cNvPr>
          <p:cNvCxnSpPr>
            <a:cxnSpLocks/>
          </p:cNvCxnSpPr>
          <p:nvPr userDrawn="1"/>
        </p:nvCxnSpPr>
        <p:spPr>
          <a:xfrm>
            <a:off x="672023" y="2289052"/>
            <a:ext cx="288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32">
            <a:extLst>
              <a:ext uri="{FF2B5EF4-FFF2-40B4-BE49-F238E27FC236}">
                <a16:creationId xmlns:a16="http://schemas.microsoft.com/office/drawing/2014/main" id="{96DD45CA-3A8F-4F1F-8B6A-F2B75ACFD1E1}"/>
              </a:ext>
            </a:extLst>
          </p:cNvPr>
          <p:cNvCxnSpPr>
            <a:cxnSpLocks/>
          </p:cNvCxnSpPr>
          <p:nvPr userDrawn="1"/>
        </p:nvCxnSpPr>
        <p:spPr>
          <a:xfrm>
            <a:off x="4656932" y="2289052"/>
            <a:ext cx="288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cto 37">
            <a:extLst>
              <a:ext uri="{FF2B5EF4-FFF2-40B4-BE49-F238E27FC236}">
                <a16:creationId xmlns:a16="http://schemas.microsoft.com/office/drawing/2014/main" id="{FD95140D-EB3E-48C3-B1B8-06C0943178AC}"/>
              </a:ext>
            </a:extLst>
          </p:cNvPr>
          <p:cNvCxnSpPr>
            <a:cxnSpLocks/>
          </p:cNvCxnSpPr>
          <p:nvPr userDrawn="1"/>
        </p:nvCxnSpPr>
        <p:spPr>
          <a:xfrm>
            <a:off x="8729852" y="2289052"/>
            <a:ext cx="288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Marcador de texto 24">
            <a:extLst>
              <a:ext uri="{FF2B5EF4-FFF2-40B4-BE49-F238E27FC236}">
                <a16:creationId xmlns:a16="http://schemas.microsoft.com/office/drawing/2014/main" id="{EF8568B9-F426-409C-984D-A1752397A7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72023" y="4675905"/>
            <a:ext cx="288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rgbClr val="4D4D4D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1</a:t>
            </a:r>
          </a:p>
        </p:txBody>
      </p:sp>
      <p:sp>
        <p:nvSpPr>
          <p:cNvPr id="34" name="Marcador de texto 24">
            <a:extLst>
              <a:ext uri="{FF2B5EF4-FFF2-40B4-BE49-F238E27FC236}">
                <a16:creationId xmlns:a16="http://schemas.microsoft.com/office/drawing/2014/main" id="{F39863E0-4738-41D5-9DC0-BB847304BB0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56932" y="4675905"/>
            <a:ext cx="288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rgbClr val="4D4D4D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2</a:t>
            </a:r>
          </a:p>
        </p:txBody>
      </p:sp>
      <p:sp>
        <p:nvSpPr>
          <p:cNvPr id="35" name="Marcador de texto 24">
            <a:extLst>
              <a:ext uri="{FF2B5EF4-FFF2-40B4-BE49-F238E27FC236}">
                <a16:creationId xmlns:a16="http://schemas.microsoft.com/office/drawing/2014/main" id="{DF9851D6-53D7-4DB3-AAED-16B8C5D1183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29852" y="4675905"/>
            <a:ext cx="288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rgbClr val="4D4D4D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3</a:t>
            </a:r>
          </a:p>
        </p:txBody>
      </p:sp>
      <p:sp>
        <p:nvSpPr>
          <p:cNvPr id="32" name="Marcador de número de diapositiva 2">
            <a:extLst>
              <a:ext uri="{FF2B5EF4-FFF2-40B4-BE49-F238E27FC236}">
                <a16:creationId xmlns:a16="http://schemas.microsoft.com/office/drawing/2014/main" id="{F23CDB4A-B663-4BF5-89A6-70DBF8D3BD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36" name="Marcador de pie de página 3">
            <a:extLst>
              <a:ext uri="{FF2B5EF4-FFF2-40B4-BE49-F238E27FC236}">
                <a16:creationId xmlns:a16="http://schemas.microsoft.com/office/drawing/2014/main" id="{8B23115E-34D3-4F94-96C0-4D9F849BEBF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B8C7BD52-3A83-4458-8C6B-3698A105320A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38" name="Marcador de texto 4">
            <a:extLst>
              <a:ext uri="{FF2B5EF4-FFF2-40B4-BE49-F238E27FC236}">
                <a16:creationId xmlns:a16="http://schemas.microsoft.com/office/drawing/2014/main" id="{B598488F-E25E-4292-997D-12FF8D92EB8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C4C18F78-ACA0-435F-A5A2-92E275940227}"/>
              </a:ext>
            </a:extLst>
          </p:cNvPr>
          <p:cNvSpPr>
            <a:spLocks noGrp="1"/>
          </p:cNvSpPr>
          <p:nvPr>
            <p:ph sz="quarter" idx="29" hasCustomPrompt="1"/>
          </p:nvPr>
        </p:nvSpPr>
        <p:spPr>
          <a:xfrm>
            <a:off x="672023" y="2542289"/>
            <a:ext cx="288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1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942029E3-B982-435D-898C-6C7FB53DFF9D}"/>
              </a:ext>
            </a:extLst>
          </p:cNvPr>
          <p:cNvSpPr>
            <a:spLocks noGrp="1"/>
          </p:cNvSpPr>
          <p:nvPr>
            <p:ph sz="quarter" idx="30" hasCustomPrompt="1"/>
          </p:nvPr>
        </p:nvSpPr>
        <p:spPr>
          <a:xfrm>
            <a:off x="4656932" y="2531403"/>
            <a:ext cx="288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2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  <p:sp>
        <p:nvSpPr>
          <p:cNvPr id="23" name="Marcador de contenido 8">
            <a:extLst>
              <a:ext uri="{FF2B5EF4-FFF2-40B4-BE49-F238E27FC236}">
                <a16:creationId xmlns:a16="http://schemas.microsoft.com/office/drawing/2014/main" id="{F765C695-E396-49D5-95B5-1054B44D327C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8729852" y="2531403"/>
            <a:ext cx="288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3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</p:spTree>
    <p:extLst>
      <p:ext uri="{BB962C8B-B14F-4D97-AF65-F5344CB8AC3E}">
        <p14:creationId xmlns:p14="http://schemas.microsoft.com/office/powerpoint/2010/main" val="376835349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sajes Principales (4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6">
            <a:extLst>
              <a:ext uri="{FF2B5EF4-FFF2-40B4-BE49-F238E27FC236}">
                <a16:creationId xmlns:a16="http://schemas.microsoft.com/office/drawing/2014/main" id="{2EA5FB4F-D667-4AFF-BEB2-74AB4488F66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969346" y="3343230"/>
            <a:ext cx="43333" cy="34792"/>
          </a:xfrm>
          <a:prstGeom prst="rect">
            <a:avLst/>
          </a:prstGeom>
        </p:spPr>
      </p:pic>
      <p:sp>
        <p:nvSpPr>
          <p:cNvPr id="25" name="Marcador de texto 24">
            <a:extLst>
              <a:ext uri="{FF2B5EF4-FFF2-40B4-BE49-F238E27FC236}">
                <a16:creationId xmlns:a16="http://schemas.microsoft.com/office/drawing/2014/main" id="{D5A3DD11-55CA-4641-9BC9-CE60C6D8371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72023" y="1730886"/>
            <a:ext cx="234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1</a:t>
            </a:r>
          </a:p>
        </p:txBody>
      </p:sp>
      <p:sp>
        <p:nvSpPr>
          <p:cNvPr id="26" name="Marcador de texto 24">
            <a:extLst>
              <a:ext uri="{FF2B5EF4-FFF2-40B4-BE49-F238E27FC236}">
                <a16:creationId xmlns:a16="http://schemas.microsoft.com/office/drawing/2014/main" id="{19E73AA7-DE58-47BE-BF6D-9BDED55B2B0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93960" y="1730886"/>
            <a:ext cx="234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2</a:t>
            </a:r>
          </a:p>
        </p:txBody>
      </p:sp>
      <p:sp>
        <p:nvSpPr>
          <p:cNvPr id="27" name="Marcador de texto 24">
            <a:extLst>
              <a:ext uri="{FF2B5EF4-FFF2-40B4-BE49-F238E27FC236}">
                <a16:creationId xmlns:a16="http://schemas.microsoft.com/office/drawing/2014/main" id="{7C51A475-879D-4FCD-8656-74C6DC02FFF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59903" y="1730886"/>
            <a:ext cx="234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3</a:t>
            </a:r>
          </a:p>
        </p:txBody>
      </p:sp>
      <p:sp>
        <p:nvSpPr>
          <p:cNvPr id="28" name="Marcador de texto 24">
            <a:extLst>
              <a:ext uri="{FF2B5EF4-FFF2-40B4-BE49-F238E27FC236}">
                <a16:creationId xmlns:a16="http://schemas.microsoft.com/office/drawing/2014/main" id="{6AFB3A34-339F-4BB7-9866-E2BFFC91B0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69852" y="1730886"/>
            <a:ext cx="2340000" cy="504000"/>
          </a:xfrm>
          <a:prstGeom prst="rect">
            <a:avLst/>
          </a:prstGeom>
        </p:spPr>
        <p:txBody>
          <a:bodyPr lIns="36000" rIns="36000" anchor="b"/>
          <a:lstStyle>
            <a:lvl1pPr marL="0" indent="0">
              <a:buNone/>
              <a:defRPr sz="15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Conclusión # 4</a:t>
            </a:r>
          </a:p>
        </p:txBody>
      </p:sp>
      <p:cxnSp>
        <p:nvCxnSpPr>
          <p:cNvPr id="9" name="Conector recto 25">
            <a:extLst>
              <a:ext uri="{FF2B5EF4-FFF2-40B4-BE49-F238E27FC236}">
                <a16:creationId xmlns:a16="http://schemas.microsoft.com/office/drawing/2014/main" id="{5FF7A4E8-BE7C-4501-9F00-AF5BA5DD50F7}"/>
              </a:ext>
            </a:extLst>
          </p:cNvPr>
          <p:cNvCxnSpPr>
            <a:cxnSpLocks/>
          </p:cNvCxnSpPr>
          <p:nvPr userDrawn="1"/>
        </p:nvCxnSpPr>
        <p:spPr>
          <a:xfrm>
            <a:off x="672023" y="2289052"/>
            <a:ext cx="234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32">
            <a:extLst>
              <a:ext uri="{FF2B5EF4-FFF2-40B4-BE49-F238E27FC236}">
                <a16:creationId xmlns:a16="http://schemas.microsoft.com/office/drawing/2014/main" id="{96DD45CA-3A8F-4F1F-8B6A-F2B75ACFD1E1}"/>
              </a:ext>
            </a:extLst>
          </p:cNvPr>
          <p:cNvCxnSpPr>
            <a:cxnSpLocks/>
          </p:cNvCxnSpPr>
          <p:nvPr userDrawn="1"/>
        </p:nvCxnSpPr>
        <p:spPr>
          <a:xfrm>
            <a:off x="3493960" y="2289052"/>
            <a:ext cx="234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cto 37">
            <a:extLst>
              <a:ext uri="{FF2B5EF4-FFF2-40B4-BE49-F238E27FC236}">
                <a16:creationId xmlns:a16="http://schemas.microsoft.com/office/drawing/2014/main" id="{FD95140D-EB3E-48C3-B1B8-06C0943178AC}"/>
              </a:ext>
            </a:extLst>
          </p:cNvPr>
          <p:cNvCxnSpPr>
            <a:cxnSpLocks/>
          </p:cNvCxnSpPr>
          <p:nvPr userDrawn="1"/>
        </p:nvCxnSpPr>
        <p:spPr>
          <a:xfrm>
            <a:off x="6359903" y="2289052"/>
            <a:ext cx="234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42">
            <a:extLst>
              <a:ext uri="{FF2B5EF4-FFF2-40B4-BE49-F238E27FC236}">
                <a16:creationId xmlns:a16="http://schemas.microsoft.com/office/drawing/2014/main" id="{21E89D9A-2B09-476F-8714-1BF86E5CAD45}"/>
              </a:ext>
            </a:extLst>
          </p:cNvPr>
          <p:cNvCxnSpPr>
            <a:cxnSpLocks/>
          </p:cNvCxnSpPr>
          <p:nvPr userDrawn="1"/>
        </p:nvCxnSpPr>
        <p:spPr>
          <a:xfrm>
            <a:off x="9269852" y="2289052"/>
            <a:ext cx="2340000" cy="0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Marcador de texto 24">
            <a:extLst>
              <a:ext uri="{FF2B5EF4-FFF2-40B4-BE49-F238E27FC236}">
                <a16:creationId xmlns:a16="http://schemas.microsoft.com/office/drawing/2014/main" id="{EF8568B9-F426-409C-984D-A1752397A7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72023" y="4675908"/>
            <a:ext cx="234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1</a:t>
            </a:r>
          </a:p>
        </p:txBody>
      </p:sp>
      <p:sp>
        <p:nvSpPr>
          <p:cNvPr id="34" name="Marcador de texto 24">
            <a:extLst>
              <a:ext uri="{FF2B5EF4-FFF2-40B4-BE49-F238E27FC236}">
                <a16:creationId xmlns:a16="http://schemas.microsoft.com/office/drawing/2014/main" id="{F39863E0-4738-41D5-9DC0-BB847304BB0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493960" y="4675908"/>
            <a:ext cx="234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2</a:t>
            </a:r>
          </a:p>
        </p:txBody>
      </p:sp>
      <p:sp>
        <p:nvSpPr>
          <p:cNvPr id="35" name="Marcador de texto 24">
            <a:extLst>
              <a:ext uri="{FF2B5EF4-FFF2-40B4-BE49-F238E27FC236}">
                <a16:creationId xmlns:a16="http://schemas.microsoft.com/office/drawing/2014/main" id="{DF9851D6-53D7-4DB3-AAED-16B8C5D1183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59903" y="4675908"/>
            <a:ext cx="234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3</a:t>
            </a:r>
          </a:p>
        </p:txBody>
      </p:sp>
      <p:sp>
        <p:nvSpPr>
          <p:cNvPr id="36" name="Marcador de texto 24">
            <a:extLst>
              <a:ext uri="{FF2B5EF4-FFF2-40B4-BE49-F238E27FC236}">
                <a16:creationId xmlns:a16="http://schemas.microsoft.com/office/drawing/2014/main" id="{523610E7-BE93-4D01-8616-9BE3542DC7A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69852" y="4675908"/>
            <a:ext cx="2340000" cy="900000"/>
          </a:xfrm>
          <a:prstGeom prst="rect">
            <a:avLst/>
          </a:prstGeom>
        </p:spPr>
        <p:txBody>
          <a:bodyPr lIns="36000" rIns="36000" anchor="t"/>
          <a:lstStyle>
            <a:lvl1pPr marL="171450" indent="-171450">
              <a:buFont typeface="Arial" panose="020B0604020202020204" pitchFamily="34" charset="0"/>
              <a:buChar char="•"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es-CO"/>
              <a:t>Haga clic para agregar texto adicional Conclusión # 4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C02A2C5B-7ED2-4BA6-9421-53CB842DFC1F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44" name="Marcador de número de diapositiva 2">
            <a:extLst>
              <a:ext uri="{FF2B5EF4-FFF2-40B4-BE49-F238E27FC236}">
                <a16:creationId xmlns:a16="http://schemas.microsoft.com/office/drawing/2014/main" id="{7231A859-1341-4B22-8648-08AE5D909B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45" name="Marcador de pie de página 3">
            <a:extLst>
              <a:ext uri="{FF2B5EF4-FFF2-40B4-BE49-F238E27FC236}">
                <a16:creationId xmlns:a16="http://schemas.microsoft.com/office/drawing/2014/main" id="{7C600E1C-7BE7-4D2B-9A70-6CEB2CDF7F53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3" name="Marcador de texto 4">
            <a:extLst>
              <a:ext uri="{FF2B5EF4-FFF2-40B4-BE49-F238E27FC236}">
                <a16:creationId xmlns:a16="http://schemas.microsoft.com/office/drawing/2014/main" id="{210D01F0-A396-48AC-B0AC-860C54EDBD8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  <p:sp>
        <p:nvSpPr>
          <p:cNvPr id="37" name="Marcador de contenido 8">
            <a:extLst>
              <a:ext uri="{FF2B5EF4-FFF2-40B4-BE49-F238E27FC236}">
                <a16:creationId xmlns:a16="http://schemas.microsoft.com/office/drawing/2014/main" id="{250A6EF1-C631-47D7-B38E-9B5B0EA8D34D}"/>
              </a:ext>
            </a:extLst>
          </p:cNvPr>
          <p:cNvSpPr>
            <a:spLocks noGrp="1"/>
          </p:cNvSpPr>
          <p:nvPr>
            <p:ph sz="quarter" idx="29" hasCustomPrompt="1"/>
          </p:nvPr>
        </p:nvSpPr>
        <p:spPr>
          <a:xfrm>
            <a:off x="672023" y="2531403"/>
            <a:ext cx="234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1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  <p:sp>
        <p:nvSpPr>
          <p:cNvPr id="39" name="Marcador de contenido 8">
            <a:extLst>
              <a:ext uri="{FF2B5EF4-FFF2-40B4-BE49-F238E27FC236}">
                <a16:creationId xmlns:a16="http://schemas.microsoft.com/office/drawing/2014/main" id="{589C6849-963D-43BC-B378-24EF709BC460}"/>
              </a:ext>
            </a:extLst>
          </p:cNvPr>
          <p:cNvSpPr>
            <a:spLocks noGrp="1"/>
          </p:cNvSpPr>
          <p:nvPr>
            <p:ph sz="quarter" idx="30" hasCustomPrompt="1"/>
          </p:nvPr>
        </p:nvSpPr>
        <p:spPr>
          <a:xfrm>
            <a:off x="3493960" y="2531403"/>
            <a:ext cx="234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2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  <p:sp>
        <p:nvSpPr>
          <p:cNvPr id="41" name="Marcador de contenido 8">
            <a:extLst>
              <a:ext uri="{FF2B5EF4-FFF2-40B4-BE49-F238E27FC236}">
                <a16:creationId xmlns:a16="http://schemas.microsoft.com/office/drawing/2014/main" id="{EF3B5487-CB34-49B8-8363-2E841E160868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359903" y="2531403"/>
            <a:ext cx="234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3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  <p:sp>
        <p:nvSpPr>
          <p:cNvPr id="46" name="Marcador de contenido 8">
            <a:extLst>
              <a:ext uri="{FF2B5EF4-FFF2-40B4-BE49-F238E27FC236}">
                <a16:creationId xmlns:a16="http://schemas.microsoft.com/office/drawing/2014/main" id="{E91BB7E9-F27C-453C-BA78-7122CDB9D259}"/>
              </a:ext>
            </a:extLst>
          </p:cNvPr>
          <p:cNvSpPr>
            <a:spLocks noGrp="1"/>
          </p:cNvSpPr>
          <p:nvPr>
            <p:ph sz="quarter" idx="32" hasCustomPrompt="1"/>
          </p:nvPr>
        </p:nvSpPr>
        <p:spPr>
          <a:xfrm>
            <a:off x="9269852" y="2531403"/>
            <a:ext cx="2340000" cy="198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spcAft>
                <a:spcPts val="1500"/>
              </a:spcAft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361950" indent="-174625">
              <a:lnSpc>
                <a:spcPct val="100000"/>
              </a:lnSpc>
              <a:spcBef>
                <a:spcPts val="300"/>
              </a:spcBef>
              <a:spcAft>
                <a:spcPts val="1500"/>
              </a:spcAft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agregar texto Conclusión # 4</a:t>
            </a:r>
          </a:p>
          <a:p>
            <a:pPr lvl="1"/>
            <a:r>
              <a:rPr lang="es-ES" err="1"/>
              <a:t>Bullet</a:t>
            </a:r>
            <a:r>
              <a:rPr lang="es-ES"/>
              <a:t> de segundo nivel</a:t>
            </a:r>
          </a:p>
        </p:txBody>
      </p:sp>
    </p:spTree>
    <p:extLst>
      <p:ext uri="{BB962C8B-B14F-4D97-AF65-F5344CB8AC3E}">
        <p14:creationId xmlns:p14="http://schemas.microsoft.com/office/powerpoint/2010/main" val="11254939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37087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contenido 8">
            <a:extLst>
              <a:ext uri="{FF2B5EF4-FFF2-40B4-BE49-F238E27FC236}">
                <a16:creationId xmlns:a16="http://schemas.microsoft.com/office/drawing/2014/main" id="{6FEB0F4D-15DD-4602-8AF2-D21A5CD82749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24900" y="1449320"/>
            <a:ext cx="1134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5BDD6D16-D0D3-46BF-982F-716C3D9A3F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6673BFD0-752A-4364-8075-0474C1CA6306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9" name="Marcador de texto 4">
            <a:extLst>
              <a:ext uri="{FF2B5EF4-FFF2-40B4-BE49-F238E27FC236}">
                <a16:creationId xmlns:a16="http://schemas.microsoft.com/office/drawing/2014/main" id="{269C7842-445E-4CBF-9B03-B98668FE6DA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71148715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621137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número de diapositiva 2">
            <a:extLst>
              <a:ext uri="{FF2B5EF4-FFF2-40B4-BE49-F238E27FC236}">
                <a16:creationId xmlns:a16="http://schemas.microsoft.com/office/drawing/2014/main" id="{481750B0-0024-493E-B29F-24672621B9B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2" name="Marcador de pie de página 3">
            <a:extLst>
              <a:ext uri="{FF2B5EF4-FFF2-40B4-BE49-F238E27FC236}">
                <a16:creationId xmlns:a16="http://schemas.microsoft.com/office/drawing/2014/main" id="{B767E3AC-320C-470E-8B12-0CF9E3B47F4A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0" name="Marcador de contenido 8">
            <a:extLst>
              <a:ext uri="{FF2B5EF4-FFF2-40B4-BE49-F238E27FC236}">
                <a16:creationId xmlns:a16="http://schemas.microsoft.com/office/drawing/2014/main" id="{A88B1C6C-EAD6-45D2-9833-34D999D9F37A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24900" y="1449320"/>
            <a:ext cx="1134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3" name="Marcador de texto 4">
            <a:extLst>
              <a:ext uri="{FF2B5EF4-FFF2-40B4-BE49-F238E27FC236}">
                <a16:creationId xmlns:a16="http://schemas.microsoft.com/office/drawing/2014/main" id="{1BE85488-E92F-4541-A4B7-AB349BE456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38532849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112199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2">
            <a:extLst>
              <a:ext uri="{FF2B5EF4-FFF2-40B4-BE49-F238E27FC236}">
                <a16:creationId xmlns:a16="http://schemas.microsoft.com/office/drawing/2014/main" id="{0DDA5E6A-F013-46B6-9FF3-EA6B3FA6EC5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2" name="Marcador de número de diapositiva 2">
            <a:extLst>
              <a:ext uri="{FF2B5EF4-FFF2-40B4-BE49-F238E27FC236}">
                <a16:creationId xmlns:a16="http://schemas.microsoft.com/office/drawing/2014/main" id="{4BC1FA02-D426-4375-BE5D-91EED0340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3" name="Marcador de pie de página 3">
            <a:extLst>
              <a:ext uri="{FF2B5EF4-FFF2-40B4-BE49-F238E27FC236}">
                <a16:creationId xmlns:a16="http://schemas.microsoft.com/office/drawing/2014/main" id="{465DA8C7-958A-4CF6-B19A-C951E856D95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4" name="Marcador de contenido 8">
            <a:extLst>
              <a:ext uri="{FF2B5EF4-FFF2-40B4-BE49-F238E27FC236}">
                <a16:creationId xmlns:a16="http://schemas.microsoft.com/office/drawing/2014/main" id="{DA5BB142-288E-4C75-8F41-3BC6AC8DD3A0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802900" y="1449320"/>
            <a:ext cx="10962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0" name="Marcador de texto 4">
            <a:extLst>
              <a:ext uri="{FF2B5EF4-FFF2-40B4-BE49-F238E27FC236}">
                <a16:creationId xmlns:a16="http://schemas.microsoft.com/office/drawing/2014/main" id="{6978C342-6E9B-4A36-9E64-9154BDE63B2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93555158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3822923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2">
            <a:extLst>
              <a:ext uri="{FF2B5EF4-FFF2-40B4-BE49-F238E27FC236}">
                <a16:creationId xmlns:a16="http://schemas.microsoft.com/office/drawing/2014/main" id="{0DDA5E6A-F013-46B6-9FF3-EA6B3FA6EC5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2" name="Marcador de número de diapositiva 2">
            <a:extLst>
              <a:ext uri="{FF2B5EF4-FFF2-40B4-BE49-F238E27FC236}">
                <a16:creationId xmlns:a16="http://schemas.microsoft.com/office/drawing/2014/main" id="{058ADE9C-8D6E-4FC4-80D6-D416927D1E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3" name="Marcador de pie de página 3">
            <a:extLst>
              <a:ext uri="{FF2B5EF4-FFF2-40B4-BE49-F238E27FC236}">
                <a16:creationId xmlns:a16="http://schemas.microsoft.com/office/drawing/2014/main" id="{197340C2-DA23-4AFA-AC60-0725B3DBBBE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0" name="Marcador de contenido 8">
            <a:extLst>
              <a:ext uri="{FF2B5EF4-FFF2-40B4-BE49-F238E27FC236}">
                <a16:creationId xmlns:a16="http://schemas.microsoft.com/office/drawing/2014/main" id="{DCD702C9-6549-4B56-A6C9-01ACB7466964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802900" y="1449320"/>
            <a:ext cx="1096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4" name="Marcador de texto 4">
            <a:extLst>
              <a:ext uri="{FF2B5EF4-FFF2-40B4-BE49-F238E27FC236}">
                <a16:creationId xmlns:a16="http://schemas.microsoft.com/office/drawing/2014/main" id="{8B42765C-DB8E-4B52-848E-447C899BE1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1865141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Y Do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2">
            <a:extLst>
              <a:ext uri="{FF2B5EF4-FFF2-40B4-BE49-F238E27FC236}">
                <a16:creationId xmlns:a16="http://schemas.microsoft.com/office/drawing/2014/main" id="{CFF09C32-46CF-4022-9F47-40D50B1E3D39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2">
            <a:extLst>
              <a:ext uri="{FF2B5EF4-FFF2-40B4-BE49-F238E27FC236}">
                <a16:creationId xmlns:a16="http://schemas.microsoft.com/office/drawing/2014/main" id="{74C418B9-B10A-492E-9BE8-A606AC87C48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0" name="Marcador de número de diapositiva 2">
            <a:extLst>
              <a:ext uri="{FF2B5EF4-FFF2-40B4-BE49-F238E27FC236}">
                <a16:creationId xmlns:a16="http://schemas.microsoft.com/office/drawing/2014/main" id="{807BA51E-4DD1-4D56-8B9D-2691DC0B2E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1" name="Marcador de pie de página 3">
            <a:extLst>
              <a:ext uri="{FF2B5EF4-FFF2-40B4-BE49-F238E27FC236}">
                <a16:creationId xmlns:a16="http://schemas.microsoft.com/office/drawing/2014/main" id="{E243C98C-B257-4C52-923C-281F1F6F8FC0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2" name="Marcador de contenido 8">
            <a:extLst>
              <a:ext uri="{FF2B5EF4-FFF2-40B4-BE49-F238E27FC236}">
                <a16:creationId xmlns:a16="http://schemas.microsoft.com/office/drawing/2014/main" id="{7893BAD4-D863-4F71-A080-53717B384B9F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802900" y="1449320"/>
            <a:ext cx="10584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3" name="Marcador de texto 4">
            <a:extLst>
              <a:ext uri="{FF2B5EF4-FFF2-40B4-BE49-F238E27FC236}">
                <a16:creationId xmlns:a16="http://schemas.microsoft.com/office/drawing/2014/main" id="{3381CE15-7B8A-466E-998C-6F06D405729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6011262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Y Doble Off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2">
            <a:extLst>
              <a:ext uri="{FF2B5EF4-FFF2-40B4-BE49-F238E27FC236}">
                <a16:creationId xmlns:a16="http://schemas.microsoft.com/office/drawing/2014/main" id="{74C418B9-B10A-492E-9BE8-A606AC87C48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número de diapositiva 2">
            <a:extLst>
              <a:ext uri="{FF2B5EF4-FFF2-40B4-BE49-F238E27FC236}">
                <a16:creationId xmlns:a16="http://schemas.microsoft.com/office/drawing/2014/main" id="{9ABC95CF-FA04-4EFE-9CE6-8ACD3E870C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36" name="Marcador de pie de página 3">
            <a:extLst>
              <a:ext uri="{FF2B5EF4-FFF2-40B4-BE49-F238E27FC236}">
                <a16:creationId xmlns:a16="http://schemas.microsoft.com/office/drawing/2014/main" id="{03C0EE77-BCB2-4CF4-B10C-7994694816C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0" name="Marcador de contenido 8">
            <a:extLst>
              <a:ext uri="{FF2B5EF4-FFF2-40B4-BE49-F238E27FC236}">
                <a16:creationId xmlns:a16="http://schemas.microsoft.com/office/drawing/2014/main" id="{2EDC206C-BF81-4B2B-92AE-F9E533B5CDF2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802900" y="1449320"/>
            <a:ext cx="1058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1" name="Marcador de texto 2">
            <a:extLst>
              <a:ext uri="{FF2B5EF4-FFF2-40B4-BE49-F238E27FC236}">
                <a16:creationId xmlns:a16="http://schemas.microsoft.com/office/drawing/2014/main" id="{A98D5ACE-FDB3-4BEF-9F43-C949DA850BCD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2" name="Marcador de texto 4">
            <a:extLst>
              <a:ext uri="{FF2B5EF4-FFF2-40B4-BE49-F238E27FC236}">
                <a16:creationId xmlns:a16="http://schemas.microsoft.com/office/drawing/2014/main" id="{9580D3B4-E52F-45D3-BEAB-A18462C8C72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3923473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X, 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1" name="Marcador de texto 2">
            <a:extLst>
              <a:ext uri="{FF2B5EF4-FFF2-40B4-BE49-F238E27FC236}">
                <a16:creationId xmlns:a16="http://schemas.microsoft.com/office/drawing/2014/main" id="{1619F472-70B2-4422-9140-DB4211F7E164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2" name="Marcador de texto 2">
            <a:extLst>
              <a:ext uri="{FF2B5EF4-FFF2-40B4-BE49-F238E27FC236}">
                <a16:creationId xmlns:a16="http://schemas.microsoft.com/office/drawing/2014/main" id="{4EB84E45-F6D8-497A-AF3B-47673725B31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10962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0" name="Marcador de número de diapositiva 2">
            <a:extLst>
              <a:ext uri="{FF2B5EF4-FFF2-40B4-BE49-F238E27FC236}">
                <a16:creationId xmlns:a16="http://schemas.microsoft.com/office/drawing/2014/main" id="{D2A4538B-89F8-4855-B919-AB8F4235AC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3" name="Marcador de pie de página 3">
            <a:extLst>
              <a:ext uri="{FF2B5EF4-FFF2-40B4-BE49-F238E27FC236}">
                <a16:creationId xmlns:a16="http://schemas.microsoft.com/office/drawing/2014/main" id="{1E77AD7E-AD52-4B63-8EF3-CAAE6EA65FA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4" name="Marcador de contenido 8">
            <a:extLst>
              <a:ext uri="{FF2B5EF4-FFF2-40B4-BE49-F238E27FC236}">
                <a16:creationId xmlns:a16="http://schemas.microsoft.com/office/drawing/2014/main" id="{1865B97E-ED32-4D6D-95DB-A6370E9E5771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802900" y="1449320"/>
            <a:ext cx="10962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72F5063C-7B12-428C-957A-7F5929462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7095290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X,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2" name="Marcador de texto 2">
            <a:extLst>
              <a:ext uri="{FF2B5EF4-FFF2-40B4-BE49-F238E27FC236}">
                <a16:creationId xmlns:a16="http://schemas.microsoft.com/office/drawing/2014/main" id="{4EB84E45-F6D8-497A-AF3B-47673725B31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1096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número de diapositiva 2">
            <a:extLst>
              <a:ext uri="{FF2B5EF4-FFF2-40B4-BE49-F238E27FC236}">
                <a16:creationId xmlns:a16="http://schemas.microsoft.com/office/drawing/2014/main" id="{DE57D708-A355-45AC-85FB-BAB4AE0904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890C6ED7-66F1-49F0-9E35-1D6F22EBB23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0" name="Marcador de contenido 8">
            <a:extLst>
              <a:ext uri="{FF2B5EF4-FFF2-40B4-BE49-F238E27FC236}">
                <a16:creationId xmlns:a16="http://schemas.microsoft.com/office/drawing/2014/main" id="{4C170A71-0A20-417A-B7F3-01A8055DDFF8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802900" y="1449320"/>
            <a:ext cx="1096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E6AA102-ED20-4525-A103-AA284DFB7FA3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1" name="Marcador de texto 4">
            <a:extLst>
              <a:ext uri="{FF2B5EF4-FFF2-40B4-BE49-F238E27FC236}">
                <a16:creationId xmlns:a16="http://schemas.microsoft.com/office/drawing/2014/main" id="{5B06A65F-36D7-408C-A23F-7925036F767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5985640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X, Y Do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2">
            <a:extLst>
              <a:ext uri="{FF2B5EF4-FFF2-40B4-BE49-F238E27FC236}">
                <a16:creationId xmlns:a16="http://schemas.microsoft.com/office/drawing/2014/main" id="{CFF09C32-46CF-4022-9F47-40D50B1E3D39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2">
            <a:extLst>
              <a:ext uri="{FF2B5EF4-FFF2-40B4-BE49-F238E27FC236}">
                <a16:creationId xmlns:a16="http://schemas.microsoft.com/office/drawing/2014/main" id="{74C418B9-B10A-492E-9BE8-A606AC87C48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0" name="Marcador de texto 2">
            <a:extLst>
              <a:ext uri="{FF2B5EF4-FFF2-40B4-BE49-F238E27FC236}">
                <a16:creationId xmlns:a16="http://schemas.microsoft.com/office/drawing/2014/main" id="{7A954579-62DC-441E-BB40-78BEED395CC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10584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1" name="Marcador de número de diapositiva 2">
            <a:extLst>
              <a:ext uri="{FF2B5EF4-FFF2-40B4-BE49-F238E27FC236}">
                <a16:creationId xmlns:a16="http://schemas.microsoft.com/office/drawing/2014/main" id="{92E4842C-057A-4EB8-8031-69F97E38E0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2" name="Marcador de pie de página 3">
            <a:extLst>
              <a:ext uri="{FF2B5EF4-FFF2-40B4-BE49-F238E27FC236}">
                <a16:creationId xmlns:a16="http://schemas.microsoft.com/office/drawing/2014/main" id="{74EB8449-6D60-4C71-9465-8006FE3A438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3" name="Marcador de contenido 8">
            <a:extLst>
              <a:ext uri="{FF2B5EF4-FFF2-40B4-BE49-F238E27FC236}">
                <a16:creationId xmlns:a16="http://schemas.microsoft.com/office/drawing/2014/main" id="{84A4BE48-841E-4E9C-80CC-94D699710BCA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802900" y="1449320"/>
            <a:ext cx="10584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4" name="Marcador de texto 4">
            <a:extLst>
              <a:ext uri="{FF2B5EF4-FFF2-40B4-BE49-F238E27FC236}">
                <a16:creationId xmlns:a16="http://schemas.microsoft.com/office/drawing/2014/main" id="{F59B1502-5199-40D3-AF4B-AC6B14BC0B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9891048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ja Central Eje X,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>
            <a:extLst>
              <a:ext uri="{FF2B5EF4-FFF2-40B4-BE49-F238E27FC236}">
                <a16:creationId xmlns:a16="http://schemas.microsoft.com/office/drawing/2014/main" id="{C802E677-FC64-4385-BF22-918C7AC91970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29" name="Marcador de texto 10">
            <a:extLst>
              <a:ext uri="{FF2B5EF4-FFF2-40B4-BE49-F238E27FC236}">
                <a16:creationId xmlns:a16="http://schemas.microsoft.com/office/drawing/2014/main" id="{264E6A64-E3C2-431A-BA4A-4CBB3BA730C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2">
            <a:extLst>
              <a:ext uri="{FF2B5EF4-FFF2-40B4-BE49-F238E27FC236}">
                <a16:creationId xmlns:a16="http://schemas.microsoft.com/office/drawing/2014/main" id="{74C418B9-B10A-492E-9BE8-A606AC87C48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0" name="Marcador de texto 2">
            <a:extLst>
              <a:ext uri="{FF2B5EF4-FFF2-40B4-BE49-F238E27FC236}">
                <a16:creationId xmlns:a16="http://schemas.microsoft.com/office/drawing/2014/main" id="{7A954579-62DC-441E-BB40-78BEED395CC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1058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1" name="Marcador de número de diapositiva 2">
            <a:extLst>
              <a:ext uri="{FF2B5EF4-FFF2-40B4-BE49-F238E27FC236}">
                <a16:creationId xmlns:a16="http://schemas.microsoft.com/office/drawing/2014/main" id="{5A9C3E38-A1AA-419F-8441-284E6AE0A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2" name="Marcador de pie de página 3">
            <a:extLst>
              <a:ext uri="{FF2B5EF4-FFF2-40B4-BE49-F238E27FC236}">
                <a16:creationId xmlns:a16="http://schemas.microsoft.com/office/drawing/2014/main" id="{7332D02C-C22A-47DA-A1F9-5D77CD40B6E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3" name="Marcador de contenido 8">
            <a:extLst>
              <a:ext uri="{FF2B5EF4-FFF2-40B4-BE49-F238E27FC236}">
                <a16:creationId xmlns:a16="http://schemas.microsoft.com/office/drawing/2014/main" id="{38080B58-8FB8-4783-97F5-1D40CDDDAAEA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802900" y="1449320"/>
            <a:ext cx="1058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0D6E186B-E887-4AF3-A322-E5318CE598A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A446FC90-1FB0-4E90-A836-016B43B6C57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285794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439063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número de diapositiva 2">
            <a:extLst>
              <a:ext uri="{FF2B5EF4-FFF2-40B4-BE49-F238E27FC236}">
                <a16:creationId xmlns:a16="http://schemas.microsoft.com/office/drawing/2014/main" id="{9CD77FAB-087B-48F3-B5E4-6A016BD11D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4" name="Marcador de pie de página 3">
            <a:extLst>
              <a:ext uri="{FF2B5EF4-FFF2-40B4-BE49-F238E27FC236}">
                <a16:creationId xmlns:a16="http://schemas.microsoft.com/office/drawing/2014/main" id="{D280D485-CAE7-46B1-BD92-AF7018A51AF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49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8" name="Marcador de contenido 8">
            <a:extLst>
              <a:ext uri="{FF2B5EF4-FFF2-40B4-BE49-F238E27FC236}">
                <a16:creationId xmlns:a16="http://schemas.microsoft.com/office/drawing/2014/main" id="{5C57A896-D7A5-4C31-A200-743A5F39122A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424900" y="1449320"/>
            <a:ext cx="540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2F447B32-0F7E-4C91-AE2B-916FA3E8EDBD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6364900" y="1449320"/>
            <a:ext cx="540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2" name="Marcador de texto 4">
            <a:extLst>
              <a:ext uri="{FF2B5EF4-FFF2-40B4-BE49-F238E27FC236}">
                <a16:creationId xmlns:a16="http://schemas.microsoft.com/office/drawing/2014/main" id="{E66083F9-C1A2-40C0-B817-FBA443D43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38800863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455774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número de diapositiva 2">
            <a:extLst>
              <a:ext uri="{FF2B5EF4-FFF2-40B4-BE49-F238E27FC236}">
                <a16:creationId xmlns:a16="http://schemas.microsoft.com/office/drawing/2014/main" id="{FC6D4E12-C7D1-4094-A5CA-1DFAD3E8456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4" name="Marcador de pie de página 3">
            <a:extLst>
              <a:ext uri="{FF2B5EF4-FFF2-40B4-BE49-F238E27FC236}">
                <a16:creationId xmlns:a16="http://schemas.microsoft.com/office/drawing/2014/main" id="{DF8D3549-16D9-43B0-B075-EEE8F224DE46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DF28BE12-F405-4597-82C1-63FB6B229751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424900" y="1449320"/>
            <a:ext cx="54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88508859-DD37-481F-91D0-03B5D8345480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6364900" y="1449320"/>
            <a:ext cx="54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2" name="Marcador de texto 4">
            <a:extLst>
              <a:ext uri="{FF2B5EF4-FFF2-40B4-BE49-F238E27FC236}">
                <a16:creationId xmlns:a16="http://schemas.microsoft.com/office/drawing/2014/main" id="{7129A0BF-603E-448F-803C-4F6714B0B8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79210117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Off-White y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0213800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número de diapositiva 2">
            <a:extLst>
              <a:ext uri="{FF2B5EF4-FFF2-40B4-BE49-F238E27FC236}">
                <a16:creationId xmlns:a16="http://schemas.microsoft.com/office/drawing/2014/main" id="{3D7ECC5E-26C1-4943-9807-E828200E6C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4" name="Marcador de pie de página 3">
            <a:extLst>
              <a:ext uri="{FF2B5EF4-FFF2-40B4-BE49-F238E27FC236}">
                <a16:creationId xmlns:a16="http://schemas.microsoft.com/office/drawing/2014/main" id="{C194FC30-730C-494E-99B0-55C237EC2BED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7BB848A1-0F58-429C-867A-E53445BA7191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424900" y="1449320"/>
            <a:ext cx="54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B06AA722-5CC9-437C-A0CD-45A927A0A6C1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6364900" y="1449320"/>
            <a:ext cx="540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2" name="Marcador de texto 4">
            <a:extLst>
              <a:ext uri="{FF2B5EF4-FFF2-40B4-BE49-F238E27FC236}">
                <a16:creationId xmlns:a16="http://schemas.microsoft.com/office/drawing/2014/main" id="{539DF8D1-A879-4A56-81D5-0005380393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89181117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Blanco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322286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número de diapositiva 2">
            <a:extLst>
              <a:ext uri="{FF2B5EF4-FFF2-40B4-BE49-F238E27FC236}">
                <a16:creationId xmlns:a16="http://schemas.microsoft.com/office/drawing/2014/main" id="{92B16328-C07D-4812-8F8E-0718AA88F2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4" name="Marcador de pie de página 3">
            <a:extLst>
              <a:ext uri="{FF2B5EF4-FFF2-40B4-BE49-F238E27FC236}">
                <a16:creationId xmlns:a16="http://schemas.microsoft.com/office/drawing/2014/main" id="{09E0DC2F-BC69-4643-9FC0-F5858969634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C61C9A1C-959C-4795-AA2A-1782E602F056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424900" y="1449320"/>
            <a:ext cx="5400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6F6F6A21-9C60-44A8-8309-E38A4AB6070F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6364900" y="1449320"/>
            <a:ext cx="54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2" name="Marcador de texto 4">
            <a:extLst>
              <a:ext uri="{FF2B5EF4-FFF2-40B4-BE49-F238E27FC236}">
                <a16:creationId xmlns:a16="http://schemas.microsoft.com/office/drawing/2014/main" id="{6E03035E-5D85-47FC-B455-AF2FA488C08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14574939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7604525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60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AF4A619C-D6DD-4F65-BCC2-AD2F8AB5D8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74B5C876-4A18-498F-B096-48DD97D11A2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85B69859-0EF8-423D-9CFA-945EE620AE00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B72D7CE2-0BA3-404A-8309-4379AB2E884B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34AED471-236C-41FA-9696-087EF5821EB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50713957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525327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número de diapositiva 2">
            <a:extLst>
              <a:ext uri="{FF2B5EF4-FFF2-40B4-BE49-F238E27FC236}">
                <a16:creationId xmlns:a16="http://schemas.microsoft.com/office/drawing/2014/main" id="{BD156C4F-9784-4DAF-8F17-011EE81D04D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2" name="Marcador de pie de página 3">
            <a:extLst>
              <a:ext uri="{FF2B5EF4-FFF2-40B4-BE49-F238E27FC236}">
                <a16:creationId xmlns:a16="http://schemas.microsoft.com/office/drawing/2014/main" id="{2741EA51-75C4-45DB-BF4F-3BF0C78C02C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9943BA37-1B52-4526-BB52-C38C35203BD7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5AF1FD37-9512-4EE6-913C-50B40AC2721E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2">
            <a:extLst>
              <a:ext uri="{FF2B5EF4-FFF2-40B4-BE49-F238E27FC236}">
                <a16:creationId xmlns:a16="http://schemas.microsoft.com/office/drawing/2014/main" id="{920EEA45-8C19-4EC2-A062-20C0F6670AC6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4">
            <a:extLst>
              <a:ext uri="{FF2B5EF4-FFF2-40B4-BE49-F238E27FC236}">
                <a16:creationId xmlns:a16="http://schemas.microsoft.com/office/drawing/2014/main" id="{19640086-5931-4B8B-9FD5-2935ABA0A69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04617688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Off-White y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963928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A0897C18-2513-4DF5-976B-C9B05CB38C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5B3987E3-2AD7-4131-8142-4C336FABEFA0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6F3C9D0F-4FFA-4441-AE4B-441E8173FF92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1C81EB2F-446F-4BBC-A3C4-244F184BE5F1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2">
            <a:extLst>
              <a:ext uri="{FF2B5EF4-FFF2-40B4-BE49-F238E27FC236}">
                <a16:creationId xmlns:a16="http://schemas.microsoft.com/office/drawing/2014/main" id="{C746228F-A43A-4BA1-B2BD-0FB471400227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4">
            <a:extLst>
              <a:ext uri="{FF2B5EF4-FFF2-40B4-BE49-F238E27FC236}">
                <a16:creationId xmlns:a16="http://schemas.microsoft.com/office/drawing/2014/main" id="{F6079D5F-9489-4605-9EE7-2578E92EDC2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51354166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Blanco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140992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60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93440A6C-C546-4099-994B-ACFA1BB4A5C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FA39777B-DD96-4C5F-B8B4-71AE3597F47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C01BC60D-554B-41A5-ABFA-BFE85C805CBE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7C17C4ED-6355-4FF1-895A-AF8E4087C560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D98FAE2D-BB61-425C-BB5C-FCDE09ABF5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65837315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Do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4810592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60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7156CD67-FB1B-4DF9-98D1-04BFB6206DD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5400000">
            <a:off x="32058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2">
            <a:extLst>
              <a:ext uri="{FF2B5EF4-FFF2-40B4-BE49-F238E27FC236}">
                <a16:creationId xmlns:a16="http://schemas.microsoft.com/office/drawing/2014/main" id="{0B96D229-813B-42D4-9115-31CD85EA42CA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115F6853-6194-4B09-A301-71CBEABC6EF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6B5F00E4-5DCA-4691-972B-1C2C77C6CE2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75DEC8B9-3423-466D-A3AA-2069460B2FEC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802900" y="1449320"/>
            <a:ext cx="4644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01BDF994-06F5-44CC-AF89-1EC9BCB602A8}"/>
              </a:ext>
            </a:extLst>
          </p:cNvPr>
          <p:cNvSpPr>
            <a:spLocks noGrp="1"/>
          </p:cNvSpPr>
          <p:nvPr>
            <p:ph sz="quarter" idx="36"/>
          </p:nvPr>
        </p:nvSpPr>
        <p:spPr>
          <a:xfrm>
            <a:off x="6742900" y="1449320"/>
            <a:ext cx="4644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55B0435A-BCFB-4182-9294-53A60B2FE9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94641354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7795799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7156CD67-FB1B-4DF9-98D1-04BFB6206DD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5400000">
            <a:off x="3205899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2">
            <a:extLst>
              <a:ext uri="{FF2B5EF4-FFF2-40B4-BE49-F238E27FC236}">
                <a16:creationId xmlns:a16="http://schemas.microsoft.com/office/drawing/2014/main" id="{0B96D229-813B-42D4-9115-31CD85EA42CA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564D940C-003A-4E1E-8E0F-5AF3A667C7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8051BE4C-0B4E-4331-B8C3-8472A99738E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58B1DEBE-30C8-48FD-B3C4-C67535E19FBA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802900" y="1449320"/>
            <a:ext cx="46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3A6FD39B-8F7A-4F4F-815D-58BE917FDC36}"/>
              </a:ext>
            </a:extLst>
          </p:cNvPr>
          <p:cNvSpPr>
            <a:spLocks noGrp="1"/>
          </p:cNvSpPr>
          <p:nvPr>
            <p:ph sz="quarter" idx="36"/>
          </p:nvPr>
        </p:nvSpPr>
        <p:spPr>
          <a:xfrm>
            <a:off x="6742900" y="1449320"/>
            <a:ext cx="46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BCA477F6-438F-4DB7-B021-570AA0B48D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23205123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Doble Off-White y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559717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7156CD67-FB1B-4DF9-98D1-04BFB6206DD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5400000">
            <a:off x="3205899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2">
            <a:extLst>
              <a:ext uri="{FF2B5EF4-FFF2-40B4-BE49-F238E27FC236}">
                <a16:creationId xmlns:a16="http://schemas.microsoft.com/office/drawing/2014/main" id="{0B96D229-813B-42D4-9115-31CD85EA42CA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A3B33F49-8589-4A3E-98E4-ED3B72E4EB1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FF0445D0-1E22-4658-98CB-36E12B6235E6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7D28A405-C5FB-437E-B0A9-114AA5BD8259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802900" y="1449320"/>
            <a:ext cx="46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14136CB6-60C8-45A5-A595-31101B422FB3}"/>
              </a:ext>
            </a:extLst>
          </p:cNvPr>
          <p:cNvSpPr>
            <a:spLocks noGrp="1"/>
          </p:cNvSpPr>
          <p:nvPr>
            <p:ph sz="quarter" idx="36"/>
          </p:nvPr>
        </p:nvSpPr>
        <p:spPr>
          <a:xfrm>
            <a:off x="6742900" y="1449320"/>
            <a:ext cx="4644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F4443451-7423-4130-8806-A190B2EE919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326767362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Y Doble Blanco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8545340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2">
            <a:extLst>
              <a:ext uri="{FF2B5EF4-FFF2-40B4-BE49-F238E27FC236}">
                <a16:creationId xmlns:a16="http://schemas.microsoft.com/office/drawing/2014/main" id="{214A876C-9E68-4892-81B3-E101D75D2C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 rot="16200000">
            <a:off x="-18160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2">
            <a:extLst>
              <a:ext uri="{FF2B5EF4-FFF2-40B4-BE49-F238E27FC236}">
                <a16:creationId xmlns:a16="http://schemas.microsoft.com/office/drawing/2014/main" id="{28F31E32-9AD2-42C8-B3DD-AD3896A47D08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7156CD67-FB1B-4DF9-98D1-04BFB6206DD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5400000">
            <a:off x="3205899" y="3690320"/>
            <a:ext cx="4860000" cy="378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2">
            <a:extLst>
              <a:ext uri="{FF2B5EF4-FFF2-40B4-BE49-F238E27FC236}">
                <a16:creationId xmlns:a16="http://schemas.microsoft.com/office/drawing/2014/main" id="{0B96D229-813B-42D4-9115-31CD85EA42CA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8336CBA5-EB00-4F12-9E2F-B76E983D27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9123496A-E031-4B27-AC30-C2A2DBD9766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8EDC742B-7364-41C6-8EC3-5DA3A9BECEFA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802900" y="1449320"/>
            <a:ext cx="4644000" cy="486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8DF2F75F-4531-4476-8FCD-A41D50CB592B}"/>
              </a:ext>
            </a:extLst>
          </p:cNvPr>
          <p:cNvSpPr>
            <a:spLocks noGrp="1"/>
          </p:cNvSpPr>
          <p:nvPr>
            <p:ph sz="quarter" idx="36"/>
          </p:nvPr>
        </p:nvSpPr>
        <p:spPr>
          <a:xfrm>
            <a:off x="6742900" y="1449320"/>
            <a:ext cx="46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9C22306E-9880-49DC-A441-9EDF58B3BD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97348895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026920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00D68FBF-5365-497F-804E-3B3A988C810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A30E12EA-2EFF-4253-973E-211CAE1D98F8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0BB9F870-3A1A-489B-BCD0-8F7142AA47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5022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15FED5E1-B6BA-4D6E-BE3F-86A116CA1DB0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5022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número de diapositiva 2">
            <a:extLst>
              <a:ext uri="{FF2B5EF4-FFF2-40B4-BE49-F238E27FC236}">
                <a16:creationId xmlns:a16="http://schemas.microsoft.com/office/drawing/2014/main" id="{A2770DED-10B4-4B39-BDF9-AB05F788FD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6" name="Marcador de pie de página 3">
            <a:extLst>
              <a:ext uri="{FF2B5EF4-FFF2-40B4-BE49-F238E27FC236}">
                <a16:creationId xmlns:a16="http://schemas.microsoft.com/office/drawing/2014/main" id="{3DE95F2F-A720-46ED-9059-68F7981491E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C2635618-B5B2-47F2-8003-C01324364CCE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9519B70B-4636-4102-8F84-C78F8E1EA3EF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2D5704A1-A1F0-42AE-9100-ABE2E594EDF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495079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795958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00D68FBF-5365-497F-804E-3B3A988C810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A30E12EA-2EFF-4253-973E-211CAE1D98F8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0BB9F870-3A1A-489B-BCD0-8F7142AA47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15FED5E1-B6BA-4D6E-BE3F-86A116CA1DB0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34ACE93E-8600-426B-89CE-79FE48FCE05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3A943FFA-F42E-4A15-A288-1424FB3B4ABD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BCA9E808-C76C-4899-9A12-94EF76B72F5E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0E48051C-BF2C-4C8D-977D-E7ED219134CE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C5471FF3-9F48-4DC0-83C4-5E3341AEF9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51069710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Off-White y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6819031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00D68FBF-5365-497F-804E-3B3A988C810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A30E12EA-2EFF-4253-973E-211CAE1D98F8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0BB9F870-3A1A-489B-BCD0-8F7142AA47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15FED5E1-B6BA-4D6E-BE3F-86A116CA1DB0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5022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E35CFA12-6C3F-474C-9DA1-03A91B1D161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16CD3D31-4DA0-41A1-ADD8-D685F1236099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943B30E9-FED2-4212-8812-5BA92385D112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F4570F59-7048-4FB0-A7F7-CC788035F10F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69F2CC8B-15A0-4471-BD16-B2631BD79DC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50454591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Blanco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70566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00D68FBF-5365-497F-804E-3B3A988C810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A30E12EA-2EFF-4253-973E-211CAE1D98F8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0BB9F870-3A1A-489B-BCD0-8F7142AA47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5022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15FED5E1-B6BA-4D6E-BE3F-86A116CA1DB0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7D23B539-3C01-47B4-BDDA-127BB78FC9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78AD60C6-EB17-4465-9B4F-0C6CF5F8B4B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FCB8DB9B-A023-41D7-AF80-79C231C88286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5022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65D3B1E5-57DC-4399-B58E-08C4221DCDC1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50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391FD905-4B41-4DBA-A4F0-31B1B456E85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4715752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Do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437752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00D68FBF-5365-497F-804E-3B3A988C810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7EB205DA-1D7F-47AB-9832-26298391989B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5400000">
            <a:off x="3205900" y="3690320"/>
            <a:ext cx="4860000" cy="378000"/>
          </a:xfrm>
          <a:prstGeom prst="rect">
            <a:avLst/>
          </a:prstGeom>
          <a:noFill/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A30E12EA-2EFF-4253-973E-211CAE1D98F8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4B841383-DBCB-45D8-9087-5A7075539044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0BB9F870-3A1A-489B-BCD0-8F7142AA47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4644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15FED5E1-B6BA-4D6E-BE3F-86A116CA1DB0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4644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D8AAC478-93A6-4EAA-B73A-F88BB36C010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1B55FAD5-3DD5-4598-91D1-9C4641C6A8F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5" name="Marcador de contenido 8">
            <a:extLst>
              <a:ext uri="{FF2B5EF4-FFF2-40B4-BE49-F238E27FC236}">
                <a16:creationId xmlns:a16="http://schemas.microsoft.com/office/drawing/2014/main" id="{50FAEDDE-2155-4BC5-AAAC-7827BE0B5DDC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4644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6" name="Marcador de contenido 8">
            <a:extLst>
              <a:ext uri="{FF2B5EF4-FFF2-40B4-BE49-F238E27FC236}">
                <a16:creationId xmlns:a16="http://schemas.microsoft.com/office/drawing/2014/main" id="{E8E2CC20-4F1D-4CED-9359-DD16EAAC2922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4644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7" name="Marcador de texto 4">
            <a:extLst>
              <a:ext uri="{FF2B5EF4-FFF2-40B4-BE49-F238E27FC236}">
                <a16:creationId xmlns:a16="http://schemas.microsoft.com/office/drawing/2014/main" id="{E9A2E32B-AB2E-4619-BDC8-B6FF4EB3A52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45703531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85806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FC2DBA5D-DEAA-42E5-861C-0D81E30416CA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E6A136DB-71E7-4CA2-9507-EF89288220E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5400000">
            <a:off x="320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C53A882F-0BD1-4D34-A29A-50DD65FC869A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>
            <a:extLst>
              <a:ext uri="{FF2B5EF4-FFF2-40B4-BE49-F238E27FC236}">
                <a16:creationId xmlns:a16="http://schemas.microsoft.com/office/drawing/2014/main" id="{CCFF2378-0440-44C3-B2D4-1D618EA962D3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>
            <a:extLst>
              <a:ext uri="{FF2B5EF4-FFF2-40B4-BE49-F238E27FC236}">
                <a16:creationId xmlns:a16="http://schemas.microsoft.com/office/drawing/2014/main" id="{BF7ED866-4F5C-4831-A96D-26E33B3060C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0" name="Marcador de texto 2">
            <a:extLst>
              <a:ext uri="{FF2B5EF4-FFF2-40B4-BE49-F238E27FC236}">
                <a16:creationId xmlns:a16="http://schemas.microsoft.com/office/drawing/2014/main" id="{51C583CB-9815-480C-B486-EC58C83ABFAA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1" name="Marcador de número de diapositiva 2">
            <a:extLst>
              <a:ext uri="{FF2B5EF4-FFF2-40B4-BE49-F238E27FC236}">
                <a16:creationId xmlns:a16="http://schemas.microsoft.com/office/drawing/2014/main" id="{5ED52CF5-3B33-4737-85BE-E791EB19F1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32" name="Marcador de pie de página 3">
            <a:extLst>
              <a:ext uri="{FF2B5EF4-FFF2-40B4-BE49-F238E27FC236}">
                <a16:creationId xmlns:a16="http://schemas.microsoft.com/office/drawing/2014/main" id="{2050FDC4-C823-412E-9022-DBB79CC7217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9C5545CC-B9C2-4856-AB1C-3DA5DBB63CFB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46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contenido 8">
            <a:extLst>
              <a:ext uri="{FF2B5EF4-FFF2-40B4-BE49-F238E27FC236}">
                <a16:creationId xmlns:a16="http://schemas.microsoft.com/office/drawing/2014/main" id="{6D6573B6-524E-430C-A91C-8720244A04B9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46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texto 4">
            <a:extLst>
              <a:ext uri="{FF2B5EF4-FFF2-40B4-BE49-F238E27FC236}">
                <a16:creationId xmlns:a16="http://schemas.microsoft.com/office/drawing/2014/main" id="{F5BAFA35-BF32-4F99-B03D-62C56BDB433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22148556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Doble Off-White y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129180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FC2DBA5D-DEAA-42E5-861C-0D81E30416CA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39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E6A136DB-71E7-4CA2-9507-EF89288220E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5400000">
            <a:off x="320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C53A882F-0BD1-4D34-A29A-50DD65FC869A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43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>
            <a:extLst>
              <a:ext uri="{FF2B5EF4-FFF2-40B4-BE49-F238E27FC236}">
                <a16:creationId xmlns:a16="http://schemas.microsoft.com/office/drawing/2014/main" id="{CCFF2378-0440-44C3-B2D4-1D618EA962D3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noFill/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>
            <a:extLst>
              <a:ext uri="{FF2B5EF4-FFF2-40B4-BE49-F238E27FC236}">
                <a16:creationId xmlns:a16="http://schemas.microsoft.com/office/drawing/2014/main" id="{BF7ED866-4F5C-4831-A96D-26E33B3060C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0" name="Marcador de texto 2">
            <a:extLst>
              <a:ext uri="{FF2B5EF4-FFF2-40B4-BE49-F238E27FC236}">
                <a16:creationId xmlns:a16="http://schemas.microsoft.com/office/drawing/2014/main" id="{51C583CB-9815-480C-B486-EC58C83ABFAA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4644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AB18A73C-4756-4298-8CA4-B3336D6373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7BB205CB-4820-4180-B06C-20C9D77CE2C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FE88A85E-97C8-4D0B-87AC-1B40F48B115B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46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2" name="Marcador de contenido 8">
            <a:extLst>
              <a:ext uri="{FF2B5EF4-FFF2-40B4-BE49-F238E27FC236}">
                <a16:creationId xmlns:a16="http://schemas.microsoft.com/office/drawing/2014/main" id="{67CB03D3-DBFB-4C7C-A4ED-E5C5090FAEF0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4644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texto 4">
            <a:extLst>
              <a:ext uri="{FF2B5EF4-FFF2-40B4-BE49-F238E27FC236}">
                <a16:creationId xmlns:a16="http://schemas.microsoft.com/office/drawing/2014/main" id="{ED576651-96BF-4037-A9CB-D3AB741E192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38218097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ajas Eje X, Y Doble Blanco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9654569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FC2DBA5D-DEAA-42E5-861C-0D81E30416CA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41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E6A136DB-71E7-4CA2-9507-EF89288220E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5400000">
            <a:off x="3205900" y="3690320"/>
            <a:ext cx="4860000" cy="378000"/>
          </a:xfrm>
          <a:prstGeom prst="rect">
            <a:avLst/>
          </a:prstGeom>
          <a:noFill/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C53A882F-0BD1-4D34-A29A-50DD65FC869A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1816100" y="3690320"/>
            <a:ext cx="4860000" cy="378000"/>
          </a:xfrm>
          <a:prstGeom prst="rect">
            <a:avLst/>
          </a:prstGeom>
          <a:noFill/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>
            <a:extLst>
              <a:ext uri="{FF2B5EF4-FFF2-40B4-BE49-F238E27FC236}">
                <a16:creationId xmlns:a16="http://schemas.microsoft.com/office/drawing/2014/main" id="{CCFF2378-0440-44C3-B2D4-1D618EA962D3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>
            <a:extLst>
              <a:ext uri="{FF2B5EF4-FFF2-40B4-BE49-F238E27FC236}">
                <a16:creationId xmlns:a16="http://schemas.microsoft.com/office/drawing/2014/main" id="{BF7ED866-4F5C-4831-A96D-26E33B3060C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02900" y="6039320"/>
            <a:ext cx="4644000" cy="270000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0" name="Marcador de texto 2">
            <a:extLst>
              <a:ext uri="{FF2B5EF4-FFF2-40B4-BE49-F238E27FC236}">
                <a16:creationId xmlns:a16="http://schemas.microsoft.com/office/drawing/2014/main" id="{51C583CB-9815-480C-B486-EC58C83ABFAA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742900" y="603932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número de diapositiva 2">
            <a:extLst>
              <a:ext uri="{FF2B5EF4-FFF2-40B4-BE49-F238E27FC236}">
                <a16:creationId xmlns:a16="http://schemas.microsoft.com/office/drawing/2014/main" id="{7F90EE94-B4C6-41C0-85D9-5D637331019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0" name="Marcador de pie de página 3">
            <a:extLst>
              <a:ext uri="{FF2B5EF4-FFF2-40B4-BE49-F238E27FC236}">
                <a16:creationId xmlns:a16="http://schemas.microsoft.com/office/drawing/2014/main" id="{4783D77D-0E7C-440E-A4E3-32F5CD09831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1" name="Marcador de contenido 8">
            <a:extLst>
              <a:ext uri="{FF2B5EF4-FFF2-40B4-BE49-F238E27FC236}">
                <a16:creationId xmlns:a16="http://schemas.microsoft.com/office/drawing/2014/main" id="{87789346-76D4-4839-9B8D-701D2C381E8D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802900" y="1449320"/>
            <a:ext cx="4644000" cy="4590000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2" name="Marcador de contenido 8">
            <a:extLst>
              <a:ext uri="{FF2B5EF4-FFF2-40B4-BE49-F238E27FC236}">
                <a16:creationId xmlns:a16="http://schemas.microsoft.com/office/drawing/2014/main" id="{8619B809-C890-419F-8239-A80F933873B7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742900" y="1449320"/>
            <a:ext cx="46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7" name="Marcador de texto 4">
            <a:extLst>
              <a:ext uri="{FF2B5EF4-FFF2-40B4-BE49-F238E27FC236}">
                <a16:creationId xmlns:a16="http://schemas.microsoft.com/office/drawing/2014/main" id="{90EC5010-A862-4642-A765-B3B6683E0A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67315741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ajas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5264719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29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4ABD467-6305-44A2-BC7A-CE27309061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16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número de diapositiva 2">
            <a:extLst>
              <a:ext uri="{FF2B5EF4-FFF2-40B4-BE49-F238E27FC236}">
                <a16:creationId xmlns:a16="http://schemas.microsoft.com/office/drawing/2014/main" id="{E473A451-EDAE-4213-9546-141B1AA904F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8" name="Marcador de pie de página 3">
            <a:extLst>
              <a:ext uri="{FF2B5EF4-FFF2-40B4-BE49-F238E27FC236}">
                <a16:creationId xmlns:a16="http://schemas.microsoft.com/office/drawing/2014/main" id="{697DD29D-8109-4A80-900B-381350D7A6A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40B0B2F2-BBED-4DEA-8E09-D471ADFD54C9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424900" y="1449320"/>
            <a:ext cx="36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2" name="Marcador de contenido 8">
            <a:extLst>
              <a:ext uri="{FF2B5EF4-FFF2-40B4-BE49-F238E27FC236}">
                <a16:creationId xmlns:a16="http://schemas.microsoft.com/office/drawing/2014/main" id="{15C62264-0571-4A04-BF5B-1CFD7906E852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4294900" y="1449320"/>
            <a:ext cx="36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3" name="Marcador de contenido 8">
            <a:extLst>
              <a:ext uri="{FF2B5EF4-FFF2-40B4-BE49-F238E27FC236}">
                <a16:creationId xmlns:a16="http://schemas.microsoft.com/office/drawing/2014/main" id="{42715BB4-058F-45F7-9F7F-340A22D554A4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8164900" y="1449320"/>
            <a:ext cx="3600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4" name="Marcador de texto 4">
            <a:extLst>
              <a:ext uri="{FF2B5EF4-FFF2-40B4-BE49-F238E27FC236}">
                <a16:creationId xmlns:a16="http://schemas.microsoft.com/office/drawing/2014/main" id="{B779851C-FF0A-43A3-ADC4-E35B9716ADF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5109974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ajas Eje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8454796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29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4ABD467-6305-44A2-BC7A-CE27309061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16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6787ED73-C4A7-4F1B-9260-3C87D8439DB8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72923EB1-BDF5-4D25-80BC-34F434EC74AF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205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02728EF9-A469-4AD2-AE42-BD7E9EB470C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59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número de diapositiva 2">
            <a:extLst>
              <a:ext uri="{FF2B5EF4-FFF2-40B4-BE49-F238E27FC236}">
                <a16:creationId xmlns:a16="http://schemas.microsoft.com/office/drawing/2014/main" id="{8F97D171-D8DA-47EE-821C-C0827566A8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6" name="Marcador de pie de página 3">
            <a:extLst>
              <a:ext uri="{FF2B5EF4-FFF2-40B4-BE49-F238E27FC236}">
                <a16:creationId xmlns:a16="http://schemas.microsoft.com/office/drawing/2014/main" id="{B10D72FF-4782-4A6D-AD98-0FCF3895265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4" name="Marcador de contenido 8">
            <a:extLst>
              <a:ext uri="{FF2B5EF4-FFF2-40B4-BE49-F238E27FC236}">
                <a16:creationId xmlns:a16="http://schemas.microsoft.com/office/drawing/2014/main" id="{A455E423-D155-40BE-9DAD-3AA40707A6BF}"/>
              </a:ext>
            </a:extLst>
          </p:cNvPr>
          <p:cNvSpPr>
            <a:spLocks noGrp="1"/>
          </p:cNvSpPr>
          <p:nvPr>
            <p:ph sz="quarter" idx="38"/>
          </p:nvPr>
        </p:nvSpPr>
        <p:spPr>
          <a:xfrm>
            <a:off x="802900" y="1449320"/>
            <a:ext cx="32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7" name="Marcador de contenido 8">
            <a:extLst>
              <a:ext uri="{FF2B5EF4-FFF2-40B4-BE49-F238E27FC236}">
                <a16:creationId xmlns:a16="http://schemas.microsoft.com/office/drawing/2014/main" id="{462085F6-8D3C-4D59-B6CC-B8355A68DD56}"/>
              </a:ext>
            </a:extLst>
          </p:cNvPr>
          <p:cNvSpPr>
            <a:spLocks noGrp="1"/>
          </p:cNvSpPr>
          <p:nvPr>
            <p:ph sz="quarter" idx="39"/>
          </p:nvPr>
        </p:nvSpPr>
        <p:spPr>
          <a:xfrm>
            <a:off x="4672900" y="1449320"/>
            <a:ext cx="32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8" name="Marcador de contenido 8">
            <a:extLst>
              <a:ext uri="{FF2B5EF4-FFF2-40B4-BE49-F238E27FC236}">
                <a16:creationId xmlns:a16="http://schemas.microsoft.com/office/drawing/2014/main" id="{65C636DF-6DE1-4D8B-BDB1-066F9027D108}"/>
              </a:ext>
            </a:extLst>
          </p:cNvPr>
          <p:cNvSpPr>
            <a:spLocks noGrp="1"/>
          </p:cNvSpPr>
          <p:nvPr>
            <p:ph sz="quarter" idx="40"/>
          </p:nvPr>
        </p:nvSpPr>
        <p:spPr>
          <a:xfrm>
            <a:off x="8542900" y="1449320"/>
            <a:ext cx="3222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6" name="Marcador de texto 4">
            <a:extLst>
              <a:ext uri="{FF2B5EF4-FFF2-40B4-BE49-F238E27FC236}">
                <a16:creationId xmlns:a16="http://schemas.microsoft.com/office/drawing/2014/main" id="{3DA764CD-3968-4B3A-86CD-52A762A68E3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42385010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ajas Eje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0295708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29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4ABD467-6305-44A2-BC7A-CE27309061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16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6787ED73-C4A7-4F1B-9260-3C87D8439DB8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72923EB1-BDF5-4D25-80BC-34F434EC74AF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205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02728EF9-A469-4AD2-AE42-BD7E9EB470C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59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AFF44DDD-E668-41CF-B54D-E407AAB86A4E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1405899" y="3690321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956A4896-51AA-4CFE-8C00-520AF20ED044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 rot="5400000">
            <a:off x="5275899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FDF4925D-EFC8-4D26-8554-A0A3754B0799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número de diapositiva 2">
            <a:extLst>
              <a:ext uri="{FF2B5EF4-FFF2-40B4-BE49-F238E27FC236}">
                <a16:creationId xmlns:a16="http://schemas.microsoft.com/office/drawing/2014/main" id="{0D3359E1-E5E3-4A8A-828C-6C65C5787C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6" name="Marcador de pie de página 3">
            <a:extLst>
              <a:ext uri="{FF2B5EF4-FFF2-40B4-BE49-F238E27FC236}">
                <a16:creationId xmlns:a16="http://schemas.microsoft.com/office/drawing/2014/main" id="{16A1117E-7F58-439E-A4C4-1A94E0563AF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7" name="Marcador de contenido 8">
            <a:extLst>
              <a:ext uri="{FF2B5EF4-FFF2-40B4-BE49-F238E27FC236}">
                <a16:creationId xmlns:a16="http://schemas.microsoft.com/office/drawing/2014/main" id="{8EF2D17E-5153-4AB2-A51E-E0C3E8BF7E71}"/>
              </a:ext>
            </a:extLst>
          </p:cNvPr>
          <p:cNvSpPr>
            <a:spLocks noGrp="1"/>
          </p:cNvSpPr>
          <p:nvPr>
            <p:ph sz="quarter" idx="41"/>
          </p:nvPr>
        </p:nvSpPr>
        <p:spPr>
          <a:xfrm>
            <a:off x="802900" y="1449320"/>
            <a:ext cx="28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8" name="Marcador de contenido 8">
            <a:extLst>
              <a:ext uri="{FF2B5EF4-FFF2-40B4-BE49-F238E27FC236}">
                <a16:creationId xmlns:a16="http://schemas.microsoft.com/office/drawing/2014/main" id="{20DF8DF0-40F1-4DFB-BE97-C217476AD8FA}"/>
              </a:ext>
            </a:extLst>
          </p:cNvPr>
          <p:cNvSpPr>
            <a:spLocks noGrp="1"/>
          </p:cNvSpPr>
          <p:nvPr>
            <p:ph sz="quarter" idx="42"/>
          </p:nvPr>
        </p:nvSpPr>
        <p:spPr>
          <a:xfrm>
            <a:off x="4672900" y="1449320"/>
            <a:ext cx="28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9" name="Marcador de contenido 8">
            <a:extLst>
              <a:ext uri="{FF2B5EF4-FFF2-40B4-BE49-F238E27FC236}">
                <a16:creationId xmlns:a16="http://schemas.microsoft.com/office/drawing/2014/main" id="{93AABEFC-16D1-4742-9889-4B163634A959}"/>
              </a:ext>
            </a:extLst>
          </p:cNvPr>
          <p:cNvSpPr>
            <a:spLocks noGrp="1"/>
          </p:cNvSpPr>
          <p:nvPr>
            <p:ph sz="quarter" idx="43"/>
          </p:nvPr>
        </p:nvSpPr>
        <p:spPr>
          <a:xfrm>
            <a:off x="8542900" y="1449320"/>
            <a:ext cx="2844000" cy="486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texto 4">
            <a:extLst>
              <a:ext uri="{FF2B5EF4-FFF2-40B4-BE49-F238E27FC236}">
                <a16:creationId xmlns:a16="http://schemas.microsoft.com/office/drawing/2014/main" id="{7EB4BAF4-1344-49C8-BE97-E094EF2F687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18255120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ajas Eje X,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335637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29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4ABD467-6305-44A2-BC7A-CE27309061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16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6787ED73-C4A7-4F1B-9260-3C87D8439DB8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72923EB1-BDF5-4D25-80BC-34F434EC74AF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205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02728EF9-A469-4AD2-AE42-BD7E9EB470C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59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396E43A1-7329-4206-A75F-112A4508D1A7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>
            <a:off x="802900" y="6039320"/>
            <a:ext cx="32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DA272BCA-61FC-4D2E-8C41-6B9824CA7FE5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4672900" y="6039320"/>
            <a:ext cx="32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BC7B88D1-462A-459D-A673-11985ECCB440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>
          <a:xfrm>
            <a:off x="8542900" y="6039320"/>
            <a:ext cx="32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número de diapositiva 2">
            <a:extLst>
              <a:ext uri="{FF2B5EF4-FFF2-40B4-BE49-F238E27FC236}">
                <a16:creationId xmlns:a16="http://schemas.microsoft.com/office/drawing/2014/main" id="{301D5A8C-45E5-4D82-B660-F6819E0660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6" name="Marcador de pie de página 3">
            <a:extLst>
              <a:ext uri="{FF2B5EF4-FFF2-40B4-BE49-F238E27FC236}">
                <a16:creationId xmlns:a16="http://schemas.microsoft.com/office/drawing/2014/main" id="{495FE399-F1EA-4137-B64A-A8F59DB6FC4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7" name="Marcador de contenido 8">
            <a:extLst>
              <a:ext uri="{FF2B5EF4-FFF2-40B4-BE49-F238E27FC236}">
                <a16:creationId xmlns:a16="http://schemas.microsoft.com/office/drawing/2014/main" id="{9A37142D-3C94-4045-A840-0509093EEE9E}"/>
              </a:ext>
            </a:extLst>
          </p:cNvPr>
          <p:cNvSpPr>
            <a:spLocks noGrp="1"/>
          </p:cNvSpPr>
          <p:nvPr>
            <p:ph sz="quarter" idx="41"/>
          </p:nvPr>
        </p:nvSpPr>
        <p:spPr>
          <a:xfrm>
            <a:off x="802900" y="1449320"/>
            <a:ext cx="32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8" name="Marcador de contenido 8">
            <a:extLst>
              <a:ext uri="{FF2B5EF4-FFF2-40B4-BE49-F238E27FC236}">
                <a16:creationId xmlns:a16="http://schemas.microsoft.com/office/drawing/2014/main" id="{356898C7-B794-4440-9F86-F7DFF6EB5F44}"/>
              </a:ext>
            </a:extLst>
          </p:cNvPr>
          <p:cNvSpPr>
            <a:spLocks noGrp="1"/>
          </p:cNvSpPr>
          <p:nvPr>
            <p:ph sz="quarter" idx="42"/>
          </p:nvPr>
        </p:nvSpPr>
        <p:spPr>
          <a:xfrm>
            <a:off x="4672900" y="1449320"/>
            <a:ext cx="32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9" name="Marcador de contenido 8">
            <a:extLst>
              <a:ext uri="{FF2B5EF4-FFF2-40B4-BE49-F238E27FC236}">
                <a16:creationId xmlns:a16="http://schemas.microsoft.com/office/drawing/2014/main" id="{BF10D92C-F12D-4D43-8BA7-A1A527445D46}"/>
              </a:ext>
            </a:extLst>
          </p:cNvPr>
          <p:cNvSpPr>
            <a:spLocks noGrp="1"/>
          </p:cNvSpPr>
          <p:nvPr>
            <p:ph sz="quarter" idx="43"/>
          </p:nvPr>
        </p:nvSpPr>
        <p:spPr>
          <a:xfrm>
            <a:off x="8542900" y="1449320"/>
            <a:ext cx="3222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texto 4">
            <a:extLst>
              <a:ext uri="{FF2B5EF4-FFF2-40B4-BE49-F238E27FC236}">
                <a16:creationId xmlns:a16="http://schemas.microsoft.com/office/drawing/2014/main" id="{A8FA9A30-AB39-4618-8B05-A44457DD5C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866266484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ajas Eje X,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094274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29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4ABD467-6305-44A2-BC7A-CE27309061E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8164900" y="1075660"/>
            <a:ext cx="36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2">
            <a:extLst>
              <a:ext uri="{FF2B5EF4-FFF2-40B4-BE49-F238E27FC236}">
                <a16:creationId xmlns:a16="http://schemas.microsoft.com/office/drawing/2014/main" id="{6787ED73-C4A7-4F1B-9260-3C87D8439DB8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 rot="16200000">
            <a:off x="-1814299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2">
            <a:extLst>
              <a:ext uri="{FF2B5EF4-FFF2-40B4-BE49-F238E27FC236}">
                <a16:creationId xmlns:a16="http://schemas.microsoft.com/office/drawing/2014/main" id="{72923EB1-BDF5-4D25-80BC-34F434EC74AF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205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02728EF9-A469-4AD2-AE42-BD7E9EB470C2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5925700" y="3688520"/>
            <a:ext cx="486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AFF44DDD-E668-41CF-B54D-E407AAB86A4E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5400000">
            <a:off x="1405899" y="3690321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956A4896-51AA-4CFE-8C00-520AF20ED044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 rot="5400000">
            <a:off x="5275899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FDF4925D-EFC8-4D26-8554-A0A3754B0799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>
          <a:xfrm rot="5400000">
            <a:off x="9145900" y="3690320"/>
            <a:ext cx="486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3BB87D93-4548-4583-BA8C-3F63396B0D01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>
            <a:off x="802900" y="6039320"/>
            <a:ext cx="28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31AF2680-21BA-4673-A51B-4A020EF87608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>
            <a:off x="4672900" y="6039320"/>
            <a:ext cx="28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017B7E68-5B21-459D-9103-853E15F51EEC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8542900" y="6039320"/>
            <a:ext cx="28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número de diapositiva 2">
            <a:extLst>
              <a:ext uri="{FF2B5EF4-FFF2-40B4-BE49-F238E27FC236}">
                <a16:creationId xmlns:a16="http://schemas.microsoft.com/office/drawing/2014/main" id="{D98FFEB5-D5D3-4BF4-90BB-F84604DFFB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9" name="Marcador de pie de página 3">
            <a:extLst>
              <a:ext uri="{FF2B5EF4-FFF2-40B4-BE49-F238E27FC236}">
                <a16:creationId xmlns:a16="http://schemas.microsoft.com/office/drawing/2014/main" id="{2C14FA66-CB90-42DA-8E10-B84C8402EEA9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0" name="Marcador de contenido 8">
            <a:extLst>
              <a:ext uri="{FF2B5EF4-FFF2-40B4-BE49-F238E27FC236}">
                <a16:creationId xmlns:a16="http://schemas.microsoft.com/office/drawing/2014/main" id="{3EB0A8CE-F273-4CE2-8557-033B9CE831B3}"/>
              </a:ext>
            </a:extLst>
          </p:cNvPr>
          <p:cNvSpPr>
            <a:spLocks noGrp="1"/>
          </p:cNvSpPr>
          <p:nvPr>
            <p:ph sz="quarter" idx="44"/>
          </p:nvPr>
        </p:nvSpPr>
        <p:spPr>
          <a:xfrm>
            <a:off x="802900" y="1449320"/>
            <a:ext cx="28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1" name="Marcador de contenido 8">
            <a:extLst>
              <a:ext uri="{FF2B5EF4-FFF2-40B4-BE49-F238E27FC236}">
                <a16:creationId xmlns:a16="http://schemas.microsoft.com/office/drawing/2014/main" id="{A0EA57F4-5CA6-4F61-8E16-96EBFDAA2462}"/>
              </a:ext>
            </a:extLst>
          </p:cNvPr>
          <p:cNvSpPr>
            <a:spLocks noGrp="1"/>
          </p:cNvSpPr>
          <p:nvPr>
            <p:ph sz="quarter" idx="45"/>
          </p:nvPr>
        </p:nvSpPr>
        <p:spPr>
          <a:xfrm>
            <a:off x="4672900" y="1449320"/>
            <a:ext cx="28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2" name="Marcador de contenido 8">
            <a:extLst>
              <a:ext uri="{FF2B5EF4-FFF2-40B4-BE49-F238E27FC236}">
                <a16:creationId xmlns:a16="http://schemas.microsoft.com/office/drawing/2014/main" id="{776E37EC-F205-439E-8DC1-B2E22B24F06E}"/>
              </a:ext>
            </a:extLst>
          </p:cNvPr>
          <p:cNvSpPr>
            <a:spLocks noGrp="1"/>
          </p:cNvSpPr>
          <p:nvPr>
            <p:ph sz="quarter" idx="46"/>
          </p:nvPr>
        </p:nvSpPr>
        <p:spPr>
          <a:xfrm>
            <a:off x="8542900" y="1449320"/>
            <a:ext cx="2844000" cy="459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3" name="Marcador de texto 4">
            <a:extLst>
              <a:ext uri="{FF2B5EF4-FFF2-40B4-BE49-F238E27FC236}">
                <a16:creationId xmlns:a16="http://schemas.microsoft.com/office/drawing/2014/main" id="{A322FF2A-622A-431B-9639-5BC66FBF196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318209719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ajas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5800170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0">
            <a:extLst>
              <a:ext uri="{FF2B5EF4-FFF2-40B4-BE49-F238E27FC236}">
                <a16:creationId xmlns:a16="http://schemas.microsoft.com/office/drawing/2014/main" id="{DE124F02-02B0-4410-8AAA-0116D32850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7FE5EEFE-D2B6-4714-9A2C-6E30076E36CB}"/>
              </a:ext>
            </a:extLst>
          </p:cNvPr>
          <p:cNvSpPr>
            <a:spLocks noGrp="1"/>
          </p:cNvSpPr>
          <p:nvPr>
            <p:ph sz="quarter" idx="32"/>
          </p:nvPr>
        </p:nvSpPr>
        <p:spPr>
          <a:xfrm>
            <a:off x="424900" y="4112590"/>
            <a:ext cx="5400000" cy="225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174625" indent="-174625"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8" name="Marcador de texto 10">
            <a:extLst>
              <a:ext uri="{FF2B5EF4-FFF2-40B4-BE49-F238E27FC236}">
                <a16:creationId xmlns:a16="http://schemas.microsoft.com/office/drawing/2014/main" id="{068F03A4-9BDB-49BB-B5AB-B6117197F14A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36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contenido 8">
            <a:extLst>
              <a:ext uri="{FF2B5EF4-FFF2-40B4-BE49-F238E27FC236}">
                <a16:creationId xmlns:a16="http://schemas.microsoft.com/office/drawing/2014/main" id="{CCB36A28-E103-40FE-BFC1-32FA652AE5B2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6364900" y="4112590"/>
            <a:ext cx="5400000" cy="225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174625" indent="-174625"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0" name="Marcador de número de diapositiva 2">
            <a:extLst>
              <a:ext uri="{FF2B5EF4-FFF2-40B4-BE49-F238E27FC236}">
                <a16:creationId xmlns:a16="http://schemas.microsoft.com/office/drawing/2014/main" id="{7A00E96D-47F1-44A9-8AA8-A285B5AC7E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1" name="Marcador de pie de página 3">
            <a:extLst>
              <a:ext uri="{FF2B5EF4-FFF2-40B4-BE49-F238E27FC236}">
                <a16:creationId xmlns:a16="http://schemas.microsoft.com/office/drawing/2014/main" id="{E5E29BA6-2CE5-41E9-AE2B-800A25062B2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23" name="Marcador de contenido 8">
            <a:extLst>
              <a:ext uri="{FF2B5EF4-FFF2-40B4-BE49-F238E27FC236}">
                <a16:creationId xmlns:a16="http://schemas.microsoft.com/office/drawing/2014/main" id="{95498DB2-DE80-4FB4-BBC9-E13F69CD6F79}"/>
              </a:ext>
            </a:extLst>
          </p:cNvPr>
          <p:cNvSpPr>
            <a:spLocks noGrp="1"/>
          </p:cNvSpPr>
          <p:nvPr>
            <p:ph sz="quarter" idx="35"/>
          </p:nvPr>
        </p:nvSpPr>
        <p:spPr>
          <a:xfrm>
            <a:off x="424900" y="1415867"/>
            <a:ext cx="5400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24" name="Marcador de contenido 8">
            <a:extLst>
              <a:ext uri="{FF2B5EF4-FFF2-40B4-BE49-F238E27FC236}">
                <a16:creationId xmlns:a16="http://schemas.microsoft.com/office/drawing/2014/main" id="{6D4C9DFB-D126-4C95-B502-269067A56345}"/>
              </a:ext>
            </a:extLst>
          </p:cNvPr>
          <p:cNvSpPr>
            <a:spLocks noGrp="1"/>
          </p:cNvSpPr>
          <p:nvPr>
            <p:ph sz="quarter" idx="36"/>
          </p:nvPr>
        </p:nvSpPr>
        <p:spPr>
          <a:xfrm>
            <a:off x="6364900" y="1415867"/>
            <a:ext cx="5400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5" name="Marcador de texto 4">
            <a:extLst>
              <a:ext uri="{FF2B5EF4-FFF2-40B4-BE49-F238E27FC236}">
                <a16:creationId xmlns:a16="http://schemas.microsoft.com/office/drawing/2014/main" id="{0893DEE0-E8B9-4F41-87A2-3ECD10C1B8C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33823716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ajas Eje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2414873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0">
            <a:extLst>
              <a:ext uri="{FF2B5EF4-FFF2-40B4-BE49-F238E27FC236}">
                <a16:creationId xmlns:a16="http://schemas.microsoft.com/office/drawing/2014/main" id="{DE124F02-02B0-4410-8AAA-0116D32850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10">
            <a:extLst>
              <a:ext uri="{FF2B5EF4-FFF2-40B4-BE49-F238E27FC236}">
                <a16:creationId xmlns:a16="http://schemas.microsoft.com/office/drawing/2014/main" id="{068F03A4-9BDB-49BB-B5AB-B6117197F14A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36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9DDC52FA-A2BA-4F5C-864E-2A4FF93CA55B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509299" y="2350066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CE5521BF-5265-444C-9C01-CBA6D22BC03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16200000">
            <a:off x="54307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B3A6A45C-F638-484F-9534-11BA748C1FD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5093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FAFE793B-17BE-49C9-9B8E-F118484FE8E2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16200000">
            <a:off x="5430700" y="2350067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número de diapositiva 2">
            <a:extLst>
              <a:ext uri="{FF2B5EF4-FFF2-40B4-BE49-F238E27FC236}">
                <a16:creationId xmlns:a16="http://schemas.microsoft.com/office/drawing/2014/main" id="{4C714E18-6C23-4221-918D-68F602E7D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5" name="Marcador de pie de página 3">
            <a:extLst>
              <a:ext uri="{FF2B5EF4-FFF2-40B4-BE49-F238E27FC236}">
                <a16:creationId xmlns:a16="http://schemas.microsoft.com/office/drawing/2014/main" id="{D57CEEA8-AF63-4257-A79D-C1CF96124CA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2" name="Marcador de contenido 8">
            <a:extLst>
              <a:ext uri="{FF2B5EF4-FFF2-40B4-BE49-F238E27FC236}">
                <a16:creationId xmlns:a16="http://schemas.microsoft.com/office/drawing/2014/main" id="{E16E3EA2-F50F-4861-B624-E5499A68DD2D}"/>
              </a:ext>
            </a:extLst>
          </p:cNvPr>
          <p:cNvSpPr>
            <a:spLocks noGrp="1"/>
          </p:cNvSpPr>
          <p:nvPr>
            <p:ph sz="quarter" idx="39"/>
          </p:nvPr>
        </p:nvSpPr>
        <p:spPr>
          <a:xfrm>
            <a:off x="802900" y="1415866"/>
            <a:ext cx="5022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3" name="Marcador de contenido 8">
            <a:extLst>
              <a:ext uri="{FF2B5EF4-FFF2-40B4-BE49-F238E27FC236}">
                <a16:creationId xmlns:a16="http://schemas.microsoft.com/office/drawing/2014/main" id="{4FDA8440-FE66-4A50-AA86-3C3D37123444}"/>
              </a:ext>
            </a:extLst>
          </p:cNvPr>
          <p:cNvSpPr>
            <a:spLocks noGrp="1"/>
          </p:cNvSpPr>
          <p:nvPr>
            <p:ph sz="quarter" idx="40"/>
          </p:nvPr>
        </p:nvSpPr>
        <p:spPr>
          <a:xfrm>
            <a:off x="6742900" y="1415866"/>
            <a:ext cx="5022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6" name="Marcador de contenido 8">
            <a:extLst>
              <a:ext uri="{FF2B5EF4-FFF2-40B4-BE49-F238E27FC236}">
                <a16:creationId xmlns:a16="http://schemas.microsoft.com/office/drawing/2014/main" id="{AD9755E7-A561-4146-9192-7A03D1F19B3E}"/>
              </a:ext>
            </a:extLst>
          </p:cNvPr>
          <p:cNvSpPr>
            <a:spLocks noGrp="1"/>
          </p:cNvSpPr>
          <p:nvPr>
            <p:ph sz="quarter" idx="41"/>
          </p:nvPr>
        </p:nvSpPr>
        <p:spPr>
          <a:xfrm>
            <a:off x="802900" y="4112590"/>
            <a:ext cx="5022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7" name="Marcador de contenido 8">
            <a:extLst>
              <a:ext uri="{FF2B5EF4-FFF2-40B4-BE49-F238E27FC236}">
                <a16:creationId xmlns:a16="http://schemas.microsoft.com/office/drawing/2014/main" id="{CDDDF801-13C0-454F-BF41-4DBA8717F4C0}"/>
              </a:ext>
            </a:extLst>
          </p:cNvPr>
          <p:cNvSpPr>
            <a:spLocks noGrp="1"/>
          </p:cNvSpPr>
          <p:nvPr>
            <p:ph sz="quarter" idx="42"/>
          </p:nvPr>
        </p:nvSpPr>
        <p:spPr>
          <a:xfrm>
            <a:off x="6742900" y="4112590"/>
            <a:ext cx="5022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19" name="Marcador de texto 4">
            <a:extLst>
              <a:ext uri="{FF2B5EF4-FFF2-40B4-BE49-F238E27FC236}">
                <a16:creationId xmlns:a16="http://schemas.microsoft.com/office/drawing/2014/main" id="{B17809AC-AFF4-4E0C-9829-DC8D0AC1DC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73905533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ajas Eje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68583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0">
            <a:extLst>
              <a:ext uri="{FF2B5EF4-FFF2-40B4-BE49-F238E27FC236}">
                <a16:creationId xmlns:a16="http://schemas.microsoft.com/office/drawing/2014/main" id="{DE124F02-02B0-4410-8AAA-0116D32850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10">
            <a:extLst>
              <a:ext uri="{FF2B5EF4-FFF2-40B4-BE49-F238E27FC236}">
                <a16:creationId xmlns:a16="http://schemas.microsoft.com/office/drawing/2014/main" id="{068F03A4-9BDB-49BB-B5AB-B6117197F14A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36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9DDC52FA-A2BA-4F5C-864E-2A4FF93CA55B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509299" y="2350066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CE5521BF-5265-444C-9C01-CBA6D22BC03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16200000">
            <a:off x="54307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B3A6A45C-F638-484F-9534-11BA748C1FD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5093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FAFE793B-17BE-49C9-9B8E-F118484FE8E2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16200000">
            <a:off x="5430700" y="2350067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825152AD-234F-4062-863F-F9A47C2496B3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 rot="5400000">
            <a:off x="4510900" y="2351866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27848E97-7C16-4176-80D5-5A34734217B9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>
          <a:xfrm rot="5400000">
            <a:off x="10450900" y="5048590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A52A736F-EF55-4231-AF95-1A94EB74E5A8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 rot="5400000">
            <a:off x="4510900" y="5048590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D36E2451-CEDF-4E6B-84F1-DB10400849C5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 rot="5400000">
            <a:off x="10450900" y="2351866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número de diapositiva 2">
            <a:extLst>
              <a:ext uri="{FF2B5EF4-FFF2-40B4-BE49-F238E27FC236}">
                <a16:creationId xmlns:a16="http://schemas.microsoft.com/office/drawing/2014/main" id="{25F9F403-B600-4CA9-88C9-E1CAFE3FAD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9" name="Marcador de pie de página 3">
            <a:extLst>
              <a:ext uri="{FF2B5EF4-FFF2-40B4-BE49-F238E27FC236}">
                <a16:creationId xmlns:a16="http://schemas.microsoft.com/office/drawing/2014/main" id="{90C715E8-7071-43F9-A46F-C4CD8F0CE62A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0" name="Marcador de contenido 8">
            <a:extLst>
              <a:ext uri="{FF2B5EF4-FFF2-40B4-BE49-F238E27FC236}">
                <a16:creationId xmlns:a16="http://schemas.microsoft.com/office/drawing/2014/main" id="{1D9FDE65-5D06-4FDF-91A9-965A5B85E68D}"/>
              </a:ext>
            </a:extLst>
          </p:cNvPr>
          <p:cNvSpPr>
            <a:spLocks noGrp="1"/>
          </p:cNvSpPr>
          <p:nvPr>
            <p:ph sz="quarter" idx="43"/>
          </p:nvPr>
        </p:nvSpPr>
        <p:spPr>
          <a:xfrm>
            <a:off x="802900" y="1415866"/>
            <a:ext cx="4644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1" name="Marcador de contenido 8">
            <a:extLst>
              <a:ext uri="{FF2B5EF4-FFF2-40B4-BE49-F238E27FC236}">
                <a16:creationId xmlns:a16="http://schemas.microsoft.com/office/drawing/2014/main" id="{F8AB8C85-F50B-469E-8BFE-033CC02B7CE4}"/>
              </a:ext>
            </a:extLst>
          </p:cNvPr>
          <p:cNvSpPr>
            <a:spLocks noGrp="1"/>
          </p:cNvSpPr>
          <p:nvPr>
            <p:ph sz="quarter" idx="44"/>
          </p:nvPr>
        </p:nvSpPr>
        <p:spPr>
          <a:xfrm>
            <a:off x="6742900" y="1415866"/>
            <a:ext cx="4644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2" name="Marcador de contenido 8">
            <a:extLst>
              <a:ext uri="{FF2B5EF4-FFF2-40B4-BE49-F238E27FC236}">
                <a16:creationId xmlns:a16="http://schemas.microsoft.com/office/drawing/2014/main" id="{02684049-103D-4F16-9980-C1178C3A11CA}"/>
              </a:ext>
            </a:extLst>
          </p:cNvPr>
          <p:cNvSpPr>
            <a:spLocks noGrp="1"/>
          </p:cNvSpPr>
          <p:nvPr>
            <p:ph sz="quarter" idx="45"/>
          </p:nvPr>
        </p:nvSpPr>
        <p:spPr>
          <a:xfrm>
            <a:off x="802900" y="4112590"/>
            <a:ext cx="4644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3" name="Marcador de contenido 8">
            <a:extLst>
              <a:ext uri="{FF2B5EF4-FFF2-40B4-BE49-F238E27FC236}">
                <a16:creationId xmlns:a16="http://schemas.microsoft.com/office/drawing/2014/main" id="{1B59D7C8-7135-4660-B473-66051C8D2333}"/>
              </a:ext>
            </a:extLst>
          </p:cNvPr>
          <p:cNvSpPr>
            <a:spLocks noGrp="1"/>
          </p:cNvSpPr>
          <p:nvPr>
            <p:ph sz="quarter" idx="46"/>
          </p:nvPr>
        </p:nvSpPr>
        <p:spPr>
          <a:xfrm>
            <a:off x="6742900" y="4112590"/>
            <a:ext cx="4644000" cy="225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4" name="Marcador de texto 4">
            <a:extLst>
              <a:ext uri="{FF2B5EF4-FFF2-40B4-BE49-F238E27FC236}">
                <a16:creationId xmlns:a16="http://schemas.microsoft.com/office/drawing/2014/main" id="{E4ED9787-0EDD-4C44-A890-3794C1660E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80604620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ajas Eje X, Y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8997018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0">
            <a:extLst>
              <a:ext uri="{FF2B5EF4-FFF2-40B4-BE49-F238E27FC236}">
                <a16:creationId xmlns:a16="http://schemas.microsoft.com/office/drawing/2014/main" id="{DE124F02-02B0-4410-8AAA-0116D32850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10">
            <a:extLst>
              <a:ext uri="{FF2B5EF4-FFF2-40B4-BE49-F238E27FC236}">
                <a16:creationId xmlns:a16="http://schemas.microsoft.com/office/drawing/2014/main" id="{068F03A4-9BDB-49BB-B5AB-B6117197F14A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36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9DDC52FA-A2BA-4F5C-864E-2A4FF93CA55B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509299" y="2350066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CE5521BF-5265-444C-9C01-CBA6D22BC03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16200000">
            <a:off x="54307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B3A6A45C-F638-484F-9534-11BA748C1FD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5093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FAFE793B-17BE-49C9-9B8E-F118484FE8E2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16200000">
            <a:off x="5430700" y="2350067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A19733FC-E934-49C0-AC2B-472BE096CA1B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>
            <a:off x="802900" y="609259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45C88FF5-71DE-4586-A6A3-DEBF2826DCF6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>
            <a:off x="802900" y="3395867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97335831-5FAE-463B-B300-451481080DDF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6742900" y="3395867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F8D1C3AA-3DB7-4E2F-8947-1AACE65EA06E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>
          <a:xfrm>
            <a:off x="6742900" y="6092590"/>
            <a:ext cx="5022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número de diapositiva 2">
            <a:extLst>
              <a:ext uri="{FF2B5EF4-FFF2-40B4-BE49-F238E27FC236}">
                <a16:creationId xmlns:a16="http://schemas.microsoft.com/office/drawing/2014/main" id="{468472AB-A5BC-4894-B014-5FA9606194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9" name="Marcador de pie de página 3">
            <a:extLst>
              <a:ext uri="{FF2B5EF4-FFF2-40B4-BE49-F238E27FC236}">
                <a16:creationId xmlns:a16="http://schemas.microsoft.com/office/drawing/2014/main" id="{15A8C609-D9D3-4CE2-B932-F5CD8E378AF3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0" name="Marcador de contenido 8">
            <a:extLst>
              <a:ext uri="{FF2B5EF4-FFF2-40B4-BE49-F238E27FC236}">
                <a16:creationId xmlns:a16="http://schemas.microsoft.com/office/drawing/2014/main" id="{856DFC1E-DBF3-4303-80EA-CCDEA0402C6B}"/>
              </a:ext>
            </a:extLst>
          </p:cNvPr>
          <p:cNvSpPr>
            <a:spLocks noGrp="1"/>
          </p:cNvSpPr>
          <p:nvPr>
            <p:ph sz="quarter" idx="39"/>
          </p:nvPr>
        </p:nvSpPr>
        <p:spPr>
          <a:xfrm>
            <a:off x="802900" y="1415866"/>
            <a:ext cx="5022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1" name="Marcador de contenido 8">
            <a:extLst>
              <a:ext uri="{FF2B5EF4-FFF2-40B4-BE49-F238E27FC236}">
                <a16:creationId xmlns:a16="http://schemas.microsoft.com/office/drawing/2014/main" id="{E722B83F-4D7B-4FBE-A79F-8565950BB4CA}"/>
              </a:ext>
            </a:extLst>
          </p:cNvPr>
          <p:cNvSpPr>
            <a:spLocks noGrp="1"/>
          </p:cNvSpPr>
          <p:nvPr>
            <p:ph sz="quarter" idx="40"/>
          </p:nvPr>
        </p:nvSpPr>
        <p:spPr>
          <a:xfrm>
            <a:off x="6742900" y="1415866"/>
            <a:ext cx="5022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2" name="Marcador de contenido 8">
            <a:extLst>
              <a:ext uri="{FF2B5EF4-FFF2-40B4-BE49-F238E27FC236}">
                <a16:creationId xmlns:a16="http://schemas.microsoft.com/office/drawing/2014/main" id="{B8990CCF-E514-41E7-82C9-4672C22241A1}"/>
              </a:ext>
            </a:extLst>
          </p:cNvPr>
          <p:cNvSpPr>
            <a:spLocks noGrp="1"/>
          </p:cNvSpPr>
          <p:nvPr>
            <p:ph sz="quarter" idx="45"/>
          </p:nvPr>
        </p:nvSpPr>
        <p:spPr>
          <a:xfrm>
            <a:off x="802900" y="4112590"/>
            <a:ext cx="5022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3" name="Marcador de contenido 8">
            <a:extLst>
              <a:ext uri="{FF2B5EF4-FFF2-40B4-BE49-F238E27FC236}">
                <a16:creationId xmlns:a16="http://schemas.microsoft.com/office/drawing/2014/main" id="{93186B20-AD16-40D1-8152-E9F69964E7C3}"/>
              </a:ext>
            </a:extLst>
          </p:cNvPr>
          <p:cNvSpPr>
            <a:spLocks noGrp="1"/>
          </p:cNvSpPr>
          <p:nvPr>
            <p:ph sz="quarter" idx="46"/>
          </p:nvPr>
        </p:nvSpPr>
        <p:spPr>
          <a:xfrm>
            <a:off x="6742900" y="4112590"/>
            <a:ext cx="5022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4" name="Marcador de texto 4">
            <a:extLst>
              <a:ext uri="{FF2B5EF4-FFF2-40B4-BE49-F238E27FC236}">
                <a16:creationId xmlns:a16="http://schemas.microsoft.com/office/drawing/2014/main" id="{A3AF969D-47D6-4A59-98B0-898C70FCBF2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339768540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ajas Eje X, Y Doble Off-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891763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texto 10">
            <a:extLst>
              <a:ext uri="{FF2B5EF4-FFF2-40B4-BE49-F238E27FC236}">
                <a16:creationId xmlns:a16="http://schemas.microsoft.com/office/drawing/2014/main" id="{8809FE72-445D-4613-8C62-931AC1340BA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64900" y="1075660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0">
            <a:extLst>
              <a:ext uri="{FF2B5EF4-FFF2-40B4-BE49-F238E27FC236}">
                <a16:creationId xmlns:a16="http://schemas.microsoft.com/office/drawing/2014/main" id="{DE124F02-02B0-4410-8AAA-0116D32850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8" name="Marcador de texto 10">
            <a:extLst>
              <a:ext uri="{FF2B5EF4-FFF2-40B4-BE49-F238E27FC236}">
                <a16:creationId xmlns:a16="http://schemas.microsoft.com/office/drawing/2014/main" id="{068F03A4-9BDB-49BB-B5AB-B6117197F14A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364900" y="3772383"/>
            <a:ext cx="540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>
            <a:extLst>
              <a:ext uri="{FF2B5EF4-FFF2-40B4-BE49-F238E27FC236}">
                <a16:creationId xmlns:a16="http://schemas.microsoft.com/office/drawing/2014/main" id="{9DDC52FA-A2BA-4F5C-864E-2A4FF93CA55B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 rot="16200000">
            <a:off x="-509299" y="2350066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texto 2">
            <a:extLst>
              <a:ext uri="{FF2B5EF4-FFF2-40B4-BE49-F238E27FC236}">
                <a16:creationId xmlns:a16="http://schemas.microsoft.com/office/drawing/2014/main" id="{CE5521BF-5265-444C-9C01-CBA6D22BC03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 rot="16200000">
            <a:off x="5430700" y="5046790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2">
            <a:extLst>
              <a:ext uri="{FF2B5EF4-FFF2-40B4-BE49-F238E27FC236}">
                <a16:creationId xmlns:a16="http://schemas.microsoft.com/office/drawing/2014/main" id="{B3A6A45C-F638-484F-9534-11BA748C1FD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 rot="16200000">
            <a:off x="-509300" y="5046789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3" name="Marcador de texto 2">
            <a:extLst>
              <a:ext uri="{FF2B5EF4-FFF2-40B4-BE49-F238E27FC236}">
                <a16:creationId xmlns:a16="http://schemas.microsoft.com/office/drawing/2014/main" id="{FAFE793B-17BE-49C9-9B8E-F118484FE8E2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>
          <a:xfrm rot="16200000">
            <a:off x="5430700" y="2350067"/>
            <a:ext cx="2250000" cy="381600"/>
          </a:xfrm>
          <a:prstGeom prst="rect">
            <a:avLst/>
          </a:prstGeom>
          <a:solidFill>
            <a:schemeClr val="bg2"/>
          </a:solidFill>
        </p:spPr>
        <p:txBody>
          <a:bodyPr l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4" name="Marcador de texto 2">
            <a:extLst>
              <a:ext uri="{FF2B5EF4-FFF2-40B4-BE49-F238E27FC236}">
                <a16:creationId xmlns:a16="http://schemas.microsoft.com/office/drawing/2014/main" id="{825152AD-234F-4062-863F-F9A47C2496B3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 rot="5400000">
            <a:off x="4510900" y="2351866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5" name="Marcador de texto 2">
            <a:extLst>
              <a:ext uri="{FF2B5EF4-FFF2-40B4-BE49-F238E27FC236}">
                <a16:creationId xmlns:a16="http://schemas.microsoft.com/office/drawing/2014/main" id="{27848E97-7C16-4176-80D5-5A34734217B9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>
          <a:xfrm rot="5400000">
            <a:off x="10450900" y="5048589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6" name="Marcador de texto 2">
            <a:extLst>
              <a:ext uri="{FF2B5EF4-FFF2-40B4-BE49-F238E27FC236}">
                <a16:creationId xmlns:a16="http://schemas.microsoft.com/office/drawing/2014/main" id="{A52A736F-EF55-4231-AF95-1A94EB74E5A8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 rot="5400000">
            <a:off x="4510900" y="5048589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7" name="Marcador de texto 2">
            <a:extLst>
              <a:ext uri="{FF2B5EF4-FFF2-40B4-BE49-F238E27FC236}">
                <a16:creationId xmlns:a16="http://schemas.microsoft.com/office/drawing/2014/main" id="{D36E2451-CEDF-4E6B-84F1-DB10400849C5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>
          <a:xfrm rot="5400000">
            <a:off x="10450900" y="2351866"/>
            <a:ext cx="2250000" cy="378000"/>
          </a:xfrm>
          <a:prstGeom prst="rect">
            <a:avLst/>
          </a:prstGeom>
          <a:solidFill>
            <a:schemeClr val="bg2"/>
          </a:solidFill>
        </p:spPr>
        <p:txBody>
          <a:bodyPr rIns="270000"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>
            <a:extLst>
              <a:ext uri="{FF2B5EF4-FFF2-40B4-BE49-F238E27FC236}">
                <a16:creationId xmlns:a16="http://schemas.microsoft.com/office/drawing/2014/main" id="{D7A4687F-4A26-4084-8200-5B3907D05A76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802900" y="609259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>
            <a:extLst>
              <a:ext uri="{FF2B5EF4-FFF2-40B4-BE49-F238E27FC236}">
                <a16:creationId xmlns:a16="http://schemas.microsoft.com/office/drawing/2014/main" id="{76E3B9AB-C076-4EF8-BB3D-9F9C752A903E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>
          <a:xfrm>
            <a:off x="6742900" y="6092590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0" name="Marcador de texto 2">
            <a:extLst>
              <a:ext uri="{FF2B5EF4-FFF2-40B4-BE49-F238E27FC236}">
                <a16:creationId xmlns:a16="http://schemas.microsoft.com/office/drawing/2014/main" id="{921D62B3-94CF-4F10-8CF9-C47BD7070F52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>
          <a:xfrm>
            <a:off x="6742900" y="3395867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1" name="Marcador de texto 2">
            <a:extLst>
              <a:ext uri="{FF2B5EF4-FFF2-40B4-BE49-F238E27FC236}">
                <a16:creationId xmlns:a16="http://schemas.microsoft.com/office/drawing/2014/main" id="{AA6256ED-4F1E-4872-9CDB-3840F8C9936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802900" y="3395867"/>
            <a:ext cx="4644000" cy="270000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2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2" name="Marcador de número de diapositiva 2">
            <a:extLst>
              <a:ext uri="{FF2B5EF4-FFF2-40B4-BE49-F238E27FC236}">
                <a16:creationId xmlns:a16="http://schemas.microsoft.com/office/drawing/2014/main" id="{2851AE0E-4A82-4924-B80F-DB54B39BF7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33" name="Marcador de pie de página 3">
            <a:extLst>
              <a:ext uri="{FF2B5EF4-FFF2-40B4-BE49-F238E27FC236}">
                <a16:creationId xmlns:a16="http://schemas.microsoft.com/office/drawing/2014/main" id="{D0A8908C-23C8-4300-9306-C6B5FDA4BDCE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4" name="Marcador de contenido 8">
            <a:extLst>
              <a:ext uri="{FF2B5EF4-FFF2-40B4-BE49-F238E27FC236}">
                <a16:creationId xmlns:a16="http://schemas.microsoft.com/office/drawing/2014/main" id="{D356376D-4A62-4DF1-838B-F6FDED652451}"/>
              </a:ext>
            </a:extLst>
          </p:cNvPr>
          <p:cNvSpPr>
            <a:spLocks noGrp="1"/>
          </p:cNvSpPr>
          <p:nvPr>
            <p:ph sz="quarter" idx="47"/>
          </p:nvPr>
        </p:nvSpPr>
        <p:spPr>
          <a:xfrm>
            <a:off x="802900" y="1415866"/>
            <a:ext cx="4644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5" name="Marcador de contenido 8">
            <a:extLst>
              <a:ext uri="{FF2B5EF4-FFF2-40B4-BE49-F238E27FC236}">
                <a16:creationId xmlns:a16="http://schemas.microsoft.com/office/drawing/2014/main" id="{11A39F73-7BF4-4404-B0E0-62DF870D5CE4}"/>
              </a:ext>
            </a:extLst>
          </p:cNvPr>
          <p:cNvSpPr>
            <a:spLocks noGrp="1"/>
          </p:cNvSpPr>
          <p:nvPr>
            <p:ph sz="quarter" idx="48"/>
          </p:nvPr>
        </p:nvSpPr>
        <p:spPr>
          <a:xfrm>
            <a:off x="6742900" y="1415866"/>
            <a:ext cx="4644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6" name="Marcador de contenido 8">
            <a:extLst>
              <a:ext uri="{FF2B5EF4-FFF2-40B4-BE49-F238E27FC236}">
                <a16:creationId xmlns:a16="http://schemas.microsoft.com/office/drawing/2014/main" id="{A1D22EAD-B89A-4DCE-8FB9-2249CF80B127}"/>
              </a:ext>
            </a:extLst>
          </p:cNvPr>
          <p:cNvSpPr>
            <a:spLocks noGrp="1"/>
          </p:cNvSpPr>
          <p:nvPr>
            <p:ph sz="quarter" idx="49"/>
          </p:nvPr>
        </p:nvSpPr>
        <p:spPr>
          <a:xfrm>
            <a:off x="802900" y="4112590"/>
            <a:ext cx="4644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7" name="Marcador de contenido 8">
            <a:extLst>
              <a:ext uri="{FF2B5EF4-FFF2-40B4-BE49-F238E27FC236}">
                <a16:creationId xmlns:a16="http://schemas.microsoft.com/office/drawing/2014/main" id="{F29B2DB1-A2A5-499B-823A-AD3E376E9886}"/>
              </a:ext>
            </a:extLst>
          </p:cNvPr>
          <p:cNvSpPr>
            <a:spLocks noGrp="1"/>
          </p:cNvSpPr>
          <p:nvPr>
            <p:ph sz="quarter" idx="50"/>
          </p:nvPr>
        </p:nvSpPr>
        <p:spPr>
          <a:xfrm>
            <a:off x="6742900" y="4112590"/>
            <a:ext cx="4644000" cy="1980000"/>
          </a:xfrm>
          <a:prstGeom prst="rect">
            <a:avLst/>
          </a:prstGeom>
          <a:solidFill>
            <a:schemeClr val="bg2"/>
          </a:solidFill>
        </p:spPr>
        <p:txBody>
          <a:bodyPr lIns="72000" rIns="36000"/>
          <a:lstStyle>
            <a:lvl1pPr marL="174625" indent="-174625">
              <a:lnSpc>
                <a:spcPct val="100000"/>
              </a:lnSpc>
              <a:spcBef>
                <a:spcPts val="600"/>
              </a:spcBef>
              <a:buClr>
                <a:srgbClr val="4D4D4D"/>
              </a:buClr>
              <a:defRPr sz="1400">
                <a:solidFill>
                  <a:schemeClr val="tx1"/>
                </a:solidFill>
              </a:defRPr>
            </a:lvl1pPr>
            <a:lvl2pPr marL="446088" indent="-17462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chemeClr val="tx1"/>
                </a:solidFill>
              </a:defRPr>
            </a:lvl2pPr>
            <a:lvl3pPr marL="714375" indent="-163513" defTabSz="1527175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chemeClr val="tx1"/>
                </a:solidFill>
              </a:defRPr>
            </a:lvl3pPr>
            <a:lvl4pPr marL="981075" indent="-152400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4pPr>
            <a:lvl5pPr marL="1260475" indent="-141288">
              <a:lnSpc>
                <a:spcPct val="100000"/>
              </a:lnSpc>
              <a:spcBef>
                <a:spcPts val="300"/>
              </a:spcBef>
              <a:buClr>
                <a:srgbClr val="4D4D4D"/>
              </a:buClr>
              <a:defRPr sz="1200">
                <a:solidFill>
                  <a:schemeClr val="tx1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38" name="Marcador de texto 4">
            <a:extLst>
              <a:ext uri="{FF2B5EF4-FFF2-40B4-BE49-F238E27FC236}">
                <a16:creationId xmlns:a16="http://schemas.microsoft.com/office/drawing/2014/main" id="{A63D1B67-10E3-450A-88B4-02772ABBC06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50216039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puesta 2 pas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ángulo 11">
            <a:extLst>
              <a:ext uri="{FF2B5EF4-FFF2-40B4-BE49-F238E27FC236}">
                <a16:creationId xmlns:a16="http://schemas.microsoft.com/office/drawing/2014/main" id="{51A793F7-0895-482F-803A-2A67522426CB}"/>
              </a:ext>
            </a:extLst>
          </p:cNvPr>
          <p:cNvSpPr/>
          <p:nvPr userDrawn="1"/>
        </p:nvSpPr>
        <p:spPr>
          <a:xfrm>
            <a:off x="2056045" y="219104"/>
            <a:ext cx="3827405" cy="16459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defTabSz="45720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70D93"/>
              </a:buClr>
              <a:buSzPct val="80000"/>
              <a:buFontTx/>
              <a:buNone/>
              <a:tabLst/>
              <a:defRPr/>
            </a:pPr>
            <a:r>
              <a:rPr kumimoji="0" lang="es-CO" sz="13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Objetivos</a:t>
            </a:r>
          </a:p>
          <a:p>
            <a:pPr marL="174625" marR="0" lvl="1" indent="-1746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0D93"/>
              </a:buClr>
              <a:buSzPct val="80000"/>
              <a:buFont typeface="Arial" panose="020B0604020202020204" pitchFamily="34" charset="0"/>
              <a:buChar char="•"/>
              <a:tabLst/>
              <a:defRPr/>
            </a:pPr>
            <a:endParaRPr kumimoji="0" lang="es-CO" sz="13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ángulo 11">
            <a:extLst>
              <a:ext uri="{FF2B5EF4-FFF2-40B4-BE49-F238E27FC236}">
                <a16:creationId xmlns:a16="http://schemas.microsoft.com/office/drawing/2014/main" id="{C188C509-8F5F-4882-B7AF-A81C410A582B}"/>
              </a:ext>
            </a:extLst>
          </p:cNvPr>
          <p:cNvSpPr/>
          <p:nvPr userDrawn="1"/>
        </p:nvSpPr>
        <p:spPr>
          <a:xfrm>
            <a:off x="426000" y="2160105"/>
            <a:ext cx="5457450" cy="4102879"/>
          </a:xfrm>
          <a:prstGeom prst="rect">
            <a:avLst/>
          </a:prstGeom>
          <a:solidFill>
            <a:schemeClr val="bg2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108000" rIns="9144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defTabSz="4572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70D93"/>
              </a:buClr>
              <a:buSzPct val="80000"/>
              <a:buFontTx/>
              <a:buNone/>
              <a:tabLst/>
              <a:defRPr/>
            </a:pPr>
            <a:r>
              <a:rPr kumimoji="0" lang="es-CO" sz="13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Actividades</a:t>
            </a:r>
          </a:p>
          <a:p>
            <a:pPr marL="0" marR="0" lvl="1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70D93"/>
              </a:buClr>
              <a:buSzPct val="80000"/>
              <a:buFont typeface="Arial" panose="020B0604020202020204" pitchFamily="34" charset="0"/>
              <a:buNone/>
              <a:tabLst/>
              <a:defRPr/>
            </a:pPr>
            <a:endParaRPr kumimoji="0" lang="es-ES" sz="13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ángulo 11">
            <a:extLst>
              <a:ext uri="{FF2B5EF4-FFF2-40B4-BE49-F238E27FC236}">
                <a16:creationId xmlns:a16="http://schemas.microsoft.com/office/drawing/2014/main" id="{B6BB5052-1FD1-4E35-BA49-FE06FD8A4718}"/>
              </a:ext>
            </a:extLst>
          </p:cNvPr>
          <p:cNvSpPr/>
          <p:nvPr userDrawn="1"/>
        </p:nvSpPr>
        <p:spPr>
          <a:xfrm>
            <a:off x="7938595" y="232956"/>
            <a:ext cx="3827405" cy="16459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defTabSz="45720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70D93"/>
              </a:buClr>
              <a:buSzPct val="80000"/>
              <a:buFontTx/>
              <a:buNone/>
              <a:tabLst/>
              <a:defRPr/>
            </a:pPr>
            <a:r>
              <a:rPr kumimoji="0" lang="es-CO" sz="13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Objetivos</a:t>
            </a:r>
          </a:p>
          <a:p>
            <a:pPr marL="174625" marR="0" lvl="1" indent="-1746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0D93"/>
              </a:buClr>
              <a:buSzPct val="80000"/>
              <a:buFont typeface="Arial" panose="020B0604020202020204" pitchFamily="34" charset="0"/>
              <a:buChar char="•"/>
              <a:tabLst/>
              <a:defRPr/>
            </a:pPr>
            <a:endParaRPr kumimoji="0" lang="es-CO" sz="13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C904567F-EAA1-4763-BAC1-DBB2D6B77053}"/>
              </a:ext>
            </a:extLst>
          </p:cNvPr>
          <p:cNvSpPr/>
          <p:nvPr userDrawn="1"/>
        </p:nvSpPr>
        <p:spPr>
          <a:xfrm>
            <a:off x="6308550" y="2173957"/>
            <a:ext cx="5457450" cy="4102879"/>
          </a:xfrm>
          <a:prstGeom prst="rect">
            <a:avLst/>
          </a:prstGeom>
          <a:solidFill>
            <a:schemeClr val="bg2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108000" rIns="9144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70D93"/>
              </a:buClr>
              <a:buSzPct val="80000"/>
              <a:buFontTx/>
              <a:buNone/>
              <a:tabLst/>
              <a:defRPr/>
            </a:pPr>
            <a:r>
              <a:rPr kumimoji="0" lang="es-CO" sz="13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Actividades</a:t>
            </a:r>
          </a:p>
          <a:p>
            <a:pPr marL="174625" marR="0" lvl="1" indent="-1746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70D93"/>
              </a:buClr>
              <a:buSzPct val="80000"/>
              <a:buFont typeface="Arial" panose="020B0604020202020204" pitchFamily="34" charset="0"/>
              <a:buChar char="•"/>
              <a:tabLst/>
              <a:defRPr/>
            </a:pPr>
            <a:endParaRPr kumimoji="0" lang="es-ES" sz="13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56" name="Conector recto 55">
            <a:extLst>
              <a:ext uri="{FF2B5EF4-FFF2-40B4-BE49-F238E27FC236}">
                <a16:creationId xmlns:a16="http://schemas.microsoft.com/office/drawing/2014/main" id="{2A3AF2E2-4D01-4DE1-9DB7-9119A0139215}"/>
              </a:ext>
            </a:extLst>
          </p:cNvPr>
          <p:cNvCxnSpPr>
            <a:cxnSpLocks/>
          </p:cNvCxnSpPr>
          <p:nvPr userDrawn="1"/>
        </p:nvCxnSpPr>
        <p:spPr>
          <a:xfrm>
            <a:off x="426000" y="2011321"/>
            <a:ext cx="5456027" cy="0"/>
          </a:xfrm>
          <a:prstGeom prst="line">
            <a:avLst/>
          </a:prstGeom>
          <a:noFill/>
          <a:ln w="19050" cap="flat" cmpd="sng" algn="ctr">
            <a:solidFill>
              <a:srgbClr val="070D93"/>
            </a:solidFill>
            <a:prstDash val="solid"/>
            <a:miter lim="800000"/>
          </a:ln>
          <a:effectLst/>
        </p:spPr>
      </p:cxnSp>
      <p:cxnSp>
        <p:nvCxnSpPr>
          <p:cNvPr id="57" name="Conector recto 56">
            <a:extLst>
              <a:ext uri="{FF2B5EF4-FFF2-40B4-BE49-F238E27FC236}">
                <a16:creationId xmlns:a16="http://schemas.microsoft.com/office/drawing/2014/main" id="{0CBAF8C9-AE0A-4C69-8A85-25A3082DAEBA}"/>
              </a:ext>
            </a:extLst>
          </p:cNvPr>
          <p:cNvCxnSpPr>
            <a:cxnSpLocks/>
          </p:cNvCxnSpPr>
          <p:nvPr userDrawn="1"/>
        </p:nvCxnSpPr>
        <p:spPr>
          <a:xfrm>
            <a:off x="6309973" y="2012134"/>
            <a:ext cx="5456027" cy="0"/>
          </a:xfrm>
          <a:prstGeom prst="line">
            <a:avLst/>
          </a:prstGeom>
          <a:noFill/>
          <a:ln w="19050" cap="flat" cmpd="sng" algn="ctr">
            <a:solidFill>
              <a:srgbClr val="070D93"/>
            </a:solidFill>
            <a:prstDash val="solid"/>
            <a:miter lim="800000"/>
          </a:ln>
          <a:effectLst/>
        </p:spPr>
      </p:cxnSp>
      <p:sp>
        <p:nvSpPr>
          <p:cNvPr id="15" name="Marcador de contenido 8">
            <a:extLst>
              <a:ext uri="{FF2B5EF4-FFF2-40B4-BE49-F238E27FC236}">
                <a16:creationId xmlns:a16="http://schemas.microsoft.com/office/drawing/2014/main" id="{6C977EBF-4667-4725-B7AA-6F4DED88C2C7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2056045" y="567312"/>
            <a:ext cx="3827405" cy="1297712"/>
          </a:xfrm>
          <a:prstGeom prst="rect">
            <a:avLst/>
          </a:prstGeom>
          <a:noFill/>
        </p:spPr>
        <p:txBody>
          <a:bodyPr lIns="54000" rIns="36000"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6" name="Marcador de contenido 8">
            <a:extLst>
              <a:ext uri="{FF2B5EF4-FFF2-40B4-BE49-F238E27FC236}">
                <a16:creationId xmlns:a16="http://schemas.microsoft.com/office/drawing/2014/main" id="{0BA96B85-8528-4A1A-809D-1C6F11475137}"/>
              </a:ext>
            </a:extLst>
          </p:cNvPr>
          <p:cNvSpPr>
            <a:spLocks noGrp="1"/>
          </p:cNvSpPr>
          <p:nvPr>
            <p:ph sz="quarter" idx="29"/>
          </p:nvPr>
        </p:nvSpPr>
        <p:spPr>
          <a:xfrm>
            <a:off x="7938595" y="581164"/>
            <a:ext cx="3827405" cy="1297712"/>
          </a:xfrm>
          <a:prstGeom prst="rect">
            <a:avLst/>
          </a:prstGeom>
          <a:noFill/>
        </p:spPr>
        <p:txBody>
          <a:bodyPr lIns="54000" rIns="36000"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contenido 8">
            <a:extLst>
              <a:ext uri="{FF2B5EF4-FFF2-40B4-BE49-F238E27FC236}">
                <a16:creationId xmlns:a16="http://schemas.microsoft.com/office/drawing/2014/main" id="{7BE4E1E3-ACAA-4455-B699-FD3D675E18C5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426000" y="2616200"/>
            <a:ext cx="5457600" cy="3660635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8" name="Marcador de contenido 8">
            <a:extLst>
              <a:ext uri="{FF2B5EF4-FFF2-40B4-BE49-F238E27FC236}">
                <a16:creationId xmlns:a16="http://schemas.microsoft.com/office/drawing/2014/main" id="{92325F77-A0DA-4411-B53B-77447F945A2A}"/>
              </a:ext>
            </a:extLst>
          </p:cNvPr>
          <p:cNvSpPr>
            <a:spLocks noGrp="1"/>
          </p:cNvSpPr>
          <p:nvPr>
            <p:ph sz="quarter" idx="31"/>
          </p:nvPr>
        </p:nvSpPr>
        <p:spPr>
          <a:xfrm>
            <a:off x="6308400" y="2616200"/>
            <a:ext cx="5457600" cy="3660635"/>
          </a:xfrm>
          <a:prstGeom prst="rect">
            <a:avLst/>
          </a:prstGeom>
          <a:noFill/>
        </p:spPr>
        <p:txBody>
          <a:bodyPr lIns="72000" rIns="36000"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número de diapositiva 2">
            <a:extLst>
              <a:ext uri="{FF2B5EF4-FFF2-40B4-BE49-F238E27FC236}">
                <a16:creationId xmlns:a16="http://schemas.microsoft.com/office/drawing/2014/main" id="{92F6AFC0-918B-497B-BF3D-041B451B6D8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29" name="Marcador de pie de página 3">
            <a:extLst>
              <a:ext uri="{FF2B5EF4-FFF2-40B4-BE49-F238E27FC236}">
                <a16:creationId xmlns:a16="http://schemas.microsoft.com/office/drawing/2014/main" id="{255ACCFC-BE10-48FD-8C25-3CEDA7F8404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EF2416C1-6E29-4318-B636-D4B34E044FC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26000" y="219104"/>
            <a:ext cx="1470025" cy="1645200"/>
          </a:xfrm>
          <a:prstGeom prst="rect">
            <a:avLst/>
          </a:prstGeom>
          <a:solidFill>
            <a:schemeClr val="bg2"/>
          </a:solidFill>
        </p:spPr>
        <p:txBody>
          <a:bodyPr lIns="36000" tIns="370800" rIns="36000" anchor="t"/>
          <a:lstStyle>
            <a:lvl1pPr marL="0" indent="0">
              <a:buNone/>
              <a:defRPr sz="14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texto</a:t>
            </a:r>
          </a:p>
        </p:txBody>
      </p:sp>
      <p:sp>
        <p:nvSpPr>
          <p:cNvPr id="32" name="Marcador de texto 2">
            <a:extLst>
              <a:ext uri="{FF2B5EF4-FFF2-40B4-BE49-F238E27FC236}">
                <a16:creationId xmlns:a16="http://schemas.microsoft.com/office/drawing/2014/main" id="{62863F08-D226-47F1-8053-260FA2D50799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08400" y="233676"/>
            <a:ext cx="1470025" cy="1645200"/>
          </a:xfrm>
          <a:prstGeom prst="rect">
            <a:avLst/>
          </a:prstGeom>
          <a:solidFill>
            <a:schemeClr val="bg2"/>
          </a:solidFill>
        </p:spPr>
        <p:txBody>
          <a:bodyPr lIns="36000" tIns="370800" rIns="36000" anchor="t"/>
          <a:lstStyle>
            <a:lvl1pPr marL="0" indent="0">
              <a:buNone/>
              <a:defRPr sz="14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texto</a:t>
            </a:r>
          </a:p>
        </p:txBody>
      </p:sp>
    </p:spTree>
    <p:extLst>
      <p:ext uri="{BB962C8B-B14F-4D97-AF65-F5344CB8AC3E}">
        <p14:creationId xmlns:p14="http://schemas.microsoft.com/office/powerpoint/2010/main" val="11805970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puesta 1 pas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1">
            <a:extLst>
              <a:ext uri="{FF2B5EF4-FFF2-40B4-BE49-F238E27FC236}">
                <a16:creationId xmlns:a16="http://schemas.microsoft.com/office/drawing/2014/main" id="{F0001C7A-5354-4BAC-8554-E97FA3A5B8C0}"/>
              </a:ext>
            </a:extLst>
          </p:cNvPr>
          <p:cNvSpPr/>
          <p:nvPr userDrawn="1"/>
        </p:nvSpPr>
        <p:spPr>
          <a:xfrm>
            <a:off x="7196399" y="425509"/>
            <a:ext cx="4569601" cy="293212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08000" rIns="9144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s-ES_tradnl"/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127588F6-7C73-445B-82C8-48F6532C6253}"/>
              </a:ext>
            </a:extLst>
          </p:cNvPr>
          <p:cNvSpPr/>
          <p:nvPr userDrawn="1"/>
        </p:nvSpPr>
        <p:spPr>
          <a:xfrm>
            <a:off x="7196399" y="3405746"/>
            <a:ext cx="4569601" cy="2934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08000" rIns="9144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s-ES_tradnl"/>
          </a:p>
        </p:txBody>
      </p:sp>
      <p:sp>
        <p:nvSpPr>
          <p:cNvPr id="16" name="Rectángulo 11">
            <a:extLst>
              <a:ext uri="{FF2B5EF4-FFF2-40B4-BE49-F238E27FC236}">
                <a16:creationId xmlns:a16="http://schemas.microsoft.com/office/drawing/2014/main" id="{C3F602E8-ED80-4F0F-BD19-0BDDF9083FE1}"/>
              </a:ext>
            </a:extLst>
          </p:cNvPr>
          <p:cNvSpPr/>
          <p:nvPr userDrawn="1"/>
        </p:nvSpPr>
        <p:spPr>
          <a:xfrm>
            <a:off x="426000" y="2160105"/>
            <a:ext cx="6038310" cy="4179635"/>
          </a:xfrm>
          <a:prstGeom prst="rect">
            <a:avLst/>
          </a:prstGeom>
          <a:solidFill>
            <a:schemeClr val="bg2"/>
          </a:solidFill>
          <a:ln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08000" rIns="9144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 defTabSz="457200" fontAlgn="base">
              <a:spcAft>
                <a:spcPts val="900"/>
              </a:spcAft>
              <a:buClr>
                <a:srgbClr val="FF6D22"/>
              </a:buClr>
              <a:buSzPct val="80000"/>
            </a:pPr>
            <a:r>
              <a:rPr lang="es-CO" sz="1300" b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Actividades</a:t>
            </a:r>
          </a:p>
          <a:p>
            <a:pPr marL="174625" marR="0" lvl="1" indent="-1746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70D93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endParaRPr kumimoji="0" lang="es-CO" sz="1300" b="0" i="0" u="none" strike="noStrike" kern="0" cap="none" spc="0" normalizeH="0" baseline="0" noProof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lvl="1">
              <a:spcAft>
                <a:spcPts val="1200"/>
              </a:spcAft>
              <a:buClr>
                <a:srgbClr val="FF6D22"/>
              </a:buClr>
              <a:buSzPct val="80000"/>
            </a:pPr>
            <a:endParaRPr lang="es-ES" sz="1400">
              <a:solidFill>
                <a:prstClr val="black"/>
              </a:solidFill>
            </a:endParaRPr>
          </a:p>
        </p:txBody>
      </p:sp>
      <p:sp>
        <p:nvSpPr>
          <p:cNvPr id="18" name="CuadroTexto 17">
            <a:extLst>
              <a:ext uri="{FF2B5EF4-FFF2-40B4-BE49-F238E27FC236}">
                <a16:creationId xmlns:a16="http://schemas.microsoft.com/office/drawing/2014/main" id="{CF2905FF-4338-40E5-A06A-A0D6F4E94966}"/>
              </a:ext>
            </a:extLst>
          </p:cNvPr>
          <p:cNvSpPr txBox="1"/>
          <p:nvPr userDrawn="1"/>
        </p:nvSpPr>
        <p:spPr>
          <a:xfrm>
            <a:off x="7110961" y="131043"/>
            <a:ext cx="131458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400" b="1">
                <a:latin typeface="Arial" panose="020B0604020202020204" pitchFamily="34" charset="0"/>
                <a:cs typeface="Arial" panose="020B0604020202020204" pitchFamily="34" charset="0"/>
              </a:rPr>
              <a:t>Ejemplos</a:t>
            </a:r>
          </a:p>
        </p:txBody>
      </p:sp>
      <p:sp>
        <p:nvSpPr>
          <p:cNvPr id="19" name="Cheurón 28">
            <a:extLst>
              <a:ext uri="{FF2B5EF4-FFF2-40B4-BE49-F238E27FC236}">
                <a16:creationId xmlns:a16="http://schemas.microsoft.com/office/drawing/2014/main" id="{2EDAB612-9751-4D76-A3E0-59974A941951}"/>
              </a:ext>
            </a:extLst>
          </p:cNvPr>
          <p:cNvSpPr/>
          <p:nvPr userDrawn="1"/>
        </p:nvSpPr>
        <p:spPr>
          <a:xfrm>
            <a:off x="6645873" y="2704330"/>
            <a:ext cx="345989" cy="1537251"/>
          </a:xfrm>
          <a:prstGeom prst="chevron">
            <a:avLst>
              <a:gd name="adj" fmla="val 73882"/>
            </a:avLst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s-CO" sz="1400">
              <a:solidFill>
                <a:prstClr val="black"/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36141287-90F6-46EB-B931-28BED0837A73}"/>
              </a:ext>
            </a:extLst>
          </p:cNvPr>
          <p:cNvSpPr txBox="1"/>
          <p:nvPr/>
        </p:nvSpPr>
        <p:spPr>
          <a:xfrm>
            <a:off x="7438702" y="3531528"/>
            <a:ext cx="40342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200" b="1">
                <a:solidFill>
                  <a:srgbClr val="4D4D4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Ejemplo 2</a:t>
            </a:r>
          </a:p>
        </p:txBody>
      </p:sp>
      <p:cxnSp>
        <p:nvCxnSpPr>
          <p:cNvPr id="33" name="Conector recto 32">
            <a:extLst>
              <a:ext uri="{FF2B5EF4-FFF2-40B4-BE49-F238E27FC236}">
                <a16:creationId xmlns:a16="http://schemas.microsoft.com/office/drawing/2014/main" id="{86DDC565-9399-4EC2-9EB6-0A277E4A82EF}"/>
              </a:ext>
            </a:extLst>
          </p:cNvPr>
          <p:cNvCxnSpPr>
            <a:cxnSpLocks/>
          </p:cNvCxnSpPr>
          <p:nvPr userDrawn="1"/>
        </p:nvCxnSpPr>
        <p:spPr>
          <a:xfrm>
            <a:off x="426000" y="2011321"/>
            <a:ext cx="6048000" cy="0"/>
          </a:xfrm>
          <a:prstGeom prst="line">
            <a:avLst/>
          </a:prstGeom>
          <a:noFill/>
          <a:ln w="19050" cap="flat" cmpd="sng" algn="ctr">
            <a:solidFill>
              <a:srgbClr val="070D93"/>
            </a:solidFill>
            <a:prstDash val="solid"/>
            <a:miter lim="800000"/>
          </a:ln>
          <a:effectLst/>
        </p:spPr>
      </p:cxnSp>
      <p:sp>
        <p:nvSpPr>
          <p:cNvPr id="35" name="Rectángulo 11">
            <a:extLst>
              <a:ext uri="{FF2B5EF4-FFF2-40B4-BE49-F238E27FC236}">
                <a16:creationId xmlns:a16="http://schemas.microsoft.com/office/drawing/2014/main" id="{EF3CC210-B438-4726-8BFB-648DDDA3338F}"/>
              </a:ext>
            </a:extLst>
          </p:cNvPr>
          <p:cNvSpPr/>
          <p:nvPr userDrawn="1"/>
        </p:nvSpPr>
        <p:spPr>
          <a:xfrm>
            <a:off x="2054310" y="219104"/>
            <a:ext cx="4410000" cy="16459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FFFFFF">
                <a:lumMod val="85000"/>
              </a:srgb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defTabSz="45720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70D93"/>
              </a:buClr>
              <a:buSzPct val="80000"/>
              <a:buFontTx/>
              <a:buNone/>
              <a:tabLst/>
              <a:defRPr/>
            </a:pPr>
            <a:r>
              <a:rPr kumimoji="0" lang="es-CO" sz="1300" b="1" i="0" u="none" strike="noStrike" kern="0" cap="none" spc="0" normalizeH="0" baseline="0" noProof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Objetivos</a:t>
            </a:r>
          </a:p>
          <a:p>
            <a:pPr marL="174625" marR="0" lvl="1" indent="-1746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>
                <a:srgbClr val="070D93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endParaRPr kumimoji="0" lang="es-CO" sz="1300" b="0" i="0" u="none" strike="noStrike" kern="0" cap="none" spc="0" normalizeH="0" baseline="0" noProof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CuadroTexto 37">
            <a:extLst>
              <a:ext uri="{FF2B5EF4-FFF2-40B4-BE49-F238E27FC236}">
                <a16:creationId xmlns:a16="http://schemas.microsoft.com/office/drawing/2014/main" id="{6F194A49-3A78-42DB-8299-F8EC862B0EFB}"/>
              </a:ext>
            </a:extLst>
          </p:cNvPr>
          <p:cNvSpPr txBox="1"/>
          <p:nvPr/>
        </p:nvSpPr>
        <p:spPr>
          <a:xfrm>
            <a:off x="7438702" y="540976"/>
            <a:ext cx="40342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200" b="1">
                <a:solidFill>
                  <a:srgbClr val="4D4D4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Ejemplo 1</a:t>
            </a:r>
          </a:p>
        </p:txBody>
      </p:sp>
      <p:sp>
        <p:nvSpPr>
          <p:cNvPr id="30" name="Marcador de contenido 8">
            <a:extLst>
              <a:ext uri="{FF2B5EF4-FFF2-40B4-BE49-F238E27FC236}">
                <a16:creationId xmlns:a16="http://schemas.microsoft.com/office/drawing/2014/main" id="{3CB2AA57-F5ED-4A12-8403-DBD38C7A6EB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2054310" y="565424"/>
            <a:ext cx="4410000" cy="1299600"/>
          </a:xfrm>
          <a:prstGeom prst="rect">
            <a:avLst/>
          </a:prstGeom>
          <a:noFill/>
        </p:spPr>
        <p:txBody>
          <a:bodyPr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1" name="Marcador de contenido 8">
            <a:extLst>
              <a:ext uri="{FF2B5EF4-FFF2-40B4-BE49-F238E27FC236}">
                <a16:creationId xmlns:a16="http://schemas.microsoft.com/office/drawing/2014/main" id="{A552C5DB-8D9A-4B4D-AAC4-DD778ACA6171}"/>
              </a:ext>
            </a:extLst>
          </p:cNvPr>
          <p:cNvSpPr>
            <a:spLocks noGrp="1"/>
          </p:cNvSpPr>
          <p:nvPr>
            <p:ph sz="quarter" idx="30"/>
          </p:nvPr>
        </p:nvSpPr>
        <p:spPr>
          <a:xfrm>
            <a:off x="426000" y="2678540"/>
            <a:ext cx="6037200" cy="3661200"/>
          </a:xfrm>
          <a:prstGeom prst="rect">
            <a:avLst/>
          </a:prstGeom>
          <a:noFill/>
        </p:spPr>
        <p:txBody>
          <a:bodyPr lIns="54000" rIns="36000"/>
          <a:lstStyle>
            <a:lvl1pPr marL="174625" indent="-174625">
              <a:spcBef>
                <a:spcPts val="0"/>
              </a:spcBef>
              <a:buClr>
                <a:srgbClr val="4D4D4D"/>
              </a:buClr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2" name="Marcador de contenido 8">
            <a:extLst>
              <a:ext uri="{FF2B5EF4-FFF2-40B4-BE49-F238E27FC236}">
                <a16:creationId xmlns:a16="http://schemas.microsoft.com/office/drawing/2014/main" id="{975A8830-C4AC-4872-B768-7FE0EB886A63}"/>
              </a:ext>
            </a:extLst>
          </p:cNvPr>
          <p:cNvSpPr>
            <a:spLocks noGrp="1"/>
          </p:cNvSpPr>
          <p:nvPr>
            <p:ph sz="quarter" idx="33"/>
          </p:nvPr>
        </p:nvSpPr>
        <p:spPr>
          <a:xfrm>
            <a:off x="7304673" y="849605"/>
            <a:ext cx="4370653" cy="2412000"/>
          </a:xfrm>
          <a:prstGeom prst="rect">
            <a:avLst/>
          </a:prstGeom>
          <a:noFill/>
        </p:spPr>
        <p:txBody>
          <a:bodyPr/>
          <a:lstStyle>
            <a:lvl1pPr marL="0" indent="0">
              <a:spcBef>
                <a:spcPts val="0"/>
              </a:spcBef>
              <a:buClr>
                <a:srgbClr val="4D4D4D"/>
              </a:buClr>
              <a:buNone/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9" name="Marcador de contenido 8">
            <a:extLst>
              <a:ext uri="{FF2B5EF4-FFF2-40B4-BE49-F238E27FC236}">
                <a16:creationId xmlns:a16="http://schemas.microsoft.com/office/drawing/2014/main" id="{6C7DEEDB-498B-4964-B950-B6DBF5C89540}"/>
              </a:ext>
            </a:extLst>
          </p:cNvPr>
          <p:cNvSpPr>
            <a:spLocks noGrp="1"/>
          </p:cNvSpPr>
          <p:nvPr>
            <p:ph sz="quarter" idx="34"/>
          </p:nvPr>
        </p:nvSpPr>
        <p:spPr>
          <a:xfrm>
            <a:off x="7304674" y="3840382"/>
            <a:ext cx="4370652" cy="2412000"/>
          </a:xfrm>
          <a:prstGeom prst="rect">
            <a:avLst/>
          </a:prstGeom>
          <a:noFill/>
        </p:spPr>
        <p:txBody>
          <a:bodyPr/>
          <a:lstStyle>
            <a:lvl1pPr marL="0" indent="0">
              <a:spcBef>
                <a:spcPts val="0"/>
              </a:spcBef>
              <a:buClr>
                <a:srgbClr val="4D4D4D"/>
              </a:buClr>
              <a:buNone/>
              <a:defRPr sz="1200">
                <a:solidFill>
                  <a:srgbClr val="4D4D4D"/>
                </a:solidFill>
              </a:defRPr>
            </a:lvl1pPr>
            <a:lvl2pPr marL="533400" indent="-174625">
              <a:buClr>
                <a:srgbClr val="4D4D4D"/>
              </a:buClr>
              <a:buSzPct val="80000"/>
              <a:buFont typeface="Calibri" panose="020F0502020204030204" pitchFamily="34" charset="0"/>
              <a:buChar char="–"/>
              <a:defRPr sz="1300">
                <a:solidFill>
                  <a:srgbClr val="4D4D4D"/>
                </a:solidFill>
              </a:defRPr>
            </a:lvl2pPr>
            <a:lvl3pPr marL="892175" indent="-163513">
              <a:buClr>
                <a:srgbClr val="4D4D4D"/>
              </a:buClr>
              <a:buSzPct val="90000"/>
              <a:buFont typeface="Courier New" panose="02070309020205020404" pitchFamily="49" charset="0"/>
              <a:buChar char="o"/>
              <a:defRPr sz="1200">
                <a:solidFill>
                  <a:srgbClr val="4D4D4D"/>
                </a:solidFill>
              </a:defRPr>
            </a:lvl3pPr>
            <a:lvl4pPr marL="1252538" indent="-152400">
              <a:buClr>
                <a:srgbClr val="4D4D4D"/>
              </a:buClr>
              <a:defRPr sz="1200">
                <a:solidFill>
                  <a:srgbClr val="4D4D4D"/>
                </a:solidFill>
              </a:defRPr>
            </a:lvl4pPr>
            <a:lvl5pPr marL="1611313" indent="-141288">
              <a:buClr>
                <a:srgbClr val="4D4D4D"/>
              </a:buClr>
              <a:defRPr sz="1200">
                <a:solidFill>
                  <a:srgbClr val="4D4D4D"/>
                </a:solidFill>
              </a:defRPr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0" name="Marcador de número de diapositiva 2">
            <a:extLst>
              <a:ext uri="{FF2B5EF4-FFF2-40B4-BE49-F238E27FC236}">
                <a16:creationId xmlns:a16="http://schemas.microsoft.com/office/drawing/2014/main" id="{B7917479-01A7-433C-8636-A7BF029DF31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41" name="Marcador de pie de página 3">
            <a:extLst>
              <a:ext uri="{FF2B5EF4-FFF2-40B4-BE49-F238E27FC236}">
                <a16:creationId xmlns:a16="http://schemas.microsoft.com/office/drawing/2014/main" id="{2ABE469E-8D15-438F-A1B8-8A32497A128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42" name="Marcador de texto 2">
            <a:extLst>
              <a:ext uri="{FF2B5EF4-FFF2-40B4-BE49-F238E27FC236}">
                <a16:creationId xmlns:a16="http://schemas.microsoft.com/office/drawing/2014/main" id="{6FC6A806-AEE5-4A6C-BC08-1474818FDB9D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26000" y="219104"/>
            <a:ext cx="1470025" cy="1645200"/>
          </a:xfrm>
          <a:prstGeom prst="rect">
            <a:avLst/>
          </a:prstGeom>
          <a:solidFill>
            <a:schemeClr val="bg2"/>
          </a:solidFill>
        </p:spPr>
        <p:txBody>
          <a:bodyPr lIns="36000" tIns="370800" rIns="36000" anchor="t"/>
          <a:lstStyle>
            <a:lvl1pPr marL="0" indent="0">
              <a:buNone/>
              <a:defRPr sz="14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Haga clic para agregar texto</a:t>
            </a:r>
          </a:p>
        </p:txBody>
      </p:sp>
      <p:sp>
        <p:nvSpPr>
          <p:cNvPr id="2" name="Triángulo isósceles 1">
            <a:extLst>
              <a:ext uri="{FF2B5EF4-FFF2-40B4-BE49-F238E27FC236}">
                <a16:creationId xmlns:a16="http://schemas.microsoft.com/office/drawing/2014/main" id="{75F417AD-939D-4228-BA31-7CC7C36BDA08}"/>
              </a:ext>
            </a:extLst>
          </p:cNvPr>
          <p:cNvSpPr/>
          <p:nvPr userDrawn="1"/>
        </p:nvSpPr>
        <p:spPr>
          <a:xfrm rot="5400000">
            <a:off x="7286673" y="607475"/>
            <a:ext cx="180000" cy="144000"/>
          </a:xfrm>
          <a:prstGeom prst="triangle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riángulo isósceles 20">
            <a:extLst>
              <a:ext uri="{FF2B5EF4-FFF2-40B4-BE49-F238E27FC236}">
                <a16:creationId xmlns:a16="http://schemas.microsoft.com/office/drawing/2014/main" id="{5AFD8575-CE27-46EA-8F85-74FF47EC03D0}"/>
              </a:ext>
            </a:extLst>
          </p:cNvPr>
          <p:cNvSpPr/>
          <p:nvPr userDrawn="1"/>
        </p:nvSpPr>
        <p:spPr>
          <a:xfrm rot="5400000">
            <a:off x="7286673" y="3598027"/>
            <a:ext cx="180000" cy="144000"/>
          </a:xfrm>
          <a:prstGeom prst="triangle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73912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302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2762287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8" name="Marcador de número de diapositiva 2">
            <a:extLst>
              <a:ext uri="{FF2B5EF4-FFF2-40B4-BE49-F238E27FC236}">
                <a16:creationId xmlns:a16="http://schemas.microsoft.com/office/drawing/2014/main" id="{35CB60CF-B9C4-4FDF-A827-E867A391C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9" name="Marcador de pie de página 3">
            <a:extLst>
              <a:ext uri="{FF2B5EF4-FFF2-40B4-BE49-F238E27FC236}">
                <a16:creationId xmlns:a16="http://schemas.microsoft.com/office/drawing/2014/main" id="{0D787D91-B7BD-44B9-A1B9-B67B50ABAB7E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10" name="Marcador de texto 4">
            <a:extLst>
              <a:ext uri="{FF2B5EF4-FFF2-40B4-BE49-F238E27FC236}">
                <a16:creationId xmlns:a16="http://schemas.microsoft.com/office/drawing/2014/main" id="{A953F6E4-F3F6-4E49-87F7-C34FEDEF3E5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08776059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y Sub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EB3A90F-03E2-4C70-8715-1D18A2F10A8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408737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592" imgH="591" progId="TCLayout.ActiveDocument.1">
                  <p:embed/>
                </p:oleObj>
              </mc:Choice>
              <mc:Fallback>
                <p:oleObj name="Diapositiva de think-cell" r:id="rId3" imgW="592" imgH="591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EB3A90F-03E2-4C70-8715-1D18A2F10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>
            <a:extLst>
              <a:ext uri="{FF2B5EF4-FFF2-40B4-BE49-F238E27FC236}">
                <a16:creationId xmlns:a16="http://schemas.microsoft.com/office/drawing/2014/main" id="{CC0DAFE4-DFE8-4490-A3BA-AA30C91B25B4}"/>
              </a:ext>
            </a:extLst>
          </p:cNvPr>
          <p:cNvSpPr/>
          <p:nvPr userDrawn="1"/>
        </p:nvSpPr>
        <p:spPr>
          <a:xfrm>
            <a:off x="0" y="0"/>
            <a:ext cx="12192000" cy="9900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 b="0" i="0">
              <a:latin typeface="Arial" panose="020B0604020202020204" pitchFamily="34" charset="0"/>
            </a:endParaRP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53C6BAAE-D13A-4154-B1AC-B623F53F280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4900" y="1075660"/>
            <a:ext cx="11340000" cy="2880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9" name="Marcador de número de diapositiva 2">
            <a:extLst>
              <a:ext uri="{FF2B5EF4-FFF2-40B4-BE49-F238E27FC236}">
                <a16:creationId xmlns:a16="http://schemas.microsoft.com/office/drawing/2014/main" id="{35CFF305-E5E5-42FC-B641-70A15064563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12" name="Marcador de pie de página 3">
            <a:extLst>
              <a:ext uri="{FF2B5EF4-FFF2-40B4-BE49-F238E27FC236}">
                <a16:creationId xmlns:a16="http://schemas.microsoft.com/office/drawing/2014/main" id="{1B893353-CF07-4DBC-B351-B3B1094FF67A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  <p:sp>
        <p:nvSpPr>
          <p:cNvPr id="8" name="Marcador de texto 4">
            <a:extLst>
              <a:ext uri="{FF2B5EF4-FFF2-40B4-BE49-F238E27FC236}">
                <a16:creationId xmlns:a16="http://schemas.microsoft.com/office/drawing/2014/main" id="{BC1F50B6-2CF5-4E6F-BCFA-9DB0B3E233A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4900" y="180000"/>
            <a:ext cx="11340000" cy="630000"/>
          </a:xfrm>
          <a:prstGeom prst="rect">
            <a:avLst/>
          </a:prstGeom>
        </p:spPr>
        <p:txBody>
          <a:bodyPr lIns="36000" rIns="36000"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s-CO"/>
              <a:t>Headline: Máximo dos líneas</a:t>
            </a:r>
          </a:p>
        </p:txBody>
      </p:sp>
    </p:spTree>
    <p:extLst>
      <p:ext uri="{BB962C8B-B14F-4D97-AF65-F5344CB8AC3E}">
        <p14:creationId xmlns:p14="http://schemas.microsoft.com/office/powerpoint/2010/main" val="185780823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saje Destacado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Marcador de texto 44">
            <a:extLst>
              <a:ext uri="{FF2B5EF4-FFF2-40B4-BE49-F238E27FC236}">
                <a16:creationId xmlns:a16="http://schemas.microsoft.com/office/drawing/2014/main" id="{55AE87EB-0C1C-494B-AD4C-BA0EE9AC482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28775" y="2939636"/>
            <a:ext cx="8934450" cy="978729"/>
          </a:xfrm>
          <a:prstGeom prst="rect">
            <a:avLst/>
          </a:prstGeom>
        </p:spPr>
        <p:txBody>
          <a:bodyPr anchor="ctr">
            <a:spAutoFit/>
          </a:bodyPr>
          <a:lstStyle>
            <a:lvl1pPr marL="0" indent="0" algn="ctr">
              <a:buNone/>
              <a:defRPr lang="es-ES" sz="3200" kern="1200" spc="-70" dirty="0" smtClean="0">
                <a:solidFill>
                  <a:srgbClr val="070D93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algn="ctr"/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Lorem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ipsum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dolor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sit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amet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consectetuer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adipiscing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elit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sed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diam</a:t>
            </a:r>
            <a:r>
              <a:rPr lang="es-ES" sz="3200" spc="-70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3200" spc="-70" err="1">
                <a:solidFill>
                  <a:srgbClr val="070D9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nonummy</a:t>
            </a:r>
            <a:endParaRPr lang="es-CO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C535ABDF-5E5C-644F-8F28-D522CB47FD8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007768" y="1052736"/>
            <a:ext cx="5257502" cy="4410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82288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número de diapositiva 2">
            <a:extLst>
              <a:ext uri="{FF2B5EF4-FFF2-40B4-BE49-F238E27FC236}">
                <a16:creationId xmlns:a16="http://schemas.microsoft.com/office/drawing/2014/main" id="{C40600EC-0229-48EF-B5E6-45EE74B608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48252"/>
            <a:ext cx="1010914" cy="365124"/>
          </a:xfrm>
        </p:spPr>
        <p:txBody>
          <a:bodyPr anchor="t"/>
          <a:lstStyle>
            <a:lvl1pPr>
              <a:defRPr sz="900"/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3" name="Marcador de pie de página 3">
            <a:extLst>
              <a:ext uri="{FF2B5EF4-FFF2-40B4-BE49-F238E27FC236}">
                <a16:creationId xmlns:a16="http://schemas.microsoft.com/office/drawing/2014/main" id="{43453B8F-4A37-4271-8B05-7098F4C77919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 lIns="36000" tIns="0" rIns="36000" bIns="36000" anchor="t"/>
          <a:lstStyle>
            <a:lvl1pPr>
              <a:defRPr sz="900">
                <a:solidFill>
                  <a:schemeClr val="tx1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_tradnl"/>
              <a:t>Fuente: Análisis Oval</a:t>
            </a:r>
          </a:p>
        </p:txBody>
      </p:sp>
    </p:spTree>
    <p:extLst>
      <p:ext uri="{BB962C8B-B14F-4D97-AF65-F5344CB8AC3E}">
        <p14:creationId xmlns:p14="http://schemas.microsoft.com/office/powerpoint/2010/main" val="40706894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ierre Documento Intern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CuadroTexto 31">
            <a:extLst>
              <a:ext uri="{FF2B5EF4-FFF2-40B4-BE49-F238E27FC236}">
                <a16:creationId xmlns:a16="http://schemas.microsoft.com/office/drawing/2014/main" id="{A892766F-A807-694D-8E88-A61580B01438}"/>
              </a:ext>
            </a:extLst>
          </p:cNvPr>
          <p:cNvSpPr txBox="1"/>
          <p:nvPr userDrawn="1"/>
        </p:nvSpPr>
        <p:spPr>
          <a:xfrm>
            <a:off x="516578" y="6153772"/>
            <a:ext cx="101959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05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Oval.co</a:t>
            </a:r>
          </a:p>
        </p:txBody>
      </p:sp>
      <p:pic>
        <p:nvPicPr>
          <p:cNvPr id="36" name="Imagen 35">
            <a:extLst>
              <a:ext uri="{FF2B5EF4-FFF2-40B4-BE49-F238E27FC236}">
                <a16:creationId xmlns:a16="http://schemas.microsoft.com/office/drawing/2014/main" id="{0BAF5C52-A9BD-7749-92EB-B474C069BE6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7200000">
            <a:off x="6050487" y="-1622011"/>
            <a:ext cx="6322471" cy="7536262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F44D709D-9020-400B-9FC3-A252B47BE5C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590912" y="468310"/>
            <a:ext cx="1474288" cy="3740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7163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94">
          <p15:clr>
            <a:srgbClr val="FBAE40"/>
          </p15:clr>
        </p15:guide>
        <p15:guide id="2" pos="370">
          <p15:clr>
            <a:srgbClr val="FBAE40"/>
          </p15:clr>
        </p15:guide>
        <p15:guide id="3" orient="horz" pos="618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ierre Documento Interno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CuadroTexto 30">
            <a:extLst>
              <a:ext uri="{FF2B5EF4-FFF2-40B4-BE49-F238E27FC236}">
                <a16:creationId xmlns:a16="http://schemas.microsoft.com/office/drawing/2014/main" id="{CAD49949-510F-B84F-AA52-0F54988952AC}"/>
              </a:ext>
            </a:extLst>
          </p:cNvPr>
          <p:cNvSpPr txBox="1"/>
          <p:nvPr userDrawn="1"/>
        </p:nvSpPr>
        <p:spPr>
          <a:xfrm>
            <a:off x="505954" y="5119106"/>
            <a:ext cx="101959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3600" b="1" spc="-15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Gracias</a:t>
            </a:r>
          </a:p>
        </p:txBody>
      </p:sp>
      <p:sp>
        <p:nvSpPr>
          <p:cNvPr id="32" name="CuadroTexto 31">
            <a:extLst>
              <a:ext uri="{FF2B5EF4-FFF2-40B4-BE49-F238E27FC236}">
                <a16:creationId xmlns:a16="http://schemas.microsoft.com/office/drawing/2014/main" id="{A892766F-A807-694D-8E88-A61580B01438}"/>
              </a:ext>
            </a:extLst>
          </p:cNvPr>
          <p:cNvSpPr txBox="1"/>
          <p:nvPr userDrawn="1"/>
        </p:nvSpPr>
        <p:spPr>
          <a:xfrm>
            <a:off x="516578" y="6153772"/>
            <a:ext cx="101959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05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Oval.co</a:t>
            </a:r>
          </a:p>
        </p:txBody>
      </p:sp>
      <p:pic>
        <p:nvPicPr>
          <p:cNvPr id="36" name="Imagen 35">
            <a:extLst>
              <a:ext uri="{FF2B5EF4-FFF2-40B4-BE49-F238E27FC236}">
                <a16:creationId xmlns:a16="http://schemas.microsoft.com/office/drawing/2014/main" id="{0BAF5C52-A9BD-7749-92EB-B474C069BE6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7200000">
            <a:off x="6050487" y="-1622011"/>
            <a:ext cx="6322471" cy="7536262"/>
          </a:xfrm>
          <a:prstGeom prst="rect">
            <a:avLst/>
          </a:prstGeom>
        </p:spPr>
      </p:pic>
      <p:pic>
        <p:nvPicPr>
          <p:cNvPr id="8" name="Graphic 34">
            <a:extLst>
              <a:ext uri="{FF2B5EF4-FFF2-40B4-BE49-F238E27FC236}">
                <a16:creationId xmlns:a16="http://schemas.microsoft.com/office/drawing/2014/main" id="{74420AF8-ADEF-480B-B820-F27C8E4EC7C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0221" y="275879"/>
            <a:ext cx="1630555" cy="8011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504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94" userDrawn="1">
          <p15:clr>
            <a:srgbClr val="FBAE40"/>
          </p15:clr>
        </p15:guide>
        <p15:guide id="2" pos="370" userDrawn="1">
          <p15:clr>
            <a:srgbClr val="FBAE40"/>
          </p15:clr>
        </p15:guide>
        <p15:guide id="3" orient="horz" pos="618" userDrawn="1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ierre Cobranding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8D191A55-7E2A-8841-88B5-2E0636BAB17E}"/>
              </a:ext>
            </a:extLst>
          </p:cNvPr>
          <p:cNvSpPr/>
          <p:nvPr userDrawn="1"/>
        </p:nvSpPr>
        <p:spPr>
          <a:xfrm>
            <a:off x="0" y="0"/>
            <a:ext cx="12192000" cy="13407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6" name="CuadroTexto 30">
            <a:extLst>
              <a:ext uri="{FF2B5EF4-FFF2-40B4-BE49-F238E27FC236}">
                <a16:creationId xmlns:a16="http://schemas.microsoft.com/office/drawing/2014/main" id="{E8A071DF-5B2F-1C4B-869B-D2E7D845695F}"/>
              </a:ext>
            </a:extLst>
          </p:cNvPr>
          <p:cNvSpPr txBox="1"/>
          <p:nvPr userDrawn="1"/>
        </p:nvSpPr>
        <p:spPr>
          <a:xfrm>
            <a:off x="407368" y="5140256"/>
            <a:ext cx="101959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3600" b="1" spc="-15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Gracias</a:t>
            </a:r>
          </a:p>
        </p:txBody>
      </p:sp>
      <p:sp>
        <p:nvSpPr>
          <p:cNvPr id="7" name="CuadroTexto 31">
            <a:extLst>
              <a:ext uri="{FF2B5EF4-FFF2-40B4-BE49-F238E27FC236}">
                <a16:creationId xmlns:a16="http://schemas.microsoft.com/office/drawing/2014/main" id="{A83C879E-D531-434F-A3E1-9D34FD399552}"/>
              </a:ext>
            </a:extLst>
          </p:cNvPr>
          <p:cNvSpPr txBox="1"/>
          <p:nvPr userDrawn="1"/>
        </p:nvSpPr>
        <p:spPr>
          <a:xfrm>
            <a:off x="505954" y="6153772"/>
            <a:ext cx="101959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O" sz="105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Oval.co</a:t>
            </a:r>
          </a:p>
        </p:txBody>
      </p:sp>
      <p:pic>
        <p:nvPicPr>
          <p:cNvPr id="13" name="Imagen 12">
            <a:extLst>
              <a:ext uri="{FF2B5EF4-FFF2-40B4-BE49-F238E27FC236}">
                <a16:creationId xmlns:a16="http://schemas.microsoft.com/office/drawing/2014/main" id="{5894E74B-DA6C-6C43-B3F3-B85B5FF7DD1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19999" y="722262"/>
            <a:ext cx="6638525" cy="7912993"/>
          </a:xfrm>
          <a:prstGeom prst="rect">
            <a:avLst/>
          </a:prstGeom>
        </p:spPr>
      </p:pic>
      <p:sp>
        <p:nvSpPr>
          <p:cNvPr id="10" name="Picture Placeholder 19">
            <a:extLst>
              <a:ext uri="{FF2B5EF4-FFF2-40B4-BE49-F238E27FC236}">
                <a16:creationId xmlns:a16="http://schemas.microsoft.com/office/drawing/2014/main" id="{DC07AD8C-524B-4DA0-876C-48EF4DE5437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90997" y="188641"/>
            <a:ext cx="2468861" cy="97561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</a:defRPr>
            </a:lvl1pPr>
          </a:lstStyle>
          <a:p>
            <a:r>
              <a:rPr lang="es-ES_tradnl"/>
              <a:t>Imagen</a:t>
            </a:r>
          </a:p>
        </p:txBody>
      </p: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F27AE5D7-2E6A-4E07-A7EF-220B8D556FE9}"/>
              </a:ext>
            </a:extLst>
          </p:cNvPr>
          <p:cNvCxnSpPr/>
          <p:nvPr userDrawn="1"/>
        </p:nvCxnSpPr>
        <p:spPr>
          <a:xfrm>
            <a:off x="2495600" y="363116"/>
            <a:ext cx="0" cy="587583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Graphic 34">
            <a:extLst>
              <a:ext uri="{FF2B5EF4-FFF2-40B4-BE49-F238E27FC236}">
                <a16:creationId xmlns:a16="http://schemas.microsoft.com/office/drawing/2014/main" id="{2BDC676D-6F11-4C9E-B61C-2B40C33336B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0221" y="275879"/>
            <a:ext cx="1630555" cy="8011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297537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398400E-5922-A841-B4E1-EA01857B5A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O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816C8C39-8BC9-C644-809F-4E5A56D3D86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A0798F84-50D3-4A49-968C-BE6487D180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AD2BFD-E0E6-1A46-9467-621F61DED36B}" type="datetimeFigureOut">
              <a:rPr lang="es-CO" smtClean="0"/>
              <a:t>5/11/2025</a:t>
            </a:fld>
            <a:endParaRPr lang="es-CO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F7626C8-FAAA-774E-8EE3-12D0C6E4F9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02C5A11-C366-2143-AFED-72E568972B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7ABD8-8D4E-7A4C-80D0-319FE7CB5FF8}" type="slidenum">
              <a:rPr lang="es-CO" smtClean="0"/>
              <a:t>‹#›</a:t>
            </a:fld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107722315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image" Target="../media/image1.emf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tags" Target="../tags/tag2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oleObject" Target="../embeddings/oleObject1.bin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>
            <a:extLst>
              <a:ext uri="{FF2B5EF4-FFF2-40B4-BE49-F238E27FC236}">
                <a16:creationId xmlns:a16="http://schemas.microsoft.com/office/drawing/2014/main" id="{D7519FC0-F337-4625-9C8B-6D38C4EACC5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64"/>
            </p:custDataLst>
            <p:extLst>
              <p:ext uri="{D42A27DB-BD31-4B8C-83A1-F6EECF244321}">
                <p14:modId xmlns:p14="http://schemas.microsoft.com/office/powerpoint/2010/main" val="202257651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65" imgW="592" imgH="591" progId="TCLayout.ActiveDocument.1">
                  <p:embed/>
                </p:oleObj>
              </mc:Choice>
              <mc:Fallback>
                <p:oleObj name="Diapositiva de think-cell" r:id="rId65" imgW="592" imgH="591" progId="TCLayout.ActiveDocument.1">
                  <p:embed/>
                  <p:pic>
                    <p:nvPicPr>
                      <p:cNvPr id="2" name="Objeto 1" hidden="1">
                        <a:extLst>
                          <a:ext uri="{FF2B5EF4-FFF2-40B4-BE49-F238E27FC236}">
                            <a16:creationId xmlns:a16="http://schemas.microsoft.com/office/drawing/2014/main" id="{D7519FC0-F337-4625-9C8B-6D38C4EACC5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73C3B4-F3B6-C749-AC27-3D2A590507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98226" y="623731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78FD53B-C5CD-D448-BDB2-D08197FF28F2}" type="slidenum">
              <a:rPr lang="es-ES_tradnl" smtClean="0"/>
              <a:pPr/>
              <a:t>‹#›</a:t>
            </a:fld>
            <a:endParaRPr lang="es-ES_tradnl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1F38FD1-0CA8-C146-81EE-4F900DBAECA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70765" y="6237312"/>
            <a:ext cx="771346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2">
                    <a:lumMod val="75000"/>
                  </a:schemeClr>
                </a:solidFill>
              </a:defRPr>
            </a:lvl1pPr>
          </a:lstStyle>
          <a:p>
            <a:r>
              <a:rPr lang="es-ES_tradnl"/>
              <a:t>Fuente:</a:t>
            </a:r>
          </a:p>
        </p:txBody>
      </p:sp>
    </p:spTree>
    <p:extLst>
      <p:ext uri="{BB962C8B-B14F-4D97-AF65-F5344CB8AC3E}">
        <p14:creationId xmlns:p14="http://schemas.microsoft.com/office/powerpoint/2010/main" val="1501192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6" r:id="rId1"/>
    <p:sldLayoutId id="2147483713" r:id="rId2"/>
    <p:sldLayoutId id="2147483705" r:id="rId3"/>
    <p:sldLayoutId id="2147483703" r:id="rId4"/>
    <p:sldLayoutId id="2147483724" r:id="rId5"/>
    <p:sldLayoutId id="2147483839" r:id="rId6"/>
    <p:sldLayoutId id="2147483840" r:id="rId7"/>
    <p:sldLayoutId id="2147483836" r:id="rId8"/>
    <p:sldLayoutId id="2147483837" r:id="rId9"/>
    <p:sldLayoutId id="2147483838" r:id="rId10"/>
    <p:sldLayoutId id="2147483772" r:id="rId11"/>
    <p:sldLayoutId id="2147483771" r:id="rId12"/>
    <p:sldLayoutId id="2147483732" r:id="rId13"/>
    <p:sldLayoutId id="2147483794" r:id="rId14"/>
    <p:sldLayoutId id="2147483798" r:id="rId15"/>
    <p:sldLayoutId id="2147483795" r:id="rId16"/>
    <p:sldLayoutId id="2147483799" r:id="rId17"/>
    <p:sldLayoutId id="2147483793" r:id="rId18"/>
    <p:sldLayoutId id="2147483809" r:id="rId19"/>
    <p:sldLayoutId id="2147483797" r:id="rId20"/>
    <p:sldLayoutId id="2147483796" r:id="rId21"/>
    <p:sldLayoutId id="2147483810" r:id="rId22"/>
    <p:sldLayoutId id="2147483800" r:id="rId23"/>
    <p:sldLayoutId id="2147483801" r:id="rId24"/>
    <p:sldLayoutId id="2147483803" r:id="rId25"/>
    <p:sldLayoutId id="2147483804" r:id="rId26"/>
    <p:sldLayoutId id="2147483802" r:id="rId27"/>
    <p:sldLayoutId id="2147483805" r:id="rId28"/>
    <p:sldLayoutId id="2147483807" r:id="rId29"/>
    <p:sldLayoutId id="2147483808" r:id="rId30"/>
    <p:sldLayoutId id="2147483806" r:id="rId31"/>
    <p:sldLayoutId id="2147483811" r:id="rId32"/>
    <p:sldLayoutId id="2147483812" r:id="rId33"/>
    <p:sldLayoutId id="2147483813" r:id="rId34"/>
    <p:sldLayoutId id="2147483814" r:id="rId35"/>
    <p:sldLayoutId id="2147483824" r:id="rId36"/>
    <p:sldLayoutId id="2147483825" r:id="rId37"/>
    <p:sldLayoutId id="2147483826" r:id="rId38"/>
    <p:sldLayoutId id="2147483823" r:id="rId39"/>
    <p:sldLayoutId id="2147483815" r:id="rId40"/>
    <p:sldLayoutId id="2147483816" r:id="rId41"/>
    <p:sldLayoutId id="2147483817" r:id="rId42"/>
    <p:sldLayoutId id="2147483818" r:id="rId43"/>
    <p:sldLayoutId id="2147483819" r:id="rId44"/>
    <p:sldLayoutId id="2147483820" r:id="rId45"/>
    <p:sldLayoutId id="2147483821" r:id="rId46"/>
    <p:sldLayoutId id="2147483822" r:id="rId47"/>
    <p:sldLayoutId id="2147483827" r:id="rId48"/>
    <p:sldLayoutId id="2147483828" r:id="rId49"/>
    <p:sldLayoutId id="2147483829" r:id="rId50"/>
    <p:sldLayoutId id="2147483831" r:id="rId51"/>
    <p:sldLayoutId id="2147483830" r:id="rId52"/>
    <p:sldLayoutId id="2147483774" r:id="rId53"/>
    <p:sldLayoutId id="2147483775" r:id="rId54"/>
    <p:sldLayoutId id="2147483833" r:id="rId55"/>
    <p:sldLayoutId id="2147483832" r:id="rId56"/>
    <p:sldLayoutId id="2147483689" r:id="rId57"/>
    <p:sldLayoutId id="2147483835" r:id="rId58"/>
    <p:sldLayoutId id="2147483737" r:id="rId59"/>
    <p:sldLayoutId id="2147483696" r:id="rId60"/>
    <p:sldLayoutId id="2147483714" r:id="rId61"/>
    <p:sldLayoutId id="2147483841" r:id="rId6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000" kern="1200">
          <a:solidFill>
            <a:schemeClr val="accent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600" kern="1200">
          <a:solidFill>
            <a:schemeClr val="bg2">
              <a:lumMod val="50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bg2">
              <a:lumMod val="50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bg2">
              <a:lumMod val="50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100" kern="1200">
          <a:solidFill>
            <a:schemeClr val="bg2">
              <a:lumMod val="50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100" kern="1200">
          <a:solidFill>
            <a:schemeClr val="bg2">
              <a:lumMod val="50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tif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23.xml"/><Relationship Id="rId18" Type="http://schemas.openxmlformats.org/officeDocument/2006/relationships/slide" Target="slide16.xml"/><Relationship Id="rId3" Type="http://schemas.openxmlformats.org/officeDocument/2006/relationships/slide" Target="slide94.xml"/><Relationship Id="rId21" Type="http://schemas.openxmlformats.org/officeDocument/2006/relationships/slide" Target="slide71.xml"/><Relationship Id="rId7" Type="http://schemas.openxmlformats.org/officeDocument/2006/relationships/slide" Target="slide21.xml"/><Relationship Id="rId12" Type="http://schemas.openxmlformats.org/officeDocument/2006/relationships/slide" Target="slide170.xml"/><Relationship Id="rId17" Type="http://schemas.openxmlformats.org/officeDocument/2006/relationships/slide" Target="slide169.xml"/><Relationship Id="rId2" Type="http://schemas.openxmlformats.org/officeDocument/2006/relationships/slide" Target="slide93.xml"/><Relationship Id="rId16" Type="http://schemas.openxmlformats.org/officeDocument/2006/relationships/slide" Target="slide19.xml"/><Relationship Id="rId20" Type="http://schemas.openxmlformats.org/officeDocument/2006/relationships/slide" Target="slide75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97.xml"/><Relationship Id="rId11" Type="http://schemas.openxmlformats.org/officeDocument/2006/relationships/slide" Target="slide25.xml"/><Relationship Id="rId5" Type="http://schemas.openxmlformats.org/officeDocument/2006/relationships/slide" Target="slide96.xml"/><Relationship Id="rId15" Type="http://schemas.openxmlformats.org/officeDocument/2006/relationships/slide" Target="slide72.xml"/><Relationship Id="rId10" Type="http://schemas.openxmlformats.org/officeDocument/2006/relationships/slide" Target="slide18.xml"/><Relationship Id="rId19" Type="http://schemas.openxmlformats.org/officeDocument/2006/relationships/slide" Target="slide73.xml"/><Relationship Id="rId4" Type="http://schemas.openxmlformats.org/officeDocument/2006/relationships/slide" Target="slide95.xml"/><Relationship Id="rId9" Type="http://schemas.openxmlformats.org/officeDocument/2006/relationships/slide" Target="slide24.xml"/><Relationship Id="rId14" Type="http://schemas.openxmlformats.org/officeDocument/2006/relationships/slide" Target="slide14.xml"/><Relationship Id="rId22" Type="http://schemas.openxmlformats.org/officeDocument/2006/relationships/slide" Target="slide2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6.xml"/><Relationship Id="rId13" Type="http://schemas.openxmlformats.org/officeDocument/2006/relationships/slide" Target="slide103.xml"/><Relationship Id="rId18" Type="http://schemas.openxmlformats.org/officeDocument/2006/relationships/slide" Target="slide108.xml"/><Relationship Id="rId26" Type="http://schemas.openxmlformats.org/officeDocument/2006/relationships/slide" Target="slide33.xml"/><Relationship Id="rId3" Type="http://schemas.openxmlformats.org/officeDocument/2006/relationships/slide" Target="slide99.xml"/><Relationship Id="rId21" Type="http://schemas.openxmlformats.org/officeDocument/2006/relationships/slide" Target="slide31.xml"/><Relationship Id="rId7" Type="http://schemas.openxmlformats.org/officeDocument/2006/relationships/slide" Target="slide171.xml"/><Relationship Id="rId12" Type="http://schemas.openxmlformats.org/officeDocument/2006/relationships/slide" Target="slide174.xml"/><Relationship Id="rId17" Type="http://schemas.openxmlformats.org/officeDocument/2006/relationships/slide" Target="slide107.xml"/><Relationship Id="rId25" Type="http://schemas.openxmlformats.org/officeDocument/2006/relationships/slide" Target="slide32.xml"/><Relationship Id="rId2" Type="http://schemas.openxmlformats.org/officeDocument/2006/relationships/slide" Target="slide98.xml"/><Relationship Id="rId16" Type="http://schemas.openxmlformats.org/officeDocument/2006/relationships/slide" Target="slide106.xml"/><Relationship Id="rId20" Type="http://schemas.openxmlformats.org/officeDocument/2006/relationships/slide" Target="slide110.xml"/><Relationship Id="rId29" Type="http://schemas.openxmlformats.org/officeDocument/2006/relationships/slide" Target="slide30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102.xml"/><Relationship Id="rId11" Type="http://schemas.openxmlformats.org/officeDocument/2006/relationships/slide" Target="slide173.xml"/><Relationship Id="rId24" Type="http://schemas.openxmlformats.org/officeDocument/2006/relationships/slide" Target="slide111.xml"/><Relationship Id="rId32" Type="http://schemas.openxmlformats.org/officeDocument/2006/relationships/slide" Target="slide213.xml"/><Relationship Id="rId5" Type="http://schemas.openxmlformats.org/officeDocument/2006/relationships/slide" Target="slide101.xml"/><Relationship Id="rId15" Type="http://schemas.openxmlformats.org/officeDocument/2006/relationships/slide" Target="slide97.xml"/><Relationship Id="rId23" Type="http://schemas.openxmlformats.org/officeDocument/2006/relationships/slide" Target="slide38.xml"/><Relationship Id="rId28" Type="http://schemas.openxmlformats.org/officeDocument/2006/relationships/slide" Target="slide28.xml"/><Relationship Id="rId10" Type="http://schemas.openxmlformats.org/officeDocument/2006/relationships/slide" Target="slide172.xml"/><Relationship Id="rId19" Type="http://schemas.openxmlformats.org/officeDocument/2006/relationships/slide" Target="slide109.xml"/><Relationship Id="rId31" Type="http://schemas.openxmlformats.org/officeDocument/2006/relationships/slide" Target="slide105.xml"/><Relationship Id="rId4" Type="http://schemas.openxmlformats.org/officeDocument/2006/relationships/slide" Target="slide100.xml"/><Relationship Id="rId9" Type="http://schemas.openxmlformats.org/officeDocument/2006/relationships/slide" Target="slide76.xml"/><Relationship Id="rId14" Type="http://schemas.openxmlformats.org/officeDocument/2006/relationships/slide" Target="slide104.xml"/><Relationship Id="rId22" Type="http://schemas.openxmlformats.org/officeDocument/2006/relationships/slide" Target="slide29.xml"/><Relationship Id="rId27" Type="http://schemas.openxmlformats.org/officeDocument/2006/relationships/slide" Target="slide27.xml"/><Relationship Id="rId30" Type="http://schemas.openxmlformats.org/officeDocument/2006/relationships/slide" Target="slide77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slide" Target="slide182.xml"/><Relationship Id="rId18" Type="http://schemas.openxmlformats.org/officeDocument/2006/relationships/slide" Target="slide120.xml"/><Relationship Id="rId26" Type="http://schemas.openxmlformats.org/officeDocument/2006/relationships/slide" Target="slide41.xml"/><Relationship Id="rId21" Type="http://schemas.openxmlformats.org/officeDocument/2006/relationships/slide" Target="slide123.xml"/><Relationship Id="rId34" Type="http://schemas.openxmlformats.org/officeDocument/2006/relationships/slide" Target="slide115.xml"/><Relationship Id="rId7" Type="http://schemas.openxmlformats.org/officeDocument/2006/relationships/slide" Target="slide78.xml"/><Relationship Id="rId12" Type="http://schemas.openxmlformats.org/officeDocument/2006/relationships/slide" Target="slide180.xml"/><Relationship Id="rId17" Type="http://schemas.openxmlformats.org/officeDocument/2006/relationships/slide" Target="slide119.xml"/><Relationship Id="rId25" Type="http://schemas.openxmlformats.org/officeDocument/2006/relationships/slide" Target="slide40.xml"/><Relationship Id="rId33" Type="http://schemas.openxmlformats.org/officeDocument/2006/relationships/slide" Target="slide111.xml"/><Relationship Id="rId2" Type="http://schemas.openxmlformats.org/officeDocument/2006/relationships/slide" Target="slide112.xml"/><Relationship Id="rId16" Type="http://schemas.openxmlformats.org/officeDocument/2006/relationships/slide" Target="slide118.xml"/><Relationship Id="rId20" Type="http://schemas.openxmlformats.org/officeDocument/2006/relationships/slide" Target="slide122.xml"/><Relationship Id="rId29" Type="http://schemas.openxmlformats.org/officeDocument/2006/relationships/slide" Target="slide80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97.xml"/><Relationship Id="rId11" Type="http://schemas.openxmlformats.org/officeDocument/2006/relationships/slide" Target="slide179.xml"/><Relationship Id="rId24" Type="http://schemas.openxmlformats.org/officeDocument/2006/relationships/slide" Target="slide39.xml"/><Relationship Id="rId32" Type="http://schemas.openxmlformats.org/officeDocument/2006/relationships/slide" Target="slide110.xml"/><Relationship Id="rId37" Type="http://schemas.openxmlformats.org/officeDocument/2006/relationships/slide" Target="slide213.xml"/><Relationship Id="rId5" Type="http://schemas.openxmlformats.org/officeDocument/2006/relationships/slide" Target="slide114.xml"/><Relationship Id="rId15" Type="http://schemas.openxmlformats.org/officeDocument/2006/relationships/slide" Target="slide117.xml"/><Relationship Id="rId23" Type="http://schemas.openxmlformats.org/officeDocument/2006/relationships/slide" Target="slide37.xml"/><Relationship Id="rId28" Type="http://schemas.openxmlformats.org/officeDocument/2006/relationships/slide" Target="slide77.xml"/><Relationship Id="rId36" Type="http://schemas.openxmlformats.org/officeDocument/2006/relationships/slide" Target="slide36.xml"/><Relationship Id="rId10" Type="http://schemas.openxmlformats.org/officeDocument/2006/relationships/slide" Target="slide178.xml"/><Relationship Id="rId19" Type="http://schemas.openxmlformats.org/officeDocument/2006/relationships/slide" Target="slide121.xml"/><Relationship Id="rId31" Type="http://schemas.openxmlformats.org/officeDocument/2006/relationships/slide" Target="slide176.xml"/><Relationship Id="rId4" Type="http://schemas.openxmlformats.org/officeDocument/2006/relationships/slide" Target="slide113.xml"/><Relationship Id="rId9" Type="http://schemas.openxmlformats.org/officeDocument/2006/relationships/slide" Target="slide177.xml"/><Relationship Id="rId14" Type="http://schemas.openxmlformats.org/officeDocument/2006/relationships/slide" Target="slide116.xml"/><Relationship Id="rId22" Type="http://schemas.openxmlformats.org/officeDocument/2006/relationships/slide" Target="slide34.xml"/><Relationship Id="rId27" Type="http://schemas.openxmlformats.org/officeDocument/2006/relationships/slide" Target="slide42.xml"/><Relationship Id="rId30" Type="http://schemas.openxmlformats.org/officeDocument/2006/relationships/slide" Target="slide79.xml"/><Relationship Id="rId35" Type="http://schemas.openxmlformats.org/officeDocument/2006/relationships/slide" Target="slide35.xml"/><Relationship Id="rId8" Type="http://schemas.openxmlformats.org/officeDocument/2006/relationships/slide" Target="slide175.xml"/><Relationship Id="rId3" Type="http://schemas.openxmlformats.org/officeDocument/2006/relationships/slide" Target="slide99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slide" Target="slide47.xml"/><Relationship Id="rId18" Type="http://schemas.openxmlformats.org/officeDocument/2006/relationships/slide" Target="slide190.xml"/><Relationship Id="rId26" Type="http://schemas.openxmlformats.org/officeDocument/2006/relationships/slide" Target="slide132.xml"/><Relationship Id="rId21" Type="http://schemas.openxmlformats.org/officeDocument/2006/relationships/slide" Target="slide51.xml"/><Relationship Id="rId34" Type="http://schemas.openxmlformats.org/officeDocument/2006/relationships/slide" Target="slide46.xml"/><Relationship Id="rId7" Type="http://schemas.openxmlformats.org/officeDocument/2006/relationships/slide" Target="slide43.xml"/><Relationship Id="rId12" Type="http://schemas.openxmlformats.org/officeDocument/2006/relationships/slide" Target="slide187.xml"/><Relationship Id="rId17" Type="http://schemas.openxmlformats.org/officeDocument/2006/relationships/slide" Target="slide49.xml"/><Relationship Id="rId25" Type="http://schemas.openxmlformats.org/officeDocument/2006/relationships/slide" Target="slide131.xml"/><Relationship Id="rId33" Type="http://schemas.openxmlformats.org/officeDocument/2006/relationships/slide" Target="slide186.xml"/><Relationship Id="rId2" Type="http://schemas.openxmlformats.org/officeDocument/2006/relationships/slide" Target="slide124.xml"/><Relationship Id="rId16" Type="http://schemas.openxmlformats.org/officeDocument/2006/relationships/slide" Target="slide189.xml"/><Relationship Id="rId20" Type="http://schemas.openxmlformats.org/officeDocument/2006/relationships/slide" Target="slide191.xml"/><Relationship Id="rId29" Type="http://schemas.openxmlformats.org/officeDocument/2006/relationships/slide" Target="slide135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183.xml"/><Relationship Id="rId11" Type="http://schemas.openxmlformats.org/officeDocument/2006/relationships/slide" Target="slide45.xml"/><Relationship Id="rId24" Type="http://schemas.openxmlformats.org/officeDocument/2006/relationships/slide" Target="slide129.xml"/><Relationship Id="rId32" Type="http://schemas.openxmlformats.org/officeDocument/2006/relationships/slide" Target="slide130.xml"/><Relationship Id="rId37" Type="http://schemas.openxmlformats.org/officeDocument/2006/relationships/slide" Target="slide213.xml"/><Relationship Id="rId5" Type="http://schemas.openxmlformats.org/officeDocument/2006/relationships/slide" Target="slide97.xml"/><Relationship Id="rId15" Type="http://schemas.openxmlformats.org/officeDocument/2006/relationships/slide" Target="slide48.xml"/><Relationship Id="rId23" Type="http://schemas.openxmlformats.org/officeDocument/2006/relationships/slide" Target="slide128.xml"/><Relationship Id="rId28" Type="http://schemas.openxmlformats.org/officeDocument/2006/relationships/slide" Target="slide134.xml"/><Relationship Id="rId36" Type="http://schemas.openxmlformats.org/officeDocument/2006/relationships/slide" Target="slide82.xml"/><Relationship Id="rId10" Type="http://schemas.openxmlformats.org/officeDocument/2006/relationships/slide" Target="slide185.xml"/><Relationship Id="rId19" Type="http://schemas.openxmlformats.org/officeDocument/2006/relationships/slide" Target="slide50.xml"/><Relationship Id="rId31" Type="http://schemas.openxmlformats.org/officeDocument/2006/relationships/slide" Target="slide137.xml"/><Relationship Id="rId4" Type="http://schemas.openxmlformats.org/officeDocument/2006/relationships/slide" Target="slide126.xml"/><Relationship Id="rId9" Type="http://schemas.openxmlformats.org/officeDocument/2006/relationships/slide" Target="slide44.xml"/><Relationship Id="rId14" Type="http://schemas.openxmlformats.org/officeDocument/2006/relationships/slide" Target="slide188.xml"/><Relationship Id="rId22" Type="http://schemas.openxmlformats.org/officeDocument/2006/relationships/slide" Target="slide127.xml"/><Relationship Id="rId27" Type="http://schemas.openxmlformats.org/officeDocument/2006/relationships/slide" Target="slide133.xml"/><Relationship Id="rId30" Type="http://schemas.openxmlformats.org/officeDocument/2006/relationships/slide" Target="slide136.xml"/><Relationship Id="rId35" Type="http://schemas.openxmlformats.org/officeDocument/2006/relationships/slide" Target="slide81.xml"/><Relationship Id="rId8" Type="http://schemas.openxmlformats.org/officeDocument/2006/relationships/slide" Target="slide184.xml"/><Relationship Id="rId3" Type="http://schemas.openxmlformats.org/officeDocument/2006/relationships/slide" Target="slide12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52.xml"/><Relationship Id="rId3" Type="http://schemas.openxmlformats.org/officeDocument/2006/relationships/slide" Target="slide139.xml"/><Relationship Id="rId7" Type="http://schemas.openxmlformats.org/officeDocument/2006/relationships/slide" Target="slide192.xml"/><Relationship Id="rId12" Type="http://schemas.openxmlformats.org/officeDocument/2006/relationships/slide" Target="slide213.xml"/><Relationship Id="rId2" Type="http://schemas.openxmlformats.org/officeDocument/2006/relationships/slide" Target="slide138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97.xml"/><Relationship Id="rId11" Type="http://schemas.openxmlformats.org/officeDocument/2006/relationships/slide" Target="slide54.xml"/><Relationship Id="rId5" Type="http://schemas.openxmlformats.org/officeDocument/2006/relationships/slide" Target="slide141.xml"/><Relationship Id="rId10" Type="http://schemas.openxmlformats.org/officeDocument/2006/relationships/slide" Target="slide53.xml"/><Relationship Id="rId4" Type="http://schemas.openxmlformats.org/officeDocument/2006/relationships/slide" Target="slide140.xml"/><Relationship Id="rId9" Type="http://schemas.openxmlformats.org/officeDocument/2006/relationships/slide" Target="slide8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197.xml"/><Relationship Id="rId13" Type="http://schemas.openxmlformats.org/officeDocument/2006/relationships/slide" Target="slide59.xml"/><Relationship Id="rId18" Type="http://schemas.openxmlformats.org/officeDocument/2006/relationships/slide" Target="slide145.xml"/><Relationship Id="rId3" Type="http://schemas.openxmlformats.org/officeDocument/2006/relationships/slide" Target="slide143.xml"/><Relationship Id="rId21" Type="http://schemas.openxmlformats.org/officeDocument/2006/relationships/slide" Target="slide149.xml"/><Relationship Id="rId7" Type="http://schemas.openxmlformats.org/officeDocument/2006/relationships/slide" Target="slide56.xml"/><Relationship Id="rId12" Type="http://schemas.openxmlformats.org/officeDocument/2006/relationships/slide" Target="slide199.xml"/><Relationship Id="rId17" Type="http://schemas.openxmlformats.org/officeDocument/2006/relationships/slide" Target="slide144.xml"/><Relationship Id="rId25" Type="http://schemas.openxmlformats.org/officeDocument/2006/relationships/slide" Target="slide213.xml"/><Relationship Id="rId2" Type="http://schemas.openxmlformats.org/officeDocument/2006/relationships/slide" Target="slide142.xml"/><Relationship Id="rId16" Type="http://schemas.openxmlformats.org/officeDocument/2006/relationships/slide" Target="slide200.xml"/><Relationship Id="rId20" Type="http://schemas.openxmlformats.org/officeDocument/2006/relationships/slide" Target="slide148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55.xml"/><Relationship Id="rId11" Type="http://schemas.openxmlformats.org/officeDocument/2006/relationships/slide" Target="slide58.xml"/><Relationship Id="rId24" Type="http://schemas.openxmlformats.org/officeDocument/2006/relationships/slide" Target="slide141.xml"/><Relationship Id="rId5" Type="http://schemas.openxmlformats.org/officeDocument/2006/relationships/slide" Target="slide196.xml"/><Relationship Id="rId15" Type="http://schemas.openxmlformats.org/officeDocument/2006/relationships/slide" Target="slide60.xml"/><Relationship Id="rId23" Type="http://schemas.openxmlformats.org/officeDocument/2006/relationships/slide" Target="slide99.xml"/><Relationship Id="rId10" Type="http://schemas.openxmlformats.org/officeDocument/2006/relationships/slide" Target="slide198.xml"/><Relationship Id="rId19" Type="http://schemas.openxmlformats.org/officeDocument/2006/relationships/slide" Target="slide147.xml"/><Relationship Id="rId4" Type="http://schemas.openxmlformats.org/officeDocument/2006/relationships/slide" Target="slide8.xml"/><Relationship Id="rId9" Type="http://schemas.openxmlformats.org/officeDocument/2006/relationships/slide" Target="slide57.xml"/><Relationship Id="rId14" Type="http://schemas.openxmlformats.org/officeDocument/2006/relationships/slide" Target="slide201.xml"/><Relationship Id="rId22" Type="http://schemas.openxmlformats.org/officeDocument/2006/relationships/slide" Target="slide146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02.xml"/><Relationship Id="rId3" Type="http://schemas.openxmlformats.org/officeDocument/2006/relationships/slide" Target="slide151.xml"/><Relationship Id="rId7" Type="http://schemas.openxmlformats.org/officeDocument/2006/relationships/slide" Target="slide61.xml"/><Relationship Id="rId2" Type="http://schemas.openxmlformats.org/officeDocument/2006/relationships/slide" Target="slide150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84.xml"/><Relationship Id="rId5" Type="http://schemas.openxmlformats.org/officeDocument/2006/relationships/slide" Target="slide97.xml"/><Relationship Id="rId4" Type="http://schemas.openxmlformats.org/officeDocument/2006/relationships/slide" Target="slide152.xml"/><Relationship Id="rId9" Type="http://schemas.openxmlformats.org/officeDocument/2006/relationships/slide" Target="slide213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slide" Target="slide204.xml"/><Relationship Id="rId18" Type="http://schemas.openxmlformats.org/officeDocument/2006/relationships/slide" Target="slide66.xml"/><Relationship Id="rId26" Type="http://schemas.openxmlformats.org/officeDocument/2006/relationships/slide" Target="slide158.xml"/><Relationship Id="rId3" Type="http://schemas.openxmlformats.org/officeDocument/2006/relationships/slide" Target="slide154.xml"/><Relationship Id="rId21" Type="http://schemas.openxmlformats.org/officeDocument/2006/relationships/slide" Target="slide207.xml"/><Relationship Id="rId34" Type="http://schemas.openxmlformats.org/officeDocument/2006/relationships/slide" Target="slide213.xml"/><Relationship Id="rId7" Type="http://schemas.openxmlformats.org/officeDocument/2006/relationships/slide" Target="slide87.xml"/><Relationship Id="rId12" Type="http://schemas.openxmlformats.org/officeDocument/2006/relationships/slide" Target="slide63.xml"/><Relationship Id="rId17" Type="http://schemas.openxmlformats.org/officeDocument/2006/relationships/slide" Target="slide209.xml"/><Relationship Id="rId25" Type="http://schemas.openxmlformats.org/officeDocument/2006/relationships/slide" Target="slide157.xml"/><Relationship Id="rId33" Type="http://schemas.openxmlformats.org/officeDocument/2006/relationships/slide" Target="slide141.xml"/><Relationship Id="rId2" Type="http://schemas.openxmlformats.org/officeDocument/2006/relationships/slide" Target="slide153.xml"/><Relationship Id="rId16" Type="http://schemas.openxmlformats.org/officeDocument/2006/relationships/slide" Target="slide68.xml"/><Relationship Id="rId20" Type="http://schemas.openxmlformats.org/officeDocument/2006/relationships/slide" Target="slide67.xml"/><Relationship Id="rId29" Type="http://schemas.openxmlformats.org/officeDocument/2006/relationships/slide" Target="slide161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86.xml"/><Relationship Id="rId11" Type="http://schemas.openxmlformats.org/officeDocument/2006/relationships/slide" Target="slide203.xml"/><Relationship Id="rId24" Type="http://schemas.openxmlformats.org/officeDocument/2006/relationships/slide" Target="slide156.xml"/><Relationship Id="rId32" Type="http://schemas.openxmlformats.org/officeDocument/2006/relationships/slide" Target="slide164.xml"/><Relationship Id="rId5" Type="http://schemas.openxmlformats.org/officeDocument/2006/relationships/slide" Target="slide85.xml"/><Relationship Id="rId15" Type="http://schemas.openxmlformats.org/officeDocument/2006/relationships/slide" Target="slide208.xml"/><Relationship Id="rId23" Type="http://schemas.openxmlformats.org/officeDocument/2006/relationships/slide" Target="slide205.xml"/><Relationship Id="rId28" Type="http://schemas.openxmlformats.org/officeDocument/2006/relationships/slide" Target="slide160.xml"/><Relationship Id="rId10" Type="http://schemas.openxmlformats.org/officeDocument/2006/relationships/slide" Target="slide62.xml"/><Relationship Id="rId19" Type="http://schemas.openxmlformats.org/officeDocument/2006/relationships/slide" Target="slide206.xml"/><Relationship Id="rId31" Type="http://schemas.openxmlformats.org/officeDocument/2006/relationships/slide" Target="slide163.xml"/><Relationship Id="rId4" Type="http://schemas.openxmlformats.org/officeDocument/2006/relationships/slide" Target="slide155.xml"/><Relationship Id="rId9" Type="http://schemas.openxmlformats.org/officeDocument/2006/relationships/slide" Target="slide89.xml"/><Relationship Id="rId14" Type="http://schemas.openxmlformats.org/officeDocument/2006/relationships/slide" Target="slide65.xml"/><Relationship Id="rId22" Type="http://schemas.openxmlformats.org/officeDocument/2006/relationships/slide" Target="slide64.xml"/><Relationship Id="rId27" Type="http://schemas.openxmlformats.org/officeDocument/2006/relationships/slide" Target="slide159.xml"/><Relationship Id="rId30" Type="http://schemas.openxmlformats.org/officeDocument/2006/relationships/slide" Target="slide162.xml"/><Relationship Id="rId8" Type="http://schemas.openxmlformats.org/officeDocument/2006/relationships/slide" Target="slide8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" Target="slide166.xml"/><Relationship Id="rId7" Type="http://schemas.openxmlformats.org/officeDocument/2006/relationships/slide" Target="slide213.xml"/><Relationship Id="rId2" Type="http://schemas.openxmlformats.org/officeDocument/2006/relationships/slide" Target="slide165.xml"/><Relationship Id="rId1" Type="http://schemas.openxmlformats.org/officeDocument/2006/relationships/slideLayout" Target="../slideLayouts/slideLayout56.xml"/><Relationship Id="rId6" Type="http://schemas.openxmlformats.org/officeDocument/2006/relationships/slide" Target="slide211.xml"/><Relationship Id="rId5" Type="http://schemas.openxmlformats.org/officeDocument/2006/relationships/slide" Target="slide69.xml"/><Relationship Id="rId4" Type="http://schemas.openxmlformats.org/officeDocument/2006/relationships/slide" Target="slide16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" Target="slide15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6.xml"/><Relationship Id="rId4" Type="http://schemas.openxmlformats.org/officeDocument/2006/relationships/slide" Target="slide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slide" Target="slide17.xml"/><Relationship Id="rId1" Type="http://schemas.openxmlformats.org/officeDocument/2006/relationships/slideLayout" Target="../slideLayouts/slideLayout5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slide" Target="slide20.xml"/><Relationship Id="rId1" Type="http://schemas.openxmlformats.org/officeDocument/2006/relationships/slideLayout" Target="../slideLayouts/slideLayout56.xml"/><Relationship Id="rId4" Type="http://schemas.openxmlformats.org/officeDocument/2006/relationships/slide" Target="slide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Relationship Id="rId4" Type="http://schemas.openxmlformats.org/officeDocument/2006/relationships/slide" Target="slide1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5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5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5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5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5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5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56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5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6.xml"/><Relationship Id="rId4" Type="http://schemas.openxmlformats.org/officeDocument/2006/relationships/slide" Target="slide9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5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56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56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5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5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5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5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" Target="slide12.xml"/><Relationship Id="rId1" Type="http://schemas.openxmlformats.org/officeDocument/2006/relationships/slideLayout" Target="../slideLayouts/slideLayout56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90.xml"/><Relationship Id="rId4" Type="http://schemas.openxmlformats.org/officeDocument/2006/relationships/slide" Target="slide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slide" Target="slide4.xml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png"/><Relationship Id="rId10" Type="http://schemas.openxmlformats.org/officeDocument/2006/relationships/image" Target="../media/image23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3" Type="http://schemas.openxmlformats.org/officeDocument/2006/relationships/image" Target="../media/image27.png"/><Relationship Id="rId7" Type="http://schemas.openxmlformats.org/officeDocument/2006/relationships/slide" Target="slide6.xml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3.xml"/><Relationship Id="rId6" Type="http://schemas.openxmlformats.org/officeDocument/2006/relationships/slide" Target="slide10.xml"/><Relationship Id="rId11" Type="http://schemas.openxmlformats.org/officeDocument/2006/relationships/slide" Target="slide4.xml"/><Relationship Id="rId5" Type="http://schemas.openxmlformats.org/officeDocument/2006/relationships/slide" Target="slide5.xml"/><Relationship Id="rId10" Type="http://schemas.openxmlformats.org/officeDocument/2006/relationships/slide" Target="slide9.xml"/><Relationship Id="rId4" Type="http://schemas.openxmlformats.org/officeDocument/2006/relationships/image" Target="../media/image28.png"/><Relationship Id="rId9" Type="http://schemas.openxmlformats.org/officeDocument/2006/relationships/slide" Target="slide8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Relationship Id="rId9" Type="http://schemas.openxmlformats.org/officeDocument/2006/relationships/slide" Target="slide5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slide" Target="slide5.xml"/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3.xml"/><Relationship Id="rId5" Type="http://schemas.openxmlformats.org/officeDocument/2006/relationships/slide" Target="slide6.xml"/><Relationship Id="rId4" Type="http://schemas.openxmlformats.org/officeDocument/2006/relationships/image" Target="../media/image32.png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3.xml"/><Relationship Id="rId5" Type="http://schemas.openxmlformats.org/officeDocument/2006/relationships/slide" Target="slide7.xml"/><Relationship Id="rId4" Type="http://schemas.openxmlformats.org/officeDocument/2006/relationships/image" Target="../media/image41.png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slide" Target="slide7.xml"/><Relationship Id="rId1" Type="http://schemas.openxmlformats.org/officeDocument/2006/relationships/slideLayout" Target="../slideLayouts/slideLayout13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Relationship Id="rId9" Type="http://schemas.openxmlformats.org/officeDocument/2006/relationships/slide" Target="slide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13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Relationship Id="rId9" Type="http://schemas.openxmlformats.org/officeDocument/2006/relationships/slide" Target="slide8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13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slide" Target="slide8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13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3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13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slide" Target="slide9.xm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13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13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slide" Target="slide9.xml"/><Relationship Id="rId1" Type="http://schemas.openxmlformats.org/officeDocument/2006/relationships/slideLayout" Target="../slideLayouts/slideLayout13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7" Type="http://schemas.openxmlformats.org/officeDocument/2006/relationships/slide" Target="slide9.xml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slide" Target="slide10.xml"/><Relationship Id="rId1" Type="http://schemas.openxmlformats.org/officeDocument/2006/relationships/slideLayout" Target="../slideLayouts/slideLayout13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13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27.png"/><Relationship Id="rId7" Type="http://schemas.openxmlformats.org/officeDocument/2006/relationships/image" Target="../media/image55.png"/><Relationship Id="rId12" Type="http://schemas.openxmlformats.org/officeDocument/2006/relationships/slide" Target="slide10.xml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4.png"/><Relationship Id="rId11" Type="http://schemas.openxmlformats.org/officeDocument/2006/relationships/image" Target="../media/image59.pn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28.png"/><Relationship Id="rId9" Type="http://schemas.openxmlformats.org/officeDocument/2006/relationships/image" Target="../media/image57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63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65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13.xml"/><Relationship Id="rId5" Type="http://schemas.openxmlformats.org/officeDocument/2006/relationships/slide" Target="slide11.xml"/><Relationship Id="rId4" Type="http://schemas.openxmlformats.org/officeDocument/2006/relationships/image" Target="../media/image68.png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13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slide" Target="slide12.xml"/><Relationship Id="rId1" Type="http://schemas.openxmlformats.org/officeDocument/2006/relationships/slideLayout" Target="../slideLayouts/slideLayout13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3.xml"/><Relationship Id="rId4" Type="http://schemas.openxmlformats.org/officeDocument/2006/relationships/slide" Target="slide12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slide" Target="slide1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2.png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4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5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5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5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5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181.xml"/><Relationship Id="rId4" Type="http://schemas.openxmlformats.org/officeDocument/2006/relationships/slide" Target="slide6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180.xml"/><Relationship Id="rId4" Type="http://schemas.openxmlformats.org/officeDocument/2006/relationships/slide" Target="slide6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6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chart" Target="../charts/chart2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chart" Target="../charts/chart3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chart" Target="../charts/chart3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chart" Target="../charts/chart4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8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8.xml"/><Relationship Id="rId2" Type="http://schemas.openxmlformats.org/officeDocument/2006/relationships/chart" Target="../charts/chart47.xml"/><Relationship Id="rId1" Type="http://schemas.openxmlformats.org/officeDocument/2006/relationships/slideLayout" Target="../slideLayouts/slideLayout13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13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13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4.xml"/><Relationship Id="rId2" Type="http://schemas.openxmlformats.org/officeDocument/2006/relationships/chart" Target="../charts/chart53.xml"/><Relationship Id="rId1" Type="http://schemas.openxmlformats.org/officeDocument/2006/relationships/slideLayout" Target="../slideLayouts/slideLayout13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9.xml"/><Relationship Id="rId4" Type="http://schemas.openxmlformats.org/officeDocument/2006/relationships/chart" Target="../charts/chart56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8.xml"/><Relationship Id="rId2" Type="http://schemas.openxmlformats.org/officeDocument/2006/relationships/chart" Target="../charts/chart5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0.xml"/><Relationship Id="rId2" Type="http://schemas.openxmlformats.org/officeDocument/2006/relationships/chart" Target="../charts/chart5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chart" Target="../charts/chart6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4.xml"/><Relationship Id="rId2" Type="http://schemas.openxmlformats.org/officeDocument/2006/relationships/chart" Target="../charts/chart6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9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6.xml"/><Relationship Id="rId2" Type="http://schemas.openxmlformats.org/officeDocument/2006/relationships/chart" Target="../charts/chart6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0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8.xml"/><Relationship Id="rId2" Type="http://schemas.openxmlformats.org/officeDocument/2006/relationships/chart" Target="../charts/chart6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0.xml"/><Relationship Id="rId2" Type="http://schemas.openxmlformats.org/officeDocument/2006/relationships/chart" Target="../charts/chart6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2.xml"/><Relationship Id="rId2" Type="http://schemas.openxmlformats.org/officeDocument/2006/relationships/chart" Target="../charts/chart71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4.xml"/><Relationship Id="rId2" Type="http://schemas.openxmlformats.org/officeDocument/2006/relationships/chart" Target="../charts/chart73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6.xml"/><Relationship Id="rId2" Type="http://schemas.openxmlformats.org/officeDocument/2006/relationships/chart" Target="../charts/chart75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8.xml"/><Relationship Id="rId2" Type="http://schemas.openxmlformats.org/officeDocument/2006/relationships/chart" Target="../charts/chart77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11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0.xml"/><Relationship Id="rId2" Type="http://schemas.openxmlformats.org/officeDocument/2006/relationships/chart" Target="../charts/chart79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210.xml"/><Relationship Id="rId4" Type="http://schemas.openxmlformats.org/officeDocument/2006/relationships/slide" Target="slide11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2.xml"/><Relationship Id="rId2" Type="http://schemas.openxmlformats.org/officeDocument/2006/relationships/chart" Target="../charts/chart81.xml"/><Relationship Id="rId1" Type="http://schemas.openxmlformats.org/officeDocument/2006/relationships/slideLayout" Target="../slideLayouts/slideLayout13.xml"/><Relationship Id="rId5" Type="http://schemas.openxmlformats.org/officeDocument/2006/relationships/slide" Target="slide209.xml"/><Relationship Id="rId4" Type="http://schemas.openxmlformats.org/officeDocument/2006/relationships/slide" Target="slide11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4.xml"/><Relationship Id="rId2" Type="http://schemas.openxmlformats.org/officeDocument/2006/relationships/chart" Target="../charts/chart83.xml"/><Relationship Id="rId1" Type="http://schemas.openxmlformats.org/officeDocument/2006/relationships/slideLayout" Target="../slideLayouts/slideLayout13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0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slide" Target="slide10.xml"/><Relationship Id="rId7" Type="http://schemas.openxmlformats.org/officeDocument/2006/relationships/slide" Target="slide9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3.xml"/><Relationship Id="rId6" Type="http://schemas.openxmlformats.org/officeDocument/2006/relationships/slide" Target="slide8.xml"/><Relationship Id="rId5" Type="http://schemas.openxmlformats.org/officeDocument/2006/relationships/slide" Target="slide7.xml"/><Relationship Id="rId10" Type="http://schemas.openxmlformats.org/officeDocument/2006/relationships/image" Target="../media/image74.png"/><Relationship Id="rId4" Type="http://schemas.openxmlformats.org/officeDocument/2006/relationships/slide" Target="slide6.xml"/><Relationship Id="rId9" Type="http://schemas.openxmlformats.org/officeDocument/2006/relationships/image" Target="../media/image73.pn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7.png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7.png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3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tif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1.xml"/><Relationship Id="rId4" Type="http://schemas.openxmlformats.org/officeDocument/2006/relationships/image" Target="../media/image13.png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ítulo 13">
            <a:extLst>
              <a:ext uri="{FF2B5EF4-FFF2-40B4-BE49-F238E27FC236}">
                <a16:creationId xmlns:a16="http://schemas.microsoft.com/office/drawing/2014/main" id="{7858CD2D-728D-4370-8D40-2C26E43F7B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/>
              <a:t>Revisión del modelo organizacional</a:t>
            </a:r>
          </a:p>
        </p:txBody>
      </p:sp>
      <p:sp>
        <p:nvSpPr>
          <p:cNvPr id="17" name="Marcador de texto 16">
            <a:extLst>
              <a:ext uri="{FF2B5EF4-FFF2-40B4-BE49-F238E27FC236}">
                <a16:creationId xmlns:a16="http://schemas.microsoft.com/office/drawing/2014/main" id="{6D6300EC-874C-40C3-BA00-DFB634BD91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Anexo – Fichas de Perfiles, Comités, Indicadores, y Compensación y Modelo de Competencias</a:t>
            </a:r>
          </a:p>
          <a:p>
            <a:endParaRPr lang="es-CO"/>
          </a:p>
        </p:txBody>
      </p:sp>
      <p:sp>
        <p:nvSpPr>
          <p:cNvPr id="18" name="Marcador de texto 17">
            <a:extLst>
              <a:ext uri="{FF2B5EF4-FFF2-40B4-BE49-F238E27FC236}">
                <a16:creationId xmlns:a16="http://schemas.microsoft.com/office/drawing/2014/main" id="{4373E9FE-84A7-4007-A616-589769A42C0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s-CO"/>
              <a:t>30 de Septiembre de 2020</a:t>
            </a:r>
          </a:p>
        </p:txBody>
      </p:sp>
      <p:sp>
        <p:nvSpPr>
          <p:cNvPr id="16" name="Marcador de texto 15">
            <a:extLst>
              <a:ext uri="{FF2B5EF4-FFF2-40B4-BE49-F238E27FC236}">
                <a16:creationId xmlns:a16="http://schemas.microsoft.com/office/drawing/2014/main" id="{5CF3EFB5-864F-4132-B177-B723F60F3CF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s-CO"/>
              <a:t>Bogotá, Colombia</a:t>
            </a:r>
          </a:p>
        </p:txBody>
      </p:sp>
      <p:sp>
        <p:nvSpPr>
          <p:cNvPr id="19" name="Marcador de texto 18">
            <a:extLst>
              <a:ext uri="{FF2B5EF4-FFF2-40B4-BE49-F238E27FC236}">
                <a16:creationId xmlns:a16="http://schemas.microsoft.com/office/drawing/2014/main" id="{2562D902-0BFF-4D4D-8663-0095D290D7B2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s-ES"/>
              <a:t>DOCUMENTO CONFIDENCIAL</a:t>
            </a:r>
            <a:endParaRPr lang="es-CO"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55F15BD3-8341-4AEE-8797-4F986989E28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75248" y="329055"/>
            <a:ext cx="1867078" cy="622359"/>
          </a:xfrm>
          <a:prstGeom prst="rect">
            <a:avLst/>
          </a:prstGeom>
        </p:spPr>
      </p:pic>
      <p:pic>
        <p:nvPicPr>
          <p:cNvPr id="3" name="Imagen 2">
            <a:extLst>
              <a:ext uri="{FF2B5EF4-FFF2-40B4-BE49-F238E27FC236}">
                <a16:creationId xmlns:a16="http://schemas.microsoft.com/office/drawing/2014/main" id="{8542BF44-0DA1-491B-BA76-3C3EB1033E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0999" y="396920"/>
            <a:ext cx="3826221" cy="486626"/>
          </a:xfrm>
          <a:prstGeom prst="rect">
            <a:avLst/>
          </a:prstGeom>
        </p:spPr>
      </p:pic>
      <p:pic>
        <p:nvPicPr>
          <p:cNvPr id="4" name="Picture 2" descr="Talent Advisor">
            <a:extLst>
              <a:ext uri="{FF2B5EF4-FFF2-40B4-BE49-F238E27FC236}">
                <a16:creationId xmlns:a16="http://schemas.microsoft.com/office/drawing/2014/main" id="{ED25BC8A-57EC-4EB4-9758-D98C66895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166" y="814883"/>
            <a:ext cx="1466350" cy="47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91279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11040312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 b="1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227515260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Rectángulo 149">
            <a:extLst>
              <a:ext uri="{FF2B5EF4-FFF2-40B4-BE49-F238E27FC236}">
                <a16:creationId xmlns:a16="http://schemas.microsoft.com/office/drawing/2014/main" id="{4A474D4C-8D53-4F58-B3E6-D3C796454A3F}"/>
              </a:ext>
            </a:extLst>
          </p:cNvPr>
          <p:cNvSpPr/>
          <p:nvPr/>
        </p:nvSpPr>
        <p:spPr>
          <a:xfrm>
            <a:off x="4387263" y="1404117"/>
            <a:ext cx="3417731" cy="578090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41" idx="2"/>
            <a:endCxn id="82" idx="0"/>
          </p:cNvCxnSpPr>
          <p:nvPr/>
        </p:nvCxnSpPr>
        <p:spPr>
          <a:xfrm rot="5400000">
            <a:off x="4497146" y="2202238"/>
            <a:ext cx="289283" cy="290842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26903B49-5ADE-42DF-909B-5DBD789E1AAD}"/>
              </a:ext>
            </a:extLst>
          </p:cNvPr>
          <p:cNvCxnSpPr>
            <a:cxnSpLocks/>
            <a:stCxn id="41" idx="2"/>
            <a:endCxn id="93" idx="0"/>
          </p:cNvCxnSpPr>
          <p:nvPr/>
        </p:nvCxnSpPr>
        <p:spPr>
          <a:xfrm rot="16200000" flipH="1">
            <a:off x="5952085" y="3655724"/>
            <a:ext cx="289283" cy="145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AB1513A0-F2A8-4D82-8254-3135C3668B6D}"/>
              </a:ext>
            </a:extLst>
          </p:cNvPr>
          <p:cNvCxnSpPr>
            <a:cxnSpLocks/>
            <a:stCxn id="41" idx="2"/>
            <a:endCxn id="11" idx="0"/>
          </p:cNvCxnSpPr>
          <p:nvPr/>
        </p:nvCxnSpPr>
        <p:spPr>
          <a:xfrm rot="16200000" flipH="1">
            <a:off x="6671359" y="2936450"/>
            <a:ext cx="289283" cy="144000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: angular 42">
            <a:extLst>
              <a:ext uri="{FF2B5EF4-FFF2-40B4-BE49-F238E27FC236}">
                <a16:creationId xmlns:a16="http://schemas.microsoft.com/office/drawing/2014/main" id="{412C19E8-DD9E-4306-A8A5-4D8967A883AA}"/>
              </a:ext>
            </a:extLst>
          </p:cNvPr>
          <p:cNvCxnSpPr>
            <a:cxnSpLocks/>
            <a:stCxn id="11" idx="3"/>
            <a:endCxn id="130" idx="0"/>
          </p:cNvCxnSpPr>
          <p:nvPr/>
        </p:nvCxnSpPr>
        <p:spPr>
          <a:xfrm>
            <a:off x="8166001" y="3999093"/>
            <a:ext cx="808548" cy="312975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4028905" y="4348068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Analista BI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880F042-59C0-43FA-9B06-E5857B62DDF8}"/>
              </a:ext>
            </a:extLst>
          </p:cNvPr>
          <p:cNvSpPr/>
          <p:nvPr/>
        </p:nvSpPr>
        <p:spPr>
          <a:xfrm>
            <a:off x="6906001" y="3801093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Secretaría </a:t>
            </a:r>
            <a:b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General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F22EB7F4-878C-495E-BD69-A8F5427EDA25}"/>
              </a:ext>
            </a:extLst>
          </p:cNvPr>
          <p:cNvSpPr/>
          <p:nvPr/>
        </p:nvSpPr>
        <p:spPr>
          <a:xfrm>
            <a:off x="5467453" y="3801093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Común. Institucionales</a:t>
            </a:r>
          </a:p>
        </p:txBody>
      </p:sp>
      <p:sp>
        <p:nvSpPr>
          <p:cNvPr id="130" name="Rectángulo 129">
            <a:extLst>
              <a:ext uri="{FF2B5EF4-FFF2-40B4-BE49-F238E27FC236}">
                <a16:creationId xmlns:a16="http://schemas.microsoft.com/office/drawing/2014/main" id="{05092F52-287F-448D-81A3-B0F670BDCDF6}"/>
              </a:ext>
            </a:extLst>
          </p:cNvPr>
          <p:cNvSpPr/>
          <p:nvPr/>
        </p:nvSpPr>
        <p:spPr>
          <a:xfrm>
            <a:off x="8344549" y="4312068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Jurídico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4495837" y="1467901"/>
            <a:ext cx="1546664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Presidente JD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150" idx="2"/>
            <a:endCxn id="137" idx="0"/>
          </p:cNvCxnSpPr>
          <p:nvPr/>
        </p:nvCxnSpPr>
        <p:spPr>
          <a:xfrm flipH="1">
            <a:off x="6096000" y="1982207"/>
            <a:ext cx="129" cy="250334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1" name="Rectángulo 40">
            <a:extLst>
              <a:ext uri="{FF2B5EF4-FFF2-40B4-BE49-F238E27FC236}">
                <a16:creationId xmlns:a16="http://schemas.microsoft.com/office/drawing/2014/main" id="{01CC9609-3952-47F0-A700-DA5F6CD08886}"/>
              </a:ext>
            </a:extLst>
          </p:cNvPr>
          <p:cNvSpPr/>
          <p:nvPr/>
        </p:nvSpPr>
        <p:spPr>
          <a:xfrm>
            <a:off x="2778185" y="2933720"/>
            <a:ext cx="663563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7915C548-650E-4235-9FC3-F24D79558B28}"/>
              </a:ext>
            </a:extLst>
          </p:cNvPr>
          <p:cNvSpPr/>
          <p:nvPr/>
        </p:nvSpPr>
        <p:spPr>
          <a:xfrm>
            <a:off x="2864154" y="3007398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Cumplimiento Hitos PE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E4300042-1383-4BFB-A66E-9D6271480597}"/>
              </a:ext>
            </a:extLst>
          </p:cNvPr>
          <p:cNvSpPr/>
          <p:nvPr/>
        </p:nvSpPr>
        <p:spPr>
          <a:xfrm>
            <a:off x="4183745" y="3007398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ROA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2F868E5B-9B55-4238-9D2F-20734020B892}"/>
              </a:ext>
            </a:extLst>
          </p:cNvPr>
          <p:cNvSpPr/>
          <p:nvPr/>
        </p:nvSpPr>
        <p:spPr>
          <a:xfrm>
            <a:off x="5503336" y="3007398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Calificación de Riesgo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195868D6-DC57-4C51-B969-5740BDC0A141}"/>
              </a:ext>
            </a:extLst>
          </p:cNvPr>
          <p:cNvSpPr/>
          <p:nvPr/>
        </p:nvSpPr>
        <p:spPr>
          <a:xfrm>
            <a:off x="6822927" y="3007398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Cumplimiento Reportes Dir.</a:t>
            </a: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B7FB8DEE-8B4D-4A38-8975-8BC5611735DB}"/>
              </a:ext>
            </a:extLst>
          </p:cNvPr>
          <p:cNvSpPr/>
          <p:nvPr/>
        </p:nvSpPr>
        <p:spPr>
          <a:xfrm>
            <a:off x="8142519" y="3007398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NPS</a:t>
            </a:r>
          </a:p>
        </p:txBody>
      </p:sp>
      <p:sp>
        <p:nvSpPr>
          <p:cNvPr id="50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003BBFB-4FE9-426A-91EE-93C6F94CF29F}"/>
              </a:ext>
            </a:extLst>
          </p:cNvPr>
          <p:cNvSpPr/>
          <p:nvPr/>
        </p:nvSpPr>
        <p:spPr>
          <a:xfrm>
            <a:off x="3898349" y="33097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7DF6C45-0084-41DD-88E4-6D3158AACF72}"/>
              </a:ext>
            </a:extLst>
          </p:cNvPr>
          <p:cNvSpPr/>
          <p:nvPr/>
        </p:nvSpPr>
        <p:spPr>
          <a:xfrm>
            <a:off x="5220545" y="33097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2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3264234-452F-4BFA-989E-E03258B98D90}"/>
              </a:ext>
            </a:extLst>
          </p:cNvPr>
          <p:cNvSpPr/>
          <p:nvPr/>
        </p:nvSpPr>
        <p:spPr>
          <a:xfrm>
            <a:off x="6540136" y="33097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3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19D86306-3AC3-4016-B867-91B9D59FE840}"/>
              </a:ext>
            </a:extLst>
          </p:cNvPr>
          <p:cNvSpPr/>
          <p:nvPr/>
        </p:nvSpPr>
        <p:spPr>
          <a:xfrm>
            <a:off x="7859727" y="33097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4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32B3CF08-EBED-4D6A-895D-A0A5F4EA15E9}"/>
              </a:ext>
            </a:extLst>
          </p:cNvPr>
          <p:cNvSpPr/>
          <p:nvPr/>
        </p:nvSpPr>
        <p:spPr>
          <a:xfrm>
            <a:off x="9179319" y="33097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pSp>
        <p:nvGrpSpPr>
          <p:cNvPr id="55" name="Grupo 54">
            <a:extLst>
              <a:ext uri="{FF2B5EF4-FFF2-40B4-BE49-F238E27FC236}">
                <a16:creationId xmlns:a16="http://schemas.microsoft.com/office/drawing/2014/main" id="{694013DE-DD0A-4847-8BB7-401CE64DDB9A}"/>
              </a:ext>
            </a:extLst>
          </p:cNvPr>
          <p:cNvGrpSpPr/>
          <p:nvPr/>
        </p:nvGrpSpPr>
        <p:grpSpPr>
          <a:xfrm>
            <a:off x="3881518" y="3018188"/>
            <a:ext cx="5446217" cy="108000"/>
            <a:chOff x="2876301" y="2483877"/>
            <a:chExt cx="5446217" cy="108000"/>
          </a:xfrm>
        </p:grpSpPr>
        <p:sp>
          <p:nvSpPr>
            <p:cNvPr id="57" name="Rectángulo 56">
              <a:extLst>
                <a:ext uri="{FF2B5EF4-FFF2-40B4-BE49-F238E27FC236}">
                  <a16:creationId xmlns:a16="http://schemas.microsoft.com/office/drawing/2014/main" id="{8A5E5352-1B76-474A-B72B-AE05D98F95FA}"/>
                </a:ext>
              </a:extLst>
            </p:cNvPr>
            <p:cNvSpPr/>
            <p:nvPr/>
          </p:nvSpPr>
          <p:spPr>
            <a:xfrm>
              <a:off x="2876301" y="2483877"/>
              <a:ext cx="180000" cy="108000"/>
            </a:xfrm>
            <a:prstGeom prst="rect">
              <a:avLst/>
            </a:prstGeom>
            <a:solidFill>
              <a:schemeClr val="tx2"/>
            </a:solidFill>
          </p:spPr>
          <p:txBody>
  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</a:t>
              </a:r>
            </a:p>
          </p:txBody>
        </p:sp>
        <p:sp>
          <p:nvSpPr>
            <p:cNvPr id="58" name="Rectángulo 57">
              <a:extLst>
                <a:ext uri="{FF2B5EF4-FFF2-40B4-BE49-F238E27FC236}">
                  <a16:creationId xmlns:a16="http://schemas.microsoft.com/office/drawing/2014/main" id="{F043B5B1-F397-4CF2-A259-0F6DDCFC9FEF}"/>
                </a:ext>
              </a:extLst>
            </p:cNvPr>
            <p:cNvSpPr/>
            <p:nvPr/>
          </p:nvSpPr>
          <p:spPr>
            <a:xfrm>
              <a:off x="4181140" y="2483877"/>
              <a:ext cx="180000" cy="108000"/>
            </a:xfrm>
            <a:prstGeom prst="rect">
              <a:avLst/>
            </a:prstGeom>
            <a:solidFill>
              <a:schemeClr val="tx2"/>
            </a:solidFill>
          </p:spPr>
          <p:txBody>
  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30</a:t>
              </a:r>
            </a:p>
          </p:txBody>
        </p:sp>
        <p:sp>
          <p:nvSpPr>
            <p:cNvPr id="59" name="Rectángulo 58">
              <a:extLst>
                <a:ext uri="{FF2B5EF4-FFF2-40B4-BE49-F238E27FC236}">
                  <a16:creationId xmlns:a16="http://schemas.microsoft.com/office/drawing/2014/main" id="{84AD504C-1150-4493-AD1B-53E13FF0471E}"/>
                </a:ext>
              </a:extLst>
            </p:cNvPr>
            <p:cNvSpPr/>
            <p:nvPr/>
          </p:nvSpPr>
          <p:spPr>
            <a:xfrm>
              <a:off x="5503336" y="2483877"/>
              <a:ext cx="180000" cy="108000"/>
            </a:xfrm>
            <a:prstGeom prst="rect">
              <a:avLst/>
            </a:prstGeom>
            <a:solidFill>
              <a:schemeClr val="tx2"/>
            </a:solidFill>
          </p:spPr>
          <p:txBody>
  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1542B69C-A0D5-4CE0-846D-11BA0BCB46A7}"/>
                </a:ext>
              </a:extLst>
            </p:cNvPr>
            <p:cNvSpPr/>
            <p:nvPr/>
          </p:nvSpPr>
          <p:spPr>
            <a:xfrm>
              <a:off x="6822927" y="2483877"/>
              <a:ext cx="180000" cy="108000"/>
            </a:xfrm>
            <a:prstGeom prst="rect">
              <a:avLst/>
            </a:prstGeom>
            <a:solidFill>
              <a:schemeClr val="tx2"/>
            </a:solidFill>
          </p:spPr>
          <p:txBody>
  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25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6A3A0E2F-A6B2-49B2-BC6B-9B178AFA8F65}"/>
                </a:ext>
              </a:extLst>
            </p:cNvPr>
            <p:cNvSpPr/>
            <p:nvPr/>
          </p:nvSpPr>
          <p:spPr>
            <a:xfrm>
              <a:off x="8142518" y="2483877"/>
              <a:ext cx="180000" cy="108000"/>
            </a:xfrm>
            <a:prstGeom prst="rect">
              <a:avLst/>
            </a:prstGeom>
            <a:solidFill>
              <a:schemeClr val="tx2"/>
            </a:solidFill>
          </p:spPr>
          <p:txBody>
  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10</a:t>
              </a:r>
            </a:p>
          </p:txBody>
        </p:sp>
      </p:grpSp>
      <p:sp>
        <p:nvSpPr>
          <p:cNvPr id="82" name="Rectángulo 81">
            <a:extLst>
              <a:ext uri="{FF2B5EF4-FFF2-40B4-BE49-F238E27FC236}">
                <a16:creationId xmlns:a16="http://schemas.microsoft.com/office/drawing/2014/main" id="{CA58EA8B-B0E3-4367-85E5-347131B9E686}"/>
              </a:ext>
            </a:extLst>
          </p:cNvPr>
          <p:cNvSpPr/>
          <p:nvPr/>
        </p:nvSpPr>
        <p:spPr>
          <a:xfrm>
            <a:off x="2557574" y="3801093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Gestión</a:t>
            </a:r>
          </a:p>
        </p:txBody>
      </p:sp>
      <p:sp>
        <p:nvSpPr>
          <p:cNvPr id="94" name="Rectángulo 93">
            <a:extLst>
              <a:ext uri="{FF2B5EF4-FFF2-40B4-BE49-F238E27FC236}">
                <a16:creationId xmlns:a16="http://schemas.microsoft.com/office/drawing/2014/main" id="{7B0FCB26-1DCF-4900-8767-745B64A67FDA}"/>
              </a:ext>
            </a:extLst>
          </p:cNvPr>
          <p:cNvSpPr/>
          <p:nvPr/>
        </p:nvSpPr>
        <p:spPr>
          <a:xfrm>
            <a:off x="8153815" y="1915053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</a:t>
            </a:r>
            <a:b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Auditoria</a:t>
            </a:r>
          </a:p>
        </p:txBody>
      </p:sp>
      <p:cxnSp>
        <p:nvCxnSpPr>
          <p:cNvPr id="100" name="Conector: angular 99">
            <a:extLst>
              <a:ext uri="{FF2B5EF4-FFF2-40B4-BE49-F238E27FC236}">
                <a16:creationId xmlns:a16="http://schemas.microsoft.com/office/drawing/2014/main" id="{BC4CEB5B-0C14-420C-9FBF-1F7FAE5051A3}"/>
              </a:ext>
            </a:extLst>
          </p:cNvPr>
          <p:cNvCxnSpPr>
            <a:cxnSpLocks/>
            <a:stCxn id="82" idx="3"/>
            <a:endCxn id="9" idx="0"/>
          </p:cNvCxnSpPr>
          <p:nvPr/>
        </p:nvCxnSpPr>
        <p:spPr>
          <a:xfrm>
            <a:off x="3817574" y="3999093"/>
            <a:ext cx="841331" cy="348975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CuadroTexto 5">
            <a:extLst>
              <a:ext uri="{FF2B5EF4-FFF2-40B4-BE49-F238E27FC236}">
                <a16:creationId xmlns:a16="http://schemas.microsoft.com/office/drawing/2014/main" id="{BFC6F871-BB3C-4BF6-9F87-FF9B87B686C1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9CE4FFE-B9FF-4FAD-9C3E-867314136312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4880DB1-2551-42E0-A44F-3B411DE156CE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CFE93F1-F579-48AB-A08F-1C2931ADE614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2BBAA5E-490E-47E1-8A62-1D046D1F1A47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CuadroTexto 12">
            <a:extLst>
              <a:ext uri="{FF2B5EF4-FFF2-40B4-BE49-F238E27FC236}">
                <a16:creationId xmlns:a16="http://schemas.microsoft.com/office/drawing/2014/main" id="{AA9008F1-7B6F-469D-BB37-C67684100740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52A22740-1B76-4A93-B5D6-8EC02C685E6D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CuadroTexto 17">
            <a:extLst>
              <a:ext uri="{FF2B5EF4-FFF2-40B4-BE49-F238E27FC236}">
                <a16:creationId xmlns:a16="http://schemas.microsoft.com/office/drawing/2014/main" id="{51D74646-E3AB-4DA7-A187-17F807ED5988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A3BD538-5D2F-4B5F-A373-B9F8F2D6DF8A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19795A52-5743-4C8F-A545-8D606AE2BDDC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02ACE2DC-B754-4D8A-93AE-8008BD02F5EF}"/>
              </a:ext>
            </a:extLst>
          </p:cNvPr>
          <p:cNvSpPr/>
          <p:nvPr/>
        </p:nvSpPr>
        <p:spPr>
          <a:xfrm>
            <a:off x="3673574" y="380109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0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072F98C3-CAA8-4F80-806B-9F122A64D625}"/>
              </a:ext>
            </a:extLst>
          </p:cNvPr>
          <p:cNvSpPr/>
          <p:nvPr/>
        </p:nvSpPr>
        <p:spPr>
          <a:xfrm>
            <a:off x="5144905" y="4348068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1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DB586C66-5FDF-4483-9996-655BB3376763}"/>
              </a:ext>
            </a:extLst>
          </p:cNvPr>
          <p:cNvSpPr/>
          <p:nvPr/>
        </p:nvSpPr>
        <p:spPr>
          <a:xfrm>
            <a:off x="8022001" y="380109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8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943F16E3-2489-451B-ACD1-3C0912D10B16}"/>
              </a:ext>
            </a:extLst>
          </p:cNvPr>
          <p:cNvSpPr/>
          <p:nvPr/>
        </p:nvSpPr>
        <p:spPr>
          <a:xfrm>
            <a:off x="9269815" y="191505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9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CCAEB720-032C-445D-A490-87AB4F860891}"/>
              </a:ext>
            </a:extLst>
          </p:cNvPr>
          <p:cNvSpPr/>
          <p:nvPr/>
        </p:nvSpPr>
        <p:spPr>
          <a:xfrm>
            <a:off x="9460549" y="4312068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0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3CFDB227-64E1-43BA-A402-BE2B93B98129}"/>
              </a:ext>
            </a:extLst>
          </p:cNvPr>
          <p:cNvSpPr/>
          <p:nvPr/>
        </p:nvSpPr>
        <p:spPr>
          <a:xfrm>
            <a:off x="3673574" y="4072597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1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9C063591-5554-41FF-A3BC-727155A0C9A7}"/>
              </a:ext>
            </a:extLst>
          </p:cNvPr>
          <p:cNvSpPr/>
          <p:nvPr/>
        </p:nvSpPr>
        <p:spPr>
          <a:xfrm>
            <a:off x="6583859" y="380109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0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1D0B4235-DD4B-4886-A7C5-5B4465D82644}"/>
              </a:ext>
            </a:extLst>
          </p:cNvPr>
          <p:cNvSpPr/>
          <p:nvPr/>
        </p:nvSpPr>
        <p:spPr>
          <a:xfrm>
            <a:off x="5901351" y="146790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AB2BC18-3B5C-4319-B99E-DE786A5CC87F}"/>
              </a:ext>
            </a:extLst>
          </p:cNvPr>
          <p:cNvSpPr/>
          <p:nvPr/>
        </p:nvSpPr>
        <p:spPr>
          <a:xfrm>
            <a:off x="5898501" y="175703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028D8B80-B6FB-46A1-AE44-6DB50FF4A561}"/>
              </a:ext>
            </a:extLst>
          </p:cNvPr>
          <p:cNvSpPr/>
          <p:nvPr/>
        </p:nvSpPr>
        <p:spPr>
          <a:xfrm>
            <a:off x="503727" y="1318228"/>
            <a:ext cx="1738959" cy="1148472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Junta Directiva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Estrategia JD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Auditoria Interna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Riesgos JD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Presidencia</a:t>
            </a:r>
          </a:p>
        </p:txBody>
      </p:sp>
      <p:sp>
        <p:nvSpPr>
          <p:cNvPr id="24" name="Elipse 23">
            <a:extLst>
              <a:ext uri="{FF2B5EF4-FFF2-40B4-BE49-F238E27FC236}">
                <a16:creationId xmlns:a16="http://schemas.microsoft.com/office/drawing/2014/main" id="{35410A33-6B33-4A58-889C-8CB106716BFE}"/>
              </a:ext>
            </a:extLst>
          </p:cNvPr>
          <p:cNvSpPr/>
          <p:nvPr/>
        </p:nvSpPr>
        <p:spPr>
          <a:xfrm>
            <a:off x="512735" y="155626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5" name="CuadroTexto 24">
            <a:extLst>
              <a:ext uri="{FF2B5EF4-FFF2-40B4-BE49-F238E27FC236}">
                <a16:creationId xmlns:a16="http://schemas.microsoft.com/office/drawing/2014/main" id="{B27F7FAC-FBBC-48FB-AF89-88C647331494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28" name="Elipse 27">
            <a:extLst>
              <a:ext uri="{FF2B5EF4-FFF2-40B4-BE49-F238E27FC236}">
                <a16:creationId xmlns:a16="http://schemas.microsoft.com/office/drawing/2014/main" id="{1B1C1A90-B8C8-45FD-83FF-0110E0B45065}"/>
              </a:ext>
            </a:extLst>
          </p:cNvPr>
          <p:cNvSpPr/>
          <p:nvPr/>
        </p:nvSpPr>
        <p:spPr>
          <a:xfrm>
            <a:off x="512735" y="1782136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30" name="Botón de acción: ir hacia delante o siguiente 29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104E14EF-DEC3-4946-A4BC-F8353979E8E3}"/>
              </a:ext>
            </a:extLst>
          </p:cNvPr>
          <p:cNvSpPr/>
          <p:nvPr/>
        </p:nvSpPr>
        <p:spPr>
          <a:xfrm>
            <a:off x="2063666" y="1820301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1" name="Elipse 130">
            <a:extLst>
              <a:ext uri="{FF2B5EF4-FFF2-40B4-BE49-F238E27FC236}">
                <a16:creationId xmlns:a16="http://schemas.microsoft.com/office/drawing/2014/main" id="{277AABB7-BD08-433C-B844-2BD40DF286E6}"/>
              </a:ext>
            </a:extLst>
          </p:cNvPr>
          <p:cNvSpPr/>
          <p:nvPr/>
        </p:nvSpPr>
        <p:spPr>
          <a:xfrm>
            <a:off x="512735" y="2013506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37" name="Rectángulo 136">
            <a:extLst>
              <a:ext uri="{FF2B5EF4-FFF2-40B4-BE49-F238E27FC236}">
                <a16:creationId xmlns:a16="http://schemas.microsoft.com/office/drawing/2014/main" id="{D5A5C3A9-75CB-4E43-B7AA-B06E44985594}"/>
              </a:ext>
            </a:extLst>
          </p:cNvPr>
          <p:cNvSpPr/>
          <p:nvPr/>
        </p:nvSpPr>
        <p:spPr>
          <a:xfrm>
            <a:off x="5142000" y="2232541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Presidente BCF/CV</a:t>
            </a:r>
          </a:p>
        </p:txBody>
      </p:sp>
      <p:sp>
        <p:nvSpPr>
          <p:cNvPr id="138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5E14550D-429B-4C57-B78F-237876F360C1}"/>
              </a:ext>
            </a:extLst>
          </p:cNvPr>
          <p:cNvSpPr/>
          <p:nvPr/>
        </p:nvSpPr>
        <p:spPr>
          <a:xfrm>
            <a:off x="6908850" y="223254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9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14DFBAD8-571A-42EB-A265-4326EC4B9323}"/>
              </a:ext>
            </a:extLst>
          </p:cNvPr>
          <p:cNvSpPr/>
          <p:nvPr/>
        </p:nvSpPr>
        <p:spPr>
          <a:xfrm>
            <a:off x="6906000" y="252167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0" name="Elipse 139">
            <a:extLst>
              <a:ext uri="{FF2B5EF4-FFF2-40B4-BE49-F238E27FC236}">
                <a16:creationId xmlns:a16="http://schemas.microsoft.com/office/drawing/2014/main" id="{8F480865-69D0-45CB-898B-5A03AAABF9AE}"/>
              </a:ext>
            </a:extLst>
          </p:cNvPr>
          <p:cNvSpPr/>
          <p:nvPr/>
        </p:nvSpPr>
        <p:spPr>
          <a:xfrm>
            <a:off x="4274541" y="1318228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41" name="Elipse 140">
            <a:extLst>
              <a:ext uri="{FF2B5EF4-FFF2-40B4-BE49-F238E27FC236}">
                <a16:creationId xmlns:a16="http://schemas.microsoft.com/office/drawing/2014/main" id="{67068B85-32D5-4C42-8142-93EFEAF44611}"/>
              </a:ext>
            </a:extLst>
          </p:cNvPr>
          <p:cNvSpPr/>
          <p:nvPr/>
        </p:nvSpPr>
        <p:spPr>
          <a:xfrm>
            <a:off x="5083813" y="253040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EB0BC0B4-5555-4D7D-962C-2B9472FA89D1}"/>
              </a:ext>
            </a:extLst>
          </p:cNvPr>
          <p:cNvSpPr/>
          <p:nvPr/>
        </p:nvSpPr>
        <p:spPr>
          <a:xfrm>
            <a:off x="6148358" y="1467901"/>
            <a:ext cx="1546664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Miembro JD (CI)</a:t>
            </a:r>
          </a:p>
        </p:txBody>
      </p:sp>
      <p:sp>
        <p:nvSpPr>
          <p:cNvPr id="148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DB90B1D8-EECC-419B-A97F-57C3518FFAD8}"/>
              </a:ext>
            </a:extLst>
          </p:cNvPr>
          <p:cNvSpPr/>
          <p:nvPr/>
        </p:nvSpPr>
        <p:spPr>
          <a:xfrm>
            <a:off x="7553872" y="146790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B60FB7E-D729-4EBE-AB6B-1CFF97E285CC}"/>
              </a:ext>
            </a:extLst>
          </p:cNvPr>
          <p:cNvSpPr/>
          <p:nvPr/>
        </p:nvSpPr>
        <p:spPr>
          <a:xfrm>
            <a:off x="7551022" y="175703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cxnSp>
        <p:nvCxnSpPr>
          <p:cNvPr id="151" name="Conector recto 150">
            <a:extLst>
              <a:ext uri="{FF2B5EF4-FFF2-40B4-BE49-F238E27FC236}">
                <a16:creationId xmlns:a16="http://schemas.microsoft.com/office/drawing/2014/main" id="{B57EDE76-9880-4257-A3F7-99CD74D71BC3}"/>
              </a:ext>
            </a:extLst>
          </p:cNvPr>
          <p:cNvCxnSpPr>
            <a:cxnSpLocks/>
            <a:stCxn id="137" idx="2"/>
            <a:endCxn id="41" idx="0"/>
          </p:cNvCxnSpPr>
          <p:nvPr/>
        </p:nvCxnSpPr>
        <p:spPr>
          <a:xfrm>
            <a:off x="6096000" y="2664541"/>
            <a:ext cx="0" cy="26917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5" name="Elipse 154">
            <a:extLst>
              <a:ext uri="{FF2B5EF4-FFF2-40B4-BE49-F238E27FC236}">
                <a16:creationId xmlns:a16="http://schemas.microsoft.com/office/drawing/2014/main" id="{6AD1EA94-6919-49F4-87B7-A721DD95DECF}"/>
              </a:ext>
            </a:extLst>
          </p:cNvPr>
          <p:cNvSpPr/>
          <p:nvPr/>
        </p:nvSpPr>
        <p:spPr>
          <a:xfrm>
            <a:off x="4274541" y="151433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56" name="Elipse 155">
            <a:extLst>
              <a:ext uri="{FF2B5EF4-FFF2-40B4-BE49-F238E27FC236}">
                <a16:creationId xmlns:a16="http://schemas.microsoft.com/office/drawing/2014/main" id="{7C2B18ED-9849-4391-8916-FE0F4A185685}"/>
              </a:ext>
            </a:extLst>
          </p:cNvPr>
          <p:cNvSpPr/>
          <p:nvPr/>
        </p:nvSpPr>
        <p:spPr>
          <a:xfrm>
            <a:off x="4274541" y="1710440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cxnSp>
        <p:nvCxnSpPr>
          <p:cNvPr id="159" name="Conector: angular 158">
            <a:extLst>
              <a:ext uri="{FF2B5EF4-FFF2-40B4-BE49-F238E27FC236}">
                <a16:creationId xmlns:a16="http://schemas.microsoft.com/office/drawing/2014/main" id="{7895C11C-D2D7-4B0B-9C8F-7B9F39A792D4}"/>
              </a:ext>
            </a:extLst>
          </p:cNvPr>
          <p:cNvCxnSpPr>
            <a:cxnSpLocks/>
            <a:stCxn id="150" idx="2"/>
            <a:endCxn id="94" idx="1"/>
          </p:cNvCxnSpPr>
          <p:nvPr/>
        </p:nvCxnSpPr>
        <p:spPr>
          <a:xfrm rot="16200000" flipH="1">
            <a:off x="7059549" y="1018787"/>
            <a:ext cx="130846" cy="2057686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9" name="Elipse 168">
            <a:extLst>
              <a:ext uri="{FF2B5EF4-FFF2-40B4-BE49-F238E27FC236}">
                <a16:creationId xmlns:a16="http://schemas.microsoft.com/office/drawing/2014/main" id="{83BEA1CD-20AA-4148-BF97-65329F365EF8}"/>
              </a:ext>
            </a:extLst>
          </p:cNvPr>
          <p:cNvSpPr/>
          <p:nvPr/>
        </p:nvSpPr>
        <p:spPr>
          <a:xfrm>
            <a:off x="512735" y="221937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70" name="Elipse 169">
            <a:extLst>
              <a:ext uri="{FF2B5EF4-FFF2-40B4-BE49-F238E27FC236}">
                <a16:creationId xmlns:a16="http://schemas.microsoft.com/office/drawing/2014/main" id="{132F2D65-3307-486E-966E-C7F059135294}"/>
              </a:ext>
            </a:extLst>
          </p:cNvPr>
          <p:cNvSpPr/>
          <p:nvPr/>
        </p:nvSpPr>
        <p:spPr>
          <a:xfrm>
            <a:off x="512735" y="1321980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0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AB928042-FD6F-4003-8173-4C6E0A32B9BC}"/>
              </a:ext>
            </a:extLst>
          </p:cNvPr>
          <p:cNvSpPr/>
          <p:nvPr/>
        </p:nvSpPr>
        <p:spPr>
          <a:xfrm>
            <a:off x="4274541" y="189632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72" name="Botón de acción: ir hacia delante o siguiente 171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82D4DA0E-FEE9-46FD-93F9-E5B4500C7FCD}"/>
              </a:ext>
            </a:extLst>
          </p:cNvPr>
          <p:cNvSpPr/>
          <p:nvPr/>
        </p:nvSpPr>
        <p:spPr>
          <a:xfrm>
            <a:off x="2063666" y="2028060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3" name="Botón de acción: ir hacia delante o siguiente 17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04835602-1DC6-43F0-940A-C81E863ADD53}"/>
              </a:ext>
            </a:extLst>
          </p:cNvPr>
          <p:cNvSpPr/>
          <p:nvPr/>
        </p:nvSpPr>
        <p:spPr>
          <a:xfrm>
            <a:off x="2063666" y="2261524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" name="Botón de acción: ir hacia delante o siguiente 185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427B82E8-B0EA-4B07-8070-D6F0EC1A0055}"/>
              </a:ext>
            </a:extLst>
          </p:cNvPr>
          <p:cNvSpPr/>
          <p:nvPr/>
        </p:nvSpPr>
        <p:spPr>
          <a:xfrm>
            <a:off x="2063666" y="1597501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4A9B2106-1E0F-4AA2-8BD5-A3FFCCE6A17C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CuadroTexto 14">
            <a:extLst>
              <a:ext uri="{FF2B5EF4-FFF2-40B4-BE49-F238E27FC236}">
                <a16:creationId xmlns:a16="http://schemas.microsoft.com/office/drawing/2014/main" id="{1BAD1CC5-DD01-4AE9-9E05-80D1911200A6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A7AC76E3-8580-465B-B87A-E404537FF015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6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CAE9151B-24B9-44DE-B475-E56BA40712EF}"/>
              </a:ext>
            </a:extLst>
          </p:cNvPr>
          <p:cNvSpPr/>
          <p:nvPr/>
        </p:nvSpPr>
        <p:spPr>
          <a:xfrm>
            <a:off x="6583656" y="4072597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7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D905BE97-79D6-4712-BF60-703F6AE48F4C}"/>
              </a:ext>
            </a:extLst>
          </p:cNvPr>
          <p:cNvSpPr/>
          <p:nvPr/>
        </p:nvSpPr>
        <p:spPr>
          <a:xfrm>
            <a:off x="8028560" y="4072597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2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82333A5C-9496-44F1-96D0-487AC9A82115}"/>
              </a:ext>
            </a:extLst>
          </p:cNvPr>
          <p:cNvSpPr/>
          <p:nvPr/>
        </p:nvSpPr>
        <p:spPr>
          <a:xfrm>
            <a:off x="9445809" y="456446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5768732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2778185" y="2083818"/>
            <a:ext cx="663563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286415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Hitos plan Digitalización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18374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Volúmenes Digitales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5503336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Contribución Canales Dig.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6822927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N. Clientes Activos</a:t>
            </a:r>
          </a:p>
        </p:txBody>
      </p:sp>
      <p:sp>
        <p:nvSpPr>
          <p:cNvPr id="208" name="Rectángulo 207">
            <a:extLst>
              <a:ext uri="{FF2B5EF4-FFF2-40B4-BE49-F238E27FC236}">
                <a16:creationId xmlns:a16="http://schemas.microsoft.com/office/drawing/2014/main" id="{4F628228-977A-40C0-BF44-564FBC8B039F}"/>
              </a:ext>
            </a:extLst>
          </p:cNvPr>
          <p:cNvSpPr/>
          <p:nvPr/>
        </p:nvSpPr>
        <p:spPr>
          <a:xfrm>
            <a:off x="8142519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Top </a:t>
            </a:r>
            <a:r>
              <a:rPr lang="es-CO" sz="1200" b="1" err="1">
                <a:solidFill>
                  <a:schemeClr val="accent1"/>
                </a:solidFill>
              </a:rPr>
              <a:t>of</a:t>
            </a:r>
            <a:r>
              <a:rPr lang="es-CO" sz="1200" b="1">
                <a:solidFill>
                  <a:schemeClr val="accent1"/>
                </a:solidFill>
              </a:rPr>
              <a:t> </a:t>
            </a:r>
            <a:r>
              <a:rPr lang="es-CO" sz="1200" b="1" err="1">
                <a:solidFill>
                  <a:schemeClr val="accent1"/>
                </a:solidFill>
              </a:rPr>
              <a:t>Mind</a:t>
            </a:r>
            <a:endParaRPr lang="es-CO" sz="1200" b="1">
              <a:solidFill>
                <a:schemeClr val="accent1"/>
              </a:solidFill>
            </a:endParaRP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Innovación y Digitalización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stCxn id="23" idx="2"/>
            <a:endCxn id="198" idx="0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389834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9B1FAC4-2A01-4D39-AC44-3C0775CB46F9}"/>
              </a:ext>
            </a:extLst>
          </p:cNvPr>
          <p:cNvSpPr/>
          <p:nvPr/>
        </p:nvSpPr>
        <p:spPr>
          <a:xfrm>
            <a:off x="522054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6540136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5A8A5CB-805A-48F1-8291-4867B50026FB}"/>
              </a:ext>
            </a:extLst>
          </p:cNvPr>
          <p:cNvSpPr/>
          <p:nvPr/>
        </p:nvSpPr>
        <p:spPr>
          <a:xfrm>
            <a:off x="785972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56994C3-8155-4EA5-A5E6-44F5E81784D9}"/>
              </a:ext>
            </a:extLst>
          </p:cNvPr>
          <p:cNvSpPr/>
          <p:nvPr/>
        </p:nvSpPr>
        <p:spPr>
          <a:xfrm>
            <a:off x="917931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3881518" y="216828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5186357" y="216828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6508553" y="216828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7828144" y="216828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50" name="Rectángulo 149">
            <a:extLst>
              <a:ext uri="{FF2B5EF4-FFF2-40B4-BE49-F238E27FC236}">
                <a16:creationId xmlns:a16="http://schemas.microsoft.com/office/drawing/2014/main" id="{0D0B2680-0E72-4E47-9687-BBC6E158D1E7}"/>
              </a:ext>
            </a:extLst>
          </p:cNvPr>
          <p:cNvSpPr/>
          <p:nvPr/>
        </p:nvSpPr>
        <p:spPr>
          <a:xfrm>
            <a:off x="9147735" y="216828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52" name="CuadroTexto 151">
            <a:extLst>
              <a:ext uri="{FF2B5EF4-FFF2-40B4-BE49-F238E27FC236}">
                <a16:creationId xmlns:a16="http://schemas.microsoft.com/office/drawing/2014/main" id="{5AA64710-7CC0-4EFF-8E42-DDAC40AF1936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3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CE4D9179-926B-431F-AF67-1BF1E4AD0C92}"/>
              </a:ext>
            </a:extLst>
          </p:cNvPr>
          <p:cNvSpPr/>
          <p:nvPr/>
        </p:nvSpPr>
        <p:spPr>
          <a:xfrm>
            <a:off x="6896599" y="1769300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5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6CD6FF68-E272-4339-B638-66633D092BF3}"/>
              </a:ext>
            </a:extLst>
          </p:cNvPr>
          <p:cNvSpPr/>
          <p:nvPr/>
        </p:nvSpPr>
        <p:spPr>
          <a:xfrm>
            <a:off x="6896599" y="146890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5ED3E5D-DD57-4A45-BF74-97B1BBF7C31F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4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FB38C45-C061-4369-AF9A-9BC48508F829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5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2B83D7C-EDE6-459C-B728-C7E9A171F4EB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6" name="Rectángulo 225">
            <a:extLst>
              <a:ext uri="{FF2B5EF4-FFF2-40B4-BE49-F238E27FC236}">
                <a16:creationId xmlns:a16="http://schemas.microsoft.com/office/drawing/2014/main" id="{7B676D02-1F50-4FB3-9009-7E5464B11998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7" name="CuadroTexto 226">
            <a:extLst>
              <a:ext uri="{FF2B5EF4-FFF2-40B4-BE49-F238E27FC236}">
                <a16:creationId xmlns:a16="http://schemas.microsoft.com/office/drawing/2014/main" id="{273AF5B3-255C-490F-A3C3-3022F0D4F7AE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8" name="CuadroTexto 227">
            <a:extLst>
              <a:ext uri="{FF2B5EF4-FFF2-40B4-BE49-F238E27FC236}">
                <a16:creationId xmlns:a16="http://schemas.microsoft.com/office/drawing/2014/main" id="{F9716334-0225-422D-9BA0-DDA43025F8E0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9" name="CuadroTexto 228">
            <a:extLst>
              <a:ext uri="{FF2B5EF4-FFF2-40B4-BE49-F238E27FC236}">
                <a16:creationId xmlns:a16="http://schemas.microsoft.com/office/drawing/2014/main" id="{195645CF-DB70-46B4-8FF1-72D4937E688F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5" name="Rectángulo 64">
            <a:extLst>
              <a:ext uri="{FF2B5EF4-FFF2-40B4-BE49-F238E27FC236}">
                <a16:creationId xmlns:a16="http://schemas.microsoft.com/office/drawing/2014/main" id="{DF649602-30A7-4CD2-BF88-59823965AB95}"/>
              </a:ext>
            </a:extLst>
          </p:cNvPr>
          <p:cNvSpPr/>
          <p:nvPr/>
        </p:nvSpPr>
        <p:spPr>
          <a:xfrm>
            <a:off x="503727" y="1318227"/>
            <a:ext cx="1544529" cy="634705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8288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Innovación</a:t>
            </a:r>
          </a:p>
          <a:p>
            <a:pPr marL="268288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Producto Integral</a:t>
            </a:r>
          </a:p>
          <a:p>
            <a:pPr marL="180975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Elipse 65">
            <a:extLst>
              <a:ext uri="{FF2B5EF4-FFF2-40B4-BE49-F238E27FC236}">
                <a16:creationId xmlns:a16="http://schemas.microsoft.com/office/drawing/2014/main" id="{AC2650E1-7612-42C7-83A3-7CE666345582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84" name="CuadroTexto 83">
            <a:extLst>
              <a:ext uri="{FF2B5EF4-FFF2-40B4-BE49-F238E27FC236}">
                <a16:creationId xmlns:a16="http://schemas.microsoft.com/office/drawing/2014/main" id="{69755342-6689-4958-B58B-C4A380AB5AA2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242" name="Elipse 241">
            <a:extLst>
              <a:ext uri="{FF2B5EF4-FFF2-40B4-BE49-F238E27FC236}">
                <a16:creationId xmlns:a16="http://schemas.microsoft.com/office/drawing/2014/main" id="{38C24226-73BD-4916-B650-981660EC47B9}"/>
              </a:ext>
            </a:extLst>
          </p:cNvPr>
          <p:cNvSpPr/>
          <p:nvPr/>
        </p:nvSpPr>
        <p:spPr>
          <a:xfrm>
            <a:off x="5092360" y="1368869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3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A96016D-894C-41DB-976A-6CAF54245368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4" name="CuadroTexto 243">
            <a:extLst>
              <a:ext uri="{FF2B5EF4-FFF2-40B4-BE49-F238E27FC236}">
                <a16:creationId xmlns:a16="http://schemas.microsoft.com/office/drawing/2014/main" id="{58E11485-B543-4A4C-9983-8E41ACC21DD2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83856610-7050-4DDC-BFE2-46F04F912E16}"/>
              </a:ext>
            </a:extLst>
          </p:cNvPr>
          <p:cNvSpPr/>
          <p:nvPr/>
        </p:nvSpPr>
        <p:spPr>
          <a:xfrm>
            <a:off x="1779067" y="1386188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cxnSp>
        <p:nvCxnSpPr>
          <p:cNvPr id="104" name="Conector: angular 103">
            <a:extLst>
              <a:ext uri="{FF2B5EF4-FFF2-40B4-BE49-F238E27FC236}">
                <a16:creationId xmlns:a16="http://schemas.microsoft.com/office/drawing/2014/main" id="{86C836FB-2A92-4D72-ACBE-15D628AEF215}"/>
              </a:ext>
            </a:extLst>
          </p:cNvPr>
          <p:cNvCxnSpPr>
            <a:cxnSpLocks/>
            <a:stCxn id="198" idx="2"/>
            <a:endCxn id="107" idx="0"/>
          </p:cNvCxnSpPr>
          <p:nvPr/>
        </p:nvCxnSpPr>
        <p:spPr>
          <a:xfrm rot="5400000">
            <a:off x="3471485" y="326675"/>
            <a:ext cx="289283" cy="495974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5" name="Conector: angular 104">
            <a:extLst>
              <a:ext uri="{FF2B5EF4-FFF2-40B4-BE49-F238E27FC236}">
                <a16:creationId xmlns:a16="http://schemas.microsoft.com/office/drawing/2014/main" id="{B8B4CA09-154C-40AB-87F0-46D98318C5C4}"/>
              </a:ext>
            </a:extLst>
          </p:cNvPr>
          <p:cNvCxnSpPr>
            <a:cxnSpLocks/>
            <a:stCxn id="198" idx="2"/>
            <a:endCxn id="109" idx="0"/>
          </p:cNvCxnSpPr>
          <p:nvPr/>
        </p:nvCxnSpPr>
        <p:spPr>
          <a:xfrm rot="16200000" flipH="1">
            <a:off x="7042400" y="1715507"/>
            <a:ext cx="289283" cy="218208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6" name="Conector: angular 105">
            <a:extLst>
              <a:ext uri="{FF2B5EF4-FFF2-40B4-BE49-F238E27FC236}">
                <a16:creationId xmlns:a16="http://schemas.microsoft.com/office/drawing/2014/main" id="{84BC27B6-66C5-4A56-9D0F-434472E32BA3}"/>
              </a:ext>
            </a:extLst>
          </p:cNvPr>
          <p:cNvCxnSpPr>
            <a:cxnSpLocks/>
            <a:stCxn id="198" idx="2"/>
            <a:endCxn id="108" idx="0"/>
          </p:cNvCxnSpPr>
          <p:nvPr/>
        </p:nvCxnSpPr>
        <p:spPr>
          <a:xfrm rot="16200000" flipH="1">
            <a:off x="7758123" y="999784"/>
            <a:ext cx="289283" cy="361352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F7DB4BF4-D110-42D5-9D24-FC27103E1FB8}"/>
              </a:ext>
            </a:extLst>
          </p:cNvPr>
          <p:cNvSpPr/>
          <p:nvPr/>
        </p:nvSpPr>
        <p:spPr>
          <a:xfrm>
            <a:off x="506252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Mercadeo Digital y Trad.</a:t>
            </a:r>
          </a:p>
        </p:txBody>
      </p:sp>
      <p:sp>
        <p:nvSpPr>
          <p:cNvPr id="108" name="Rectángulo 107">
            <a:extLst>
              <a:ext uri="{FF2B5EF4-FFF2-40B4-BE49-F238E27FC236}">
                <a16:creationId xmlns:a16="http://schemas.microsoft.com/office/drawing/2014/main" id="{C5FB62BD-276F-406F-BF14-7232A54DF069}"/>
              </a:ext>
            </a:extLst>
          </p:cNvPr>
          <p:cNvSpPr/>
          <p:nvPr/>
        </p:nvSpPr>
        <p:spPr>
          <a:xfrm>
            <a:off x="9079529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Alianzas y Créditos de Con.</a:t>
            </a:r>
          </a:p>
        </p:txBody>
      </p:sp>
      <p:sp>
        <p:nvSpPr>
          <p:cNvPr id="109" name="Rectángulo 108">
            <a:extLst>
              <a:ext uri="{FF2B5EF4-FFF2-40B4-BE49-F238E27FC236}">
                <a16:creationId xmlns:a16="http://schemas.microsoft.com/office/drawing/2014/main" id="{841DD83E-5686-4318-BAC7-515B15B8E08E}"/>
              </a:ext>
            </a:extLst>
          </p:cNvPr>
          <p:cNvSpPr/>
          <p:nvPr/>
        </p:nvSpPr>
        <p:spPr>
          <a:xfrm>
            <a:off x="7648083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D. Innovación </a:t>
            </a:r>
            <a:b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Canales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0" name="Rectángulo 109">
            <a:extLst>
              <a:ext uri="{FF2B5EF4-FFF2-40B4-BE49-F238E27FC236}">
                <a16:creationId xmlns:a16="http://schemas.microsoft.com/office/drawing/2014/main" id="{5B4648D7-4507-4A7D-AF9D-ED02C4C743C7}"/>
              </a:ext>
            </a:extLst>
          </p:cNvPr>
          <p:cNvSpPr/>
          <p:nvPr/>
        </p:nvSpPr>
        <p:spPr>
          <a:xfrm>
            <a:off x="7648083" y="3366808"/>
            <a:ext cx="1260000" cy="213846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1" name="Rectángulo 110">
            <a:extLst>
              <a:ext uri="{FF2B5EF4-FFF2-40B4-BE49-F238E27FC236}">
                <a16:creationId xmlns:a16="http://schemas.microsoft.com/office/drawing/2014/main" id="{DF0ACC86-7092-489F-BB1B-26A6D60EB723}"/>
              </a:ext>
            </a:extLst>
          </p:cNvPr>
          <p:cNvSpPr/>
          <p:nvPr/>
        </p:nvSpPr>
        <p:spPr>
          <a:xfrm>
            <a:off x="9079528" y="3366808"/>
            <a:ext cx="1260000" cy="213846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2" name="Rectángulo 111">
            <a:extLst>
              <a:ext uri="{FF2B5EF4-FFF2-40B4-BE49-F238E27FC236}">
                <a16:creationId xmlns:a16="http://schemas.microsoft.com/office/drawing/2014/main" id="{21993EA3-AE65-42E3-9427-ACC53AE93422}"/>
              </a:ext>
            </a:extLst>
          </p:cNvPr>
          <p:cNvSpPr/>
          <p:nvPr/>
        </p:nvSpPr>
        <p:spPr>
          <a:xfrm>
            <a:off x="506253" y="3366808"/>
            <a:ext cx="1260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" name="Rectángulo 112">
            <a:extLst>
              <a:ext uri="{FF2B5EF4-FFF2-40B4-BE49-F238E27FC236}">
                <a16:creationId xmlns:a16="http://schemas.microsoft.com/office/drawing/2014/main" id="{FCDD0BB1-8E5E-4776-87F2-6C9A9136CAE3}"/>
              </a:ext>
            </a:extLst>
          </p:cNvPr>
          <p:cNvSpPr/>
          <p:nvPr/>
        </p:nvSpPr>
        <p:spPr>
          <a:xfrm>
            <a:off x="566050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N. Clientes Activos</a:t>
            </a:r>
          </a:p>
        </p:txBody>
      </p:sp>
      <p:sp>
        <p:nvSpPr>
          <p:cNvPr id="114" name="Rectángulo 113">
            <a:extLst>
              <a:ext uri="{FF2B5EF4-FFF2-40B4-BE49-F238E27FC236}">
                <a16:creationId xmlns:a16="http://schemas.microsoft.com/office/drawing/2014/main" id="{AE6B41A4-9231-4F99-9BED-DBDFCCF47EF5}"/>
              </a:ext>
            </a:extLst>
          </p:cNvPr>
          <p:cNvSpPr/>
          <p:nvPr/>
        </p:nvSpPr>
        <p:spPr>
          <a:xfrm>
            <a:off x="566050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Leads Convertidos</a:t>
            </a:r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531C3BC9-30F8-4563-BB3E-DAAC7C8AAEC7}"/>
              </a:ext>
            </a:extLst>
          </p:cNvPr>
          <p:cNvSpPr/>
          <p:nvPr/>
        </p:nvSpPr>
        <p:spPr>
          <a:xfrm>
            <a:off x="566050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Vol. Digitales y Tradicionales</a:t>
            </a:r>
          </a:p>
        </p:txBody>
      </p:sp>
      <p:sp>
        <p:nvSpPr>
          <p:cNvPr id="116" name="Rectángulo 115">
            <a:extLst>
              <a:ext uri="{FF2B5EF4-FFF2-40B4-BE49-F238E27FC236}">
                <a16:creationId xmlns:a16="http://schemas.microsoft.com/office/drawing/2014/main" id="{E8776570-BE19-4D94-874C-188FB15E706C}"/>
              </a:ext>
            </a:extLst>
          </p:cNvPr>
          <p:cNvSpPr/>
          <p:nvPr/>
        </p:nvSpPr>
        <p:spPr>
          <a:xfrm>
            <a:off x="566050" y="5522362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117" name="Rectángulo 116">
            <a:extLst>
              <a:ext uri="{FF2B5EF4-FFF2-40B4-BE49-F238E27FC236}">
                <a16:creationId xmlns:a16="http://schemas.microsoft.com/office/drawing/2014/main" id="{D213AD8F-26B3-41E6-AF25-22E80121A967}"/>
              </a:ext>
            </a:extLst>
          </p:cNvPr>
          <p:cNvSpPr/>
          <p:nvPr/>
        </p:nvSpPr>
        <p:spPr>
          <a:xfrm>
            <a:off x="566050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Top </a:t>
            </a: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</a:t>
            </a: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Mind</a:t>
            </a:r>
            <a:endParaRPr lang="es-CO" sz="12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8" name="Rectángulo 117">
            <a:extLst>
              <a:ext uri="{FF2B5EF4-FFF2-40B4-BE49-F238E27FC236}">
                <a16:creationId xmlns:a16="http://schemas.microsoft.com/office/drawing/2014/main" id="{E03C38C7-D845-4291-9F88-022D602AC7BF}"/>
              </a:ext>
            </a:extLst>
          </p:cNvPr>
          <p:cNvSpPr/>
          <p:nvPr/>
        </p:nvSpPr>
        <p:spPr>
          <a:xfrm>
            <a:off x="7688148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Digitales</a:t>
            </a:r>
          </a:p>
        </p:txBody>
      </p:sp>
      <p:sp>
        <p:nvSpPr>
          <p:cNvPr id="123" name="Rectángulo 122">
            <a:extLst>
              <a:ext uri="{FF2B5EF4-FFF2-40B4-BE49-F238E27FC236}">
                <a16:creationId xmlns:a16="http://schemas.microsoft.com/office/drawing/2014/main" id="{BD9304A2-0419-4C86-AB6E-B23E281682EA}"/>
              </a:ext>
            </a:extLst>
          </p:cNvPr>
          <p:cNvSpPr/>
          <p:nvPr/>
        </p:nvSpPr>
        <p:spPr>
          <a:xfrm>
            <a:off x="7688148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Contribución Canales Altern.</a:t>
            </a:r>
          </a:p>
        </p:txBody>
      </p:sp>
      <p:sp>
        <p:nvSpPr>
          <p:cNvPr id="129" name="Rectángulo 128">
            <a:extLst>
              <a:ext uri="{FF2B5EF4-FFF2-40B4-BE49-F238E27FC236}">
                <a16:creationId xmlns:a16="http://schemas.microsoft.com/office/drawing/2014/main" id="{4A0CF254-8D51-4B89-8266-CC1926D4815B}"/>
              </a:ext>
            </a:extLst>
          </p:cNvPr>
          <p:cNvSpPr/>
          <p:nvPr/>
        </p:nvSpPr>
        <p:spPr>
          <a:xfrm>
            <a:off x="7688148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QR’s Canales Dig. Y Alternos </a:t>
            </a:r>
          </a:p>
        </p:txBody>
      </p:sp>
      <p:sp>
        <p:nvSpPr>
          <p:cNvPr id="130" name="Rectángulo 129">
            <a:extLst>
              <a:ext uri="{FF2B5EF4-FFF2-40B4-BE49-F238E27FC236}">
                <a16:creationId xmlns:a16="http://schemas.microsoft.com/office/drawing/2014/main" id="{DABCAD40-3B72-4BE8-B416-8B0EBF651436}"/>
              </a:ext>
            </a:extLst>
          </p:cNvPr>
          <p:cNvSpPr/>
          <p:nvPr/>
        </p:nvSpPr>
        <p:spPr>
          <a:xfrm>
            <a:off x="7688148" y="5519177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135" name="Rectángulo 134">
            <a:extLst>
              <a:ext uri="{FF2B5EF4-FFF2-40B4-BE49-F238E27FC236}">
                <a16:creationId xmlns:a16="http://schemas.microsoft.com/office/drawing/2014/main" id="{996065B8-62F2-495B-B43C-8F2B5554EFBF}"/>
              </a:ext>
            </a:extLst>
          </p:cNvPr>
          <p:cNvSpPr/>
          <p:nvPr/>
        </p:nvSpPr>
        <p:spPr>
          <a:xfrm>
            <a:off x="9114648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Vol. Créditos de Consumo</a:t>
            </a:r>
          </a:p>
        </p:txBody>
      </p:sp>
      <p:sp>
        <p:nvSpPr>
          <p:cNvPr id="138" name="Rectángulo 137">
            <a:extLst>
              <a:ext uri="{FF2B5EF4-FFF2-40B4-BE49-F238E27FC236}">
                <a16:creationId xmlns:a16="http://schemas.microsoft.com/office/drawing/2014/main" id="{F2DA8E7E-9840-4D02-B9ED-40E3E992CCC9}"/>
              </a:ext>
            </a:extLst>
          </p:cNvPr>
          <p:cNvSpPr/>
          <p:nvPr/>
        </p:nvSpPr>
        <p:spPr>
          <a:xfrm>
            <a:off x="9114648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Contribución Alianzas</a:t>
            </a:r>
          </a:p>
        </p:txBody>
      </p:sp>
      <p:sp>
        <p:nvSpPr>
          <p:cNvPr id="139" name="Rectángulo 138">
            <a:extLst>
              <a:ext uri="{FF2B5EF4-FFF2-40B4-BE49-F238E27FC236}">
                <a16:creationId xmlns:a16="http://schemas.microsoft.com/office/drawing/2014/main" id="{043134E7-F215-4551-B6D0-B76D66A3F38C}"/>
              </a:ext>
            </a:extLst>
          </p:cNvPr>
          <p:cNvSpPr/>
          <p:nvPr/>
        </p:nvSpPr>
        <p:spPr>
          <a:xfrm>
            <a:off x="9114648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Aliados</a:t>
            </a:r>
          </a:p>
        </p:txBody>
      </p:sp>
      <p:sp>
        <p:nvSpPr>
          <p:cNvPr id="140" name="Rectángulo 139">
            <a:extLst>
              <a:ext uri="{FF2B5EF4-FFF2-40B4-BE49-F238E27FC236}">
                <a16:creationId xmlns:a16="http://schemas.microsoft.com/office/drawing/2014/main" id="{7B36D04D-DCD5-495A-82BE-8B0609314323}"/>
              </a:ext>
            </a:extLst>
          </p:cNvPr>
          <p:cNvSpPr/>
          <p:nvPr/>
        </p:nvSpPr>
        <p:spPr>
          <a:xfrm>
            <a:off x="9114648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Rent. Créditos de Consumo</a:t>
            </a:r>
          </a:p>
        </p:txBody>
      </p:sp>
      <p:sp>
        <p:nvSpPr>
          <p:cNvPr id="141" name="Rectángulo 140">
            <a:extLst>
              <a:ext uri="{FF2B5EF4-FFF2-40B4-BE49-F238E27FC236}">
                <a16:creationId xmlns:a16="http://schemas.microsoft.com/office/drawing/2014/main" id="{002AB30D-1B32-4664-857E-C06523244EA2}"/>
              </a:ext>
            </a:extLst>
          </p:cNvPr>
          <p:cNvSpPr/>
          <p:nvPr/>
        </p:nvSpPr>
        <p:spPr>
          <a:xfrm>
            <a:off x="10099079" y="449974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53" name="Rectángulo 152">
            <a:extLst>
              <a:ext uri="{FF2B5EF4-FFF2-40B4-BE49-F238E27FC236}">
                <a16:creationId xmlns:a16="http://schemas.microsoft.com/office/drawing/2014/main" id="{433EBEB0-BCEC-4A44-A265-B13F1C14FECE}"/>
              </a:ext>
            </a:extLst>
          </p:cNvPr>
          <p:cNvSpPr/>
          <p:nvPr/>
        </p:nvSpPr>
        <p:spPr>
          <a:xfrm>
            <a:off x="10099079" y="398245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54" name="Rectángulo 153">
            <a:extLst>
              <a:ext uri="{FF2B5EF4-FFF2-40B4-BE49-F238E27FC236}">
                <a16:creationId xmlns:a16="http://schemas.microsoft.com/office/drawing/2014/main" id="{FADA3FE6-AB38-409F-898D-22942038A1BC}"/>
              </a:ext>
            </a:extLst>
          </p:cNvPr>
          <p:cNvSpPr/>
          <p:nvPr/>
        </p:nvSpPr>
        <p:spPr>
          <a:xfrm>
            <a:off x="10099079" y="346428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55" name="Rectángulo 154">
            <a:extLst>
              <a:ext uri="{FF2B5EF4-FFF2-40B4-BE49-F238E27FC236}">
                <a16:creationId xmlns:a16="http://schemas.microsoft.com/office/drawing/2014/main" id="{E6239271-2273-474C-BBAA-865A6AB88563}"/>
              </a:ext>
            </a:extLst>
          </p:cNvPr>
          <p:cNvSpPr/>
          <p:nvPr/>
        </p:nvSpPr>
        <p:spPr>
          <a:xfrm>
            <a:off x="10099079" y="501359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57" name="Rectángulo 156">
            <a:extLst>
              <a:ext uri="{FF2B5EF4-FFF2-40B4-BE49-F238E27FC236}">
                <a16:creationId xmlns:a16="http://schemas.microsoft.com/office/drawing/2014/main" id="{02398DCA-1FCB-443F-BE0E-9E5B73AD37FB}"/>
              </a:ext>
            </a:extLst>
          </p:cNvPr>
          <p:cNvSpPr/>
          <p:nvPr/>
        </p:nvSpPr>
        <p:spPr>
          <a:xfrm>
            <a:off x="8686018" y="450178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58" name="Rectángulo 157">
            <a:extLst>
              <a:ext uri="{FF2B5EF4-FFF2-40B4-BE49-F238E27FC236}">
                <a16:creationId xmlns:a16="http://schemas.microsoft.com/office/drawing/2014/main" id="{51E37925-1C33-42C5-9577-8D95776586F5}"/>
              </a:ext>
            </a:extLst>
          </p:cNvPr>
          <p:cNvSpPr/>
          <p:nvPr/>
        </p:nvSpPr>
        <p:spPr>
          <a:xfrm>
            <a:off x="8686018" y="398449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63" name="Rectángulo 162">
            <a:extLst>
              <a:ext uri="{FF2B5EF4-FFF2-40B4-BE49-F238E27FC236}">
                <a16:creationId xmlns:a16="http://schemas.microsoft.com/office/drawing/2014/main" id="{E43F187B-0BBB-4C36-B1D3-5FCE240FECBA}"/>
              </a:ext>
            </a:extLst>
          </p:cNvPr>
          <p:cNvSpPr/>
          <p:nvPr/>
        </p:nvSpPr>
        <p:spPr>
          <a:xfrm>
            <a:off x="8686018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64" name="Rectángulo 163">
            <a:extLst>
              <a:ext uri="{FF2B5EF4-FFF2-40B4-BE49-F238E27FC236}">
                <a16:creationId xmlns:a16="http://schemas.microsoft.com/office/drawing/2014/main" id="{4B1580E4-DBEB-4B9A-A2CA-567D36F3EF05}"/>
              </a:ext>
            </a:extLst>
          </p:cNvPr>
          <p:cNvSpPr/>
          <p:nvPr/>
        </p:nvSpPr>
        <p:spPr>
          <a:xfrm>
            <a:off x="8686018" y="501563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66" name="Rectángulo 165">
            <a:extLst>
              <a:ext uri="{FF2B5EF4-FFF2-40B4-BE49-F238E27FC236}">
                <a16:creationId xmlns:a16="http://schemas.microsoft.com/office/drawing/2014/main" id="{0B18CD34-6617-4713-A73F-9A4086EA570E}"/>
              </a:ext>
            </a:extLst>
          </p:cNvPr>
          <p:cNvSpPr/>
          <p:nvPr/>
        </p:nvSpPr>
        <p:spPr>
          <a:xfrm>
            <a:off x="1556747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67" name="Rectángulo 166">
            <a:extLst>
              <a:ext uri="{FF2B5EF4-FFF2-40B4-BE49-F238E27FC236}">
                <a16:creationId xmlns:a16="http://schemas.microsoft.com/office/drawing/2014/main" id="{C055E1F0-07B4-4654-9854-2C5DD735750B}"/>
              </a:ext>
            </a:extLst>
          </p:cNvPr>
          <p:cNvSpPr/>
          <p:nvPr/>
        </p:nvSpPr>
        <p:spPr>
          <a:xfrm>
            <a:off x="1556747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68" name="Rectángulo 167">
            <a:extLst>
              <a:ext uri="{FF2B5EF4-FFF2-40B4-BE49-F238E27FC236}">
                <a16:creationId xmlns:a16="http://schemas.microsoft.com/office/drawing/2014/main" id="{A69FDF37-B1E8-4EFE-B789-BCD6EEA1CB4B}"/>
              </a:ext>
            </a:extLst>
          </p:cNvPr>
          <p:cNvSpPr/>
          <p:nvPr/>
        </p:nvSpPr>
        <p:spPr>
          <a:xfrm>
            <a:off x="1556747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69" name="Rectángulo 168">
            <a:extLst>
              <a:ext uri="{FF2B5EF4-FFF2-40B4-BE49-F238E27FC236}">
                <a16:creationId xmlns:a16="http://schemas.microsoft.com/office/drawing/2014/main" id="{FD0F704D-0DE5-4709-80BB-EA96877D2A0B}"/>
              </a:ext>
            </a:extLst>
          </p:cNvPr>
          <p:cNvSpPr/>
          <p:nvPr/>
        </p:nvSpPr>
        <p:spPr>
          <a:xfrm>
            <a:off x="1556747" y="501340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70" name="Rectángulo 169">
            <a:extLst>
              <a:ext uri="{FF2B5EF4-FFF2-40B4-BE49-F238E27FC236}">
                <a16:creationId xmlns:a16="http://schemas.microsoft.com/office/drawing/2014/main" id="{B33DAEAD-F4D4-46E5-9BB2-6D9B6A44D2EE}"/>
              </a:ext>
            </a:extLst>
          </p:cNvPr>
          <p:cNvSpPr/>
          <p:nvPr/>
        </p:nvSpPr>
        <p:spPr>
          <a:xfrm>
            <a:off x="1556747" y="552725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74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E2B333F4-D5E8-4598-B37D-4EDE2F28F168}"/>
              </a:ext>
            </a:extLst>
          </p:cNvPr>
          <p:cNvSpPr/>
          <p:nvPr/>
        </p:nvSpPr>
        <p:spPr>
          <a:xfrm>
            <a:off x="1622252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8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B5F59E43-5EB2-401C-828A-41EDCD8B221C}"/>
              </a:ext>
            </a:extLst>
          </p:cNvPr>
          <p:cNvSpPr/>
          <p:nvPr/>
        </p:nvSpPr>
        <p:spPr>
          <a:xfrm>
            <a:off x="8781357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9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B5D3690B-FE3F-4BAA-A64B-89CD161EC9CE}"/>
              </a:ext>
            </a:extLst>
          </p:cNvPr>
          <p:cNvSpPr/>
          <p:nvPr/>
        </p:nvSpPr>
        <p:spPr>
          <a:xfrm>
            <a:off x="10222519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0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05B2D6F5-7BC6-424F-A172-370B121F07F0}"/>
              </a:ext>
            </a:extLst>
          </p:cNvPr>
          <p:cNvSpPr/>
          <p:nvPr/>
        </p:nvSpPr>
        <p:spPr>
          <a:xfrm>
            <a:off x="1635067" y="379643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1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1F6D3555-0E50-4DE1-A90F-AB343A30F95A}"/>
              </a:ext>
            </a:extLst>
          </p:cNvPr>
          <p:cNvSpPr/>
          <p:nvPr/>
        </p:nvSpPr>
        <p:spPr>
          <a:xfrm>
            <a:off x="1635067" y="431362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2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2680315B-C49C-47AA-A467-74C94D9AAECA}"/>
              </a:ext>
            </a:extLst>
          </p:cNvPr>
          <p:cNvSpPr/>
          <p:nvPr/>
        </p:nvSpPr>
        <p:spPr>
          <a:xfrm>
            <a:off x="1635067" y="483082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4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A808B0CE-DEBA-46AD-87E7-CC58C1D28598}"/>
              </a:ext>
            </a:extLst>
          </p:cNvPr>
          <p:cNvSpPr/>
          <p:nvPr/>
        </p:nvSpPr>
        <p:spPr>
          <a:xfrm>
            <a:off x="1635067" y="53480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5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28D1281A-7368-4968-A95E-C1EFF5C6A874}"/>
              </a:ext>
            </a:extLst>
          </p:cNvPr>
          <p:cNvSpPr/>
          <p:nvPr/>
        </p:nvSpPr>
        <p:spPr>
          <a:xfrm>
            <a:off x="1635067" y="58652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7618C3F-814B-4E52-814D-1B2597DA846E}"/>
              </a:ext>
            </a:extLst>
          </p:cNvPr>
          <p:cNvSpPr/>
          <p:nvPr/>
        </p:nvSpPr>
        <p:spPr>
          <a:xfrm>
            <a:off x="8766683" y="379643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7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5A05ED4C-3978-486C-B42A-94C0F8EE3490}"/>
              </a:ext>
            </a:extLst>
          </p:cNvPr>
          <p:cNvSpPr/>
          <p:nvPr/>
        </p:nvSpPr>
        <p:spPr>
          <a:xfrm>
            <a:off x="8766683" y="479317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8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D58E207B-25D6-4B89-A13D-56B4293789F3}"/>
              </a:ext>
            </a:extLst>
          </p:cNvPr>
          <p:cNvSpPr/>
          <p:nvPr/>
        </p:nvSpPr>
        <p:spPr>
          <a:xfrm>
            <a:off x="8766683" y="532938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9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768787FA-C0AD-48D9-9F6C-F9AFFA193D4A}"/>
              </a:ext>
            </a:extLst>
          </p:cNvPr>
          <p:cNvSpPr/>
          <p:nvPr/>
        </p:nvSpPr>
        <p:spPr>
          <a:xfrm>
            <a:off x="10187914" y="379643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0" name="Botón de acción: Hacia delante o Siguiente 32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9BCC68CF-15E4-44D4-BB79-FCBAE09A4FEA}"/>
              </a:ext>
            </a:extLst>
          </p:cNvPr>
          <p:cNvSpPr/>
          <p:nvPr/>
        </p:nvSpPr>
        <p:spPr>
          <a:xfrm>
            <a:off x="10187914" y="431362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1" name="Botón de acción: Hacia delante o Siguiente 3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1D7A6F6D-D06A-4D56-B6F8-17E93F221C00}"/>
              </a:ext>
            </a:extLst>
          </p:cNvPr>
          <p:cNvSpPr/>
          <p:nvPr/>
        </p:nvSpPr>
        <p:spPr>
          <a:xfrm>
            <a:off x="10187914" y="483082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2" name="Botón de acción: Hacia delante o Siguiente 32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E0CA5B33-B665-4A5E-8C2A-A8AF9F892FBB}"/>
              </a:ext>
            </a:extLst>
          </p:cNvPr>
          <p:cNvSpPr/>
          <p:nvPr/>
        </p:nvSpPr>
        <p:spPr>
          <a:xfrm>
            <a:off x="1622252" y="295479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3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6786855E-9D54-4B34-9D26-7559DD44468C}"/>
              </a:ext>
            </a:extLst>
          </p:cNvPr>
          <p:cNvSpPr/>
          <p:nvPr/>
        </p:nvSpPr>
        <p:spPr>
          <a:xfrm>
            <a:off x="8781357" y="296212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4" name="Botón de acción: Hacia delante o Siguiente 32">
            <a:hlinkClick r:id="rId23" action="ppaction://hlinksldjump" highlightClick="1"/>
            <a:extLst>
              <a:ext uri="{FF2B5EF4-FFF2-40B4-BE49-F238E27FC236}">
                <a16:creationId xmlns:a16="http://schemas.microsoft.com/office/drawing/2014/main" id="{66618388-969F-4592-B166-532F385E95B7}"/>
              </a:ext>
            </a:extLst>
          </p:cNvPr>
          <p:cNvSpPr/>
          <p:nvPr/>
        </p:nvSpPr>
        <p:spPr>
          <a:xfrm>
            <a:off x="10222519" y="29449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5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6E162E7C-189C-40C0-B0E3-BE4D71B9312B}"/>
              </a:ext>
            </a:extLst>
          </p:cNvPr>
          <p:cNvSpPr/>
          <p:nvPr/>
        </p:nvSpPr>
        <p:spPr>
          <a:xfrm>
            <a:off x="8772597" y="582614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6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57B29FAE-2A3C-4363-886B-71468FFEE6B4}"/>
              </a:ext>
            </a:extLst>
          </p:cNvPr>
          <p:cNvSpPr/>
          <p:nvPr/>
        </p:nvSpPr>
        <p:spPr>
          <a:xfrm>
            <a:off x="10197273" y="532789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7" name="Rectángulo 196">
            <a:extLst>
              <a:ext uri="{FF2B5EF4-FFF2-40B4-BE49-F238E27FC236}">
                <a16:creationId xmlns:a16="http://schemas.microsoft.com/office/drawing/2014/main" id="{3C362196-41DE-4CC4-B85F-A8FCA2667E0F}"/>
              </a:ext>
            </a:extLst>
          </p:cNvPr>
          <p:cNvSpPr/>
          <p:nvPr/>
        </p:nvSpPr>
        <p:spPr>
          <a:xfrm>
            <a:off x="1917686" y="346216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Jefe Analítica Comercial</a:t>
            </a:r>
          </a:p>
        </p:txBody>
      </p:sp>
      <p:sp>
        <p:nvSpPr>
          <p:cNvPr id="201" name="Rectángulo 200">
            <a:extLst>
              <a:ext uri="{FF2B5EF4-FFF2-40B4-BE49-F238E27FC236}">
                <a16:creationId xmlns:a16="http://schemas.microsoft.com/office/drawing/2014/main" id="{99F87E36-0C5D-4672-8CC3-37CFF37ACDE3}"/>
              </a:ext>
            </a:extLst>
          </p:cNvPr>
          <p:cNvSpPr/>
          <p:nvPr/>
        </p:nvSpPr>
        <p:spPr>
          <a:xfrm>
            <a:off x="3329119" y="3977215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Prof. Analítica Comercial</a:t>
            </a:r>
          </a:p>
        </p:txBody>
      </p:sp>
      <p:sp>
        <p:nvSpPr>
          <p:cNvPr id="203" name="Rectángulo 202">
            <a:extLst>
              <a:ext uri="{FF2B5EF4-FFF2-40B4-BE49-F238E27FC236}">
                <a16:creationId xmlns:a16="http://schemas.microsoft.com/office/drawing/2014/main" id="{C474C177-8D22-42D2-A824-7F3735374578}"/>
              </a:ext>
            </a:extLst>
          </p:cNvPr>
          <p:cNvSpPr/>
          <p:nvPr/>
        </p:nvSpPr>
        <p:spPr>
          <a:xfrm>
            <a:off x="4740552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Coord. Scrum Master (2)</a:t>
            </a:r>
          </a:p>
        </p:txBody>
      </p:sp>
      <p:cxnSp>
        <p:nvCxnSpPr>
          <p:cNvPr id="205" name="Conector: angular 204">
            <a:extLst>
              <a:ext uri="{FF2B5EF4-FFF2-40B4-BE49-F238E27FC236}">
                <a16:creationId xmlns:a16="http://schemas.microsoft.com/office/drawing/2014/main" id="{FA94649E-763E-422B-8DDD-1C32A93B6F7E}"/>
              </a:ext>
            </a:extLst>
          </p:cNvPr>
          <p:cNvCxnSpPr>
            <a:cxnSpLocks/>
            <a:stCxn id="107" idx="3"/>
            <a:endCxn id="197" idx="0"/>
          </p:cNvCxnSpPr>
          <p:nvPr/>
        </p:nvCxnSpPr>
        <p:spPr>
          <a:xfrm>
            <a:off x="1766252" y="3149191"/>
            <a:ext cx="781434" cy="312975"/>
          </a:xfrm>
          <a:prstGeom prst="bentConnector2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Conector: angular 206">
            <a:extLst>
              <a:ext uri="{FF2B5EF4-FFF2-40B4-BE49-F238E27FC236}">
                <a16:creationId xmlns:a16="http://schemas.microsoft.com/office/drawing/2014/main" id="{13D5454C-8262-4B67-8020-72EB5F0A9608}"/>
              </a:ext>
            </a:extLst>
          </p:cNvPr>
          <p:cNvCxnSpPr>
            <a:cxnSpLocks/>
            <a:stCxn id="197" idx="3"/>
            <a:endCxn id="201" idx="0"/>
          </p:cNvCxnSpPr>
          <p:nvPr/>
        </p:nvCxnSpPr>
        <p:spPr>
          <a:xfrm>
            <a:off x="3177686" y="3660166"/>
            <a:ext cx="781433" cy="317049"/>
          </a:xfrm>
          <a:prstGeom prst="bentConnector2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Conector: angular 208">
            <a:extLst>
              <a:ext uri="{FF2B5EF4-FFF2-40B4-BE49-F238E27FC236}">
                <a16:creationId xmlns:a16="http://schemas.microsoft.com/office/drawing/2014/main" id="{0E0EE56B-9D37-41DF-8C3F-D773E0DCA2AE}"/>
              </a:ext>
            </a:extLst>
          </p:cNvPr>
          <p:cNvCxnSpPr>
            <a:cxnSpLocks/>
            <a:stCxn id="198" idx="2"/>
            <a:endCxn id="203" idx="0"/>
          </p:cNvCxnSpPr>
          <p:nvPr/>
        </p:nvCxnSpPr>
        <p:spPr>
          <a:xfrm rot="5400000">
            <a:off x="5588635" y="2443825"/>
            <a:ext cx="289283" cy="72544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0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8733CAE2-2F22-428B-AA02-EC8A10878671}"/>
              </a:ext>
            </a:extLst>
          </p:cNvPr>
          <p:cNvSpPr/>
          <p:nvPr/>
        </p:nvSpPr>
        <p:spPr>
          <a:xfrm>
            <a:off x="3031762" y="34688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1" name="Botón de acción: Hacia delante o Siguiente 32">
            <a:hlinkClick r:id="rId26" action="ppaction://hlinksldjump" highlightClick="1"/>
            <a:extLst>
              <a:ext uri="{FF2B5EF4-FFF2-40B4-BE49-F238E27FC236}">
                <a16:creationId xmlns:a16="http://schemas.microsoft.com/office/drawing/2014/main" id="{66E09FC0-21CE-4AF9-95E3-981BF2B9D522}"/>
              </a:ext>
            </a:extLst>
          </p:cNvPr>
          <p:cNvSpPr/>
          <p:nvPr/>
        </p:nvSpPr>
        <p:spPr>
          <a:xfrm>
            <a:off x="4443195" y="397654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2" name="Botón de acción: Hacia delante o Siguiente 32">
            <a:hlinkClick r:id="rId27" action="ppaction://hlinksldjump" highlightClick="1"/>
            <a:extLst>
              <a:ext uri="{FF2B5EF4-FFF2-40B4-BE49-F238E27FC236}">
                <a16:creationId xmlns:a16="http://schemas.microsoft.com/office/drawing/2014/main" id="{B381DBAF-AC4E-4455-945F-B87F034E47CF}"/>
              </a:ext>
            </a:extLst>
          </p:cNvPr>
          <p:cNvSpPr/>
          <p:nvPr/>
        </p:nvSpPr>
        <p:spPr>
          <a:xfrm>
            <a:off x="5873826" y="296212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3" name="Rectángulo 212">
            <a:extLst>
              <a:ext uri="{FF2B5EF4-FFF2-40B4-BE49-F238E27FC236}">
                <a16:creationId xmlns:a16="http://schemas.microsoft.com/office/drawing/2014/main" id="{A30C0ECB-699C-4C40-9E6D-247667A1883F}"/>
              </a:ext>
            </a:extLst>
          </p:cNvPr>
          <p:cNvSpPr/>
          <p:nvPr/>
        </p:nvSpPr>
        <p:spPr>
          <a:xfrm>
            <a:off x="6196374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Coord. Diseño UI/UX</a:t>
            </a:r>
            <a:r>
              <a:rPr lang="es-CO" sz="1200" baseline="3000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14" name="Conector: angular 213">
            <a:extLst>
              <a:ext uri="{FF2B5EF4-FFF2-40B4-BE49-F238E27FC236}">
                <a16:creationId xmlns:a16="http://schemas.microsoft.com/office/drawing/2014/main" id="{8E0F7294-A057-4B76-B14F-7C5C3213FF16}"/>
              </a:ext>
            </a:extLst>
          </p:cNvPr>
          <p:cNvCxnSpPr>
            <a:cxnSpLocks/>
            <a:stCxn id="213" idx="0"/>
            <a:endCxn id="198" idx="2"/>
          </p:cNvCxnSpPr>
          <p:nvPr/>
        </p:nvCxnSpPr>
        <p:spPr>
          <a:xfrm rot="16200000" flipV="1">
            <a:off x="6316546" y="2441363"/>
            <a:ext cx="289283" cy="73037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9" name="Botón de acción: Hacia delante o Siguiente 32">
            <a:hlinkClick r:id="rId28" action="ppaction://hlinksldjump" highlightClick="1"/>
            <a:extLst>
              <a:ext uri="{FF2B5EF4-FFF2-40B4-BE49-F238E27FC236}">
                <a16:creationId xmlns:a16="http://schemas.microsoft.com/office/drawing/2014/main" id="{F5488A14-AE88-446F-BECC-F7E3383BA2DF}"/>
              </a:ext>
            </a:extLst>
          </p:cNvPr>
          <p:cNvSpPr/>
          <p:nvPr/>
        </p:nvSpPr>
        <p:spPr>
          <a:xfrm>
            <a:off x="7321011" y="296212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9" name="Rectángulo 248">
            <a:extLst>
              <a:ext uri="{FF2B5EF4-FFF2-40B4-BE49-F238E27FC236}">
                <a16:creationId xmlns:a16="http://schemas.microsoft.com/office/drawing/2014/main" id="{CF5E5839-C5BA-4C19-8436-F338BD39A98C}"/>
              </a:ext>
            </a:extLst>
          </p:cNvPr>
          <p:cNvSpPr/>
          <p:nvPr/>
        </p:nvSpPr>
        <p:spPr>
          <a:xfrm>
            <a:off x="9114648" y="5519177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250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A6E832BB-C393-4E6D-824F-4BF052F90010}"/>
              </a:ext>
            </a:extLst>
          </p:cNvPr>
          <p:cNvSpPr/>
          <p:nvPr/>
        </p:nvSpPr>
        <p:spPr>
          <a:xfrm>
            <a:off x="10197273" y="583975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1" name="Rectángulo 250">
            <a:extLst>
              <a:ext uri="{FF2B5EF4-FFF2-40B4-BE49-F238E27FC236}">
                <a16:creationId xmlns:a16="http://schemas.microsoft.com/office/drawing/2014/main" id="{B704ECB3-6D4C-4EE3-9B58-08CC4FE69921}"/>
              </a:ext>
            </a:extLst>
          </p:cNvPr>
          <p:cNvSpPr/>
          <p:nvPr/>
        </p:nvSpPr>
        <p:spPr>
          <a:xfrm>
            <a:off x="10510975" y="3465728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Jefe de Alianzas Estratégicas</a:t>
            </a:r>
          </a:p>
        </p:txBody>
      </p:sp>
      <p:sp>
        <p:nvSpPr>
          <p:cNvPr id="252" name="Botón de acción: Hacia delante o Siguiente 32">
            <a:hlinkClick r:id="rId29" action="ppaction://hlinksldjump" highlightClick="1"/>
            <a:extLst>
              <a:ext uri="{FF2B5EF4-FFF2-40B4-BE49-F238E27FC236}">
                <a16:creationId xmlns:a16="http://schemas.microsoft.com/office/drawing/2014/main" id="{3F98C5DC-5879-493A-8B45-0281D0458E69}"/>
              </a:ext>
            </a:extLst>
          </p:cNvPr>
          <p:cNvSpPr/>
          <p:nvPr/>
        </p:nvSpPr>
        <p:spPr>
          <a:xfrm>
            <a:off x="11653965" y="3459510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cxnSp>
        <p:nvCxnSpPr>
          <p:cNvPr id="253" name="Conector: angular 252">
            <a:extLst>
              <a:ext uri="{FF2B5EF4-FFF2-40B4-BE49-F238E27FC236}">
                <a16:creationId xmlns:a16="http://schemas.microsoft.com/office/drawing/2014/main" id="{953FBA0C-CE0F-41C8-A75D-A5F551B1B7E1}"/>
              </a:ext>
            </a:extLst>
          </p:cNvPr>
          <p:cNvCxnSpPr>
            <a:cxnSpLocks/>
            <a:stCxn id="108" idx="3"/>
            <a:endCxn id="251" idx="0"/>
          </p:cNvCxnSpPr>
          <p:nvPr/>
        </p:nvCxnSpPr>
        <p:spPr>
          <a:xfrm>
            <a:off x="10339529" y="3149191"/>
            <a:ext cx="801446" cy="316537"/>
          </a:xfrm>
          <a:prstGeom prst="bentConnector2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Elipse 254">
            <a:extLst>
              <a:ext uri="{FF2B5EF4-FFF2-40B4-BE49-F238E27FC236}">
                <a16:creationId xmlns:a16="http://schemas.microsoft.com/office/drawing/2014/main" id="{0DD38C88-F277-4354-9A5B-22356E8EA870}"/>
              </a:ext>
            </a:extLst>
          </p:cNvPr>
          <p:cNvSpPr/>
          <p:nvPr/>
        </p:nvSpPr>
        <p:spPr>
          <a:xfrm>
            <a:off x="512735" y="162284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79" name="Botón de acción: ir hacia delante o siguiente 78">
            <a:hlinkClick r:id="rId30" action="ppaction://hlinksldjump" highlightClick="1"/>
            <a:extLst>
              <a:ext uri="{FF2B5EF4-FFF2-40B4-BE49-F238E27FC236}">
                <a16:creationId xmlns:a16="http://schemas.microsoft.com/office/drawing/2014/main" id="{127C9920-7DCC-49B2-8430-B462869AE986}"/>
              </a:ext>
            </a:extLst>
          </p:cNvPr>
          <p:cNvSpPr/>
          <p:nvPr/>
        </p:nvSpPr>
        <p:spPr>
          <a:xfrm>
            <a:off x="1793395" y="1682284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6" name="Rectángulo 125">
            <a:extLst>
              <a:ext uri="{FF2B5EF4-FFF2-40B4-BE49-F238E27FC236}">
                <a16:creationId xmlns:a16="http://schemas.microsoft.com/office/drawing/2014/main" id="{CB5799E4-702F-4DA1-830D-1CE657F72FCF}"/>
              </a:ext>
            </a:extLst>
          </p:cNvPr>
          <p:cNvSpPr/>
          <p:nvPr/>
        </p:nvSpPr>
        <p:spPr>
          <a:xfrm>
            <a:off x="7688148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Alternos</a:t>
            </a:r>
          </a:p>
        </p:txBody>
      </p:sp>
      <p:sp>
        <p:nvSpPr>
          <p:cNvPr id="127" name="Botón de acción: Hacia delante o Siguiente 32">
            <a:hlinkClick r:id="rId31" action="ppaction://hlinksldjump" highlightClick="1"/>
            <a:extLst>
              <a:ext uri="{FF2B5EF4-FFF2-40B4-BE49-F238E27FC236}">
                <a16:creationId xmlns:a16="http://schemas.microsoft.com/office/drawing/2014/main" id="{75878891-E627-4040-8069-27CC8F89EE8D}"/>
              </a:ext>
            </a:extLst>
          </p:cNvPr>
          <p:cNvSpPr/>
          <p:nvPr/>
        </p:nvSpPr>
        <p:spPr>
          <a:xfrm>
            <a:off x="8766683" y="428449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8" name="Rectángulo 127">
            <a:extLst>
              <a:ext uri="{FF2B5EF4-FFF2-40B4-BE49-F238E27FC236}">
                <a16:creationId xmlns:a16="http://schemas.microsoft.com/office/drawing/2014/main" id="{A5DC4CE1-F333-4B6B-AEE1-A289FA4E49B1}"/>
              </a:ext>
            </a:extLst>
          </p:cNvPr>
          <p:cNvSpPr/>
          <p:nvPr/>
        </p:nvSpPr>
        <p:spPr>
          <a:xfrm>
            <a:off x="8686018" y="397213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31" name="Rectángulo 130">
            <a:extLst>
              <a:ext uri="{FF2B5EF4-FFF2-40B4-BE49-F238E27FC236}">
                <a16:creationId xmlns:a16="http://schemas.microsoft.com/office/drawing/2014/main" id="{DDACA152-32C7-4ABA-984F-A30DA4F05C0D}"/>
              </a:ext>
            </a:extLst>
          </p:cNvPr>
          <p:cNvSpPr/>
          <p:nvPr/>
        </p:nvSpPr>
        <p:spPr>
          <a:xfrm>
            <a:off x="8686018" y="553270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32" name="Rectángulo 131">
            <a:extLst>
              <a:ext uri="{FF2B5EF4-FFF2-40B4-BE49-F238E27FC236}">
                <a16:creationId xmlns:a16="http://schemas.microsoft.com/office/drawing/2014/main" id="{044A1677-0599-429E-8F3E-FF13E89ED15F}"/>
              </a:ext>
            </a:extLst>
          </p:cNvPr>
          <p:cNvSpPr/>
          <p:nvPr/>
        </p:nvSpPr>
        <p:spPr>
          <a:xfrm>
            <a:off x="10099079" y="552103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24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3D7540BC-8BAB-4449-BD96-6805DB78EBDD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5" name="CuadroTexto 124">
            <a:extLst>
              <a:ext uri="{FF2B5EF4-FFF2-40B4-BE49-F238E27FC236}">
                <a16:creationId xmlns:a16="http://schemas.microsoft.com/office/drawing/2014/main" id="{E305765F-81DD-47AC-8358-C6B6F11EC311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69265DE8-4A28-4D98-B907-B3B56DD7EF14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9135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198" idx="2"/>
            <a:endCxn id="188" idx="0"/>
          </p:cNvCxnSpPr>
          <p:nvPr/>
        </p:nvCxnSpPr>
        <p:spPr>
          <a:xfrm rot="5400000">
            <a:off x="3798437" y="653627"/>
            <a:ext cx="289283" cy="430584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26903B49-5ADE-42DF-909B-5DBD789E1AAD}"/>
              </a:ext>
            </a:extLst>
          </p:cNvPr>
          <p:cNvCxnSpPr>
            <a:cxnSpLocks/>
            <a:stCxn id="198" idx="2"/>
            <a:endCxn id="93" idx="0"/>
          </p:cNvCxnSpPr>
          <p:nvPr/>
        </p:nvCxnSpPr>
        <p:spPr>
          <a:xfrm rot="5400000">
            <a:off x="5227986" y="2083176"/>
            <a:ext cx="289283" cy="144674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: angular 42">
            <a:extLst>
              <a:ext uri="{FF2B5EF4-FFF2-40B4-BE49-F238E27FC236}">
                <a16:creationId xmlns:a16="http://schemas.microsoft.com/office/drawing/2014/main" id="{412C19E8-DD9E-4306-A8A5-4D8967A883AA}"/>
              </a:ext>
            </a:extLst>
          </p:cNvPr>
          <p:cNvCxnSpPr>
            <a:cxnSpLocks/>
            <a:stCxn id="198" idx="2"/>
            <a:endCxn id="130" idx="0"/>
          </p:cNvCxnSpPr>
          <p:nvPr/>
        </p:nvCxnSpPr>
        <p:spPr>
          <a:xfrm rot="16200000" flipH="1">
            <a:off x="5950753" y="2807155"/>
            <a:ext cx="293294" cy="280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Conector: angular 48">
            <a:extLst>
              <a:ext uri="{FF2B5EF4-FFF2-40B4-BE49-F238E27FC236}">
                <a16:creationId xmlns:a16="http://schemas.microsoft.com/office/drawing/2014/main" id="{E818C6F9-5B14-4F3B-8D7D-EF7FC3E8692E}"/>
              </a:ext>
            </a:extLst>
          </p:cNvPr>
          <p:cNvCxnSpPr>
            <a:cxnSpLocks/>
            <a:stCxn id="198" idx="2"/>
            <a:endCxn id="47" idx="0"/>
          </p:cNvCxnSpPr>
          <p:nvPr/>
        </p:nvCxnSpPr>
        <p:spPr>
          <a:xfrm rot="16200000" flipH="1">
            <a:off x="6669540" y="2088368"/>
            <a:ext cx="294268" cy="144134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" name="Conector: angular 81">
            <a:extLst>
              <a:ext uri="{FF2B5EF4-FFF2-40B4-BE49-F238E27FC236}">
                <a16:creationId xmlns:a16="http://schemas.microsoft.com/office/drawing/2014/main" id="{C03C640D-B9EC-49FB-87E5-5DFE2392E31C}"/>
              </a:ext>
            </a:extLst>
          </p:cNvPr>
          <p:cNvCxnSpPr>
            <a:cxnSpLocks/>
            <a:stCxn id="198" idx="2"/>
            <a:endCxn id="20" idx="0"/>
          </p:cNvCxnSpPr>
          <p:nvPr/>
        </p:nvCxnSpPr>
        <p:spPr>
          <a:xfrm rot="16200000" flipH="1">
            <a:off x="8110581" y="647327"/>
            <a:ext cx="289283" cy="431844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2580706" y="349816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Jefe Gestión de Convenios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DEBFAF9C-DB31-4544-A1A4-48FE680CFB04}"/>
              </a:ext>
            </a:extLst>
          </p:cNvPr>
          <p:cNvSpPr/>
          <p:nvPr/>
        </p:nvSpPr>
        <p:spPr>
          <a:xfrm>
            <a:off x="9784444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Servicio al Cliente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F22EB7F4-878C-495E-BD69-A8F5427EDA25}"/>
              </a:ext>
            </a:extLst>
          </p:cNvPr>
          <p:cNvSpPr/>
          <p:nvPr/>
        </p:nvSpPr>
        <p:spPr>
          <a:xfrm>
            <a:off x="4019254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Micro y PyME</a:t>
            </a:r>
          </a:p>
        </p:txBody>
      </p:sp>
      <p:sp>
        <p:nvSpPr>
          <p:cNvPr id="130" name="Rectángulo 129">
            <a:extLst>
              <a:ext uri="{FF2B5EF4-FFF2-40B4-BE49-F238E27FC236}">
                <a16:creationId xmlns:a16="http://schemas.microsoft.com/office/drawing/2014/main" id="{05092F52-287F-448D-81A3-B0F670BDCDF6}"/>
              </a:ext>
            </a:extLst>
          </p:cNvPr>
          <p:cNvSpPr/>
          <p:nvPr/>
        </p:nvSpPr>
        <p:spPr>
          <a:xfrm>
            <a:off x="5468800" y="2955202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</a:t>
            </a:r>
            <a:b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Captación</a:t>
            </a:r>
          </a:p>
        </p:txBody>
      </p:sp>
      <p:sp>
        <p:nvSpPr>
          <p:cNvPr id="139" name="Rectángulo 138">
            <a:extLst>
              <a:ext uri="{FF2B5EF4-FFF2-40B4-BE49-F238E27FC236}">
                <a16:creationId xmlns:a16="http://schemas.microsoft.com/office/drawing/2014/main" id="{F90C667B-59E8-44C5-9994-0DFB834075F7}"/>
              </a:ext>
            </a:extLst>
          </p:cNvPr>
          <p:cNvSpPr/>
          <p:nvPr/>
        </p:nvSpPr>
        <p:spPr>
          <a:xfrm>
            <a:off x="8345896" y="295277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Gerentes Regionales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2F0F96E0-8FD6-4F7E-BE6E-B35C069230DE}"/>
              </a:ext>
            </a:extLst>
          </p:cNvPr>
          <p:cNvSpPr/>
          <p:nvPr/>
        </p:nvSpPr>
        <p:spPr>
          <a:xfrm>
            <a:off x="6907348" y="295617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Ger. Fuerzas Captadoras</a:t>
            </a:r>
          </a:p>
        </p:txBody>
      </p:sp>
      <p:cxnSp>
        <p:nvCxnSpPr>
          <p:cNvPr id="94" name="Conector: angular 93">
            <a:extLst>
              <a:ext uri="{FF2B5EF4-FFF2-40B4-BE49-F238E27FC236}">
                <a16:creationId xmlns:a16="http://schemas.microsoft.com/office/drawing/2014/main" id="{742E92D2-62AF-4B33-8210-CB76A2D1ED92}"/>
              </a:ext>
            </a:extLst>
          </p:cNvPr>
          <p:cNvCxnSpPr>
            <a:cxnSpLocks/>
            <a:stCxn id="198" idx="2"/>
            <a:endCxn id="139" idx="0"/>
          </p:cNvCxnSpPr>
          <p:nvPr/>
        </p:nvCxnSpPr>
        <p:spPr>
          <a:xfrm rot="16200000" flipH="1">
            <a:off x="7390517" y="1367391"/>
            <a:ext cx="290863" cy="287989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2778185" y="2083818"/>
            <a:ext cx="663563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286415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Volúmenes Tradicional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18374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Volúmenes Digitales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5503336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Contribución Regionales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6822927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Churn Rate</a:t>
            </a:r>
          </a:p>
        </p:txBody>
      </p:sp>
      <p:sp>
        <p:nvSpPr>
          <p:cNvPr id="208" name="Rectángulo 207">
            <a:extLst>
              <a:ext uri="{FF2B5EF4-FFF2-40B4-BE49-F238E27FC236}">
                <a16:creationId xmlns:a16="http://schemas.microsoft.com/office/drawing/2014/main" id="{4F628228-977A-40C0-BF44-564FBC8B039F}"/>
              </a:ext>
            </a:extLst>
          </p:cNvPr>
          <p:cNvSpPr/>
          <p:nvPr/>
        </p:nvSpPr>
        <p:spPr>
          <a:xfrm>
            <a:off x="8142519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Net Promoter Score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  <a:endCxn id="198" idx="0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389834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9B1FAC4-2A01-4D39-AC44-3C0775CB46F9}"/>
              </a:ext>
            </a:extLst>
          </p:cNvPr>
          <p:cNvSpPr/>
          <p:nvPr/>
        </p:nvSpPr>
        <p:spPr>
          <a:xfrm>
            <a:off x="522054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6540136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5A8A5CB-805A-48F1-8291-4867B50026FB}"/>
              </a:ext>
            </a:extLst>
          </p:cNvPr>
          <p:cNvSpPr/>
          <p:nvPr/>
        </p:nvSpPr>
        <p:spPr>
          <a:xfrm>
            <a:off x="785972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56994C3-8155-4EA5-A5E6-44F5E81784D9}"/>
              </a:ext>
            </a:extLst>
          </p:cNvPr>
          <p:cNvSpPr/>
          <p:nvPr/>
        </p:nvSpPr>
        <p:spPr>
          <a:xfrm>
            <a:off x="917931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AC51912D-BDF5-41B6-ACBA-95B015C01584}"/>
              </a:ext>
            </a:extLst>
          </p:cNvPr>
          <p:cNvSpPr/>
          <p:nvPr/>
        </p:nvSpPr>
        <p:spPr>
          <a:xfrm>
            <a:off x="4019254" y="3366808"/>
            <a:ext cx="1260000" cy="2107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75E04FE0-F5D7-4FB5-ADCF-5BF9858B5714}"/>
              </a:ext>
            </a:extLst>
          </p:cNvPr>
          <p:cNvSpPr/>
          <p:nvPr/>
        </p:nvSpPr>
        <p:spPr>
          <a:xfrm>
            <a:off x="5468798" y="3366808"/>
            <a:ext cx="1260000" cy="2107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143DF17A-A500-4669-ADFE-81EF0FAB8B39}"/>
              </a:ext>
            </a:extLst>
          </p:cNvPr>
          <p:cNvSpPr/>
          <p:nvPr/>
        </p:nvSpPr>
        <p:spPr>
          <a:xfrm>
            <a:off x="6907345" y="3366808"/>
            <a:ext cx="1260000" cy="2107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D286FA38-2668-4710-A0A4-C77BF9577666}"/>
              </a:ext>
            </a:extLst>
          </p:cNvPr>
          <p:cNvSpPr/>
          <p:nvPr/>
        </p:nvSpPr>
        <p:spPr>
          <a:xfrm>
            <a:off x="8345892" y="3366808"/>
            <a:ext cx="1260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DCBC88BD-320C-4AB3-AAD4-EC71C3F77128}"/>
              </a:ext>
            </a:extLst>
          </p:cNvPr>
          <p:cNvSpPr/>
          <p:nvPr/>
        </p:nvSpPr>
        <p:spPr>
          <a:xfrm>
            <a:off x="9784439" y="3366808"/>
            <a:ext cx="1260000" cy="16234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76B23C7-446E-4E3E-8469-6C41F2840937}"/>
              </a:ext>
            </a:extLst>
          </p:cNvPr>
          <p:cNvSpPr/>
          <p:nvPr/>
        </p:nvSpPr>
        <p:spPr>
          <a:xfrm>
            <a:off x="4059319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Micro y PyME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B194E690-124E-4A18-9243-795C12DB7A7E}"/>
              </a:ext>
            </a:extLst>
          </p:cNvPr>
          <p:cNvSpPr/>
          <p:nvPr/>
        </p:nvSpPr>
        <p:spPr>
          <a:xfrm>
            <a:off x="4059319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Plan Dig. Micro y </a:t>
            </a: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PyMe</a:t>
            </a:r>
            <a:endParaRPr lang="es-CO" sz="12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8C719064-D8E2-49B2-99CB-19CDA1ED2BB3}"/>
              </a:ext>
            </a:extLst>
          </p:cNvPr>
          <p:cNvSpPr/>
          <p:nvPr/>
        </p:nvSpPr>
        <p:spPr>
          <a:xfrm>
            <a:off x="4059319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Micro y </a:t>
            </a: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PyMe</a:t>
            </a:r>
            <a:endParaRPr lang="es-CO" sz="12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B7A55E85-7A6B-41AB-B788-B54C67EB8531}"/>
              </a:ext>
            </a:extLst>
          </p:cNvPr>
          <p:cNvSpPr/>
          <p:nvPr/>
        </p:nvSpPr>
        <p:spPr>
          <a:xfrm>
            <a:off x="4059319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F64DE06E-9D66-4714-B999-AB1846FBCE75}"/>
              </a:ext>
            </a:extLst>
          </p:cNvPr>
          <p:cNvSpPr/>
          <p:nvPr/>
        </p:nvSpPr>
        <p:spPr>
          <a:xfrm>
            <a:off x="5508862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Captación</a:t>
            </a:r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E976D9BB-B8BA-4D9B-91CB-C0EE1D3D12FF}"/>
              </a:ext>
            </a:extLst>
          </p:cNvPr>
          <p:cNvSpPr/>
          <p:nvPr/>
        </p:nvSpPr>
        <p:spPr>
          <a:xfrm>
            <a:off x="5508862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07DA872A-1703-4742-BABE-5BDF0B732EB5}"/>
              </a:ext>
            </a:extLst>
          </p:cNvPr>
          <p:cNvSpPr/>
          <p:nvPr/>
        </p:nvSpPr>
        <p:spPr>
          <a:xfrm>
            <a:off x="5508862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Plan Dig. Captación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00B40BBE-B0DF-43C1-9B4A-DD4B874D1977}"/>
              </a:ext>
            </a:extLst>
          </p:cNvPr>
          <p:cNvSpPr/>
          <p:nvPr/>
        </p:nvSpPr>
        <p:spPr>
          <a:xfrm>
            <a:off x="5508862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Captación</a:t>
            </a: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BAD52CEE-AB5A-431F-AE3D-3C7887B63E4C}"/>
              </a:ext>
            </a:extLst>
          </p:cNvPr>
          <p:cNvSpPr/>
          <p:nvPr/>
        </p:nvSpPr>
        <p:spPr>
          <a:xfrm>
            <a:off x="6942721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Productividad FFVV </a:t>
            </a: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Capt</a:t>
            </a: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24EE33E6-E7F9-4DDA-9F4F-D123C46D9ACE}"/>
              </a:ext>
            </a:extLst>
          </p:cNvPr>
          <p:cNvSpPr/>
          <p:nvPr/>
        </p:nvSpPr>
        <p:spPr>
          <a:xfrm>
            <a:off x="6942721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57" name="Rectángulo 56">
            <a:extLst>
              <a:ext uri="{FF2B5EF4-FFF2-40B4-BE49-F238E27FC236}">
                <a16:creationId xmlns:a16="http://schemas.microsoft.com/office/drawing/2014/main" id="{DAEC2F10-3558-4D49-A490-B1E9C5E34399}"/>
              </a:ext>
            </a:extLst>
          </p:cNvPr>
          <p:cNvSpPr/>
          <p:nvPr/>
        </p:nvSpPr>
        <p:spPr>
          <a:xfrm>
            <a:off x="8395000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Productividad FFVV</a:t>
            </a:r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D91A574F-C220-49C6-B995-CD9383459BA9}"/>
              </a:ext>
            </a:extLst>
          </p:cNvPr>
          <p:cNvSpPr/>
          <p:nvPr/>
        </p:nvSpPr>
        <p:spPr>
          <a:xfrm>
            <a:off x="8395000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Contribución Regional</a:t>
            </a:r>
          </a:p>
        </p:txBody>
      </p:sp>
      <p:sp>
        <p:nvSpPr>
          <p:cNvPr id="67" name="Rectángulo 66">
            <a:extLst>
              <a:ext uri="{FF2B5EF4-FFF2-40B4-BE49-F238E27FC236}">
                <a16:creationId xmlns:a16="http://schemas.microsoft.com/office/drawing/2014/main" id="{2BC335FC-D8CB-436A-BD84-3018E1602EBB}"/>
              </a:ext>
            </a:extLst>
          </p:cNvPr>
          <p:cNvSpPr/>
          <p:nvPr/>
        </p:nvSpPr>
        <p:spPr>
          <a:xfrm>
            <a:off x="8395000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Rotación de Planta Región</a:t>
            </a:r>
          </a:p>
        </p:txBody>
      </p:sp>
      <p:sp>
        <p:nvSpPr>
          <p:cNvPr id="69" name="Rectángulo 68">
            <a:extLst>
              <a:ext uri="{FF2B5EF4-FFF2-40B4-BE49-F238E27FC236}">
                <a16:creationId xmlns:a16="http://schemas.microsoft.com/office/drawing/2014/main" id="{42B74F0C-0223-4568-B41A-7F3A66F320FA}"/>
              </a:ext>
            </a:extLst>
          </p:cNvPr>
          <p:cNvSpPr/>
          <p:nvPr/>
        </p:nvSpPr>
        <p:spPr>
          <a:xfrm>
            <a:off x="9824502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Canales de Autogestión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B7016837-0E8F-41C4-91A0-FB87F4B433AA}"/>
              </a:ext>
            </a:extLst>
          </p:cNvPr>
          <p:cNvSpPr/>
          <p:nvPr/>
        </p:nvSpPr>
        <p:spPr>
          <a:xfrm>
            <a:off x="9824502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Solución en 1er Contacto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7BF3DEC0-AF2B-4299-BD5D-58530B474BE6}"/>
              </a:ext>
            </a:extLst>
          </p:cNvPr>
          <p:cNvSpPr/>
          <p:nvPr/>
        </p:nvSpPr>
        <p:spPr>
          <a:xfrm>
            <a:off x="9824502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B8765705-A422-49DC-B167-6AE2B455D5ED}"/>
              </a:ext>
            </a:extLst>
          </p:cNvPr>
          <p:cNvSpPr/>
          <p:nvPr/>
        </p:nvSpPr>
        <p:spPr>
          <a:xfrm>
            <a:off x="8395000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Vol. Productos a Cargo (Trad.)</a:t>
            </a: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1BA2A7DF-5411-4939-936F-09DCE21B1329}"/>
              </a:ext>
            </a:extLst>
          </p:cNvPr>
          <p:cNvSpPr/>
          <p:nvPr/>
        </p:nvSpPr>
        <p:spPr>
          <a:xfrm>
            <a:off x="6942721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Vol. Captación Digital</a:t>
            </a:r>
          </a:p>
        </p:txBody>
      </p:sp>
      <p:sp>
        <p:nvSpPr>
          <p:cNvPr id="79" name="Rectángulo 78">
            <a:extLst>
              <a:ext uri="{FF2B5EF4-FFF2-40B4-BE49-F238E27FC236}">
                <a16:creationId xmlns:a16="http://schemas.microsoft.com/office/drawing/2014/main" id="{8AAB5766-6371-409B-87C3-387F4B7A3557}"/>
              </a:ext>
            </a:extLst>
          </p:cNvPr>
          <p:cNvSpPr/>
          <p:nvPr/>
        </p:nvSpPr>
        <p:spPr>
          <a:xfrm>
            <a:off x="6942721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Vol. Captación Tradicional</a:t>
            </a:r>
          </a:p>
        </p:txBody>
      </p:sp>
      <p:sp>
        <p:nvSpPr>
          <p:cNvPr id="91" name="Rectángulo 90">
            <a:extLst>
              <a:ext uri="{FF2B5EF4-FFF2-40B4-BE49-F238E27FC236}">
                <a16:creationId xmlns:a16="http://schemas.microsoft.com/office/drawing/2014/main" id="{8504C0AA-0EBD-4947-802A-AA7518CB36D4}"/>
              </a:ext>
            </a:extLst>
          </p:cNvPr>
          <p:cNvSpPr/>
          <p:nvPr/>
        </p:nvSpPr>
        <p:spPr>
          <a:xfrm>
            <a:off x="10810637" y="449226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92" name="Rectángulo 91">
            <a:extLst>
              <a:ext uri="{FF2B5EF4-FFF2-40B4-BE49-F238E27FC236}">
                <a16:creationId xmlns:a16="http://schemas.microsoft.com/office/drawing/2014/main" id="{DE37F81C-C917-454A-8595-D5FDA60FDCE5}"/>
              </a:ext>
            </a:extLst>
          </p:cNvPr>
          <p:cNvSpPr/>
          <p:nvPr/>
        </p:nvSpPr>
        <p:spPr>
          <a:xfrm>
            <a:off x="10810637" y="397496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95" name="Rectángulo 94">
            <a:extLst>
              <a:ext uri="{FF2B5EF4-FFF2-40B4-BE49-F238E27FC236}">
                <a16:creationId xmlns:a16="http://schemas.microsoft.com/office/drawing/2014/main" id="{6BC9B7F2-6130-43E5-AB6A-D513727F5BA0}"/>
              </a:ext>
            </a:extLst>
          </p:cNvPr>
          <p:cNvSpPr/>
          <p:nvPr/>
        </p:nvSpPr>
        <p:spPr>
          <a:xfrm>
            <a:off x="10810637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98" name="Rectángulo 97">
            <a:extLst>
              <a:ext uri="{FF2B5EF4-FFF2-40B4-BE49-F238E27FC236}">
                <a16:creationId xmlns:a16="http://schemas.microsoft.com/office/drawing/2014/main" id="{61037AAB-5942-4BD3-99A2-D33924807B87}"/>
              </a:ext>
            </a:extLst>
          </p:cNvPr>
          <p:cNvSpPr/>
          <p:nvPr/>
        </p:nvSpPr>
        <p:spPr>
          <a:xfrm>
            <a:off x="9387672" y="449226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99" name="Rectángulo 98">
            <a:extLst>
              <a:ext uri="{FF2B5EF4-FFF2-40B4-BE49-F238E27FC236}">
                <a16:creationId xmlns:a16="http://schemas.microsoft.com/office/drawing/2014/main" id="{75349768-B707-46E6-86CA-471B8322C620}"/>
              </a:ext>
            </a:extLst>
          </p:cNvPr>
          <p:cNvSpPr/>
          <p:nvPr/>
        </p:nvSpPr>
        <p:spPr>
          <a:xfrm>
            <a:off x="9387672" y="397496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00" name="Rectángulo 99">
            <a:extLst>
              <a:ext uri="{FF2B5EF4-FFF2-40B4-BE49-F238E27FC236}">
                <a16:creationId xmlns:a16="http://schemas.microsoft.com/office/drawing/2014/main" id="{818D4C68-F2D0-458D-9C7C-6A5B9BFEEAF5}"/>
              </a:ext>
            </a:extLst>
          </p:cNvPr>
          <p:cNvSpPr/>
          <p:nvPr/>
        </p:nvSpPr>
        <p:spPr>
          <a:xfrm>
            <a:off x="9387672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1" name="Rectángulo 100">
            <a:extLst>
              <a:ext uri="{FF2B5EF4-FFF2-40B4-BE49-F238E27FC236}">
                <a16:creationId xmlns:a16="http://schemas.microsoft.com/office/drawing/2014/main" id="{71649149-C28F-4C69-8922-68DED0A91A16}"/>
              </a:ext>
            </a:extLst>
          </p:cNvPr>
          <p:cNvSpPr/>
          <p:nvPr/>
        </p:nvSpPr>
        <p:spPr>
          <a:xfrm>
            <a:off x="9387672" y="500611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DEC7642E-5531-4658-BFF9-20923A151BD0}"/>
              </a:ext>
            </a:extLst>
          </p:cNvPr>
          <p:cNvSpPr/>
          <p:nvPr/>
        </p:nvSpPr>
        <p:spPr>
          <a:xfrm>
            <a:off x="7934425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9CEAE9C7-6A1F-4BEA-90D6-5D5420CE37E4}"/>
              </a:ext>
            </a:extLst>
          </p:cNvPr>
          <p:cNvSpPr/>
          <p:nvPr/>
        </p:nvSpPr>
        <p:spPr>
          <a:xfrm>
            <a:off x="7934425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6" name="Rectángulo 105">
            <a:extLst>
              <a:ext uri="{FF2B5EF4-FFF2-40B4-BE49-F238E27FC236}">
                <a16:creationId xmlns:a16="http://schemas.microsoft.com/office/drawing/2014/main" id="{47C7263D-C75C-467F-AA62-CC0A5838445B}"/>
              </a:ext>
            </a:extLst>
          </p:cNvPr>
          <p:cNvSpPr/>
          <p:nvPr/>
        </p:nvSpPr>
        <p:spPr>
          <a:xfrm>
            <a:off x="7934425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6F2AE692-C4AD-4BAC-932A-F2732137B7A4}"/>
              </a:ext>
            </a:extLst>
          </p:cNvPr>
          <p:cNvSpPr/>
          <p:nvPr/>
        </p:nvSpPr>
        <p:spPr>
          <a:xfrm>
            <a:off x="7934425" y="501340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13" name="Rectángulo 112">
            <a:extLst>
              <a:ext uri="{FF2B5EF4-FFF2-40B4-BE49-F238E27FC236}">
                <a16:creationId xmlns:a16="http://schemas.microsoft.com/office/drawing/2014/main" id="{FDA272CD-95B7-4B83-8791-8F2733CD2E84}"/>
              </a:ext>
            </a:extLst>
          </p:cNvPr>
          <p:cNvSpPr/>
          <p:nvPr/>
        </p:nvSpPr>
        <p:spPr>
          <a:xfrm>
            <a:off x="6497207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14" name="Rectángulo 113">
            <a:extLst>
              <a:ext uri="{FF2B5EF4-FFF2-40B4-BE49-F238E27FC236}">
                <a16:creationId xmlns:a16="http://schemas.microsoft.com/office/drawing/2014/main" id="{C148C57A-00A3-4A60-8091-35A32DAC32AB}"/>
              </a:ext>
            </a:extLst>
          </p:cNvPr>
          <p:cNvSpPr/>
          <p:nvPr/>
        </p:nvSpPr>
        <p:spPr>
          <a:xfrm>
            <a:off x="6497207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210F5EE6-3E8F-498E-B848-14F3E1134F1D}"/>
              </a:ext>
            </a:extLst>
          </p:cNvPr>
          <p:cNvSpPr/>
          <p:nvPr/>
        </p:nvSpPr>
        <p:spPr>
          <a:xfrm>
            <a:off x="6497207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16" name="Rectángulo 115">
            <a:extLst>
              <a:ext uri="{FF2B5EF4-FFF2-40B4-BE49-F238E27FC236}">
                <a16:creationId xmlns:a16="http://schemas.microsoft.com/office/drawing/2014/main" id="{F84E9533-070B-4775-8BEF-84AE8BE5556E}"/>
              </a:ext>
            </a:extLst>
          </p:cNvPr>
          <p:cNvSpPr/>
          <p:nvPr/>
        </p:nvSpPr>
        <p:spPr>
          <a:xfrm>
            <a:off x="6497207" y="501340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25" name="Rectángulo 124">
            <a:extLst>
              <a:ext uri="{FF2B5EF4-FFF2-40B4-BE49-F238E27FC236}">
                <a16:creationId xmlns:a16="http://schemas.microsoft.com/office/drawing/2014/main" id="{AC566FFC-E50F-467B-BCF8-DDBE2A839224}"/>
              </a:ext>
            </a:extLst>
          </p:cNvPr>
          <p:cNvSpPr/>
          <p:nvPr/>
        </p:nvSpPr>
        <p:spPr>
          <a:xfrm>
            <a:off x="5057189" y="450178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26" name="Rectángulo 125">
            <a:extLst>
              <a:ext uri="{FF2B5EF4-FFF2-40B4-BE49-F238E27FC236}">
                <a16:creationId xmlns:a16="http://schemas.microsoft.com/office/drawing/2014/main" id="{F5CEF8A6-1802-45E7-AE98-403E517FE836}"/>
              </a:ext>
            </a:extLst>
          </p:cNvPr>
          <p:cNvSpPr/>
          <p:nvPr/>
        </p:nvSpPr>
        <p:spPr>
          <a:xfrm>
            <a:off x="5057189" y="398449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27" name="Rectángulo 126">
            <a:extLst>
              <a:ext uri="{FF2B5EF4-FFF2-40B4-BE49-F238E27FC236}">
                <a16:creationId xmlns:a16="http://schemas.microsoft.com/office/drawing/2014/main" id="{74C987F5-63B0-401E-9B89-D55582E1F3DA}"/>
              </a:ext>
            </a:extLst>
          </p:cNvPr>
          <p:cNvSpPr/>
          <p:nvPr/>
        </p:nvSpPr>
        <p:spPr>
          <a:xfrm>
            <a:off x="5057189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28" name="Rectángulo 127">
            <a:extLst>
              <a:ext uri="{FF2B5EF4-FFF2-40B4-BE49-F238E27FC236}">
                <a16:creationId xmlns:a16="http://schemas.microsoft.com/office/drawing/2014/main" id="{6E62D04F-C447-48AF-9EDA-173E8C86EEFB}"/>
              </a:ext>
            </a:extLst>
          </p:cNvPr>
          <p:cNvSpPr/>
          <p:nvPr/>
        </p:nvSpPr>
        <p:spPr>
          <a:xfrm>
            <a:off x="5057189" y="501563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2866776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4171615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5493811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6813402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50" name="Rectángulo 149">
            <a:extLst>
              <a:ext uri="{FF2B5EF4-FFF2-40B4-BE49-F238E27FC236}">
                <a16:creationId xmlns:a16="http://schemas.microsoft.com/office/drawing/2014/main" id="{0D0B2680-0E72-4E47-9687-BBC6E158D1E7}"/>
              </a:ext>
            </a:extLst>
          </p:cNvPr>
          <p:cNvSpPr/>
          <p:nvPr/>
        </p:nvSpPr>
        <p:spPr>
          <a:xfrm>
            <a:off x="8132993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40" name="Rectángulo 139">
            <a:extLst>
              <a:ext uri="{FF2B5EF4-FFF2-40B4-BE49-F238E27FC236}">
                <a16:creationId xmlns:a16="http://schemas.microsoft.com/office/drawing/2014/main" id="{869F0416-3AE9-4460-8CE7-09C8B1EFD7FF}"/>
              </a:ext>
            </a:extLst>
          </p:cNvPr>
          <p:cNvSpPr/>
          <p:nvPr/>
        </p:nvSpPr>
        <p:spPr>
          <a:xfrm>
            <a:off x="8394999" y="5522362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2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6D4D3D5-4F64-49E1-A7E7-8C3404421896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46FE017-C9F7-4E36-9823-26D9EC2D5812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2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6F4E5C5-4847-4B52-97B2-63D8A9389BCF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6" name="CuadroTexto 45">
            <a:extLst>
              <a:ext uri="{FF2B5EF4-FFF2-40B4-BE49-F238E27FC236}">
                <a16:creationId xmlns:a16="http://schemas.microsoft.com/office/drawing/2014/main" id="{C9FAF126-8778-4EF2-AAB1-C92290465E9C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CuadroTexto 49">
            <a:extLst>
              <a:ext uri="{FF2B5EF4-FFF2-40B4-BE49-F238E27FC236}">
                <a16:creationId xmlns:a16="http://schemas.microsoft.com/office/drawing/2014/main" id="{A1605F27-EDF1-41E4-8F97-A551A01679E3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CuadroTexto 50">
            <a:extLst>
              <a:ext uri="{FF2B5EF4-FFF2-40B4-BE49-F238E27FC236}">
                <a16:creationId xmlns:a16="http://schemas.microsoft.com/office/drawing/2014/main" id="{A2820497-B3FB-4792-B8B5-24A56CA29F52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1BADCFCE-9BD5-48A4-B2B8-8635F3123158}"/>
              </a:ext>
            </a:extLst>
          </p:cNvPr>
          <p:cNvSpPr/>
          <p:nvPr/>
        </p:nvSpPr>
        <p:spPr>
          <a:xfrm>
            <a:off x="503727" y="1318227"/>
            <a:ext cx="1544529" cy="1068591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Comercial</a:t>
            </a:r>
          </a:p>
          <a:p>
            <a:pPr marL="266700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1076325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Producto Integral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Convenios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SAC</a:t>
            </a:r>
          </a:p>
        </p:txBody>
      </p:sp>
      <p:sp>
        <p:nvSpPr>
          <p:cNvPr id="55" name="Elipse 54">
            <a:extLst>
              <a:ext uri="{FF2B5EF4-FFF2-40B4-BE49-F238E27FC236}">
                <a16:creationId xmlns:a16="http://schemas.microsoft.com/office/drawing/2014/main" id="{ED3F3044-BEA9-4FCC-8BB5-AAAF8E3F6E59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58" name="CuadroTexto 57">
            <a:extLst>
              <a:ext uri="{FF2B5EF4-FFF2-40B4-BE49-F238E27FC236}">
                <a16:creationId xmlns:a16="http://schemas.microsoft.com/office/drawing/2014/main" id="{94FE5C59-1760-4B37-B4E9-1341B138EFB7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60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8740807-7B2D-4219-958A-C2B67ABC45B3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8FE4AF8A-D157-4185-919D-EB383FFCC5E4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3" name="Botón de acción: ir hacia delante o siguiente 6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BF77063A-C0D2-47D3-9910-90F03CE128AB}"/>
              </a:ext>
            </a:extLst>
          </p:cNvPr>
          <p:cNvSpPr/>
          <p:nvPr/>
        </p:nvSpPr>
        <p:spPr>
          <a:xfrm>
            <a:off x="1793395" y="136544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8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009017E3-F195-4053-9395-2F6087224D61}"/>
              </a:ext>
            </a:extLst>
          </p:cNvPr>
          <p:cNvSpPr/>
          <p:nvPr/>
        </p:nvSpPr>
        <p:spPr>
          <a:xfrm>
            <a:off x="6906000" y="176563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1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3C7C5527-1F50-4920-88C5-09E96C3E84C6}"/>
              </a:ext>
            </a:extLst>
          </p:cNvPr>
          <p:cNvSpPr/>
          <p:nvPr/>
        </p:nvSpPr>
        <p:spPr>
          <a:xfrm>
            <a:off x="5135254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6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58009FFF-FAA0-43A2-B199-5A61EBB98BE9}"/>
              </a:ext>
            </a:extLst>
          </p:cNvPr>
          <p:cNvSpPr/>
          <p:nvPr/>
        </p:nvSpPr>
        <p:spPr>
          <a:xfrm>
            <a:off x="6590807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7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31F23198-95B4-4A0E-8AC9-F19D8956A826}"/>
              </a:ext>
            </a:extLst>
          </p:cNvPr>
          <p:cNvSpPr/>
          <p:nvPr/>
        </p:nvSpPr>
        <p:spPr>
          <a:xfrm>
            <a:off x="8007889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8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3C4853FF-7C80-4F3A-9792-224A78869A82}"/>
              </a:ext>
            </a:extLst>
          </p:cNvPr>
          <p:cNvSpPr/>
          <p:nvPr/>
        </p:nvSpPr>
        <p:spPr>
          <a:xfrm>
            <a:off x="9465625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9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5C3A75C2-8455-4599-B8F8-D581355E9A8D}"/>
              </a:ext>
            </a:extLst>
          </p:cNvPr>
          <p:cNvSpPr/>
          <p:nvPr/>
        </p:nvSpPr>
        <p:spPr>
          <a:xfrm>
            <a:off x="10904767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4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5736BE69-B5B0-410D-9233-946795261198}"/>
              </a:ext>
            </a:extLst>
          </p:cNvPr>
          <p:cNvSpPr/>
          <p:nvPr/>
        </p:nvSpPr>
        <p:spPr>
          <a:xfrm>
            <a:off x="8036733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5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900363C8-C4BC-4499-9A60-60E6596F87A8}"/>
              </a:ext>
            </a:extLst>
          </p:cNvPr>
          <p:cNvSpPr/>
          <p:nvPr/>
        </p:nvSpPr>
        <p:spPr>
          <a:xfrm>
            <a:off x="8036733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6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35EBA050-7683-4032-820F-ED8306443D18}"/>
              </a:ext>
            </a:extLst>
          </p:cNvPr>
          <p:cNvSpPr/>
          <p:nvPr/>
        </p:nvSpPr>
        <p:spPr>
          <a:xfrm>
            <a:off x="8036733" y="479466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9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79006ED4-9983-46B2-9856-F88557E4604B}"/>
              </a:ext>
            </a:extLst>
          </p:cNvPr>
          <p:cNvSpPr/>
          <p:nvPr/>
        </p:nvSpPr>
        <p:spPr>
          <a:xfrm>
            <a:off x="9454172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1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80129F4A-B715-4520-AA36-422BA45ADE92}"/>
              </a:ext>
            </a:extLst>
          </p:cNvPr>
          <p:cNvSpPr/>
          <p:nvPr/>
        </p:nvSpPr>
        <p:spPr>
          <a:xfrm>
            <a:off x="9454172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81019FD-970D-4C65-8961-2512BE42C317}"/>
              </a:ext>
            </a:extLst>
          </p:cNvPr>
          <p:cNvSpPr/>
          <p:nvPr/>
        </p:nvSpPr>
        <p:spPr>
          <a:xfrm>
            <a:off x="9454172" y="479466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5" name="Botón de acción: Hacia delante o Siguiente 32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3BACB7D3-431C-41A8-812C-FCDCFAAF642C}"/>
              </a:ext>
            </a:extLst>
          </p:cNvPr>
          <p:cNvSpPr/>
          <p:nvPr/>
        </p:nvSpPr>
        <p:spPr>
          <a:xfrm>
            <a:off x="9454172" y="530971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2" name="Botón de acción: Hacia delante o Siguiente 3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9C359914-9C74-4F22-8B22-AB4DEBE68651}"/>
              </a:ext>
            </a:extLst>
          </p:cNvPr>
          <p:cNvSpPr/>
          <p:nvPr/>
        </p:nvSpPr>
        <p:spPr>
          <a:xfrm>
            <a:off x="10885135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3" name="Botón de acción: Hacia delante o Siguiente 32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08CE774F-6FFF-4B00-8ED0-7FEDAD7922DB}"/>
              </a:ext>
            </a:extLst>
          </p:cNvPr>
          <p:cNvSpPr/>
          <p:nvPr/>
        </p:nvSpPr>
        <p:spPr>
          <a:xfrm>
            <a:off x="10885135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7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439C9D4C-4DC8-48BF-887E-2CAAE7ADFAF9}"/>
              </a:ext>
            </a:extLst>
          </p:cNvPr>
          <p:cNvSpPr/>
          <p:nvPr/>
        </p:nvSpPr>
        <p:spPr>
          <a:xfrm>
            <a:off x="6912199" y="1469508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D466910-F2AE-4BA2-B0DA-A9235B9E7171}"/>
              </a:ext>
            </a:extLst>
          </p:cNvPr>
          <p:cNvSpPr/>
          <p:nvPr/>
        </p:nvSpPr>
        <p:spPr>
          <a:xfrm>
            <a:off x="5135254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B8B35A6-2070-45B4-A799-4E9196D5173C}"/>
              </a:ext>
            </a:extLst>
          </p:cNvPr>
          <p:cNvSpPr/>
          <p:nvPr/>
        </p:nvSpPr>
        <p:spPr>
          <a:xfrm>
            <a:off x="6590807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2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BB6AECA-0E48-47A5-9569-805B8BFE2D3D}"/>
              </a:ext>
            </a:extLst>
          </p:cNvPr>
          <p:cNvSpPr/>
          <p:nvPr/>
        </p:nvSpPr>
        <p:spPr>
          <a:xfrm>
            <a:off x="8007889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3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53CFD7F-D9FE-487B-BE23-B7131536FED4}"/>
              </a:ext>
            </a:extLst>
          </p:cNvPr>
          <p:cNvSpPr/>
          <p:nvPr/>
        </p:nvSpPr>
        <p:spPr>
          <a:xfrm>
            <a:off x="9465625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4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5A4912C-C6CB-49DE-AB35-9EA0C7A91C79}"/>
              </a:ext>
            </a:extLst>
          </p:cNvPr>
          <p:cNvSpPr/>
          <p:nvPr/>
        </p:nvSpPr>
        <p:spPr>
          <a:xfrm>
            <a:off x="10904767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28" name="Botón de acción: Hacia delante o Siguiente 32">
            <a:hlinkClick r:id="rId23" action="ppaction://hlinksldjump" highlightClick="1"/>
            <a:extLst>
              <a:ext uri="{FF2B5EF4-FFF2-40B4-BE49-F238E27FC236}">
                <a16:creationId xmlns:a16="http://schemas.microsoft.com/office/drawing/2014/main" id="{8D5B1BF8-21FD-4197-AC39-DF737C7E8128}"/>
              </a:ext>
            </a:extLst>
          </p:cNvPr>
          <p:cNvSpPr/>
          <p:nvPr/>
        </p:nvSpPr>
        <p:spPr>
          <a:xfrm>
            <a:off x="5135254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0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BA8D7F1E-618E-4D3A-AF32-91A413A8FA48}"/>
              </a:ext>
            </a:extLst>
          </p:cNvPr>
          <p:cNvSpPr/>
          <p:nvPr/>
        </p:nvSpPr>
        <p:spPr>
          <a:xfrm>
            <a:off x="6590807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1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213D59AB-7311-4374-A63D-89F3C05F9FFB}"/>
              </a:ext>
            </a:extLst>
          </p:cNvPr>
          <p:cNvSpPr/>
          <p:nvPr/>
        </p:nvSpPr>
        <p:spPr>
          <a:xfrm>
            <a:off x="8007889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2" name="Botón de acción: Hacia delante o Siguiente 32">
            <a:hlinkClick r:id="rId26" action="ppaction://hlinksldjump" highlightClick="1"/>
            <a:extLst>
              <a:ext uri="{FF2B5EF4-FFF2-40B4-BE49-F238E27FC236}">
                <a16:creationId xmlns:a16="http://schemas.microsoft.com/office/drawing/2014/main" id="{62C7639F-B751-41AB-87D5-56D6F83F61B9}"/>
              </a:ext>
            </a:extLst>
          </p:cNvPr>
          <p:cNvSpPr/>
          <p:nvPr/>
        </p:nvSpPr>
        <p:spPr>
          <a:xfrm>
            <a:off x="9465625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3" name="Botón de acción: Hacia delante o Siguiente 32">
            <a:hlinkClick r:id="rId27" action="ppaction://hlinksldjump" highlightClick="1"/>
            <a:extLst>
              <a:ext uri="{FF2B5EF4-FFF2-40B4-BE49-F238E27FC236}">
                <a16:creationId xmlns:a16="http://schemas.microsoft.com/office/drawing/2014/main" id="{91C49686-DD60-4D21-9600-EEF120CE5CEF}"/>
              </a:ext>
            </a:extLst>
          </p:cNvPr>
          <p:cNvSpPr/>
          <p:nvPr/>
        </p:nvSpPr>
        <p:spPr>
          <a:xfrm>
            <a:off x="10904767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6" name="Elipse 235">
            <a:extLst>
              <a:ext uri="{FF2B5EF4-FFF2-40B4-BE49-F238E27FC236}">
                <a16:creationId xmlns:a16="http://schemas.microsoft.com/office/drawing/2014/main" id="{BD125E18-0E15-42AE-80CE-8A76BDFAA19E}"/>
              </a:ext>
            </a:extLst>
          </p:cNvPr>
          <p:cNvSpPr/>
          <p:nvPr/>
        </p:nvSpPr>
        <p:spPr>
          <a:xfrm>
            <a:off x="3934435" y="287008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38" name="Elipse 237">
            <a:extLst>
              <a:ext uri="{FF2B5EF4-FFF2-40B4-BE49-F238E27FC236}">
                <a16:creationId xmlns:a16="http://schemas.microsoft.com/office/drawing/2014/main" id="{204FCC58-33F5-41FD-BF86-19728380E879}"/>
              </a:ext>
            </a:extLst>
          </p:cNvPr>
          <p:cNvSpPr/>
          <p:nvPr/>
        </p:nvSpPr>
        <p:spPr>
          <a:xfrm>
            <a:off x="5378798" y="287008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0" name="Elipse 239">
            <a:extLst>
              <a:ext uri="{FF2B5EF4-FFF2-40B4-BE49-F238E27FC236}">
                <a16:creationId xmlns:a16="http://schemas.microsoft.com/office/drawing/2014/main" id="{C3F58AD3-2640-4622-9430-E3F5E19D504B}"/>
              </a:ext>
            </a:extLst>
          </p:cNvPr>
          <p:cNvSpPr/>
          <p:nvPr/>
        </p:nvSpPr>
        <p:spPr>
          <a:xfrm>
            <a:off x="5083813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1" name="Elipse 240">
            <a:extLst>
              <a:ext uri="{FF2B5EF4-FFF2-40B4-BE49-F238E27FC236}">
                <a16:creationId xmlns:a16="http://schemas.microsoft.com/office/drawing/2014/main" id="{857F63A9-29FE-4018-A0B9-C5969BE1006C}"/>
              </a:ext>
            </a:extLst>
          </p:cNvPr>
          <p:cNvSpPr/>
          <p:nvPr/>
        </p:nvSpPr>
        <p:spPr>
          <a:xfrm>
            <a:off x="512735" y="163710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2" name="Botón de acción: ir hacia delante o siguiente 241">
            <a:hlinkClick r:id="rId28" action="ppaction://hlinksldjump" highlightClick="1"/>
            <a:extLst>
              <a:ext uri="{FF2B5EF4-FFF2-40B4-BE49-F238E27FC236}">
                <a16:creationId xmlns:a16="http://schemas.microsoft.com/office/drawing/2014/main" id="{AE8BFB1F-2C89-487D-AB56-6874CCF6DC85}"/>
              </a:ext>
            </a:extLst>
          </p:cNvPr>
          <p:cNvSpPr/>
          <p:nvPr/>
        </p:nvSpPr>
        <p:spPr>
          <a:xfrm>
            <a:off x="1793395" y="1682284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3" name="Elipse 242">
            <a:extLst>
              <a:ext uri="{FF2B5EF4-FFF2-40B4-BE49-F238E27FC236}">
                <a16:creationId xmlns:a16="http://schemas.microsoft.com/office/drawing/2014/main" id="{41CAD26B-468A-461C-B524-93C10600699E}"/>
              </a:ext>
            </a:extLst>
          </p:cNvPr>
          <p:cNvSpPr/>
          <p:nvPr/>
        </p:nvSpPr>
        <p:spPr>
          <a:xfrm>
            <a:off x="9698173" y="287008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4" name="Elipse 243">
            <a:extLst>
              <a:ext uri="{FF2B5EF4-FFF2-40B4-BE49-F238E27FC236}">
                <a16:creationId xmlns:a16="http://schemas.microsoft.com/office/drawing/2014/main" id="{10036970-53A2-4E03-B9F9-61F52A6471E5}"/>
              </a:ext>
            </a:extLst>
          </p:cNvPr>
          <p:cNvSpPr/>
          <p:nvPr/>
        </p:nvSpPr>
        <p:spPr>
          <a:xfrm>
            <a:off x="512735" y="1947949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5" name="Elipse 244">
            <a:extLst>
              <a:ext uri="{FF2B5EF4-FFF2-40B4-BE49-F238E27FC236}">
                <a16:creationId xmlns:a16="http://schemas.microsoft.com/office/drawing/2014/main" id="{F94FEA05-FD4A-4AC7-A7B7-FF1431C1B13E}"/>
              </a:ext>
            </a:extLst>
          </p:cNvPr>
          <p:cNvSpPr/>
          <p:nvPr/>
        </p:nvSpPr>
        <p:spPr>
          <a:xfrm>
            <a:off x="512735" y="2165048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47" name="Botón de acción: ir hacia delante o siguiente 246">
            <a:hlinkClick r:id="rId29" action="ppaction://hlinksldjump" highlightClick="1"/>
            <a:extLst>
              <a:ext uri="{FF2B5EF4-FFF2-40B4-BE49-F238E27FC236}">
                <a16:creationId xmlns:a16="http://schemas.microsoft.com/office/drawing/2014/main" id="{A4BF23F2-B889-40DC-99E7-72434217B2C0}"/>
              </a:ext>
            </a:extLst>
          </p:cNvPr>
          <p:cNvSpPr/>
          <p:nvPr/>
        </p:nvSpPr>
        <p:spPr>
          <a:xfrm>
            <a:off x="1793395" y="197083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8" name="Botón de acción: ir hacia delante o siguiente 247">
            <a:hlinkClick r:id="rId30" action="ppaction://hlinksldjump" highlightClick="1"/>
            <a:extLst>
              <a:ext uri="{FF2B5EF4-FFF2-40B4-BE49-F238E27FC236}">
                <a16:creationId xmlns:a16="http://schemas.microsoft.com/office/drawing/2014/main" id="{E1C3C0F8-7948-44F0-82C1-A8B5072A3A6E}"/>
              </a:ext>
            </a:extLst>
          </p:cNvPr>
          <p:cNvSpPr/>
          <p:nvPr/>
        </p:nvSpPr>
        <p:spPr>
          <a:xfrm>
            <a:off x="1793395" y="2201280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8" name="Rectángulo 187">
            <a:extLst>
              <a:ext uri="{FF2B5EF4-FFF2-40B4-BE49-F238E27FC236}">
                <a16:creationId xmlns:a16="http://schemas.microsoft.com/office/drawing/2014/main" id="{5B5B5E7E-37A5-408D-943E-497BAABB83DF}"/>
              </a:ext>
            </a:extLst>
          </p:cNvPr>
          <p:cNvSpPr/>
          <p:nvPr/>
        </p:nvSpPr>
        <p:spPr>
          <a:xfrm>
            <a:off x="1160156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Libranzas</a:t>
            </a:r>
          </a:p>
        </p:txBody>
      </p:sp>
      <p:sp>
        <p:nvSpPr>
          <p:cNvPr id="189" name="Rectángulo 188">
            <a:extLst>
              <a:ext uri="{FF2B5EF4-FFF2-40B4-BE49-F238E27FC236}">
                <a16:creationId xmlns:a16="http://schemas.microsoft.com/office/drawing/2014/main" id="{4D2D80E2-6156-4FE7-95EE-3539842EECA7}"/>
              </a:ext>
            </a:extLst>
          </p:cNvPr>
          <p:cNvSpPr/>
          <p:nvPr/>
        </p:nvSpPr>
        <p:spPr>
          <a:xfrm>
            <a:off x="1160157" y="3366808"/>
            <a:ext cx="1260000" cy="2107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0" name="Rectángulo 189">
            <a:extLst>
              <a:ext uri="{FF2B5EF4-FFF2-40B4-BE49-F238E27FC236}">
                <a16:creationId xmlns:a16="http://schemas.microsoft.com/office/drawing/2014/main" id="{AC707A25-A4A8-4FA9-845F-42A76453CFCC}"/>
              </a:ext>
            </a:extLst>
          </p:cNvPr>
          <p:cNvSpPr/>
          <p:nvPr/>
        </p:nvSpPr>
        <p:spPr>
          <a:xfrm>
            <a:off x="1219954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Volúmenes Libranza</a:t>
            </a:r>
          </a:p>
        </p:txBody>
      </p:sp>
      <p:sp>
        <p:nvSpPr>
          <p:cNvPr id="191" name="Rectángulo 190">
            <a:extLst>
              <a:ext uri="{FF2B5EF4-FFF2-40B4-BE49-F238E27FC236}">
                <a16:creationId xmlns:a16="http://schemas.microsoft.com/office/drawing/2014/main" id="{BD8520F9-810D-43D1-B383-7E33D460BF5D}"/>
              </a:ext>
            </a:extLst>
          </p:cNvPr>
          <p:cNvSpPr/>
          <p:nvPr/>
        </p:nvSpPr>
        <p:spPr>
          <a:xfrm>
            <a:off x="1219954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Libranza</a:t>
            </a:r>
          </a:p>
        </p:txBody>
      </p:sp>
      <p:sp>
        <p:nvSpPr>
          <p:cNvPr id="192" name="Rectángulo 191">
            <a:extLst>
              <a:ext uri="{FF2B5EF4-FFF2-40B4-BE49-F238E27FC236}">
                <a16:creationId xmlns:a16="http://schemas.microsoft.com/office/drawing/2014/main" id="{BADB2944-B902-45C2-B85C-CD8CFA7762B4}"/>
              </a:ext>
            </a:extLst>
          </p:cNvPr>
          <p:cNvSpPr/>
          <p:nvPr/>
        </p:nvSpPr>
        <p:spPr>
          <a:xfrm>
            <a:off x="1219954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Plan Dig. Libranza</a:t>
            </a:r>
          </a:p>
        </p:txBody>
      </p:sp>
      <p:sp>
        <p:nvSpPr>
          <p:cNvPr id="193" name="Rectángulo 192">
            <a:extLst>
              <a:ext uri="{FF2B5EF4-FFF2-40B4-BE49-F238E27FC236}">
                <a16:creationId xmlns:a16="http://schemas.microsoft.com/office/drawing/2014/main" id="{AC8DF266-9F4F-4977-A6D4-E0AEB505C524}"/>
              </a:ext>
            </a:extLst>
          </p:cNvPr>
          <p:cNvSpPr/>
          <p:nvPr/>
        </p:nvSpPr>
        <p:spPr>
          <a:xfrm>
            <a:off x="1219954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209" name="Rectángulo 208">
            <a:extLst>
              <a:ext uri="{FF2B5EF4-FFF2-40B4-BE49-F238E27FC236}">
                <a16:creationId xmlns:a16="http://schemas.microsoft.com/office/drawing/2014/main" id="{B0B15885-EA89-485D-B043-87CDBDD1CF1E}"/>
              </a:ext>
            </a:extLst>
          </p:cNvPr>
          <p:cNvSpPr/>
          <p:nvPr/>
        </p:nvSpPr>
        <p:spPr>
          <a:xfrm>
            <a:off x="2210651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210" name="Rectángulo 209">
            <a:extLst>
              <a:ext uri="{FF2B5EF4-FFF2-40B4-BE49-F238E27FC236}">
                <a16:creationId xmlns:a16="http://schemas.microsoft.com/office/drawing/2014/main" id="{3F081121-B950-46DE-9309-2B9F5CC1850C}"/>
              </a:ext>
            </a:extLst>
          </p:cNvPr>
          <p:cNvSpPr/>
          <p:nvPr/>
        </p:nvSpPr>
        <p:spPr>
          <a:xfrm>
            <a:off x="2210651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211" name="Rectángulo 210">
            <a:extLst>
              <a:ext uri="{FF2B5EF4-FFF2-40B4-BE49-F238E27FC236}">
                <a16:creationId xmlns:a16="http://schemas.microsoft.com/office/drawing/2014/main" id="{B58ADFC8-4D9C-4BB6-9C83-8B9A7A992E40}"/>
              </a:ext>
            </a:extLst>
          </p:cNvPr>
          <p:cNvSpPr/>
          <p:nvPr/>
        </p:nvSpPr>
        <p:spPr>
          <a:xfrm>
            <a:off x="2210651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215" name="Rectángulo 214">
            <a:extLst>
              <a:ext uri="{FF2B5EF4-FFF2-40B4-BE49-F238E27FC236}">
                <a16:creationId xmlns:a16="http://schemas.microsoft.com/office/drawing/2014/main" id="{6D41DC4B-E6F8-411D-B695-7C8D3FD8C5CF}"/>
              </a:ext>
            </a:extLst>
          </p:cNvPr>
          <p:cNvSpPr/>
          <p:nvPr/>
        </p:nvSpPr>
        <p:spPr>
          <a:xfrm>
            <a:off x="2210651" y="501340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234" name="Botón de acción: Hacia delante o Siguiente 32">
            <a:hlinkClick r:id="rId31" action="ppaction://hlinksldjump" highlightClick="1"/>
            <a:extLst>
              <a:ext uri="{FF2B5EF4-FFF2-40B4-BE49-F238E27FC236}">
                <a16:creationId xmlns:a16="http://schemas.microsoft.com/office/drawing/2014/main" id="{EA787D8B-A9E6-4C0D-9E20-B696BEC7D794}"/>
              </a:ext>
            </a:extLst>
          </p:cNvPr>
          <p:cNvSpPr/>
          <p:nvPr/>
        </p:nvSpPr>
        <p:spPr>
          <a:xfrm>
            <a:off x="2293430" y="32262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9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6020A379-B01A-417A-9129-B741AAA61B89}"/>
              </a:ext>
            </a:extLst>
          </p:cNvPr>
          <p:cNvSpPr/>
          <p:nvPr/>
        </p:nvSpPr>
        <p:spPr>
          <a:xfrm>
            <a:off x="2255825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6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B28C432D-B8DB-492F-B554-8FCF2021DC55}"/>
              </a:ext>
            </a:extLst>
          </p:cNvPr>
          <p:cNvSpPr/>
          <p:nvPr/>
        </p:nvSpPr>
        <p:spPr>
          <a:xfrm>
            <a:off x="2255825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9" name="Botón de acción: Hacia delante o Siguiente 32">
            <a:hlinkClick r:id="rId34" action="ppaction://hlinksldjump" highlightClick="1"/>
            <a:extLst>
              <a:ext uri="{FF2B5EF4-FFF2-40B4-BE49-F238E27FC236}">
                <a16:creationId xmlns:a16="http://schemas.microsoft.com/office/drawing/2014/main" id="{267EAC3F-F16E-4A99-86B7-FD7E5388BC68}"/>
              </a:ext>
            </a:extLst>
          </p:cNvPr>
          <p:cNvSpPr/>
          <p:nvPr/>
        </p:nvSpPr>
        <p:spPr>
          <a:xfrm>
            <a:off x="2255825" y="479466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05AD0B8-4AE7-4B81-820F-608E135C7312}"/>
              </a:ext>
            </a:extLst>
          </p:cNvPr>
          <p:cNvSpPr/>
          <p:nvPr/>
        </p:nvSpPr>
        <p:spPr>
          <a:xfrm>
            <a:off x="2293430" y="29680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2" name="Botón de acción: Hacia delante o Siguiente 32">
            <a:hlinkClick r:id="rId35" action="ppaction://hlinksldjump" highlightClick="1"/>
            <a:extLst>
              <a:ext uri="{FF2B5EF4-FFF2-40B4-BE49-F238E27FC236}">
                <a16:creationId xmlns:a16="http://schemas.microsoft.com/office/drawing/2014/main" id="{53441EE5-4615-484B-868E-30C1AA87B032}"/>
              </a:ext>
            </a:extLst>
          </p:cNvPr>
          <p:cNvSpPr/>
          <p:nvPr/>
        </p:nvSpPr>
        <p:spPr>
          <a:xfrm>
            <a:off x="2293430" y="295233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3" name="Elipse 252">
            <a:extLst>
              <a:ext uri="{FF2B5EF4-FFF2-40B4-BE49-F238E27FC236}">
                <a16:creationId xmlns:a16="http://schemas.microsoft.com/office/drawing/2014/main" id="{46161C60-1676-4009-BC8A-9A97DA996C04}"/>
              </a:ext>
            </a:extLst>
          </p:cNvPr>
          <p:cNvSpPr/>
          <p:nvPr/>
        </p:nvSpPr>
        <p:spPr>
          <a:xfrm>
            <a:off x="1066427" y="287008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cxnSp>
        <p:nvCxnSpPr>
          <p:cNvPr id="80" name="Conector: angular 79">
            <a:extLst>
              <a:ext uri="{FF2B5EF4-FFF2-40B4-BE49-F238E27FC236}">
                <a16:creationId xmlns:a16="http://schemas.microsoft.com/office/drawing/2014/main" id="{7A15FCFA-81AC-4C7B-9E9E-5DFBFCC904E2}"/>
              </a:ext>
            </a:extLst>
          </p:cNvPr>
          <p:cNvCxnSpPr>
            <a:stCxn id="188" idx="3"/>
            <a:endCxn id="9" idx="0"/>
          </p:cNvCxnSpPr>
          <p:nvPr/>
        </p:nvCxnSpPr>
        <p:spPr>
          <a:xfrm>
            <a:off x="2420156" y="3149191"/>
            <a:ext cx="790550" cy="348975"/>
          </a:xfrm>
          <a:prstGeom prst="bentConnector2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CuadroTexto 80">
            <a:extLst>
              <a:ext uri="{FF2B5EF4-FFF2-40B4-BE49-F238E27FC236}">
                <a16:creationId xmlns:a16="http://schemas.microsoft.com/office/drawing/2014/main" id="{0DC135CA-4C7C-486D-A66E-605E145D57DE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3" name="Rectángulo 82">
            <a:extLst>
              <a:ext uri="{FF2B5EF4-FFF2-40B4-BE49-F238E27FC236}">
                <a16:creationId xmlns:a16="http://schemas.microsoft.com/office/drawing/2014/main" id="{DF990827-8D5B-4F08-8C8E-5D40B33C9F65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6" name="Elipse 255">
            <a:extLst>
              <a:ext uri="{FF2B5EF4-FFF2-40B4-BE49-F238E27FC236}">
                <a16:creationId xmlns:a16="http://schemas.microsoft.com/office/drawing/2014/main" id="{A7259782-8E26-40E2-9DFC-DB1964721547}"/>
              </a:ext>
            </a:extLst>
          </p:cNvPr>
          <p:cNvSpPr/>
          <p:nvPr/>
        </p:nvSpPr>
        <p:spPr>
          <a:xfrm>
            <a:off x="1066427" y="3219709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57" name="Botón de acción: Hacia delante o Siguiente 32">
            <a:hlinkClick r:id="rId36" action="ppaction://hlinksldjump" highlightClick="1"/>
            <a:extLst>
              <a:ext uri="{FF2B5EF4-FFF2-40B4-BE49-F238E27FC236}">
                <a16:creationId xmlns:a16="http://schemas.microsoft.com/office/drawing/2014/main" id="{05487B33-C85E-4135-BCC4-945E5A63029C}"/>
              </a:ext>
            </a:extLst>
          </p:cNvPr>
          <p:cNvSpPr/>
          <p:nvPr/>
        </p:nvSpPr>
        <p:spPr>
          <a:xfrm>
            <a:off x="3705399" y="349621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8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728B9636-1DBE-417F-8A51-EA0BC20878DD}"/>
              </a:ext>
            </a:extLst>
          </p:cNvPr>
          <p:cNvSpPr/>
          <p:nvPr/>
        </p:nvSpPr>
        <p:spPr>
          <a:xfrm>
            <a:off x="5135255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9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85863FF3-3AA0-45D4-AACC-D47F008EF2A0}"/>
              </a:ext>
            </a:extLst>
          </p:cNvPr>
          <p:cNvSpPr/>
          <p:nvPr/>
        </p:nvSpPr>
        <p:spPr>
          <a:xfrm>
            <a:off x="5135255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0" name="Botón de acción: Hacia delante o Siguiente 32">
            <a:hlinkClick r:id="rId34" action="ppaction://hlinksldjump" highlightClick="1"/>
            <a:extLst>
              <a:ext uri="{FF2B5EF4-FFF2-40B4-BE49-F238E27FC236}">
                <a16:creationId xmlns:a16="http://schemas.microsoft.com/office/drawing/2014/main" id="{A1969035-45AA-448C-9E5D-4211560ECACC}"/>
              </a:ext>
            </a:extLst>
          </p:cNvPr>
          <p:cNvSpPr/>
          <p:nvPr/>
        </p:nvSpPr>
        <p:spPr>
          <a:xfrm>
            <a:off x="5135255" y="479466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2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26563979-9C35-4B7C-B0F7-6FE4DB752CD6}"/>
              </a:ext>
            </a:extLst>
          </p:cNvPr>
          <p:cNvSpPr/>
          <p:nvPr/>
        </p:nvSpPr>
        <p:spPr>
          <a:xfrm>
            <a:off x="6575783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3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D4D54FFD-7FE1-40E9-A063-C5BFE17F1C2C}"/>
              </a:ext>
            </a:extLst>
          </p:cNvPr>
          <p:cNvSpPr/>
          <p:nvPr/>
        </p:nvSpPr>
        <p:spPr>
          <a:xfrm>
            <a:off x="6575783" y="427961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4" name="Botón de acción: Hacia delante o Siguiente 32">
            <a:hlinkClick r:id="rId34" action="ppaction://hlinksldjump" highlightClick="1"/>
            <a:extLst>
              <a:ext uri="{FF2B5EF4-FFF2-40B4-BE49-F238E27FC236}">
                <a16:creationId xmlns:a16="http://schemas.microsoft.com/office/drawing/2014/main" id="{FA8E0228-9027-4641-B014-251DB813B460}"/>
              </a:ext>
            </a:extLst>
          </p:cNvPr>
          <p:cNvSpPr/>
          <p:nvPr/>
        </p:nvSpPr>
        <p:spPr>
          <a:xfrm>
            <a:off x="6575783" y="4794664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0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4E05A3E5-7A31-44CC-8636-B2CB6BD1A0D7}"/>
              </a:ext>
            </a:extLst>
          </p:cNvPr>
          <p:cNvSpPr/>
          <p:nvPr/>
        </p:nvSpPr>
        <p:spPr>
          <a:xfrm>
            <a:off x="2275636" y="533461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1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963B788A-CB5D-435E-B9D7-A7314A966348}"/>
              </a:ext>
            </a:extLst>
          </p:cNvPr>
          <p:cNvSpPr/>
          <p:nvPr/>
        </p:nvSpPr>
        <p:spPr>
          <a:xfrm>
            <a:off x="5132423" y="533461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2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E1BD58F4-A446-4922-80F1-57F725451E64}"/>
              </a:ext>
            </a:extLst>
          </p:cNvPr>
          <p:cNvSpPr/>
          <p:nvPr/>
        </p:nvSpPr>
        <p:spPr>
          <a:xfrm>
            <a:off x="6584799" y="533461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3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C8D77660-6905-4871-8489-E533F290AE11}"/>
              </a:ext>
            </a:extLst>
          </p:cNvPr>
          <p:cNvSpPr/>
          <p:nvPr/>
        </p:nvSpPr>
        <p:spPr>
          <a:xfrm>
            <a:off x="8019016" y="533461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4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AB7D0705-9692-4A8F-A00C-B342E042524D}"/>
              </a:ext>
            </a:extLst>
          </p:cNvPr>
          <p:cNvSpPr/>
          <p:nvPr/>
        </p:nvSpPr>
        <p:spPr>
          <a:xfrm>
            <a:off x="9463263" y="585335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5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828C49FE-3D54-4BFF-83CC-E635ACA8B84D}"/>
              </a:ext>
            </a:extLst>
          </p:cNvPr>
          <p:cNvSpPr/>
          <p:nvPr/>
        </p:nvSpPr>
        <p:spPr>
          <a:xfrm>
            <a:off x="10901684" y="486492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6" name="Rectángulo 175">
            <a:extLst>
              <a:ext uri="{FF2B5EF4-FFF2-40B4-BE49-F238E27FC236}">
                <a16:creationId xmlns:a16="http://schemas.microsoft.com/office/drawing/2014/main" id="{74A78426-F927-4317-B636-B20DE113753E}"/>
              </a:ext>
            </a:extLst>
          </p:cNvPr>
          <p:cNvSpPr/>
          <p:nvPr/>
        </p:nvSpPr>
        <p:spPr>
          <a:xfrm>
            <a:off x="9387672" y="5524257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0" name="Botón de acción: Hacia delante o Siguiente 32">
            <a:hlinkClick r:id="rId37" action="ppaction://hlinksldjump" highlightClick="1"/>
            <a:extLst>
              <a:ext uri="{FF2B5EF4-FFF2-40B4-BE49-F238E27FC236}">
                <a16:creationId xmlns:a16="http://schemas.microsoft.com/office/drawing/2014/main" id="{60DE80C1-A735-438A-87DE-55D47E269054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1162A28C-5B6B-4E95-86A6-4FD192F3FCCD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3735B40-F9B8-4B0B-9023-F7A4BDB08FE6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658116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>
            <a:extLst>
              <a:ext uri="{FF2B5EF4-FFF2-40B4-BE49-F238E27FC236}">
                <a16:creationId xmlns:a16="http://schemas.microsoft.com/office/drawing/2014/main" id="{75E04FE0-F5D7-4FB5-ADCF-5BF9858B5714}"/>
              </a:ext>
            </a:extLst>
          </p:cNvPr>
          <p:cNvSpPr/>
          <p:nvPr/>
        </p:nvSpPr>
        <p:spPr>
          <a:xfrm>
            <a:off x="4746724" y="3459737"/>
            <a:ext cx="1260000" cy="152079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143DF17A-A500-4669-ADFE-81EF0FAB8B39}"/>
              </a:ext>
            </a:extLst>
          </p:cNvPr>
          <p:cNvSpPr/>
          <p:nvPr/>
        </p:nvSpPr>
        <p:spPr>
          <a:xfrm>
            <a:off x="6185271" y="3366808"/>
            <a:ext cx="1260000" cy="161372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7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198" idx="2"/>
            <a:endCxn id="9" idx="0"/>
          </p:cNvCxnSpPr>
          <p:nvPr/>
        </p:nvCxnSpPr>
        <p:spPr>
          <a:xfrm rot="5400000">
            <a:off x="3433900" y="289090"/>
            <a:ext cx="289283" cy="503491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26903B49-5ADE-42DF-909B-5DBD789E1AAD}"/>
              </a:ext>
            </a:extLst>
          </p:cNvPr>
          <p:cNvCxnSpPr>
            <a:cxnSpLocks/>
            <a:stCxn id="198" idx="2"/>
            <a:endCxn id="93" idx="0"/>
          </p:cNvCxnSpPr>
          <p:nvPr/>
        </p:nvCxnSpPr>
        <p:spPr>
          <a:xfrm rot="5400000">
            <a:off x="4153174" y="1008364"/>
            <a:ext cx="289283" cy="359637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AB1513A0-F2A8-4D82-8254-3135C3668B6D}"/>
              </a:ext>
            </a:extLst>
          </p:cNvPr>
          <p:cNvCxnSpPr>
            <a:cxnSpLocks/>
            <a:stCxn id="93" idx="3"/>
            <a:endCxn id="11" idx="0"/>
          </p:cNvCxnSpPr>
          <p:nvPr/>
        </p:nvCxnSpPr>
        <p:spPr>
          <a:xfrm>
            <a:off x="3129630" y="3149191"/>
            <a:ext cx="808548" cy="312975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: angular 42">
            <a:extLst>
              <a:ext uri="{FF2B5EF4-FFF2-40B4-BE49-F238E27FC236}">
                <a16:creationId xmlns:a16="http://schemas.microsoft.com/office/drawing/2014/main" id="{412C19E8-DD9E-4306-A8A5-4D8967A883AA}"/>
              </a:ext>
            </a:extLst>
          </p:cNvPr>
          <p:cNvCxnSpPr>
            <a:cxnSpLocks/>
            <a:stCxn id="93" idx="3"/>
            <a:endCxn id="130" idx="0"/>
          </p:cNvCxnSpPr>
          <p:nvPr/>
        </p:nvCxnSpPr>
        <p:spPr>
          <a:xfrm>
            <a:off x="3129630" y="3149191"/>
            <a:ext cx="2247096" cy="310546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Conector: angular 48">
            <a:extLst>
              <a:ext uri="{FF2B5EF4-FFF2-40B4-BE49-F238E27FC236}">
                <a16:creationId xmlns:a16="http://schemas.microsoft.com/office/drawing/2014/main" id="{E818C6F9-5B14-4F3B-8D7D-EF7FC3E8692E}"/>
              </a:ext>
            </a:extLst>
          </p:cNvPr>
          <p:cNvCxnSpPr>
            <a:cxnSpLocks/>
            <a:stCxn id="198" idx="2"/>
            <a:endCxn id="47" idx="0"/>
          </p:cNvCxnSpPr>
          <p:nvPr/>
        </p:nvCxnSpPr>
        <p:spPr>
          <a:xfrm rot="16200000" flipH="1">
            <a:off x="6308503" y="2449405"/>
            <a:ext cx="294268" cy="71927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" name="Conector: angular 81">
            <a:extLst>
              <a:ext uri="{FF2B5EF4-FFF2-40B4-BE49-F238E27FC236}">
                <a16:creationId xmlns:a16="http://schemas.microsoft.com/office/drawing/2014/main" id="{C03C640D-B9EC-49FB-87E5-5DFE2392E31C}"/>
              </a:ext>
            </a:extLst>
          </p:cNvPr>
          <p:cNvCxnSpPr>
            <a:cxnSpLocks/>
            <a:stCxn id="198" idx="2"/>
            <a:endCxn id="20" idx="0"/>
          </p:cNvCxnSpPr>
          <p:nvPr/>
        </p:nvCxnSpPr>
        <p:spPr>
          <a:xfrm rot="16200000" flipH="1">
            <a:off x="7749544" y="1008364"/>
            <a:ext cx="289283" cy="359637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Conector: angular 85">
            <a:extLst>
              <a:ext uri="{FF2B5EF4-FFF2-40B4-BE49-F238E27FC236}">
                <a16:creationId xmlns:a16="http://schemas.microsoft.com/office/drawing/2014/main" id="{544AC21D-465E-4D0F-8B23-8D2335B5B69E}"/>
              </a:ext>
            </a:extLst>
          </p:cNvPr>
          <p:cNvCxnSpPr>
            <a:cxnSpLocks/>
            <a:stCxn id="198" idx="2"/>
            <a:endCxn id="10" idx="0"/>
          </p:cNvCxnSpPr>
          <p:nvPr/>
        </p:nvCxnSpPr>
        <p:spPr>
          <a:xfrm rot="16200000" flipH="1">
            <a:off x="8468818" y="289090"/>
            <a:ext cx="289283" cy="5034918"/>
          </a:xfrm>
          <a:prstGeom prst="bentConnector3">
            <a:avLst>
              <a:gd name="adj1" fmla="val 50000"/>
            </a:avLst>
          </a:prstGeom>
          <a:ln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431082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Nacional de Riesgos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48CE5AD0-9377-4599-B2A7-5282BD249622}"/>
              </a:ext>
            </a:extLst>
          </p:cNvPr>
          <p:cNvSpPr/>
          <p:nvPr/>
        </p:nvSpPr>
        <p:spPr>
          <a:xfrm>
            <a:off x="10500918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Analítica Admin Cartera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DEBFAF9C-DB31-4544-A1A4-48FE680CFB04}"/>
              </a:ext>
            </a:extLst>
          </p:cNvPr>
          <p:cNvSpPr/>
          <p:nvPr/>
        </p:nvSpPr>
        <p:spPr>
          <a:xfrm>
            <a:off x="9062370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Fabrica de Crédito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F22EB7F4-878C-495E-BD69-A8F5427EDA25}"/>
              </a:ext>
            </a:extLst>
          </p:cNvPr>
          <p:cNvSpPr/>
          <p:nvPr/>
        </p:nvSpPr>
        <p:spPr>
          <a:xfrm>
            <a:off x="1869630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Nacional de Cobranzas</a:t>
            </a:r>
          </a:p>
        </p:txBody>
      </p:sp>
      <p:sp>
        <p:nvSpPr>
          <p:cNvPr id="130" name="Rectángulo 129">
            <a:extLst>
              <a:ext uri="{FF2B5EF4-FFF2-40B4-BE49-F238E27FC236}">
                <a16:creationId xmlns:a16="http://schemas.microsoft.com/office/drawing/2014/main" id="{05092F52-287F-448D-81A3-B0F670BDCDF6}"/>
              </a:ext>
            </a:extLst>
          </p:cNvPr>
          <p:cNvSpPr/>
          <p:nvPr/>
        </p:nvSpPr>
        <p:spPr>
          <a:xfrm>
            <a:off x="4746726" y="3459737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Inteligencia Cobranzas</a:t>
            </a:r>
          </a:p>
        </p:txBody>
      </p:sp>
      <p:sp>
        <p:nvSpPr>
          <p:cNvPr id="139" name="Rectángulo 138">
            <a:extLst>
              <a:ext uri="{FF2B5EF4-FFF2-40B4-BE49-F238E27FC236}">
                <a16:creationId xmlns:a16="http://schemas.microsoft.com/office/drawing/2014/main" id="{F90C667B-59E8-44C5-9994-0DFB834075F7}"/>
              </a:ext>
            </a:extLst>
          </p:cNvPr>
          <p:cNvSpPr/>
          <p:nvPr/>
        </p:nvSpPr>
        <p:spPr>
          <a:xfrm>
            <a:off x="7623822" y="295277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D. Recup. </a:t>
            </a:r>
            <a:b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A. Consumo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2F0F96E0-8FD6-4F7E-BE6E-B35C069230DE}"/>
              </a:ext>
            </a:extLst>
          </p:cNvPr>
          <p:cNvSpPr/>
          <p:nvPr/>
        </p:nvSpPr>
        <p:spPr>
          <a:xfrm>
            <a:off x="6185274" y="295617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Seguridad Bancaria</a:t>
            </a:r>
          </a:p>
        </p:txBody>
      </p:sp>
      <p:cxnSp>
        <p:nvCxnSpPr>
          <p:cNvPr id="94" name="Conector: angular 93">
            <a:extLst>
              <a:ext uri="{FF2B5EF4-FFF2-40B4-BE49-F238E27FC236}">
                <a16:creationId xmlns:a16="http://schemas.microsoft.com/office/drawing/2014/main" id="{742E92D2-62AF-4B33-8210-CB76A2D1ED92}"/>
              </a:ext>
            </a:extLst>
          </p:cNvPr>
          <p:cNvCxnSpPr>
            <a:cxnSpLocks/>
            <a:stCxn id="198" idx="2"/>
            <a:endCxn id="139" idx="0"/>
          </p:cNvCxnSpPr>
          <p:nvPr/>
        </p:nvCxnSpPr>
        <p:spPr>
          <a:xfrm rot="16200000" flipH="1">
            <a:off x="7029480" y="1728428"/>
            <a:ext cx="290863" cy="215782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3431624" y="2083818"/>
            <a:ext cx="5328752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3517593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Contención Cartera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83718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Recuperación Cartera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615677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Gasto Provisiones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7476366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Net Promoter Score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de Riesgo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  <a:endCxn id="198" idx="0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4551788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9B1FAC4-2A01-4D39-AC44-3C0775CB46F9}"/>
              </a:ext>
            </a:extLst>
          </p:cNvPr>
          <p:cNvSpPr/>
          <p:nvPr/>
        </p:nvSpPr>
        <p:spPr>
          <a:xfrm>
            <a:off x="5873984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719357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5A8A5CB-805A-48F1-8291-4867B50026FB}"/>
              </a:ext>
            </a:extLst>
          </p:cNvPr>
          <p:cNvSpPr/>
          <p:nvPr/>
        </p:nvSpPr>
        <p:spPr>
          <a:xfrm>
            <a:off x="8513166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AC51912D-BDF5-41B6-ACBA-95B015C01584}"/>
              </a:ext>
            </a:extLst>
          </p:cNvPr>
          <p:cNvSpPr/>
          <p:nvPr/>
        </p:nvSpPr>
        <p:spPr>
          <a:xfrm>
            <a:off x="1869630" y="3366808"/>
            <a:ext cx="1260000" cy="21397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5EE46123-A0A5-4321-B814-C5840EBC22E8}"/>
              </a:ext>
            </a:extLst>
          </p:cNvPr>
          <p:cNvSpPr/>
          <p:nvPr/>
        </p:nvSpPr>
        <p:spPr>
          <a:xfrm>
            <a:off x="3308177" y="3462166"/>
            <a:ext cx="1260000" cy="253264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D286FA38-2668-4710-A0A4-C77BF9577666}"/>
              </a:ext>
            </a:extLst>
          </p:cNvPr>
          <p:cNvSpPr/>
          <p:nvPr/>
        </p:nvSpPr>
        <p:spPr>
          <a:xfrm>
            <a:off x="7623818" y="3366808"/>
            <a:ext cx="1260000" cy="163643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DCBC88BD-320C-4AB3-AAD4-EC71C3F77128}"/>
              </a:ext>
            </a:extLst>
          </p:cNvPr>
          <p:cNvSpPr/>
          <p:nvPr/>
        </p:nvSpPr>
        <p:spPr>
          <a:xfrm>
            <a:off x="9062365" y="3366808"/>
            <a:ext cx="1260000" cy="16437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F9C021AD-4D67-45DA-BF80-181433546EB7}"/>
              </a:ext>
            </a:extLst>
          </p:cNvPr>
          <p:cNvSpPr/>
          <p:nvPr/>
        </p:nvSpPr>
        <p:spPr>
          <a:xfrm>
            <a:off x="10500912" y="3366808"/>
            <a:ext cx="1260000" cy="11327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9F06F943-B43C-4D42-A658-BCEAA67175F5}"/>
              </a:ext>
            </a:extLst>
          </p:cNvPr>
          <p:cNvSpPr/>
          <p:nvPr/>
        </p:nvSpPr>
        <p:spPr>
          <a:xfrm>
            <a:off x="431083" y="3366808"/>
            <a:ext cx="1260000" cy="213692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1FF01D74-45FB-4034-BD5A-AF9ADD23F09F}"/>
              </a:ext>
            </a:extLst>
          </p:cNvPr>
          <p:cNvSpPr/>
          <p:nvPr/>
        </p:nvSpPr>
        <p:spPr>
          <a:xfrm>
            <a:off x="490880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Gasto Provisiones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EFABB1BE-DBA6-4AF0-B66E-0CF1DCCA4075}"/>
              </a:ext>
            </a:extLst>
          </p:cNvPr>
          <p:cNvSpPr/>
          <p:nvPr/>
        </p:nvSpPr>
        <p:spPr>
          <a:xfrm>
            <a:off x="490880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Rango Riesgo Crediticio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17CFF391-1676-4EA4-8980-D698EC0E38E1}"/>
              </a:ext>
            </a:extLst>
          </p:cNvPr>
          <p:cNvSpPr/>
          <p:nvPr/>
        </p:nvSpPr>
        <p:spPr>
          <a:xfrm>
            <a:off x="490880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Riesgo Liqui. y Mercado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76B23C7-446E-4E3E-8469-6C41F2840937}"/>
              </a:ext>
            </a:extLst>
          </p:cNvPr>
          <p:cNvSpPr/>
          <p:nvPr/>
        </p:nvSpPr>
        <p:spPr>
          <a:xfrm>
            <a:off x="1909695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Recuperación de Cartera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B194E690-124E-4A18-9243-795C12DB7A7E}"/>
              </a:ext>
            </a:extLst>
          </p:cNvPr>
          <p:cNvSpPr/>
          <p:nvPr/>
        </p:nvSpPr>
        <p:spPr>
          <a:xfrm>
            <a:off x="1909695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Índice Cartera Vencida</a:t>
            </a: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8C719064-D8E2-49B2-99CB-19CDA1ED2BB3}"/>
              </a:ext>
            </a:extLst>
          </p:cNvPr>
          <p:cNvSpPr/>
          <p:nvPr/>
        </p:nvSpPr>
        <p:spPr>
          <a:xfrm>
            <a:off x="1909695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Ppto Gasto Rodamiento de Cartera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B7A55E85-7A6B-41AB-B788-B54C67EB8531}"/>
              </a:ext>
            </a:extLst>
          </p:cNvPr>
          <p:cNvSpPr/>
          <p:nvPr/>
        </p:nvSpPr>
        <p:spPr>
          <a:xfrm>
            <a:off x="1909695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Gasto Recup. de Cartera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F64DE06E-9D66-4714-B999-AB1846FBCE75}"/>
              </a:ext>
            </a:extLst>
          </p:cNvPr>
          <p:cNvSpPr/>
          <p:nvPr/>
        </p:nvSpPr>
        <p:spPr>
          <a:xfrm>
            <a:off x="4786788" y="3966701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Recuperación de Cartera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00B40BBE-B0DF-43C1-9B4A-DD4B874D1977}"/>
              </a:ext>
            </a:extLst>
          </p:cNvPr>
          <p:cNvSpPr/>
          <p:nvPr/>
        </p:nvSpPr>
        <p:spPr>
          <a:xfrm>
            <a:off x="4786788" y="4481750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Gasto Provisiones</a:t>
            </a: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BAD52CEE-AB5A-431F-AE3D-3C7887B63E4C}"/>
              </a:ext>
            </a:extLst>
          </p:cNvPr>
          <p:cNvSpPr/>
          <p:nvPr/>
        </p:nvSpPr>
        <p:spPr>
          <a:xfrm>
            <a:off x="6220647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57" name="Rectángulo 56">
            <a:extLst>
              <a:ext uri="{FF2B5EF4-FFF2-40B4-BE49-F238E27FC236}">
                <a16:creationId xmlns:a16="http://schemas.microsoft.com/office/drawing/2014/main" id="{DAEC2F10-3558-4D49-A490-B1E9C5E34399}"/>
              </a:ext>
            </a:extLst>
          </p:cNvPr>
          <p:cNvSpPr/>
          <p:nvPr/>
        </p:nvSpPr>
        <p:spPr>
          <a:xfrm>
            <a:off x="7672926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Gasto Recup. de Cartera </a:t>
            </a:r>
            <a:r>
              <a:rPr lang="es-CO" sz="1200" b="1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Dif</a:t>
            </a: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D91A574F-C220-49C6-B995-CD9383459BA9}"/>
              </a:ext>
            </a:extLst>
          </p:cNvPr>
          <p:cNvSpPr/>
          <p:nvPr/>
        </p:nvSpPr>
        <p:spPr>
          <a:xfrm>
            <a:off x="7672926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Ppto Gasto Rodamiento de Cartera Difícil</a:t>
            </a:r>
          </a:p>
        </p:txBody>
      </p:sp>
      <p:sp>
        <p:nvSpPr>
          <p:cNvPr id="69" name="Rectángulo 68">
            <a:extLst>
              <a:ext uri="{FF2B5EF4-FFF2-40B4-BE49-F238E27FC236}">
                <a16:creationId xmlns:a16="http://schemas.microsoft.com/office/drawing/2014/main" id="{42B74F0C-0223-4568-B41A-7F3A66F320FA}"/>
              </a:ext>
            </a:extLst>
          </p:cNvPr>
          <p:cNvSpPr/>
          <p:nvPr/>
        </p:nvSpPr>
        <p:spPr>
          <a:xfrm>
            <a:off x="9102428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QR’s de la Fabrica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B7016837-0E8F-41C4-91A0-FB87F4B433AA}"/>
              </a:ext>
            </a:extLst>
          </p:cNvPr>
          <p:cNvSpPr/>
          <p:nvPr/>
        </p:nvSpPr>
        <p:spPr>
          <a:xfrm>
            <a:off x="9102428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Productividad Equipo de Fab.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7BF3DEC0-AF2B-4299-BD5D-58530B474BE6}"/>
              </a:ext>
            </a:extLst>
          </p:cNvPr>
          <p:cNvSpPr/>
          <p:nvPr/>
        </p:nvSpPr>
        <p:spPr>
          <a:xfrm>
            <a:off x="9102428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72" name="Rectángulo 71">
            <a:extLst>
              <a:ext uri="{FF2B5EF4-FFF2-40B4-BE49-F238E27FC236}">
                <a16:creationId xmlns:a16="http://schemas.microsoft.com/office/drawing/2014/main" id="{E9FBAB96-C5A2-4C86-8BA0-76B5B56F1B5D}"/>
              </a:ext>
            </a:extLst>
          </p:cNvPr>
          <p:cNvSpPr/>
          <p:nvPr/>
        </p:nvSpPr>
        <p:spPr>
          <a:xfrm>
            <a:off x="10540976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Gastos Provisiones</a:t>
            </a:r>
          </a:p>
        </p:txBody>
      </p:sp>
      <p:sp>
        <p:nvSpPr>
          <p:cNvPr id="74" name="Rectángulo 73">
            <a:extLst>
              <a:ext uri="{FF2B5EF4-FFF2-40B4-BE49-F238E27FC236}">
                <a16:creationId xmlns:a16="http://schemas.microsoft.com/office/drawing/2014/main" id="{CD2C1E42-F6CC-4367-905E-EE375EEF8F24}"/>
              </a:ext>
            </a:extLst>
          </p:cNvPr>
          <p:cNvSpPr/>
          <p:nvPr/>
        </p:nvSpPr>
        <p:spPr>
          <a:xfrm>
            <a:off x="10540976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Riesgo Liquidez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B8765705-A422-49DC-B167-6AE2B455D5ED}"/>
              </a:ext>
            </a:extLst>
          </p:cNvPr>
          <p:cNvSpPr/>
          <p:nvPr/>
        </p:nvSpPr>
        <p:spPr>
          <a:xfrm>
            <a:off x="7672926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Recup. de Cartera Difícil</a:t>
            </a: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1BA2A7DF-5411-4939-936F-09DCE21B1329}"/>
              </a:ext>
            </a:extLst>
          </p:cNvPr>
          <p:cNvSpPr/>
          <p:nvPr/>
        </p:nvSpPr>
        <p:spPr>
          <a:xfrm>
            <a:off x="6220647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Materialización Riesgo Op.</a:t>
            </a:r>
          </a:p>
        </p:txBody>
      </p:sp>
      <p:sp>
        <p:nvSpPr>
          <p:cNvPr id="79" name="Rectángulo 78">
            <a:extLst>
              <a:ext uri="{FF2B5EF4-FFF2-40B4-BE49-F238E27FC236}">
                <a16:creationId xmlns:a16="http://schemas.microsoft.com/office/drawing/2014/main" id="{8AAB5766-6371-409B-87C3-387F4B7A3557}"/>
              </a:ext>
            </a:extLst>
          </p:cNvPr>
          <p:cNvSpPr/>
          <p:nvPr/>
        </p:nvSpPr>
        <p:spPr>
          <a:xfrm>
            <a:off x="6220647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Incidentes de Seguridad</a:t>
            </a: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DEC7642E-5531-4658-BFF9-20923A151BD0}"/>
              </a:ext>
            </a:extLst>
          </p:cNvPr>
          <p:cNvSpPr/>
          <p:nvPr/>
        </p:nvSpPr>
        <p:spPr>
          <a:xfrm>
            <a:off x="7212351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9CEAE9C7-6A1F-4BEA-90D6-5D5420CE37E4}"/>
              </a:ext>
            </a:extLst>
          </p:cNvPr>
          <p:cNvSpPr/>
          <p:nvPr/>
        </p:nvSpPr>
        <p:spPr>
          <a:xfrm>
            <a:off x="7212351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6" name="Rectángulo 105">
            <a:extLst>
              <a:ext uri="{FF2B5EF4-FFF2-40B4-BE49-F238E27FC236}">
                <a16:creationId xmlns:a16="http://schemas.microsoft.com/office/drawing/2014/main" id="{47C7263D-C75C-467F-AA62-CC0A5838445B}"/>
              </a:ext>
            </a:extLst>
          </p:cNvPr>
          <p:cNvSpPr/>
          <p:nvPr/>
        </p:nvSpPr>
        <p:spPr>
          <a:xfrm>
            <a:off x="7212351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88" name="Rectángulo 87">
            <a:extLst>
              <a:ext uri="{FF2B5EF4-FFF2-40B4-BE49-F238E27FC236}">
                <a16:creationId xmlns:a16="http://schemas.microsoft.com/office/drawing/2014/main" id="{34F9F6A8-B713-46FF-9242-3FD2D1E2F913}"/>
              </a:ext>
            </a:extLst>
          </p:cNvPr>
          <p:cNvSpPr/>
          <p:nvPr/>
        </p:nvSpPr>
        <p:spPr>
          <a:xfrm>
            <a:off x="11534699" y="3978281"/>
            <a:ext cx="186147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89" name="Rectángulo 88">
            <a:extLst>
              <a:ext uri="{FF2B5EF4-FFF2-40B4-BE49-F238E27FC236}">
                <a16:creationId xmlns:a16="http://schemas.microsoft.com/office/drawing/2014/main" id="{69D0795B-0F59-4599-ABEB-3862C7E48F00}"/>
              </a:ext>
            </a:extLst>
          </p:cNvPr>
          <p:cNvSpPr/>
          <p:nvPr/>
        </p:nvSpPr>
        <p:spPr>
          <a:xfrm>
            <a:off x="11537950" y="3469634"/>
            <a:ext cx="186147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91" name="Rectángulo 90">
            <a:extLst>
              <a:ext uri="{FF2B5EF4-FFF2-40B4-BE49-F238E27FC236}">
                <a16:creationId xmlns:a16="http://schemas.microsoft.com/office/drawing/2014/main" id="{8504C0AA-0EBD-4947-802A-AA7518CB36D4}"/>
              </a:ext>
            </a:extLst>
          </p:cNvPr>
          <p:cNvSpPr/>
          <p:nvPr/>
        </p:nvSpPr>
        <p:spPr>
          <a:xfrm>
            <a:off x="10088563" y="449226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92" name="Rectángulo 91">
            <a:extLst>
              <a:ext uri="{FF2B5EF4-FFF2-40B4-BE49-F238E27FC236}">
                <a16:creationId xmlns:a16="http://schemas.microsoft.com/office/drawing/2014/main" id="{DE37F81C-C917-454A-8595-D5FDA60FDCE5}"/>
              </a:ext>
            </a:extLst>
          </p:cNvPr>
          <p:cNvSpPr/>
          <p:nvPr/>
        </p:nvSpPr>
        <p:spPr>
          <a:xfrm>
            <a:off x="10088563" y="397496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95" name="Rectángulo 94">
            <a:extLst>
              <a:ext uri="{FF2B5EF4-FFF2-40B4-BE49-F238E27FC236}">
                <a16:creationId xmlns:a16="http://schemas.microsoft.com/office/drawing/2014/main" id="{6BC9B7F2-6130-43E5-AB6A-D513727F5BA0}"/>
              </a:ext>
            </a:extLst>
          </p:cNvPr>
          <p:cNvSpPr/>
          <p:nvPr/>
        </p:nvSpPr>
        <p:spPr>
          <a:xfrm>
            <a:off x="10088563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55</a:t>
            </a:r>
          </a:p>
        </p:txBody>
      </p:sp>
      <p:sp>
        <p:nvSpPr>
          <p:cNvPr id="98" name="Rectángulo 97">
            <a:extLst>
              <a:ext uri="{FF2B5EF4-FFF2-40B4-BE49-F238E27FC236}">
                <a16:creationId xmlns:a16="http://schemas.microsoft.com/office/drawing/2014/main" id="{61037AAB-5942-4BD3-99A2-D33924807B87}"/>
              </a:ext>
            </a:extLst>
          </p:cNvPr>
          <p:cNvSpPr/>
          <p:nvPr/>
        </p:nvSpPr>
        <p:spPr>
          <a:xfrm>
            <a:off x="8665598" y="449226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99" name="Rectángulo 98">
            <a:extLst>
              <a:ext uri="{FF2B5EF4-FFF2-40B4-BE49-F238E27FC236}">
                <a16:creationId xmlns:a16="http://schemas.microsoft.com/office/drawing/2014/main" id="{75349768-B707-46E6-86CA-471B8322C620}"/>
              </a:ext>
            </a:extLst>
          </p:cNvPr>
          <p:cNvSpPr/>
          <p:nvPr/>
        </p:nvSpPr>
        <p:spPr>
          <a:xfrm>
            <a:off x="8665598" y="397496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0" name="Rectángulo 99">
            <a:extLst>
              <a:ext uri="{FF2B5EF4-FFF2-40B4-BE49-F238E27FC236}">
                <a16:creationId xmlns:a16="http://schemas.microsoft.com/office/drawing/2014/main" id="{818D4C68-F2D0-458D-9C7C-6A5B9BFEEAF5}"/>
              </a:ext>
            </a:extLst>
          </p:cNvPr>
          <p:cNvSpPr/>
          <p:nvPr/>
        </p:nvSpPr>
        <p:spPr>
          <a:xfrm>
            <a:off x="8665598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14" name="Rectángulo 113">
            <a:extLst>
              <a:ext uri="{FF2B5EF4-FFF2-40B4-BE49-F238E27FC236}">
                <a16:creationId xmlns:a16="http://schemas.microsoft.com/office/drawing/2014/main" id="{C148C57A-00A3-4A60-8091-35A32DAC32AB}"/>
              </a:ext>
            </a:extLst>
          </p:cNvPr>
          <p:cNvSpPr/>
          <p:nvPr/>
        </p:nvSpPr>
        <p:spPr>
          <a:xfrm>
            <a:off x="5775133" y="4486797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210F5EE6-3E8F-498E-B848-14F3E1134F1D}"/>
              </a:ext>
            </a:extLst>
          </p:cNvPr>
          <p:cNvSpPr/>
          <p:nvPr/>
        </p:nvSpPr>
        <p:spPr>
          <a:xfrm>
            <a:off x="5775133" y="396862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55</a:t>
            </a:r>
          </a:p>
        </p:txBody>
      </p:sp>
      <p:sp>
        <p:nvSpPr>
          <p:cNvPr id="125" name="Rectángulo 124">
            <a:extLst>
              <a:ext uri="{FF2B5EF4-FFF2-40B4-BE49-F238E27FC236}">
                <a16:creationId xmlns:a16="http://schemas.microsoft.com/office/drawing/2014/main" id="{AC566FFC-E50F-467B-BCF8-DDBE2A839224}"/>
              </a:ext>
            </a:extLst>
          </p:cNvPr>
          <p:cNvSpPr/>
          <p:nvPr/>
        </p:nvSpPr>
        <p:spPr>
          <a:xfrm>
            <a:off x="2907565" y="450178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26" name="Rectángulo 125">
            <a:extLst>
              <a:ext uri="{FF2B5EF4-FFF2-40B4-BE49-F238E27FC236}">
                <a16:creationId xmlns:a16="http://schemas.microsoft.com/office/drawing/2014/main" id="{F5CEF8A6-1802-45E7-AE98-403E517FE836}"/>
              </a:ext>
            </a:extLst>
          </p:cNvPr>
          <p:cNvSpPr/>
          <p:nvPr/>
        </p:nvSpPr>
        <p:spPr>
          <a:xfrm>
            <a:off x="2907565" y="398449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27" name="Rectángulo 126">
            <a:extLst>
              <a:ext uri="{FF2B5EF4-FFF2-40B4-BE49-F238E27FC236}">
                <a16:creationId xmlns:a16="http://schemas.microsoft.com/office/drawing/2014/main" id="{74C987F5-63B0-401E-9B89-D55582E1F3DA}"/>
              </a:ext>
            </a:extLst>
          </p:cNvPr>
          <p:cNvSpPr/>
          <p:nvPr/>
        </p:nvSpPr>
        <p:spPr>
          <a:xfrm>
            <a:off x="2907565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28" name="Rectángulo 127">
            <a:extLst>
              <a:ext uri="{FF2B5EF4-FFF2-40B4-BE49-F238E27FC236}">
                <a16:creationId xmlns:a16="http://schemas.microsoft.com/office/drawing/2014/main" id="{6E62D04F-C447-48AF-9EDA-173E8C86EEFB}"/>
              </a:ext>
            </a:extLst>
          </p:cNvPr>
          <p:cNvSpPr/>
          <p:nvPr/>
        </p:nvSpPr>
        <p:spPr>
          <a:xfrm>
            <a:off x="2907565" y="501563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32" name="Rectángulo 131">
            <a:extLst>
              <a:ext uri="{FF2B5EF4-FFF2-40B4-BE49-F238E27FC236}">
                <a16:creationId xmlns:a16="http://schemas.microsoft.com/office/drawing/2014/main" id="{1E065392-F639-42B9-97F1-C1CFDB0680C4}"/>
              </a:ext>
            </a:extLst>
          </p:cNvPr>
          <p:cNvSpPr/>
          <p:nvPr/>
        </p:nvSpPr>
        <p:spPr>
          <a:xfrm>
            <a:off x="1481577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33" name="Rectángulo 132">
            <a:extLst>
              <a:ext uri="{FF2B5EF4-FFF2-40B4-BE49-F238E27FC236}">
                <a16:creationId xmlns:a16="http://schemas.microsoft.com/office/drawing/2014/main" id="{37BA45BF-8A00-4F6E-A96A-5B5E05009685}"/>
              </a:ext>
            </a:extLst>
          </p:cNvPr>
          <p:cNvSpPr/>
          <p:nvPr/>
        </p:nvSpPr>
        <p:spPr>
          <a:xfrm>
            <a:off x="1481577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34" name="Rectángulo 133">
            <a:extLst>
              <a:ext uri="{FF2B5EF4-FFF2-40B4-BE49-F238E27FC236}">
                <a16:creationId xmlns:a16="http://schemas.microsoft.com/office/drawing/2014/main" id="{3E9CC085-67E1-45CC-A59A-9851C7DA7CBC}"/>
              </a:ext>
            </a:extLst>
          </p:cNvPr>
          <p:cNvSpPr/>
          <p:nvPr/>
        </p:nvSpPr>
        <p:spPr>
          <a:xfrm>
            <a:off x="1481577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3520215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4825054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6147250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7466841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01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9719C079-5B09-4F42-830D-D204264EA0CA}"/>
              </a:ext>
            </a:extLst>
          </p:cNvPr>
          <p:cNvSpPr/>
          <p:nvPr/>
        </p:nvSpPr>
        <p:spPr>
          <a:xfrm>
            <a:off x="6903402" y="176149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2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F34F122E-4B87-493D-8508-60D07E657E05}"/>
              </a:ext>
            </a:extLst>
          </p:cNvPr>
          <p:cNvSpPr/>
          <p:nvPr/>
        </p:nvSpPr>
        <p:spPr>
          <a:xfrm>
            <a:off x="6903402" y="147073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3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C5C4127B-5D04-42B9-9301-AEF6F1BA473C}"/>
              </a:ext>
            </a:extLst>
          </p:cNvPr>
          <p:cNvSpPr/>
          <p:nvPr/>
        </p:nvSpPr>
        <p:spPr>
          <a:xfrm>
            <a:off x="1519719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7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A58D4AFB-CE09-425A-AACE-AE5A2516EA15}"/>
              </a:ext>
            </a:extLst>
          </p:cNvPr>
          <p:cNvSpPr/>
          <p:nvPr/>
        </p:nvSpPr>
        <p:spPr>
          <a:xfrm>
            <a:off x="1519719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8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754B20EE-D4FE-4E9F-A57F-AF4E7C084E12}"/>
              </a:ext>
            </a:extLst>
          </p:cNvPr>
          <p:cNvSpPr/>
          <p:nvPr/>
        </p:nvSpPr>
        <p:spPr>
          <a:xfrm>
            <a:off x="3002904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9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CC107ADF-C411-4551-8268-E86888A5B45A}"/>
              </a:ext>
            </a:extLst>
          </p:cNvPr>
          <p:cNvSpPr/>
          <p:nvPr/>
        </p:nvSpPr>
        <p:spPr>
          <a:xfrm>
            <a:off x="3002904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2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D2404875-CFC3-4278-BA58-DF60BC260DC0}"/>
              </a:ext>
            </a:extLst>
          </p:cNvPr>
          <p:cNvSpPr/>
          <p:nvPr/>
        </p:nvSpPr>
        <p:spPr>
          <a:xfrm>
            <a:off x="5880000" y="372212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3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FCBF1C20-4840-47A6-BABE-DF284AB37AD4}"/>
              </a:ext>
            </a:extLst>
          </p:cNvPr>
          <p:cNvSpPr/>
          <p:nvPr/>
        </p:nvSpPr>
        <p:spPr>
          <a:xfrm>
            <a:off x="5880000" y="3473975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6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194D1BF7-F6F0-4CF4-BED0-60D4124B4A0C}"/>
              </a:ext>
            </a:extLst>
          </p:cNvPr>
          <p:cNvSpPr/>
          <p:nvPr/>
        </p:nvSpPr>
        <p:spPr>
          <a:xfrm>
            <a:off x="7294771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7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B72269F3-1033-4FCD-B6CB-456F4D6F65D7}"/>
              </a:ext>
            </a:extLst>
          </p:cNvPr>
          <p:cNvSpPr/>
          <p:nvPr/>
        </p:nvSpPr>
        <p:spPr>
          <a:xfrm>
            <a:off x="7294771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8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8E478363-3A6F-4B64-8619-A689722E0E33}"/>
              </a:ext>
            </a:extLst>
          </p:cNvPr>
          <p:cNvSpPr/>
          <p:nvPr/>
        </p:nvSpPr>
        <p:spPr>
          <a:xfrm>
            <a:off x="8743044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3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4C3C06B8-2F80-4E89-8FDB-A188952F3831}"/>
              </a:ext>
            </a:extLst>
          </p:cNvPr>
          <p:cNvSpPr/>
          <p:nvPr/>
        </p:nvSpPr>
        <p:spPr>
          <a:xfrm>
            <a:off x="8743044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4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4625DE62-1579-416A-A4B7-5DEDE9EC381A}"/>
              </a:ext>
            </a:extLst>
          </p:cNvPr>
          <p:cNvSpPr/>
          <p:nvPr/>
        </p:nvSpPr>
        <p:spPr>
          <a:xfrm>
            <a:off x="10178365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9" name="Botón de acción: Hacia delante o Siguiente 32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BD90462E-D118-4BC5-B41D-F191A926392A}"/>
              </a:ext>
            </a:extLst>
          </p:cNvPr>
          <p:cNvSpPr/>
          <p:nvPr/>
        </p:nvSpPr>
        <p:spPr>
          <a:xfrm>
            <a:off x="10178365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1" name="Botón de acción: Hacia delante o Siguiente 3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3F013F8A-9EFA-4DD1-B5A9-BD1F40C3AC6B}"/>
              </a:ext>
            </a:extLst>
          </p:cNvPr>
          <p:cNvSpPr/>
          <p:nvPr/>
        </p:nvSpPr>
        <p:spPr>
          <a:xfrm>
            <a:off x="11633859" y="321759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5" name="Botón de acción: Hacia delante o Siguiente 32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B986E559-02D0-47A0-98AB-B343A9727AE9}"/>
              </a:ext>
            </a:extLst>
          </p:cNvPr>
          <p:cNvSpPr/>
          <p:nvPr/>
        </p:nvSpPr>
        <p:spPr>
          <a:xfrm>
            <a:off x="11633859" y="2969440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8736CF4-1396-44E9-9C2B-303E2D2E721E}"/>
              </a:ext>
            </a:extLst>
          </p:cNvPr>
          <p:cNvSpPr/>
          <p:nvPr/>
        </p:nvSpPr>
        <p:spPr>
          <a:xfrm>
            <a:off x="1519719" y="378295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7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FAE1E2B3-0143-48EC-8591-EAB34F70B65E}"/>
              </a:ext>
            </a:extLst>
          </p:cNvPr>
          <p:cNvSpPr/>
          <p:nvPr/>
        </p:nvSpPr>
        <p:spPr>
          <a:xfrm>
            <a:off x="1519719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8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2A73B680-47C9-442E-8C4A-6EBF203BD14F}"/>
              </a:ext>
            </a:extLst>
          </p:cNvPr>
          <p:cNvSpPr/>
          <p:nvPr/>
        </p:nvSpPr>
        <p:spPr>
          <a:xfrm>
            <a:off x="1519719" y="479785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5" name="Rectángulo 154">
            <a:extLst>
              <a:ext uri="{FF2B5EF4-FFF2-40B4-BE49-F238E27FC236}">
                <a16:creationId xmlns:a16="http://schemas.microsoft.com/office/drawing/2014/main" id="{5F0C3EBD-6647-4450-921E-B3EAA2DB7A72}"/>
              </a:ext>
            </a:extLst>
          </p:cNvPr>
          <p:cNvSpPr/>
          <p:nvPr/>
        </p:nvSpPr>
        <p:spPr>
          <a:xfrm>
            <a:off x="2908201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56" name="Rectángulo 155">
            <a:extLst>
              <a:ext uri="{FF2B5EF4-FFF2-40B4-BE49-F238E27FC236}">
                <a16:creationId xmlns:a16="http://schemas.microsoft.com/office/drawing/2014/main" id="{6EDD9380-3ECE-4AB4-9AC2-07B9818EBA65}"/>
              </a:ext>
            </a:extLst>
          </p:cNvPr>
          <p:cNvSpPr/>
          <p:nvPr/>
        </p:nvSpPr>
        <p:spPr>
          <a:xfrm>
            <a:off x="2908201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5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A9C6F87-061E-42DA-B41C-A65B765530A3}"/>
              </a:ext>
            </a:extLst>
          </p:cNvPr>
          <p:cNvSpPr/>
          <p:nvPr/>
        </p:nvSpPr>
        <p:spPr>
          <a:xfrm>
            <a:off x="2946343" y="378295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8" name="Botón de acción: Hacia delante o Siguiente 32">
            <a:hlinkClick r:id="rId23" action="ppaction://hlinksldjump" highlightClick="1"/>
            <a:extLst>
              <a:ext uri="{FF2B5EF4-FFF2-40B4-BE49-F238E27FC236}">
                <a16:creationId xmlns:a16="http://schemas.microsoft.com/office/drawing/2014/main" id="{F657CF15-8368-42FC-A7C5-1D91E4209B74}"/>
              </a:ext>
            </a:extLst>
          </p:cNvPr>
          <p:cNvSpPr/>
          <p:nvPr/>
        </p:nvSpPr>
        <p:spPr>
          <a:xfrm>
            <a:off x="2946343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9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15AA0322-98D9-4268-A850-FE8FF4DE0470}"/>
              </a:ext>
            </a:extLst>
          </p:cNvPr>
          <p:cNvSpPr/>
          <p:nvPr/>
        </p:nvSpPr>
        <p:spPr>
          <a:xfrm>
            <a:off x="2946343" y="479785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7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B74EC771-E7F8-464F-B01C-7075A860E5DE}"/>
              </a:ext>
            </a:extLst>
          </p:cNvPr>
          <p:cNvSpPr/>
          <p:nvPr/>
        </p:nvSpPr>
        <p:spPr>
          <a:xfrm>
            <a:off x="7305952" y="378295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8" name="Botón de acción: Hacia delante o Siguiente 32">
            <a:hlinkClick r:id="rId26" action="ppaction://hlinksldjump" highlightClick="1"/>
            <a:extLst>
              <a:ext uri="{FF2B5EF4-FFF2-40B4-BE49-F238E27FC236}">
                <a16:creationId xmlns:a16="http://schemas.microsoft.com/office/drawing/2014/main" id="{7092EF32-0505-4D3F-A083-FE5DB8C1B240}"/>
              </a:ext>
            </a:extLst>
          </p:cNvPr>
          <p:cNvSpPr/>
          <p:nvPr/>
        </p:nvSpPr>
        <p:spPr>
          <a:xfrm>
            <a:off x="7305952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0" name="Rectángulo 169">
            <a:extLst>
              <a:ext uri="{FF2B5EF4-FFF2-40B4-BE49-F238E27FC236}">
                <a16:creationId xmlns:a16="http://schemas.microsoft.com/office/drawing/2014/main" id="{2C04AE29-D7D5-443B-885F-C49293A979A5}"/>
              </a:ext>
            </a:extLst>
          </p:cNvPr>
          <p:cNvSpPr/>
          <p:nvPr/>
        </p:nvSpPr>
        <p:spPr>
          <a:xfrm>
            <a:off x="8672356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71" name="Rectángulo 170">
            <a:extLst>
              <a:ext uri="{FF2B5EF4-FFF2-40B4-BE49-F238E27FC236}">
                <a16:creationId xmlns:a16="http://schemas.microsoft.com/office/drawing/2014/main" id="{E3B23E23-B704-4FC1-B87D-0085F8ABD6EA}"/>
              </a:ext>
            </a:extLst>
          </p:cNvPr>
          <p:cNvSpPr/>
          <p:nvPr/>
        </p:nvSpPr>
        <p:spPr>
          <a:xfrm>
            <a:off x="8672356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72" name="Botón de acción: Hacia delante o Siguiente 32">
            <a:hlinkClick r:id="rId27" action="ppaction://hlinksldjump" highlightClick="1"/>
            <a:extLst>
              <a:ext uri="{FF2B5EF4-FFF2-40B4-BE49-F238E27FC236}">
                <a16:creationId xmlns:a16="http://schemas.microsoft.com/office/drawing/2014/main" id="{6D723E66-7A6D-454C-842A-B1F97049FDF6}"/>
              </a:ext>
            </a:extLst>
          </p:cNvPr>
          <p:cNvSpPr/>
          <p:nvPr/>
        </p:nvSpPr>
        <p:spPr>
          <a:xfrm>
            <a:off x="8710498" y="378295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3" name="Botón de acción: Hacia delante o Siguiente 32">
            <a:hlinkClick r:id="rId28" action="ppaction://hlinksldjump" highlightClick="1"/>
            <a:extLst>
              <a:ext uri="{FF2B5EF4-FFF2-40B4-BE49-F238E27FC236}">
                <a16:creationId xmlns:a16="http://schemas.microsoft.com/office/drawing/2014/main" id="{7F29440F-122B-481B-9442-69E8CAF1987D}"/>
              </a:ext>
            </a:extLst>
          </p:cNvPr>
          <p:cNvSpPr/>
          <p:nvPr/>
        </p:nvSpPr>
        <p:spPr>
          <a:xfrm>
            <a:off x="8710498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4" name="Botón de acción: Hacia delante o Siguiente 32">
            <a:hlinkClick r:id="rId29" action="ppaction://hlinksldjump" highlightClick="1"/>
            <a:extLst>
              <a:ext uri="{FF2B5EF4-FFF2-40B4-BE49-F238E27FC236}">
                <a16:creationId xmlns:a16="http://schemas.microsoft.com/office/drawing/2014/main" id="{BA2805FC-4BAC-4A1E-99E3-8A3EBB090507}"/>
              </a:ext>
            </a:extLst>
          </p:cNvPr>
          <p:cNvSpPr/>
          <p:nvPr/>
        </p:nvSpPr>
        <p:spPr>
          <a:xfrm>
            <a:off x="8710498" y="479785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7" name="Botón de acción: Hacia delante o Siguiente 32">
            <a:hlinkClick r:id="rId30" action="ppaction://hlinksldjump" highlightClick="1"/>
            <a:extLst>
              <a:ext uri="{FF2B5EF4-FFF2-40B4-BE49-F238E27FC236}">
                <a16:creationId xmlns:a16="http://schemas.microsoft.com/office/drawing/2014/main" id="{AD9ABEAD-3A6B-43B6-9722-A63B561938B0}"/>
              </a:ext>
            </a:extLst>
          </p:cNvPr>
          <p:cNvSpPr/>
          <p:nvPr/>
        </p:nvSpPr>
        <p:spPr>
          <a:xfrm>
            <a:off x="10185431" y="378295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8" name="Botón de acción: Hacia delante o Siguiente 32">
            <a:hlinkClick r:id="rId31" action="ppaction://hlinksldjump" highlightClick="1"/>
            <a:extLst>
              <a:ext uri="{FF2B5EF4-FFF2-40B4-BE49-F238E27FC236}">
                <a16:creationId xmlns:a16="http://schemas.microsoft.com/office/drawing/2014/main" id="{9FF96F56-0E8C-4BFF-8AA5-76929399D0EA}"/>
              </a:ext>
            </a:extLst>
          </p:cNvPr>
          <p:cNvSpPr/>
          <p:nvPr/>
        </p:nvSpPr>
        <p:spPr>
          <a:xfrm>
            <a:off x="10185431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0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66110AA5-6755-4F49-AE4D-7AE073F07E69}"/>
              </a:ext>
            </a:extLst>
          </p:cNvPr>
          <p:cNvSpPr/>
          <p:nvPr/>
        </p:nvSpPr>
        <p:spPr>
          <a:xfrm>
            <a:off x="2946343" y="531290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FE36523-4870-45BF-9405-14F30A819753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FA1AC79-B105-409C-B83E-A7D6C3AB43F6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2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B1A8AAF-BBAF-4285-A643-E4F2F44896F7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1" name="CuadroTexto 40">
            <a:extLst>
              <a:ext uri="{FF2B5EF4-FFF2-40B4-BE49-F238E27FC236}">
                <a16:creationId xmlns:a16="http://schemas.microsoft.com/office/drawing/2014/main" id="{0F27C7C1-DC7F-4E31-A6A3-92631815F309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4" name="CuadroTexto 43">
            <a:extLst>
              <a:ext uri="{FF2B5EF4-FFF2-40B4-BE49-F238E27FC236}">
                <a16:creationId xmlns:a16="http://schemas.microsoft.com/office/drawing/2014/main" id="{29595488-707C-4246-BA9A-7903DDDFCF8E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CuadroTexto 44">
            <a:extLst>
              <a:ext uri="{FF2B5EF4-FFF2-40B4-BE49-F238E27FC236}">
                <a16:creationId xmlns:a16="http://schemas.microsoft.com/office/drawing/2014/main" id="{4163521E-3A31-42AA-9C3A-4786B2C643E5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5CE402C-3931-42D5-8658-9C9F855376D9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0" name="CuadroTexto 49">
            <a:extLst>
              <a:ext uri="{FF2B5EF4-FFF2-40B4-BE49-F238E27FC236}">
                <a16:creationId xmlns:a16="http://schemas.microsoft.com/office/drawing/2014/main" id="{8EC84356-1DCB-43AC-8B5F-670907605478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880F042-59C0-43FA-9B06-E5857B62DDF8}"/>
              </a:ext>
            </a:extLst>
          </p:cNvPr>
          <p:cNvSpPr/>
          <p:nvPr/>
        </p:nvSpPr>
        <p:spPr>
          <a:xfrm>
            <a:off x="3308178" y="346216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Gestión  Cobranzas</a:t>
            </a: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FD61A53B-0AB0-4C41-916B-5A073CF20138}"/>
              </a:ext>
            </a:extLst>
          </p:cNvPr>
          <p:cNvSpPr/>
          <p:nvPr/>
        </p:nvSpPr>
        <p:spPr>
          <a:xfrm>
            <a:off x="3343297" y="5003239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Índice Cartera Vencida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FB6C3499-7534-42F0-BD56-D6003E46DA68}"/>
              </a:ext>
            </a:extLst>
          </p:cNvPr>
          <p:cNvSpPr/>
          <p:nvPr/>
        </p:nvSpPr>
        <p:spPr>
          <a:xfrm>
            <a:off x="3343297" y="4488190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Contención Cartera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68830E0E-3AD8-4C44-9F94-5296E108E866}"/>
              </a:ext>
            </a:extLst>
          </p:cNvPr>
          <p:cNvSpPr/>
          <p:nvPr/>
        </p:nvSpPr>
        <p:spPr>
          <a:xfrm>
            <a:off x="3343297" y="3973141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Recuperación de Cartera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4602F354-C124-4E8E-87EE-25B9C8682DC3}"/>
              </a:ext>
            </a:extLst>
          </p:cNvPr>
          <p:cNvSpPr/>
          <p:nvPr/>
        </p:nvSpPr>
        <p:spPr>
          <a:xfrm>
            <a:off x="3343297" y="5518288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119" name="Rectángulo 118">
            <a:extLst>
              <a:ext uri="{FF2B5EF4-FFF2-40B4-BE49-F238E27FC236}">
                <a16:creationId xmlns:a16="http://schemas.microsoft.com/office/drawing/2014/main" id="{D0FE0AA8-9E14-4CBC-8063-3F34B5E7B3D1}"/>
              </a:ext>
            </a:extLst>
          </p:cNvPr>
          <p:cNvSpPr/>
          <p:nvPr/>
        </p:nvSpPr>
        <p:spPr>
          <a:xfrm>
            <a:off x="4327728" y="501072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20" name="Rectángulo 119">
            <a:extLst>
              <a:ext uri="{FF2B5EF4-FFF2-40B4-BE49-F238E27FC236}">
                <a16:creationId xmlns:a16="http://schemas.microsoft.com/office/drawing/2014/main" id="{4B27E996-6B76-4637-A439-E522FAD8A2EB}"/>
              </a:ext>
            </a:extLst>
          </p:cNvPr>
          <p:cNvSpPr/>
          <p:nvPr/>
        </p:nvSpPr>
        <p:spPr>
          <a:xfrm>
            <a:off x="4327728" y="449342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21" name="Rectángulo 120">
            <a:extLst>
              <a:ext uri="{FF2B5EF4-FFF2-40B4-BE49-F238E27FC236}">
                <a16:creationId xmlns:a16="http://schemas.microsoft.com/office/drawing/2014/main" id="{3F0E5841-A05F-461C-AD92-91747C6D6901}"/>
              </a:ext>
            </a:extLst>
          </p:cNvPr>
          <p:cNvSpPr/>
          <p:nvPr/>
        </p:nvSpPr>
        <p:spPr>
          <a:xfrm>
            <a:off x="4327728" y="397525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22" name="Rectángulo 121">
            <a:extLst>
              <a:ext uri="{FF2B5EF4-FFF2-40B4-BE49-F238E27FC236}">
                <a16:creationId xmlns:a16="http://schemas.microsoft.com/office/drawing/2014/main" id="{04551393-BEDF-46DB-8881-7CCFF733D612}"/>
              </a:ext>
            </a:extLst>
          </p:cNvPr>
          <p:cNvSpPr/>
          <p:nvPr/>
        </p:nvSpPr>
        <p:spPr>
          <a:xfrm>
            <a:off x="4327728" y="552457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10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DDADE6F8-2750-49C4-B171-74ED8E3C5E7F}"/>
              </a:ext>
            </a:extLst>
          </p:cNvPr>
          <p:cNvSpPr/>
          <p:nvPr/>
        </p:nvSpPr>
        <p:spPr>
          <a:xfrm>
            <a:off x="4442928" y="3728566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1" name="Botón de acción: Hacia delante o Siguiente 32">
            <a:hlinkClick r:id="rId34" action="ppaction://hlinksldjump" highlightClick="1"/>
            <a:extLst>
              <a:ext uri="{FF2B5EF4-FFF2-40B4-BE49-F238E27FC236}">
                <a16:creationId xmlns:a16="http://schemas.microsoft.com/office/drawing/2014/main" id="{D9B9730F-9F96-4A7D-A715-E8693CBD3803}"/>
              </a:ext>
            </a:extLst>
          </p:cNvPr>
          <p:cNvSpPr/>
          <p:nvPr/>
        </p:nvSpPr>
        <p:spPr>
          <a:xfrm>
            <a:off x="4442928" y="3480415"/>
            <a:ext cx="144000" cy="129600"/>
          </a:xfrm>
          <a:prstGeom prst="actionButtonForwardNex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0" name="Rectángulo 159">
            <a:extLst>
              <a:ext uri="{FF2B5EF4-FFF2-40B4-BE49-F238E27FC236}">
                <a16:creationId xmlns:a16="http://schemas.microsoft.com/office/drawing/2014/main" id="{3FCD3D8F-4BA8-44DE-A89A-1B20C6031E38}"/>
              </a:ext>
            </a:extLst>
          </p:cNvPr>
          <p:cNvSpPr/>
          <p:nvPr/>
        </p:nvSpPr>
        <p:spPr>
          <a:xfrm>
            <a:off x="4336700" y="501053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61" name="Rectángulo 160">
            <a:extLst>
              <a:ext uri="{FF2B5EF4-FFF2-40B4-BE49-F238E27FC236}">
                <a16:creationId xmlns:a16="http://schemas.microsoft.com/office/drawing/2014/main" id="{614ABDC6-1127-4FC7-9946-B4CDF50F2D52}"/>
              </a:ext>
            </a:extLst>
          </p:cNvPr>
          <p:cNvSpPr/>
          <p:nvPr/>
        </p:nvSpPr>
        <p:spPr>
          <a:xfrm>
            <a:off x="4336700" y="4493237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58" name="CuadroTexto 57">
            <a:extLst>
              <a:ext uri="{FF2B5EF4-FFF2-40B4-BE49-F238E27FC236}">
                <a16:creationId xmlns:a16="http://schemas.microsoft.com/office/drawing/2014/main" id="{AC9B9531-FE27-45FB-9FF4-A34E0D31AE66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C7C9B148-9185-45FB-9D99-2DAC4304E0A0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CAEAD579-7F05-4221-88FC-064CDAB24D89}"/>
              </a:ext>
            </a:extLst>
          </p:cNvPr>
          <p:cNvSpPr/>
          <p:nvPr/>
        </p:nvSpPr>
        <p:spPr>
          <a:xfrm>
            <a:off x="503726" y="1318228"/>
            <a:ext cx="1995901" cy="468285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Cartera y Cobranza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Riesgo Operativo</a:t>
            </a:r>
          </a:p>
        </p:txBody>
      </p:sp>
      <p:sp>
        <p:nvSpPr>
          <p:cNvPr id="63" name="Elipse 62">
            <a:extLst>
              <a:ext uri="{FF2B5EF4-FFF2-40B4-BE49-F238E27FC236}">
                <a16:creationId xmlns:a16="http://schemas.microsoft.com/office/drawing/2014/main" id="{7C33B4BE-A0B1-4450-9BE1-9DAED96A5E58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64" name="CuadroTexto 63">
            <a:extLst>
              <a:ext uri="{FF2B5EF4-FFF2-40B4-BE49-F238E27FC236}">
                <a16:creationId xmlns:a16="http://schemas.microsoft.com/office/drawing/2014/main" id="{D74A0B9F-DF8B-4B80-BE24-D24BE10AADC4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65" name="Botón de acción: ir hacia delante o siguiente 64">
            <a:hlinkClick r:id="rId35" action="ppaction://hlinksldjump" highlightClick="1"/>
            <a:extLst>
              <a:ext uri="{FF2B5EF4-FFF2-40B4-BE49-F238E27FC236}">
                <a16:creationId xmlns:a16="http://schemas.microsoft.com/office/drawing/2014/main" id="{1C049F6E-A7EB-4B08-AFA1-DA642C0D1A26}"/>
              </a:ext>
            </a:extLst>
          </p:cNvPr>
          <p:cNvSpPr/>
          <p:nvPr/>
        </p:nvSpPr>
        <p:spPr>
          <a:xfrm>
            <a:off x="2280977" y="136544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Elipse 65">
            <a:extLst>
              <a:ext uri="{FF2B5EF4-FFF2-40B4-BE49-F238E27FC236}">
                <a16:creationId xmlns:a16="http://schemas.microsoft.com/office/drawing/2014/main" id="{40065C1A-3BA8-447C-B56C-7ED7EE73D84A}"/>
              </a:ext>
            </a:extLst>
          </p:cNvPr>
          <p:cNvSpPr/>
          <p:nvPr/>
        </p:nvSpPr>
        <p:spPr>
          <a:xfrm>
            <a:off x="512735" y="1580138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67" name="Botón de acción: ir hacia delante o siguiente 66">
            <a:hlinkClick r:id="rId36" action="ppaction://hlinksldjump" highlightClick="1"/>
            <a:extLst>
              <a:ext uri="{FF2B5EF4-FFF2-40B4-BE49-F238E27FC236}">
                <a16:creationId xmlns:a16="http://schemas.microsoft.com/office/drawing/2014/main" id="{9916DAE2-ACFC-4104-9D54-B1BD521675E8}"/>
              </a:ext>
            </a:extLst>
          </p:cNvPr>
          <p:cNvSpPr/>
          <p:nvPr/>
        </p:nvSpPr>
        <p:spPr>
          <a:xfrm>
            <a:off x="2280977" y="1598906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3" name="Elipse 202">
            <a:extLst>
              <a:ext uri="{FF2B5EF4-FFF2-40B4-BE49-F238E27FC236}">
                <a16:creationId xmlns:a16="http://schemas.microsoft.com/office/drawing/2014/main" id="{8F3F2A1F-7EED-4E0E-9CC3-C6D538FA8B17}"/>
              </a:ext>
            </a:extLst>
          </p:cNvPr>
          <p:cNvSpPr/>
          <p:nvPr/>
        </p:nvSpPr>
        <p:spPr>
          <a:xfrm>
            <a:off x="5078846" y="1385086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05" name="Elipse 204">
            <a:extLst>
              <a:ext uri="{FF2B5EF4-FFF2-40B4-BE49-F238E27FC236}">
                <a16:creationId xmlns:a16="http://schemas.microsoft.com/office/drawing/2014/main" id="{2DDBC662-72F8-4E98-9440-FD78CAE79979}"/>
              </a:ext>
            </a:extLst>
          </p:cNvPr>
          <p:cNvSpPr/>
          <p:nvPr/>
        </p:nvSpPr>
        <p:spPr>
          <a:xfrm>
            <a:off x="6081510" y="2864677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11" name="Rectángulo 210">
            <a:extLst>
              <a:ext uri="{FF2B5EF4-FFF2-40B4-BE49-F238E27FC236}">
                <a16:creationId xmlns:a16="http://schemas.microsoft.com/office/drawing/2014/main" id="{DFB0B212-12B0-4D6D-9212-741CDC2A1F91}"/>
              </a:ext>
            </a:extLst>
          </p:cNvPr>
          <p:cNvSpPr/>
          <p:nvPr/>
        </p:nvSpPr>
        <p:spPr>
          <a:xfrm>
            <a:off x="490880" y="500678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188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A9D40020-3861-490D-82B2-AE6E4261599E}"/>
              </a:ext>
            </a:extLst>
          </p:cNvPr>
          <p:cNvSpPr/>
          <p:nvPr/>
        </p:nvSpPr>
        <p:spPr>
          <a:xfrm>
            <a:off x="1526751" y="530072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9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3CC360C7-6090-45B0-A00D-995AD0716437}"/>
              </a:ext>
            </a:extLst>
          </p:cNvPr>
          <p:cNvSpPr/>
          <p:nvPr/>
        </p:nvSpPr>
        <p:spPr>
          <a:xfrm>
            <a:off x="4376581" y="582068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0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90F796B7-8CF3-482A-A9E9-B639E3B6A1E7}"/>
              </a:ext>
            </a:extLst>
          </p:cNvPr>
          <p:cNvSpPr/>
          <p:nvPr/>
        </p:nvSpPr>
        <p:spPr>
          <a:xfrm>
            <a:off x="7318544" y="480105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1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9C1CEA16-6791-491A-B90E-46E1B6619342}"/>
              </a:ext>
            </a:extLst>
          </p:cNvPr>
          <p:cNvSpPr/>
          <p:nvPr/>
        </p:nvSpPr>
        <p:spPr>
          <a:xfrm>
            <a:off x="10168889" y="480105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2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AFA2D41-8E64-450A-BB45-0BD454FE4D5B}"/>
              </a:ext>
            </a:extLst>
          </p:cNvPr>
          <p:cNvSpPr/>
          <p:nvPr/>
        </p:nvSpPr>
        <p:spPr>
          <a:xfrm>
            <a:off x="4370928" y="427096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E6E4259-944D-43FA-BF14-7828E2CDE29D}"/>
              </a:ext>
            </a:extLst>
          </p:cNvPr>
          <p:cNvSpPr/>
          <p:nvPr/>
        </p:nvSpPr>
        <p:spPr>
          <a:xfrm>
            <a:off x="4374554" y="478723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4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F645CD2C-9082-48CE-9BB4-4C1DA676E3FE}"/>
              </a:ext>
            </a:extLst>
          </p:cNvPr>
          <p:cNvSpPr/>
          <p:nvPr/>
        </p:nvSpPr>
        <p:spPr>
          <a:xfrm>
            <a:off x="4379169" y="530563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5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C12C4578-13D8-41E3-82F2-4D26E02D5776}"/>
              </a:ext>
            </a:extLst>
          </p:cNvPr>
          <p:cNvSpPr/>
          <p:nvPr/>
        </p:nvSpPr>
        <p:spPr>
          <a:xfrm>
            <a:off x="5863593" y="426724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FA47CA8-B111-49A2-B851-23FDF1E1765B}"/>
              </a:ext>
            </a:extLst>
          </p:cNvPr>
          <p:cNvSpPr/>
          <p:nvPr/>
        </p:nvSpPr>
        <p:spPr>
          <a:xfrm>
            <a:off x="5863593" y="479010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7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FF1F2C3-AE04-48EE-AED7-69AA87338BE7}"/>
              </a:ext>
            </a:extLst>
          </p:cNvPr>
          <p:cNvSpPr/>
          <p:nvPr/>
        </p:nvSpPr>
        <p:spPr>
          <a:xfrm>
            <a:off x="11578472" y="377018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9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DACC32F1-E4C7-4AE0-ACA5-796FA7E47D7A}"/>
              </a:ext>
            </a:extLst>
          </p:cNvPr>
          <p:cNvSpPr/>
          <p:nvPr/>
        </p:nvSpPr>
        <p:spPr>
          <a:xfrm>
            <a:off x="11578472" y="428280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3" name="Rectángulo 162">
            <a:extLst>
              <a:ext uri="{FF2B5EF4-FFF2-40B4-BE49-F238E27FC236}">
                <a16:creationId xmlns:a16="http://schemas.microsoft.com/office/drawing/2014/main" id="{9E3A52D3-A058-4031-82C6-35F9FE51AA36}"/>
              </a:ext>
            </a:extLst>
          </p:cNvPr>
          <p:cNvSpPr/>
          <p:nvPr/>
        </p:nvSpPr>
        <p:spPr>
          <a:xfrm>
            <a:off x="1481577" y="5015636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64" name="Rectángulo 163">
            <a:extLst>
              <a:ext uri="{FF2B5EF4-FFF2-40B4-BE49-F238E27FC236}">
                <a16:creationId xmlns:a16="http://schemas.microsoft.com/office/drawing/2014/main" id="{728AE8CE-F950-4046-A5AC-FD8DEE7DFC74}"/>
              </a:ext>
            </a:extLst>
          </p:cNvPr>
          <p:cNvSpPr/>
          <p:nvPr/>
        </p:nvSpPr>
        <p:spPr>
          <a:xfrm>
            <a:off x="10540976" y="447610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Riesgo Mercado</a:t>
            </a:r>
          </a:p>
        </p:txBody>
      </p:sp>
      <p:sp>
        <p:nvSpPr>
          <p:cNvPr id="165" name="Rectángulo 164">
            <a:extLst>
              <a:ext uri="{FF2B5EF4-FFF2-40B4-BE49-F238E27FC236}">
                <a16:creationId xmlns:a16="http://schemas.microsoft.com/office/drawing/2014/main" id="{3DEE0FE6-FC33-4AAA-A4CC-33E160CE017A}"/>
              </a:ext>
            </a:extLst>
          </p:cNvPr>
          <p:cNvSpPr/>
          <p:nvPr/>
        </p:nvSpPr>
        <p:spPr>
          <a:xfrm>
            <a:off x="11534699" y="4477170"/>
            <a:ext cx="186147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69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A687CCB9-8786-4575-8B7A-24204487165F}"/>
              </a:ext>
            </a:extLst>
          </p:cNvPr>
          <p:cNvSpPr/>
          <p:nvPr/>
        </p:nvSpPr>
        <p:spPr>
          <a:xfrm>
            <a:off x="11578472" y="478169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5" name="Rectángulo 174">
            <a:extLst>
              <a:ext uri="{FF2B5EF4-FFF2-40B4-BE49-F238E27FC236}">
                <a16:creationId xmlns:a16="http://schemas.microsoft.com/office/drawing/2014/main" id="{65028F39-BB51-4E82-8416-6968344D9188}"/>
              </a:ext>
            </a:extLst>
          </p:cNvPr>
          <p:cNvSpPr/>
          <p:nvPr/>
        </p:nvSpPr>
        <p:spPr>
          <a:xfrm>
            <a:off x="10540976" y="4980040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Rango Riesgo Crediticio</a:t>
            </a:r>
          </a:p>
        </p:txBody>
      </p:sp>
      <p:sp>
        <p:nvSpPr>
          <p:cNvPr id="176" name="Rectángulo 175">
            <a:extLst>
              <a:ext uri="{FF2B5EF4-FFF2-40B4-BE49-F238E27FC236}">
                <a16:creationId xmlns:a16="http://schemas.microsoft.com/office/drawing/2014/main" id="{4B0D65D7-EF29-4C3D-A6AD-6ABC18E301B2}"/>
              </a:ext>
            </a:extLst>
          </p:cNvPr>
          <p:cNvSpPr/>
          <p:nvPr/>
        </p:nvSpPr>
        <p:spPr>
          <a:xfrm>
            <a:off x="11534699" y="4981106"/>
            <a:ext cx="186147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81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AFE50422-7E07-4EDF-BB1C-893F52E85DA1}"/>
              </a:ext>
            </a:extLst>
          </p:cNvPr>
          <p:cNvSpPr/>
          <p:nvPr/>
        </p:nvSpPr>
        <p:spPr>
          <a:xfrm>
            <a:off x="11578472" y="528563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Botón de acción: Hacia delante o Siguiente 32">
            <a:hlinkClick r:id="rId37" action="ppaction://hlinksldjump" highlightClick="1"/>
            <a:extLst>
              <a:ext uri="{FF2B5EF4-FFF2-40B4-BE49-F238E27FC236}">
                <a16:creationId xmlns:a16="http://schemas.microsoft.com/office/drawing/2014/main" id="{7DBE538C-341A-4249-B933-424997B24A1B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1" name="CuadroTexto 50">
            <a:extLst>
              <a:ext uri="{FF2B5EF4-FFF2-40B4-BE49-F238E27FC236}">
                <a16:creationId xmlns:a16="http://schemas.microsoft.com/office/drawing/2014/main" id="{D85C7098-7170-49B5-BC8B-E350D16A28CB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F5DEB534-6AA1-47A8-89F8-9960819F5448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29272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8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198" idx="2"/>
            <a:endCxn id="9" idx="0"/>
          </p:cNvCxnSpPr>
          <p:nvPr/>
        </p:nvCxnSpPr>
        <p:spPr>
          <a:xfrm rot="5400000">
            <a:off x="4165302" y="1020492"/>
            <a:ext cx="289283" cy="357211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26903B49-5ADE-42DF-909B-5DBD789E1AAD}"/>
              </a:ext>
            </a:extLst>
          </p:cNvPr>
          <p:cNvCxnSpPr>
            <a:cxnSpLocks/>
            <a:stCxn id="198" idx="2"/>
            <a:endCxn id="93" idx="0"/>
          </p:cNvCxnSpPr>
          <p:nvPr/>
        </p:nvCxnSpPr>
        <p:spPr>
          <a:xfrm rot="5400000">
            <a:off x="4884576" y="1739766"/>
            <a:ext cx="289283" cy="213356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AB1513A0-F2A8-4D82-8254-3135C3668B6D}"/>
              </a:ext>
            </a:extLst>
          </p:cNvPr>
          <p:cNvCxnSpPr>
            <a:cxnSpLocks/>
            <a:stCxn id="198" idx="2"/>
            <a:endCxn id="11" idx="0"/>
          </p:cNvCxnSpPr>
          <p:nvPr/>
        </p:nvCxnSpPr>
        <p:spPr>
          <a:xfrm rot="5400000">
            <a:off x="5603850" y="2459040"/>
            <a:ext cx="289283" cy="69501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1893885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Apertura  y Desembolso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880F042-59C0-43FA-9B06-E5857B62DDF8}"/>
              </a:ext>
            </a:extLst>
          </p:cNvPr>
          <p:cNvSpPr/>
          <p:nvPr/>
        </p:nvSpPr>
        <p:spPr>
          <a:xfrm>
            <a:off x="4770981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Jefe Mesa de Control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F22EB7F4-878C-495E-BD69-A8F5427EDA25}"/>
              </a:ext>
            </a:extLst>
          </p:cNvPr>
          <p:cNvSpPr/>
          <p:nvPr/>
        </p:nvSpPr>
        <p:spPr>
          <a:xfrm>
            <a:off x="3332433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Dir. Facturación, Recaudo y Acre.</a:t>
            </a:r>
          </a:p>
        </p:txBody>
      </p: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2778185" y="2083818"/>
            <a:ext cx="663563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286415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 err="1">
                <a:solidFill>
                  <a:schemeClr val="accent1"/>
                </a:solidFill>
              </a:rPr>
              <a:t>Implem</a:t>
            </a:r>
            <a:r>
              <a:rPr lang="es-CO" sz="1200" b="1">
                <a:solidFill>
                  <a:schemeClr val="accent1"/>
                </a:solidFill>
              </a:rPr>
              <a:t>. Lean y Automatización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18374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QRs por temas Operativos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5503336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Eficiencia Gastos Op.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6822927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ANS</a:t>
            </a:r>
            <a:br>
              <a:rPr lang="es-CO" sz="1200" b="1">
                <a:solidFill>
                  <a:schemeClr val="accent1"/>
                </a:solidFill>
              </a:rPr>
            </a:br>
            <a:r>
              <a:rPr lang="es-CO" sz="1200" b="1">
                <a:solidFill>
                  <a:schemeClr val="accent1"/>
                </a:solidFill>
              </a:rPr>
              <a:t>Interno</a:t>
            </a:r>
          </a:p>
        </p:txBody>
      </p:sp>
      <p:sp>
        <p:nvSpPr>
          <p:cNvPr id="208" name="Rectángulo 207">
            <a:extLst>
              <a:ext uri="{FF2B5EF4-FFF2-40B4-BE49-F238E27FC236}">
                <a16:creationId xmlns:a16="http://schemas.microsoft.com/office/drawing/2014/main" id="{4F628228-977A-40C0-BF44-564FBC8B039F}"/>
              </a:ext>
            </a:extLst>
          </p:cNvPr>
          <p:cNvSpPr/>
          <p:nvPr/>
        </p:nvSpPr>
        <p:spPr>
          <a:xfrm>
            <a:off x="8142519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Net Promoter Score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Gerente de </a:t>
            </a:r>
            <a:b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Operaciones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  <a:endCxn id="198" idx="0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389834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9B1FAC4-2A01-4D39-AC44-3C0775CB46F9}"/>
              </a:ext>
            </a:extLst>
          </p:cNvPr>
          <p:cNvSpPr/>
          <p:nvPr/>
        </p:nvSpPr>
        <p:spPr>
          <a:xfrm>
            <a:off x="522054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6540136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5A8A5CB-805A-48F1-8291-4867B50026FB}"/>
              </a:ext>
            </a:extLst>
          </p:cNvPr>
          <p:cNvSpPr/>
          <p:nvPr/>
        </p:nvSpPr>
        <p:spPr>
          <a:xfrm>
            <a:off x="785972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56994C3-8155-4EA5-A5E6-44F5E81784D9}"/>
              </a:ext>
            </a:extLst>
          </p:cNvPr>
          <p:cNvSpPr/>
          <p:nvPr/>
        </p:nvSpPr>
        <p:spPr>
          <a:xfrm>
            <a:off x="9179319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2866776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4171615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5493811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6836687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50" name="Rectángulo 149">
            <a:extLst>
              <a:ext uri="{FF2B5EF4-FFF2-40B4-BE49-F238E27FC236}">
                <a16:creationId xmlns:a16="http://schemas.microsoft.com/office/drawing/2014/main" id="{0D0B2680-0E72-4E47-9687-BBC6E158D1E7}"/>
              </a:ext>
            </a:extLst>
          </p:cNvPr>
          <p:cNvSpPr/>
          <p:nvPr/>
        </p:nvSpPr>
        <p:spPr>
          <a:xfrm>
            <a:off x="8132993" y="248387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66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1AE678B5-F96F-447C-AFF3-C2669E554CD8}"/>
              </a:ext>
            </a:extLst>
          </p:cNvPr>
          <p:cNvSpPr/>
          <p:nvPr/>
        </p:nvSpPr>
        <p:spPr>
          <a:xfrm>
            <a:off x="6906000" y="177190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67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130B0C54-8596-4C5F-8B74-4BD2D970E92A}"/>
              </a:ext>
            </a:extLst>
          </p:cNvPr>
          <p:cNvSpPr/>
          <p:nvPr/>
        </p:nvSpPr>
        <p:spPr>
          <a:xfrm>
            <a:off x="6906000" y="1470686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DC33616-7C22-4196-A6C4-7A95AA6E81B7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3E3D9FB-14D6-4D58-A74A-FA8EF94FC146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9288D49-BDF8-4231-92BB-1BB92D04A545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" name="CuadroTexto 18">
            <a:extLst>
              <a:ext uri="{FF2B5EF4-FFF2-40B4-BE49-F238E27FC236}">
                <a16:creationId xmlns:a16="http://schemas.microsoft.com/office/drawing/2014/main" id="{9C243106-CC43-472B-B92D-BB70CB830725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7B3A8E4A-D851-4FC9-86A0-A7A9EBEC830B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CuadroTexto 20">
            <a:extLst>
              <a:ext uri="{FF2B5EF4-FFF2-40B4-BE49-F238E27FC236}">
                <a16:creationId xmlns:a16="http://schemas.microsoft.com/office/drawing/2014/main" id="{34CDB638-7536-4412-A67A-ADE2FAC7D9A4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14261B2-8319-407C-9023-69DCB1D97835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2" name="CuadroTexto 31">
            <a:extLst>
              <a:ext uri="{FF2B5EF4-FFF2-40B4-BE49-F238E27FC236}">
                <a16:creationId xmlns:a16="http://schemas.microsoft.com/office/drawing/2014/main" id="{FEEB625A-0BFB-4E0E-86BD-E5F9249BC791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0" name="Rectángulo 89">
            <a:extLst>
              <a:ext uri="{FF2B5EF4-FFF2-40B4-BE49-F238E27FC236}">
                <a16:creationId xmlns:a16="http://schemas.microsoft.com/office/drawing/2014/main" id="{C53AC140-8AA7-430D-A625-B68F636DDC7E}"/>
              </a:ext>
            </a:extLst>
          </p:cNvPr>
          <p:cNvSpPr/>
          <p:nvPr/>
        </p:nvSpPr>
        <p:spPr>
          <a:xfrm>
            <a:off x="6184135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D. Pasivos y Tesorería</a:t>
            </a:r>
          </a:p>
        </p:txBody>
      </p:sp>
      <p:sp>
        <p:nvSpPr>
          <p:cNvPr id="91" name="Rectángulo 90">
            <a:extLst>
              <a:ext uri="{FF2B5EF4-FFF2-40B4-BE49-F238E27FC236}">
                <a16:creationId xmlns:a16="http://schemas.microsoft.com/office/drawing/2014/main" id="{2A855702-9B14-4AC6-A194-1A359CCB76FD}"/>
              </a:ext>
            </a:extLst>
          </p:cNvPr>
          <p:cNvSpPr/>
          <p:nvPr/>
        </p:nvSpPr>
        <p:spPr>
          <a:xfrm>
            <a:off x="9061231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Jefe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Admon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de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Conv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. y Alianzas</a:t>
            </a:r>
          </a:p>
        </p:txBody>
      </p:sp>
      <p:sp>
        <p:nvSpPr>
          <p:cNvPr id="92" name="Rectángulo 91">
            <a:extLst>
              <a:ext uri="{FF2B5EF4-FFF2-40B4-BE49-F238E27FC236}">
                <a16:creationId xmlns:a16="http://schemas.microsoft.com/office/drawing/2014/main" id="{A5B72381-8079-47ED-85E4-7283C8C7E69E}"/>
              </a:ext>
            </a:extLst>
          </p:cNvPr>
          <p:cNvSpPr/>
          <p:nvPr/>
        </p:nvSpPr>
        <p:spPr>
          <a:xfrm>
            <a:off x="7622683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Jefe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Serv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Op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. Transversales</a:t>
            </a:r>
          </a:p>
        </p:txBody>
      </p:sp>
      <p:cxnSp>
        <p:nvCxnSpPr>
          <p:cNvPr id="151" name="Conector: angular 150">
            <a:extLst>
              <a:ext uri="{FF2B5EF4-FFF2-40B4-BE49-F238E27FC236}">
                <a16:creationId xmlns:a16="http://schemas.microsoft.com/office/drawing/2014/main" id="{7C33F0E5-2213-4A3D-AA2B-B87A5D775B9C}"/>
              </a:ext>
            </a:extLst>
          </p:cNvPr>
          <p:cNvCxnSpPr>
            <a:cxnSpLocks/>
            <a:stCxn id="198" idx="2"/>
            <a:endCxn id="90" idx="0"/>
          </p:cNvCxnSpPr>
          <p:nvPr/>
        </p:nvCxnSpPr>
        <p:spPr>
          <a:xfrm rot="16200000" flipH="1">
            <a:off x="6310426" y="2447481"/>
            <a:ext cx="289283" cy="71813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4" name="Conector: angular 153">
            <a:extLst>
              <a:ext uri="{FF2B5EF4-FFF2-40B4-BE49-F238E27FC236}">
                <a16:creationId xmlns:a16="http://schemas.microsoft.com/office/drawing/2014/main" id="{FC05AA5B-5075-47CE-83FB-78445A995428}"/>
              </a:ext>
            </a:extLst>
          </p:cNvPr>
          <p:cNvCxnSpPr>
            <a:cxnSpLocks/>
            <a:stCxn id="198" idx="2"/>
            <a:endCxn id="92" idx="0"/>
          </p:cNvCxnSpPr>
          <p:nvPr/>
        </p:nvCxnSpPr>
        <p:spPr>
          <a:xfrm rot="16200000" flipH="1">
            <a:off x="7029700" y="1728207"/>
            <a:ext cx="289283" cy="215668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Conector: angular 154">
            <a:extLst>
              <a:ext uri="{FF2B5EF4-FFF2-40B4-BE49-F238E27FC236}">
                <a16:creationId xmlns:a16="http://schemas.microsoft.com/office/drawing/2014/main" id="{72FFDDE0-90E5-43B5-B91A-E9AD2F1C9CE4}"/>
              </a:ext>
            </a:extLst>
          </p:cNvPr>
          <p:cNvCxnSpPr>
            <a:cxnSpLocks/>
            <a:stCxn id="198" idx="2"/>
            <a:endCxn id="91" idx="0"/>
          </p:cNvCxnSpPr>
          <p:nvPr/>
        </p:nvCxnSpPr>
        <p:spPr>
          <a:xfrm rot="16200000" flipH="1">
            <a:off x="7748974" y="1008933"/>
            <a:ext cx="289283" cy="359523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CuadroTexto 64">
            <a:extLst>
              <a:ext uri="{FF2B5EF4-FFF2-40B4-BE49-F238E27FC236}">
                <a16:creationId xmlns:a16="http://schemas.microsoft.com/office/drawing/2014/main" id="{2E99E1CC-A489-40BC-9A2E-36AD2C0C7BF8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EB1EA2D2-BC1E-479F-A774-3AE90C1BC465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C5165767-4EBD-4238-9222-E68A9AE2F2D6}"/>
              </a:ext>
            </a:extLst>
          </p:cNvPr>
          <p:cNvSpPr/>
          <p:nvPr/>
        </p:nvSpPr>
        <p:spPr>
          <a:xfrm>
            <a:off x="503726" y="1318226"/>
            <a:ext cx="1739079" cy="279384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Operaciones y TI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endParaRPr lang="es-CO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Elipse 71">
            <a:extLst>
              <a:ext uri="{FF2B5EF4-FFF2-40B4-BE49-F238E27FC236}">
                <a16:creationId xmlns:a16="http://schemas.microsoft.com/office/drawing/2014/main" id="{A1C881B4-1082-4CF6-AFDD-1E8A77681426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73" name="CuadroTexto 72">
            <a:extLst>
              <a:ext uri="{FF2B5EF4-FFF2-40B4-BE49-F238E27FC236}">
                <a16:creationId xmlns:a16="http://schemas.microsoft.com/office/drawing/2014/main" id="{D4E76ED5-B655-4696-8C7C-DD6F0BFD4EFD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79" name="Botón de acción: ir hacia delante o siguiente 78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6ADCC2EC-DC26-4358-AE4B-6F7B9F2F1CEB}"/>
              </a:ext>
            </a:extLst>
          </p:cNvPr>
          <p:cNvSpPr/>
          <p:nvPr/>
        </p:nvSpPr>
        <p:spPr>
          <a:xfrm>
            <a:off x="1982846" y="136544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4" name="Elipse 173">
            <a:extLst>
              <a:ext uri="{FF2B5EF4-FFF2-40B4-BE49-F238E27FC236}">
                <a16:creationId xmlns:a16="http://schemas.microsoft.com/office/drawing/2014/main" id="{FE1A85C2-E8E1-4579-AEA8-509AD12886C6}"/>
              </a:ext>
            </a:extLst>
          </p:cNvPr>
          <p:cNvSpPr/>
          <p:nvPr/>
        </p:nvSpPr>
        <p:spPr>
          <a:xfrm>
            <a:off x="5068683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75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ED2274C2-A7AF-49ED-83BB-DAB12CD90EE1}"/>
              </a:ext>
            </a:extLst>
          </p:cNvPr>
          <p:cNvSpPr/>
          <p:nvPr/>
        </p:nvSpPr>
        <p:spPr>
          <a:xfrm>
            <a:off x="5886981" y="295479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6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83A25BC2-E9E4-44B7-99AC-DDD211AC7630}"/>
              </a:ext>
            </a:extLst>
          </p:cNvPr>
          <p:cNvSpPr/>
          <p:nvPr/>
        </p:nvSpPr>
        <p:spPr>
          <a:xfrm>
            <a:off x="8747171" y="2954791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Bocadillo: rectángulo con esquinas redondeadas 9">
            <a:extLst>
              <a:ext uri="{FF2B5EF4-FFF2-40B4-BE49-F238E27FC236}">
                <a16:creationId xmlns:a16="http://schemas.microsoft.com/office/drawing/2014/main" id="{44AB6037-22BC-479E-BFB9-8FF53399FF45}"/>
              </a:ext>
            </a:extLst>
          </p:cNvPr>
          <p:cNvSpPr/>
          <p:nvPr/>
        </p:nvSpPr>
        <p:spPr>
          <a:xfrm>
            <a:off x="7496077" y="1380949"/>
            <a:ext cx="2158045" cy="625347"/>
          </a:xfrm>
          <a:prstGeom prst="wedgeRoundRectCallout">
            <a:avLst>
              <a:gd name="adj1" fmla="val -61422"/>
              <a:gd name="adj2" fmla="val -16253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El proyecto en ejecución con </a:t>
            </a:r>
            <a:r>
              <a:rPr lang="es-ES" sz="1000" err="1">
                <a:latin typeface="Arial" panose="020B0604020202020204" pitchFamily="34" charset="0"/>
                <a:cs typeface="Arial" panose="020B0604020202020204" pitchFamily="34" charset="0"/>
              </a:rPr>
              <a:t>Rewire</a:t>
            </a: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 permitirá validar/ajustar la estructura asegurando coherencia con el rediseño de procesos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140B8F97-41EC-489D-A1D0-B726054C12FF}"/>
              </a:ext>
            </a:extLst>
          </p:cNvPr>
          <p:cNvSpPr/>
          <p:nvPr/>
        </p:nvSpPr>
        <p:spPr>
          <a:xfrm>
            <a:off x="10020593" y="811649"/>
            <a:ext cx="1468985" cy="288000"/>
          </a:xfrm>
          <a:prstGeom prst="rect">
            <a:avLst/>
          </a:prstGeom>
          <a:solidFill>
            <a:schemeClr val="accent5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Preliminar</a:t>
            </a:r>
          </a:p>
        </p:txBody>
      </p:sp>
      <p:sp>
        <p:nvSpPr>
          <p:cNvPr id="14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9C96CBC7-DE90-47B2-A13F-AB14A431B139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CuadroTexto 14">
            <a:extLst>
              <a:ext uri="{FF2B5EF4-FFF2-40B4-BE49-F238E27FC236}">
                <a16:creationId xmlns:a16="http://schemas.microsoft.com/office/drawing/2014/main" id="{EC47C995-A8AA-4D8D-A971-3ABC94658928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7460F983-C6CC-4A37-85A9-0D42045631CA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400744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</a:t>
            </a:r>
            <a:r>
              <a:rPr lang="es-ES"/>
              <a:t>Violaciones reportadas en auditoría </a:t>
            </a:r>
            <a:br>
              <a:rPr lang="es-ES"/>
            </a:br>
            <a:r>
              <a:rPr lang="es-ES"/>
              <a:t>relacionadas con mala calidad de datos</a:t>
            </a:r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198" idx="2"/>
            <a:endCxn id="9" idx="0"/>
          </p:cNvCxnSpPr>
          <p:nvPr/>
        </p:nvCxnSpPr>
        <p:spPr>
          <a:xfrm rot="5400000">
            <a:off x="4516049" y="1371239"/>
            <a:ext cx="289283" cy="287062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26903B49-5ADE-42DF-909B-5DBD789E1AAD}"/>
              </a:ext>
            </a:extLst>
          </p:cNvPr>
          <p:cNvCxnSpPr>
            <a:cxnSpLocks/>
            <a:stCxn id="198" idx="2"/>
            <a:endCxn id="93" idx="0"/>
          </p:cNvCxnSpPr>
          <p:nvPr/>
        </p:nvCxnSpPr>
        <p:spPr>
          <a:xfrm rot="5400000">
            <a:off x="5235323" y="2090513"/>
            <a:ext cx="289283" cy="143207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AB1513A0-F2A8-4D82-8254-3135C3668B6D}"/>
              </a:ext>
            </a:extLst>
          </p:cNvPr>
          <p:cNvCxnSpPr>
            <a:cxnSpLocks/>
            <a:stCxn id="198" idx="2"/>
            <a:endCxn id="11" idx="0"/>
          </p:cNvCxnSpPr>
          <p:nvPr/>
        </p:nvCxnSpPr>
        <p:spPr>
          <a:xfrm rot="16200000" flipH="1">
            <a:off x="5954597" y="2803311"/>
            <a:ext cx="289283" cy="647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: angular 42">
            <a:extLst>
              <a:ext uri="{FF2B5EF4-FFF2-40B4-BE49-F238E27FC236}">
                <a16:creationId xmlns:a16="http://schemas.microsoft.com/office/drawing/2014/main" id="{412C19E8-DD9E-4306-A8A5-4D8967A883AA}"/>
              </a:ext>
            </a:extLst>
          </p:cNvPr>
          <p:cNvCxnSpPr>
            <a:cxnSpLocks/>
            <a:stCxn id="198" idx="2"/>
            <a:endCxn id="130" idx="0"/>
          </p:cNvCxnSpPr>
          <p:nvPr/>
        </p:nvCxnSpPr>
        <p:spPr>
          <a:xfrm rot="16200000" flipH="1">
            <a:off x="6671865" y="2086043"/>
            <a:ext cx="293294" cy="144502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Conector: angular 48">
            <a:extLst>
              <a:ext uri="{FF2B5EF4-FFF2-40B4-BE49-F238E27FC236}">
                <a16:creationId xmlns:a16="http://schemas.microsoft.com/office/drawing/2014/main" id="{E818C6F9-5B14-4F3B-8D7D-EF7FC3E8692E}"/>
              </a:ext>
            </a:extLst>
          </p:cNvPr>
          <p:cNvCxnSpPr>
            <a:cxnSpLocks/>
            <a:stCxn id="198" idx="2"/>
            <a:endCxn id="47" idx="0"/>
          </p:cNvCxnSpPr>
          <p:nvPr/>
        </p:nvCxnSpPr>
        <p:spPr>
          <a:xfrm rot="16200000" flipH="1">
            <a:off x="7390652" y="1367256"/>
            <a:ext cx="294268" cy="288357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2595380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Desarrollo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880F042-59C0-43FA-9B06-E5857B62DDF8}"/>
              </a:ext>
            </a:extLst>
          </p:cNvPr>
          <p:cNvSpPr/>
          <p:nvPr/>
        </p:nvSpPr>
        <p:spPr>
          <a:xfrm>
            <a:off x="5472476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Infraestructura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F22EB7F4-878C-495E-BD69-A8F5427EDA25}"/>
              </a:ext>
            </a:extLst>
          </p:cNvPr>
          <p:cNvSpPr/>
          <p:nvPr/>
        </p:nvSpPr>
        <p:spPr>
          <a:xfrm>
            <a:off x="4033928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Proyectos</a:t>
            </a:r>
          </a:p>
        </p:txBody>
      </p:sp>
      <p:sp>
        <p:nvSpPr>
          <p:cNvPr id="130" name="Rectángulo 129">
            <a:extLst>
              <a:ext uri="{FF2B5EF4-FFF2-40B4-BE49-F238E27FC236}">
                <a16:creationId xmlns:a16="http://schemas.microsoft.com/office/drawing/2014/main" id="{05092F52-287F-448D-81A3-B0F670BDCDF6}"/>
              </a:ext>
            </a:extLst>
          </p:cNvPr>
          <p:cNvSpPr/>
          <p:nvPr/>
        </p:nvSpPr>
        <p:spPr>
          <a:xfrm>
            <a:off x="6911024" y="2955202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Soporte TI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2F0F96E0-8FD6-4F7E-BE6E-B35C069230DE}"/>
              </a:ext>
            </a:extLst>
          </p:cNvPr>
          <p:cNvSpPr/>
          <p:nvPr/>
        </p:nvSpPr>
        <p:spPr>
          <a:xfrm>
            <a:off x="8349572" y="295617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D.  Gestión de Datos</a:t>
            </a:r>
          </a:p>
        </p:txBody>
      </p: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2778185" y="2083818"/>
            <a:ext cx="663563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286415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Proyectos a cargo de TI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18374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Volúmenes Digitales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5503336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Disponibilidad Plataformas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6822927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ANS</a:t>
            </a:r>
            <a:br>
              <a:rPr lang="es-CO" sz="1200" b="1">
                <a:solidFill>
                  <a:schemeClr val="accent1"/>
                </a:solidFill>
              </a:rPr>
            </a:br>
            <a:r>
              <a:rPr lang="es-CO" sz="1200" b="1">
                <a:solidFill>
                  <a:schemeClr val="accent1"/>
                </a:solidFill>
              </a:rPr>
              <a:t>Interno</a:t>
            </a:r>
          </a:p>
        </p:txBody>
      </p:sp>
      <p:sp>
        <p:nvSpPr>
          <p:cNvPr id="208" name="Rectángulo 207">
            <a:extLst>
              <a:ext uri="{FF2B5EF4-FFF2-40B4-BE49-F238E27FC236}">
                <a16:creationId xmlns:a16="http://schemas.microsoft.com/office/drawing/2014/main" id="{4F628228-977A-40C0-BF44-564FBC8B039F}"/>
              </a:ext>
            </a:extLst>
          </p:cNvPr>
          <p:cNvSpPr/>
          <p:nvPr/>
        </p:nvSpPr>
        <p:spPr>
          <a:xfrm>
            <a:off x="8142519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Net Promoter Score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de Tecnología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  <a:endCxn id="198" idx="0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3898349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6540136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56994C3-8155-4EA5-A5E6-44F5E81784D9}"/>
              </a:ext>
            </a:extLst>
          </p:cNvPr>
          <p:cNvSpPr/>
          <p:nvPr/>
        </p:nvSpPr>
        <p:spPr>
          <a:xfrm>
            <a:off x="9179319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AC51912D-BDF5-41B6-ACBA-95B015C01584}"/>
              </a:ext>
            </a:extLst>
          </p:cNvPr>
          <p:cNvSpPr/>
          <p:nvPr/>
        </p:nvSpPr>
        <p:spPr>
          <a:xfrm>
            <a:off x="4033928" y="3366808"/>
            <a:ext cx="1260000" cy="16221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5EE46123-A0A5-4321-B814-C5840EBC22E8}"/>
              </a:ext>
            </a:extLst>
          </p:cNvPr>
          <p:cNvSpPr/>
          <p:nvPr/>
        </p:nvSpPr>
        <p:spPr>
          <a:xfrm>
            <a:off x="5472475" y="3366808"/>
            <a:ext cx="1260000" cy="16234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75E04FE0-F5D7-4FB5-ADCF-5BF9858B5714}"/>
              </a:ext>
            </a:extLst>
          </p:cNvPr>
          <p:cNvSpPr/>
          <p:nvPr/>
        </p:nvSpPr>
        <p:spPr>
          <a:xfrm>
            <a:off x="6911022" y="3366808"/>
            <a:ext cx="1260000" cy="163077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143DF17A-A500-4669-ADFE-81EF0FAB8B39}"/>
              </a:ext>
            </a:extLst>
          </p:cNvPr>
          <p:cNvSpPr/>
          <p:nvPr/>
        </p:nvSpPr>
        <p:spPr>
          <a:xfrm>
            <a:off x="8349569" y="3366808"/>
            <a:ext cx="1260000" cy="214345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9F06F943-B43C-4D42-A658-BCEAA67175F5}"/>
              </a:ext>
            </a:extLst>
          </p:cNvPr>
          <p:cNvSpPr/>
          <p:nvPr/>
        </p:nvSpPr>
        <p:spPr>
          <a:xfrm>
            <a:off x="2595381" y="3366808"/>
            <a:ext cx="1260000" cy="16234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1FF01D74-45FB-4034-BD5A-AF9ADD23F09F}"/>
              </a:ext>
            </a:extLst>
          </p:cNvPr>
          <p:cNvSpPr/>
          <p:nvPr/>
        </p:nvSpPr>
        <p:spPr>
          <a:xfrm>
            <a:off x="2655178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Transf. Digital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EFABB1BE-DBA6-4AF0-B66E-0CF1DCCA4075}"/>
              </a:ext>
            </a:extLst>
          </p:cNvPr>
          <p:cNvSpPr/>
          <p:nvPr/>
        </p:nvSpPr>
        <p:spPr>
          <a:xfrm>
            <a:off x="2655178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Time to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Market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17CFF391-1676-4EA4-8980-D698EC0E38E1}"/>
              </a:ext>
            </a:extLst>
          </p:cNvPr>
          <p:cNvSpPr/>
          <p:nvPr/>
        </p:nvSpPr>
        <p:spPr>
          <a:xfrm>
            <a:off x="2655178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76B23C7-446E-4E3E-8469-6C41F2840937}"/>
              </a:ext>
            </a:extLst>
          </p:cNvPr>
          <p:cNvSpPr/>
          <p:nvPr/>
        </p:nvSpPr>
        <p:spPr>
          <a:xfrm>
            <a:off x="4073993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Transf. Digital</a:t>
            </a: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8C719064-D8E2-49B2-99CB-19CDA1ED2BB3}"/>
              </a:ext>
            </a:extLst>
          </p:cNvPr>
          <p:cNvSpPr/>
          <p:nvPr/>
        </p:nvSpPr>
        <p:spPr>
          <a:xfrm>
            <a:off x="4073993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Cumpl. Caso de Negocio</a:t>
            </a: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FD61A53B-0AB0-4C41-916B-5A073CF20138}"/>
              </a:ext>
            </a:extLst>
          </p:cNvPr>
          <p:cNvSpPr/>
          <p:nvPr/>
        </p:nvSpPr>
        <p:spPr>
          <a:xfrm>
            <a:off x="5507595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FB6C3499-7534-42F0-BD56-D6003E46DA68}"/>
              </a:ext>
            </a:extLst>
          </p:cNvPr>
          <p:cNvSpPr/>
          <p:nvPr/>
        </p:nvSpPr>
        <p:spPr>
          <a:xfrm>
            <a:off x="5507595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Disponibilidad Plataformas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68830E0E-3AD8-4C44-9F94-5296E108E866}"/>
              </a:ext>
            </a:extLst>
          </p:cNvPr>
          <p:cNvSpPr/>
          <p:nvPr/>
        </p:nvSpPr>
        <p:spPr>
          <a:xfrm>
            <a:off x="5507595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Plan Modern. Infra.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F64DE06E-9D66-4714-B999-AB1846FBCE75}"/>
              </a:ext>
            </a:extLst>
          </p:cNvPr>
          <p:cNvSpPr/>
          <p:nvPr/>
        </p:nvSpPr>
        <p:spPr>
          <a:xfrm>
            <a:off x="6951086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Transf. Digital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07DA872A-1703-4742-BABE-5BDF0B732EB5}"/>
              </a:ext>
            </a:extLst>
          </p:cNvPr>
          <p:cNvSpPr/>
          <p:nvPr/>
        </p:nvSpPr>
        <p:spPr>
          <a:xfrm>
            <a:off x="6951086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00B40BBE-B0DF-43C1-9B4A-DD4B874D1977}"/>
              </a:ext>
            </a:extLst>
          </p:cNvPr>
          <p:cNvSpPr/>
          <p:nvPr/>
        </p:nvSpPr>
        <p:spPr>
          <a:xfrm>
            <a:off x="6951086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Disponibilidad Plataformas</a:t>
            </a: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BAD52CEE-AB5A-431F-AE3D-3C7887B63E4C}"/>
              </a:ext>
            </a:extLst>
          </p:cNvPr>
          <p:cNvSpPr/>
          <p:nvPr/>
        </p:nvSpPr>
        <p:spPr>
          <a:xfrm>
            <a:off x="8384945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DQ Audit Findings</a:t>
            </a:r>
            <a:r>
              <a:rPr lang="es-CO" sz="1200" b="1" baseline="30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es-CO" sz="12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1BA2A7DF-5411-4939-936F-09DCE21B1329}"/>
              </a:ext>
            </a:extLst>
          </p:cNvPr>
          <p:cNvSpPr/>
          <p:nvPr/>
        </p:nvSpPr>
        <p:spPr>
          <a:xfrm>
            <a:off x="8384945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Materialización Vulnerabilidad de Datos</a:t>
            </a:r>
          </a:p>
        </p:txBody>
      </p:sp>
      <p:sp>
        <p:nvSpPr>
          <p:cNvPr id="79" name="Rectángulo 78">
            <a:extLst>
              <a:ext uri="{FF2B5EF4-FFF2-40B4-BE49-F238E27FC236}">
                <a16:creationId xmlns:a16="http://schemas.microsoft.com/office/drawing/2014/main" id="{8AAB5766-6371-409B-87C3-387F4B7A3557}"/>
              </a:ext>
            </a:extLst>
          </p:cNvPr>
          <p:cNvSpPr/>
          <p:nvPr/>
        </p:nvSpPr>
        <p:spPr>
          <a:xfrm>
            <a:off x="8384945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Transf. Digital</a:t>
            </a: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DEC7642E-5531-4658-BFF9-20923A151BD0}"/>
              </a:ext>
            </a:extLst>
          </p:cNvPr>
          <p:cNvSpPr/>
          <p:nvPr/>
        </p:nvSpPr>
        <p:spPr>
          <a:xfrm>
            <a:off x="9376649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9CEAE9C7-6A1F-4BEA-90D6-5D5420CE37E4}"/>
              </a:ext>
            </a:extLst>
          </p:cNvPr>
          <p:cNvSpPr/>
          <p:nvPr/>
        </p:nvSpPr>
        <p:spPr>
          <a:xfrm>
            <a:off x="9376649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6" name="Rectángulo 105">
            <a:extLst>
              <a:ext uri="{FF2B5EF4-FFF2-40B4-BE49-F238E27FC236}">
                <a16:creationId xmlns:a16="http://schemas.microsoft.com/office/drawing/2014/main" id="{47C7263D-C75C-467F-AA62-CC0A5838445B}"/>
              </a:ext>
            </a:extLst>
          </p:cNvPr>
          <p:cNvSpPr/>
          <p:nvPr/>
        </p:nvSpPr>
        <p:spPr>
          <a:xfrm>
            <a:off x="9376649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13" name="Rectángulo 112">
            <a:extLst>
              <a:ext uri="{FF2B5EF4-FFF2-40B4-BE49-F238E27FC236}">
                <a16:creationId xmlns:a16="http://schemas.microsoft.com/office/drawing/2014/main" id="{FDA272CD-95B7-4B83-8791-8F2733CD2E84}"/>
              </a:ext>
            </a:extLst>
          </p:cNvPr>
          <p:cNvSpPr/>
          <p:nvPr/>
        </p:nvSpPr>
        <p:spPr>
          <a:xfrm>
            <a:off x="7939431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14" name="Rectángulo 113">
            <a:extLst>
              <a:ext uri="{FF2B5EF4-FFF2-40B4-BE49-F238E27FC236}">
                <a16:creationId xmlns:a16="http://schemas.microsoft.com/office/drawing/2014/main" id="{C148C57A-00A3-4A60-8091-35A32DAC32AB}"/>
              </a:ext>
            </a:extLst>
          </p:cNvPr>
          <p:cNvSpPr/>
          <p:nvPr/>
        </p:nvSpPr>
        <p:spPr>
          <a:xfrm>
            <a:off x="7939431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55</a:t>
            </a:r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210F5EE6-3E8F-498E-B848-14F3E1134F1D}"/>
              </a:ext>
            </a:extLst>
          </p:cNvPr>
          <p:cNvSpPr/>
          <p:nvPr/>
        </p:nvSpPr>
        <p:spPr>
          <a:xfrm>
            <a:off x="7939431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19" name="Rectángulo 118">
            <a:extLst>
              <a:ext uri="{FF2B5EF4-FFF2-40B4-BE49-F238E27FC236}">
                <a16:creationId xmlns:a16="http://schemas.microsoft.com/office/drawing/2014/main" id="{D0FE0AA8-9E14-4CBC-8063-3F34B5E7B3D1}"/>
              </a:ext>
            </a:extLst>
          </p:cNvPr>
          <p:cNvSpPr/>
          <p:nvPr/>
        </p:nvSpPr>
        <p:spPr>
          <a:xfrm>
            <a:off x="6492026" y="449974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20" name="Rectángulo 119">
            <a:extLst>
              <a:ext uri="{FF2B5EF4-FFF2-40B4-BE49-F238E27FC236}">
                <a16:creationId xmlns:a16="http://schemas.microsoft.com/office/drawing/2014/main" id="{4B27E996-6B76-4637-A439-E522FAD8A2EB}"/>
              </a:ext>
            </a:extLst>
          </p:cNvPr>
          <p:cNvSpPr/>
          <p:nvPr/>
        </p:nvSpPr>
        <p:spPr>
          <a:xfrm>
            <a:off x="6492026" y="398245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121" name="Rectángulo 120">
            <a:extLst>
              <a:ext uri="{FF2B5EF4-FFF2-40B4-BE49-F238E27FC236}">
                <a16:creationId xmlns:a16="http://schemas.microsoft.com/office/drawing/2014/main" id="{3F0E5841-A05F-461C-AD92-91747C6D6901}"/>
              </a:ext>
            </a:extLst>
          </p:cNvPr>
          <p:cNvSpPr/>
          <p:nvPr/>
        </p:nvSpPr>
        <p:spPr>
          <a:xfrm>
            <a:off x="6492026" y="346428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26" name="Rectángulo 125">
            <a:extLst>
              <a:ext uri="{FF2B5EF4-FFF2-40B4-BE49-F238E27FC236}">
                <a16:creationId xmlns:a16="http://schemas.microsoft.com/office/drawing/2014/main" id="{F5CEF8A6-1802-45E7-AE98-403E517FE836}"/>
              </a:ext>
            </a:extLst>
          </p:cNvPr>
          <p:cNvSpPr/>
          <p:nvPr/>
        </p:nvSpPr>
        <p:spPr>
          <a:xfrm>
            <a:off x="5071863" y="398449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127" name="Rectángulo 126">
            <a:extLst>
              <a:ext uri="{FF2B5EF4-FFF2-40B4-BE49-F238E27FC236}">
                <a16:creationId xmlns:a16="http://schemas.microsoft.com/office/drawing/2014/main" id="{74C987F5-63B0-401E-9B89-D55582E1F3DA}"/>
              </a:ext>
            </a:extLst>
          </p:cNvPr>
          <p:cNvSpPr/>
          <p:nvPr/>
        </p:nvSpPr>
        <p:spPr>
          <a:xfrm>
            <a:off x="5071863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132" name="Rectángulo 131">
            <a:extLst>
              <a:ext uri="{FF2B5EF4-FFF2-40B4-BE49-F238E27FC236}">
                <a16:creationId xmlns:a16="http://schemas.microsoft.com/office/drawing/2014/main" id="{1E065392-F639-42B9-97F1-C1CFDB0680C4}"/>
              </a:ext>
            </a:extLst>
          </p:cNvPr>
          <p:cNvSpPr/>
          <p:nvPr/>
        </p:nvSpPr>
        <p:spPr>
          <a:xfrm>
            <a:off x="3645875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33" name="Rectángulo 132">
            <a:extLst>
              <a:ext uri="{FF2B5EF4-FFF2-40B4-BE49-F238E27FC236}">
                <a16:creationId xmlns:a16="http://schemas.microsoft.com/office/drawing/2014/main" id="{37BA45BF-8A00-4F6E-A96A-5B5E05009685}"/>
              </a:ext>
            </a:extLst>
          </p:cNvPr>
          <p:cNvSpPr/>
          <p:nvPr/>
        </p:nvSpPr>
        <p:spPr>
          <a:xfrm>
            <a:off x="3645875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134" name="Rectángulo 133">
            <a:extLst>
              <a:ext uri="{FF2B5EF4-FFF2-40B4-BE49-F238E27FC236}">
                <a16:creationId xmlns:a16="http://schemas.microsoft.com/office/drawing/2014/main" id="{3E9CC085-67E1-45CC-A59A-9851C7DA7CBC}"/>
              </a:ext>
            </a:extLst>
          </p:cNvPr>
          <p:cNvSpPr/>
          <p:nvPr/>
        </p:nvSpPr>
        <p:spPr>
          <a:xfrm>
            <a:off x="3645875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3860026" y="215790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5164865" y="215790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6487061" y="215790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7806652" y="215790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50" name="Rectángulo 149">
            <a:extLst>
              <a:ext uri="{FF2B5EF4-FFF2-40B4-BE49-F238E27FC236}">
                <a16:creationId xmlns:a16="http://schemas.microsoft.com/office/drawing/2014/main" id="{0D0B2680-0E72-4E47-9687-BBC6E158D1E7}"/>
              </a:ext>
            </a:extLst>
          </p:cNvPr>
          <p:cNvSpPr/>
          <p:nvPr/>
        </p:nvSpPr>
        <p:spPr>
          <a:xfrm>
            <a:off x="9126243" y="2157907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138" name="Rectángulo 137">
            <a:extLst>
              <a:ext uri="{FF2B5EF4-FFF2-40B4-BE49-F238E27FC236}">
                <a16:creationId xmlns:a16="http://schemas.microsoft.com/office/drawing/2014/main" id="{66EB693B-F810-47DA-9AFD-272C3FDEC322}"/>
              </a:ext>
            </a:extLst>
          </p:cNvPr>
          <p:cNvSpPr/>
          <p:nvPr/>
        </p:nvSpPr>
        <p:spPr>
          <a:xfrm>
            <a:off x="8384945" y="500205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140" name="Rectángulo 139">
            <a:extLst>
              <a:ext uri="{FF2B5EF4-FFF2-40B4-BE49-F238E27FC236}">
                <a16:creationId xmlns:a16="http://schemas.microsoft.com/office/drawing/2014/main" id="{EACCCB7D-824F-4099-B9F8-DB8C41D7FEAA}"/>
              </a:ext>
            </a:extLst>
          </p:cNvPr>
          <p:cNvSpPr/>
          <p:nvPr/>
        </p:nvSpPr>
        <p:spPr>
          <a:xfrm>
            <a:off x="9376649" y="5009347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0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136B8CC-BE41-45FE-913A-A203FE941B75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728F168-C737-437C-A476-7200D8BBDEE8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E3E4AB1-F707-455A-A4BD-019C835375CE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BCA8482B-B59A-4015-9C6D-091378B030A4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CuadroTexto 20">
            <a:extLst>
              <a:ext uri="{FF2B5EF4-FFF2-40B4-BE49-F238E27FC236}">
                <a16:creationId xmlns:a16="http://schemas.microsoft.com/office/drawing/2014/main" id="{1E1D1875-0DB6-4C67-9D5A-255C77A01CCC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C34F5948-8275-47CC-818C-CDAB840E2D56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F1B3EDF-D0E4-44F9-947C-70351E680E2D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2" name="CuadroTexto 31">
            <a:extLst>
              <a:ext uri="{FF2B5EF4-FFF2-40B4-BE49-F238E27FC236}">
                <a16:creationId xmlns:a16="http://schemas.microsoft.com/office/drawing/2014/main" id="{11917F17-4303-40E0-9262-8FC10CAFED50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3A069C1C-A1E0-448B-9576-C73964FDACFC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AEDBC811-1812-4381-97A2-B5C58D63034C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7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06B2C596-326F-4833-8030-5186BE9CC3EF}"/>
              </a:ext>
            </a:extLst>
          </p:cNvPr>
          <p:cNvSpPr/>
          <p:nvPr/>
        </p:nvSpPr>
        <p:spPr>
          <a:xfrm>
            <a:off x="6906000" y="1768755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8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5B7AB20-C888-4D1E-9483-FA0655FFB669}"/>
              </a:ext>
            </a:extLst>
          </p:cNvPr>
          <p:cNvSpPr/>
          <p:nvPr/>
        </p:nvSpPr>
        <p:spPr>
          <a:xfrm>
            <a:off x="6906000" y="147416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9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E12F3C04-D9F0-4D82-A6D4-06A38A16C07F}"/>
              </a:ext>
            </a:extLst>
          </p:cNvPr>
          <p:cNvSpPr/>
          <p:nvPr/>
        </p:nvSpPr>
        <p:spPr>
          <a:xfrm>
            <a:off x="3712145" y="296106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0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0A4F1B4A-F061-450B-AAFA-57AE01E534F7}"/>
              </a:ext>
            </a:extLst>
          </p:cNvPr>
          <p:cNvSpPr/>
          <p:nvPr/>
        </p:nvSpPr>
        <p:spPr>
          <a:xfrm>
            <a:off x="3712145" y="320914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1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7DB8016B-CF26-4DC1-B4D7-482DE49D96D8}"/>
              </a:ext>
            </a:extLst>
          </p:cNvPr>
          <p:cNvSpPr/>
          <p:nvPr/>
        </p:nvSpPr>
        <p:spPr>
          <a:xfrm>
            <a:off x="5146051" y="296106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2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0EA6EF55-2F9E-4A08-8579-5468CC09D0CF}"/>
              </a:ext>
            </a:extLst>
          </p:cNvPr>
          <p:cNvSpPr/>
          <p:nvPr/>
        </p:nvSpPr>
        <p:spPr>
          <a:xfrm>
            <a:off x="5146051" y="320914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4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241D48F5-0373-4AD1-8026-38441C486043}"/>
              </a:ext>
            </a:extLst>
          </p:cNvPr>
          <p:cNvSpPr/>
          <p:nvPr/>
        </p:nvSpPr>
        <p:spPr>
          <a:xfrm>
            <a:off x="6590190" y="296106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5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2D7168E0-EF13-4E5A-BBE3-F7653BE0F49A}"/>
              </a:ext>
            </a:extLst>
          </p:cNvPr>
          <p:cNvSpPr/>
          <p:nvPr/>
        </p:nvSpPr>
        <p:spPr>
          <a:xfrm>
            <a:off x="6590190" y="320914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6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7C745BBC-53E0-4430-86EA-222D5D6D4F8D}"/>
              </a:ext>
            </a:extLst>
          </p:cNvPr>
          <p:cNvSpPr/>
          <p:nvPr/>
        </p:nvSpPr>
        <p:spPr>
          <a:xfrm>
            <a:off x="8028560" y="296106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7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F415F786-78F5-4F4C-969E-6AD88E3D6A94}"/>
              </a:ext>
            </a:extLst>
          </p:cNvPr>
          <p:cNvSpPr/>
          <p:nvPr/>
        </p:nvSpPr>
        <p:spPr>
          <a:xfrm>
            <a:off x="8028560" y="320914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8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913A83FB-079F-479C-8936-78C1B8703C8D}"/>
              </a:ext>
            </a:extLst>
          </p:cNvPr>
          <p:cNvSpPr/>
          <p:nvPr/>
        </p:nvSpPr>
        <p:spPr>
          <a:xfrm>
            <a:off x="9471088" y="296106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9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E337CFFD-C5D8-4FFF-AE7C-8E0012AAD629}"/>
              </a:ext>
            </a:extLst>
          </p:cNvPr>
          <p:cNvSpPr/>
          <p:nvPr/>
        </p:nvSpPr>
        <p:spPr>
          <a:xfrm>
            <a:off x="9471088" y="320914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0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57DA4EA0-61AC-4B7E-89D7-81F7F93BE5CF}"/>
              </a:ext>
            </a:extLst>
          </p:cNvPr>
          <p:cNvSpPr/>
          <p:nvPr/>
        </p:nvSpPr>
        <p:spPr>
          <a:xfrm>
            <a:off x="3689075" y="3768199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1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E809683F-7A4F-455A-A46C-AE0424053A16}"/>
              </a:ext>
            </a:extLst>
          </p:cNvPr>
          <p:cNvSpPr/>
          <p:nvPr/>
        </p:nvSpPr>
        <p:spPr>
          <a:xfrm>
            <a:off x="3689075" y="4280837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3" name="Botón de acción: Hacia delante o Siguiente 32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77F619A0-6A06-418E-8AF5-461DC0C10CFF}"/>
              </a:ext>
            </a:extLst>
          </p:cNvPr>
          <p:cNvSpPr/>
          <p:nvPr/>
        </p:nvSpPr>
        <p:spPr>
          <a:xfrm>
            <a:off x="6540870" y="3768199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6" name="Botón de acción: Hacia delante o Siguiente 3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5A605C09-B48C-4D83-9FF8-34EDF1095B89}"/>
              </a:ext>
            </a:extLst>
          </p:cNvPr>
          <p:cNvSpPr/>
          <p:nvPr/>
        </p:nvSpPr>
        <p:spPr>
          <a:xfrm>
            <a:off x="9415946" y="4280837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7" name="Botón de acción: Hacia delante o Siguiente 32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FC0ED9D4-464D-4453-BD30-DF3C3ECF710B}"/>
              </a:ext>
            </a:extLst>
          </p:cNvPr>
          <p:cNvSpPr/>
          <p:nvPr/>
        </p:nvSpPr>
        <p:spPr>
          <a:xfrm>
            <a:off x="9415946" y="4790934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2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179127F6-DF9D-4242-8A6D-A5E71CB63994}"/>
              </a:ext>
            </a:extLst>
          </p:cNvPr>
          <p:cNvSpPr/>
          <p:nvPr/>
        </p:nvSpPr>
        <p:spPr>
          <a:xfrm>
            <a:off x="5125991" y="4280837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4" name="Rectángulo 123">
            <a:extLst>
              <a:ext uri="{FF2B5EF4-FFF2-40B4-BE49-F238E27FC236}">
                <a16:creationId xmlns:a16="http://schemas.microsoft.com/office/drawing/2014/main" id="{85B1EDB2-DF40-4455-A309-FCA891A8D165}"/>
              </a:ext>
            </a:extLst>
          </p:cNvPr>
          <p:cNvSpPr/>
          <p:nvPr/>
        </p:nvSpPr>
        <p:spPr>
          <a:xfrm>
            <a:off x="4070754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39" name="Botón de acción: Hacia delante o Siguiente 32">
            <a:hlinkClick r:id="rId23" action="ppaction://hlinksldjump" highlightClick="1"/>
            <a:extLst>
              <a:ext uri="{FF2B5EF4-FFF2-40B4-BE49-F238E27FC236}">
                <a16:creationId xmlns:a16="http://schemas.microsoft.com/office/drawing/2014/main" id="{DCF73371-BEA0-45BF-A206-B1C922449AC5}"/>
              </a:ext>
            </a:extLst>
          </p:cNvPr>
          <p:cNvSpPr/>
          <p:nvPr/>
        </p:nvSpPr>
        <p:spPr>
          <a:xfrm>
            <a:off x="522054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1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2FB8B2A1-F541-4B18-B0AD-E2D3D501F460}"/>
              </a:ext>
            </a:extLst>
          </p:cNvPr>
          <p:cNvSpPr/>
          <p:nvPr/>
        </p:nvSpPr>
        <p:spPr>
          <a:xfrm>
            <a:off x="785972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4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9CAE3A42-10B0-4C52-A4E4-5448D98823B9}"/>
              </a:ext>
            </a:extLst>
          </p:cNvPr>
          <p:cNvSpPr/>
          <p:nvPr/>
        </p:nvSpPr>
        <p:spPr>
          <a:xfrm>
            <a:off x="3694116" y="479677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1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CC45B2AD-9FA1-4DB0-99B2-A0B613C84FEF}"/>
              </a:ext>
            </a:extLst>
          </p:cNvPr>
          <p:cNvSpPr/>
          <p:nvPr/>
        </p:nvSpPr>
        <p:spPr>
          <a:xfrm>
            <a:off x="5106625" y="479677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5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364E6DF7-BF00-479E-A992-53349B8BB533}"/>
              </a:ext>
            </a:extLst>
          </p:cNvPr>
          <p:cNvSpPr/>
          <p:nvPr/>
        </p:nvSpPr>
        <p:spPr>
          <a:xfrm>
            <a:off x="6559090" y="479677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6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9D604AC1-F0F7-476A-BB26-8406EAA5630C}"/>
              </a:ext>
            </a:extLst>
          </p:cNvPr>
          <p:cNvSpPr/>
          <p:nvPr/>
        </p:nvSpPr>
        <p:spPr>
          <a:xfrm>
            <a:off x="7990775" y="479677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7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8F99DC9D-DDC2-415A-8A9B-E59FA8C7B3F1}"/>
              </a:ext>
            </a:extLst>
          </p:cNvPr>
          <p:cNvSpPr/>
          <p:nvPr/>
        </p:nvSpPr>
        <p:spPr>
          <a:xfrm>
            <a:off x="9415827" y="530665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59C811D-4695-47A9-9DBC-DA16DE66307F}"/>
              </a:ext>
            </a:extLst>
          </p:cNvPr>
          <p:cNvSpPr/>
          <p:nvPr/>
        </p:nvSpPr>
        <p:spPr>
          <a:xfrm>
            <a:off x="6540136" y="427947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6760CD8-C696-4BFF-88A4-7241D1FA901C}"/>
              </a:ext>
            </a:extLst>
          </p:cNvPr>
          <p:cNvSpPr/>
          <p:nvPr/>
        </p:nvSpPr>
        <p:spPr>
          <a:xfrm>
            <a:off x="7990810" y="427947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2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3F23E3D5-779E-4D41-8BE5-EFDAEDBC4485}"/>
              </a:ext>
            </a:extLst>
          </p:cNvPr>
          <p:cNvSpPr/>
          <p:nvPr/>
        </p:nvSpPr>
        <p:spPr>
          <a:xfrm>
            <a:off x="5115440" y="3768199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3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1B2D9626-DC2D-4945-A0FB-0B44DFE96574}"/>
              </a:ext>
            </a:extLst>
          </p:cNvPr>
          <p:cNvSpPr/>
          <p:nvPr/>
        </p:nvSpPr>
        <p:spPr>
          <a:xfrm>
            <a:off x="7982631" y="3768199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4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182A6B82-17C2-4EC0-96FB-CC90E172084F}"/>
              </a:ext>
            </a:extLst>
          </p:cNvPr>
          <p:cNvSpPr/>
          <p:nvPr/>
        </p:nvSpPr>
        <p:spPr>
          <a:xfrm>
            <a:off x="9413815" y="3768199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9" name="Rectángulo 108">
            <a:extLst>
              <a:ext uri="{FF2B5EF4-FFF2-40B4-BE49-F238E27FC236}">
                <a16:creationId xmlns:a16="http://schemas.microsoft.com/office/drawing/2014/main" id="{2B872550-D4B5-473D-8C85-082151B0CFDD}"/>
              </a:ext>
            </a:extLst>
          </p:cNvPr>
          <p:cNvSpPr/>
          <p:nvPr/>
        </p:nvSpPr>
        <p:spPr>
          <a:xfrm>
            <a:off x="5071863" y="449438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7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45248080-65CD-405C-870C-1C874B59B200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7A002383-A506-4148-B771-C87872436DE5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288A5DE4-6C1E-4A63-9292-7A6C4CB2F869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38438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sp>
        <p:nvSpPr>
          <p:cNvPr id="198" name="Rectángulo 197">
            <a:extLst>
              <a:ext uri="{FF2B5EF4-FFF2-40B4-BE49-F238E27FC236}">
                <a16:creationId xmlns:a16="http://schemas.microsoft.com/office/drawing/2014/main" id="{D6A1D5C8-45BF-4198-B3E9-EC2FA7E82BD7}"/>
              </a:ext>
            </a:extLst>
          </p:cNvPr>
          <p:cNvSpPr/>
          <p:nvPr/>
        </p:nvSpPr>
        <p:spPr>
          <a:xfrm>
            <a:off x="3451953" y="2083818"/>
            <a:ext cx="529200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Rectángulo 199">
            <a:extLst>
              <a:ext uri="{FF2B5EF4-FFF2-40B4-BE49-F238E27FC236}">
                <a16:creationId xmlns:a16="http://schemas.microsoft.com/office/drawing/2014/main" id="{1F89F2B9-7475-437A-819B-AE7F1EC39220}"/>
              </a:ext>
            </a:extLst>
          </p:cNvPr>
          <p:cNvSpPr/>
          <p:nvPr/>
        </p:nvSpPr>
        <p:spPr>
          <a:xfrm>
            <a:off x="3537922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b="1">
                <a:solidFill>
                  <a:schemeClr val="accent1"/>
                </a:solidFill>
              </a:rPr>
              <a:t>Hitos PE1 de Gestión del T.</a:t>
            </a:r>
          </a:p>
        </p:txBody>
      </p:sp>
      <p:sp>
        <p:nvSpPr>
          <p:cNvPr id="202" name="Rectángulo 201">
            <a:extLst>
              <a:ext uri="{FF2B5EF4-FFF2-40B4-BE49-F238E27FC236}">
                <a16:creationId xmlns:a16="http://schemas.microsoft.com/office/drawing/2014/main" id="{CCB68C99-BD4A-4B90-9D80-6F1E4AA400B7}"/>
              </a:ext>
            </a:extLst>
          </p:cNvPr>
          <p:cNvSpPr/>
          <p:nvPr/>
        </p:nvSpPr>
        <p:spPr>
          <a:xfrm>
            <a:off x="4857513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Rotación Planta</a:t>
            </a:r>
          </a:p>
        </p:txBody>
      </p:sp>
      <p:sp>
        <p:nvSpPr>
          <p:cNvPr id="204" name="Rectángulo 203">
            <a:extLst>
              <a:ext uri="{FF2B5EF4-FFF2-40B4-BE49-F238E27FC236}">
                <a16:creationId xmlns:a16="http://schemas.microsoft.com/office/drawing/2014/main" id="{7827F85B-DFD1-46A2-B414-40719CC4C13C}"/>
              </a:ext>
            </a:extLst>
          </p:cNvPr>
          <p:cNvSpPr/>
          <p:nvPr/>
        </p:nvSpPr>
        <p:spPr>
          <a:xfrm>
            <a:off x="617710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Experiencia del Colaborador</a:t>
            </a:r>
          </a:p>
        </p:txBody>
      </p:sp>
      <p:sp>
        <p:nvSpPr>
          <p:cNvPr id="206" name="Rectángulo 205">
            <a:extLst>
              <a:ext uri="{FF2B5EF4-FFF2-40B4-BE49-F238E27FC236}">
                <a16:creationId xmlns:a16="http://schemas.microsoft.com/office/drawing/2014/main" id="{C4A1D30C-3F4F-41C7-AD63-9A869BB8938B}"/>
              </a:ext>
            </a:extLst>
          </p:cNvPr>
          <p:cNvSpPr/>
          <p:nvPr/>
        </p:nvSpPr>
        <p:spPr>
          <a:xfrm>
            <a:off x="749669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Net Promoter  Score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Gerente de Gestión del Talento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  <a:endCxn id="198" idx="0"/>
          </p:cNvCxnSpPr>
          <p:nvPr/>
        </p:nvCxnSpPr>
        <p:spPr>
          <a:xfrm>
            <a:off x="6096000" y="1901508"/>
            <a:ext cx="1953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9CE8E-6BFF-47D0-B469-5CCE738830FD}"/>
              </a:ext>
            </a:extLst>
          </p:cNvPr>
          <p:cNvSpPr/>
          <p:nvPr/>
        </p:nvSpPr>
        <p:spPr>
          <a:xfrm>
            <a:off x="457211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9B1FAC4-2A01-4D39-AC44-3C0775CB46F9}"/>
              </a:ext>
            </a:extLst>
          </p:cNvPr>
          <p:cNvSpPr/>
          <p:nvPr/>
        </p:nvSpPr>
        <p:spPr>
          <a:xfrm>
            <a:off x="5894313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158497F-B95F-405E-809B-D8F640315E97}"/>
              </a:ext>
            </a:extLst>
          </p:cNvPr>
          <p:cNvSpPr/>
          <p:nvPr/>
        </p:nvSpPr>
        <p:spPr>
          <a:xfrm>
            <a:off x="7213904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5A8A5CB-805A-48F1-8291-4867B50026FB}"/>
              </a:ext>
            </a:extLst>
          </p:cNvPr>
          <p:cNvSpPr/>
          <p:nvPr/>
        </p:nvSpPr>
        <p:spPr>
          <a:xfrm>
            <a:off x="8533495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10E36592-11E1-47E1-A455-7124C810BA84}"/>
              </a:ext>
            </a:extLst>
          </p:cNvPr>
          <p:cNvSpPr/>
          <p:nvPr/>
        </p:nvSpPr>
        <p:spPr>
          <a:xfrm>
            <a:off x="4541141" y="215603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7" name="Rectángulo 146">
            <a:extLst>
              <a:ext uri="{FF2B5EF4-FFF2-40B4-BE49-F238E27FC236}">
                <a16:creationId xmlns:a16="http://schemas.microsoft.com/office/drawing/2014/main" id="{A0250E5E-1D35-4C09-B65C-F4B77605115F}"/>
              </a:ext>
            </a:extLst>
          </p:cNvPr>
          <p:cNvSpPr/>
          <p:nvPr/>
        </p:nvSpPr>
        <p:spPr>
          <a:xfrm>
            <a:off x="5845980" y="215603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48" name="Rectángulo 147">
            <a:extLst>
              <a:ext uri="{FF2B5EF4-FFF2-40B4-BE49-F238E27FC236}">
                <a16:creationId xmlns:a16="http://schemas.microsoft.com/office/drawing/2014/main" id="{BF38C511-1705-4128-9343-C4AD448955EA}"/>
              </a:ext>
            </a:extLst>
          </p:cNvPr>
          <p:cNvSpPr/>
          <p:nvPr/>
        </p:nvSpPr>
        <p:spPr>
          <a:xfrm>
            <a:off x="7168176" y="215603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AF146AC-A812-495C-899B-AFC67EE023E2}"/>
              </a:ext>
            </a:extLst>
          </p:cNvPr>
          <p:cNvSpPr/>
          <p:nvPr/>
        </p:nvSpPr>
        <p:spPr>
          <a:xfrm>
            <a:off x="8487767" y="215603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7976608-EC22-46DF-8843-1A3B0C007AE3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F794DDD-1D44-4BB2-98DE-413D8004C772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651F74E-F40D-471D-A6A2-3A7405C01420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CuadroTexto 12">
            <a:extLst>
              <a:ext uri="{FF2B5EF4-FFF2-40B4-BE49-F238E27FC236}">
                <a16:creationId xmlns:a16="http://schemas.microsoft.com/office/drawing/2014/main" id="{932B45A0-6994-4B00-B765-D1053D3A1810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CuadroTexto 13">
            <a:extLst>
              <a:ext uri="{FF2B5EF4-FFF2-40B4-BE49-F238E27FC236}">
                <a16:creationId xmlns:a16="http://schemas.microsoft.com/office/drawing/2014/main" id="{E1287F56-CE5C-4D78-9A7B-C6BFEC182C61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CuadroTexto 14">
            <a:extLst>
              <a:ext uri="{FF2B5EF4-FFF2-40B4-BE49-F238E27FC236}">
                <a16:creationId xmlns:a16="http://schemas.microsoft.com/office/drawing/2014/main" id="{865B0E5A-D618-49E9-AB4D-44E983A1110E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2EFC6912-C80C-40B5-9DB9-76603C6A107B}"/>
              </a:ext>
            </a:extLst>
          </p:cNvPr>
          <p:cNvSpPr/>
          <p:nvPr/>
        </p:nvSpPr>
        <p:spPr>
          <a:xfrm>
            <a:off x="503726" y="1318228"/>
            <a:ext cx="2015029" cy="583279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Gestión del Talento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Compensación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endParaRPr lang="es-CO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C264F9A8-F82D-48BF-BF9A-4735A83DE307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8" name="CuadroTexto 17">
            <a:extLst>
              <a:ext uri="{FF2B5EF4-FFF2-40B4-BE49-F238E27FC236}">
                <a16:creationId xmlns:a16="http://schemas.microsoft.com/office/drawing/2014/main" id="{BA68D75D-71C0-4674-9113-FC9E263849A9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19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8A0D0A4-AF24-4956-BD3E-1D92405D309E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5CA0C112-6D23-41AE-B0F4-4DF03A4F4D9A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Botón de acción: ir hacia delante o siguiente 20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A579DE5C-EBE8-4301-8DAC-BCF8D9995924}"/>
              </a:ext>
            </a:extLst>
          </p:cNvPr>
          <p:cNvSpPr/>
          <p:nvPr/>
        </p:nvSpPr>
        <p:spPr>
          <a:xfrm>
            <a:off x="2282427" y="136544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DDB70CA9-5A96-45E8-A7D5-C362E6B66842}"/>
              </a:ext>
            </a:extLst>
          </p:cNvPr>
          <p:cNvSpPr/>
          <p:nvPr/>
        </p:nvSpPr>
        <p:spPr>
          <a:xfrm>
            <a:off x="6906000" y="1465358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67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3FF37C4B-9CB4-482E-B301-7AF42CE8F372}"/>
              </a:ext>
            </a:extLst>
          </p:cNvPr>
          <p:cNvSpPr/>
          <p:nvPr/>
        </p:nvSpPr>
        <p:spPr>
          <a:xfrm>
            <a:off x="6906000" y="1773099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3" name="Elipse 72">
            <a:extLst>
              <a:ext uri="{FF2B5EF4-FFF2-40B4-BE49-F238E27FC236}">
                <a16:creationId xmlns:a16="http://schemas.microsoft.com/office/drawing/2014/main" id="{63846E90-7317-4EFB-94CD-D21C47EEFE6D}"/>
              </a:ext>
            </a:extLst>
          </p:cNvPr>
          <p:cNvSpPr/>
          <p:nvPr/>
        </p:nvSpPr>
        <p:spPr>
          <a:xfrm>
            <a:off x="5059872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5" name="CuadroTexto 24">
            <a:extLst>
              <a:ext uri="{FF2B5EF4-FFF2-40B4-BE49-F238E27FC236}">
                <a16:creationId xmlns:a16="http://schemas.microsoft.com/office/drawing/2014/main" id="{1278DCE8-79E9-4A1C-9B91-C1C9624988A9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4E6943E2-56D5-425F-A105-3FC1D7BAB7A7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ED2D5B53-D82A-4765-B153-486A65417F10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" name="CuadroTexto 23">
            <a:extLst>
              <a:ext uri="{FF2B5EF4-FFF2-40B4-BE49-F238E27FC236}">
                <a16:creationId xmlns:a16="http://schemas.microsoft.com/office/drawing/2014/main" id="{ADD3C373-C900-4F96-8A26-A681DF70C267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7BCCBC5E-99CE-42F6-8755-1F57F9BAE0A9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ir hacia delante o siguiente 27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1D270661-9CE1-4B86-91F3-CA70155AE2A5}"/>
              </a:ext>
            </a:extLst>
          </p:cNvPr>
          <p:cNvSpPr/>
          <p:nvPr/>
        </p:nvSpPr>
        <p:spPr>
          <a:xfrm>
            <a:off x="2282427" y="1593036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Elipse 28">
            <a:extLst>
              <a:ext uri="{FF2B5EF4-FFF2-40B4-BE49-F238E27FC236}">
                <a16:creationId xmlns:a16="http://schemas.microsoft.com/office/drawing/2014/main" id="{711DB5CA-221B-484F-BA00-4CDBF8E915B9}"/>
              </a:ext>
            </a:extLst>
          </p:cNvPr>
          <p:cNvSpPr/>
          <p:nvPr/>
        </p:nvSpPr>
        <p:spPr>
          <a:xfrm>
            <a:off x="512735" y="1578243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014435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Gasto generales y de administración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CE534E8E-2C8F-4E99-B8CE-51F7CDABF485}"/>
              </a:ext>
            </a:extLst>
          </p:cNvPr>
          <p:cNvCxnSpPr>
            <a:cxnSpLocks/>
            <a:stCxn id="165" idx="2"/>
            <a:endCxn id="9" idx="0"/>
          </p:cNvCxnSpPr>
          <p:nvPr/>
        </p:nvCxnSpPr>
        <p:spPr>
          <a:xfrm rot="5400000">
            <a:off x="4176998" y="1030235"/>
            <a:ext cx="289283" cy="355262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AB1513A0-F2A8-4D82-8254-3135C3668B6D}"/>
              </a:ext>
            </a:extLst>
          </p:cNvPr>
          <p:cNvCxnSpPr>
            <a:cxnSpLocks/>
            <a:stCxn id="165" idx="2"/>
            <a:endCxn id="11" idx="0"/>
          </p:cNvCxnSpPr>
          <p:nvPr/>
        </p:nvCxnSpPr>
        <p:spPr>
          <a:xfrm rot="16200000" flipH="1">
            <a:off x="7763026" y="996834"/>
            <a:ext cx="289283" cy="361942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Conector: angular 48">
            <a:extLst>
              <a:ext uri="{FF2B5EF4-FFF2-40B4-BE49-F238E27FC236}">
                <a16:creationId xmlns:a16="http://schemas.microsoft.com/office/drawing/2014/main" id="{E818C6F9-5B14-4F3B-8D7D-EF7FC3E8692E}"/>
              </a:ext>
            </a:extLst>
          </p:cNvPr>
          <p:cNvCxnSpPr>
            <a:cxnSpLocks/>
            <a:stCxn id="165" idx="2"/>
            <a:endCxn id="47" idx="0"/>
          </p:cNvCxnSpPr>
          <p:nvPr/>
        </p:nvCxnSpPr>
        <p:spPr>
          <a:xfrm rot="5400000">
            <a:off x="5602974" y="2461197"/>
            <a:ext cx="294268" cy="69569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B6BD9-BF7B-4537-BC36-B73C92871B90}"/>
              </a:ext>
            </a:extLst>
          </p:cNvPr>
          <p:cNvSpPr/>
          <p:nvPr/>
        </p:nvSpPr>
        <p:spPr>
          <a:xfrm>
            <a:off x="1915324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Contabilidad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880F042-59C0-43FA-9B06-E5857B62DDF8}"/>
              </a:ext>
            </a:extLst>
          </p:cNvPr>
          <p:cNvSpPr/>
          <p:nvPr/>
        </p:nvSpPr>
        <p:spPr>
          <a:xfrm>
            <a:off x="9087382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Tesorería</a:t>
            </a:r>
          </a:p>
        </p:txBody>
      </p:sp>
      <p:sp>
        <p:nvSpPr>
          <p:cNvPr id="139" name="Rectángulo 138">
            <a:extLst>
              <a:ext uri="{FF2B5EF4-FFF2-40B4-BE49-F238E27FC236}">
                <a16:creationId xmlns:a16="http://schemas.microsoft.com/office/drawing/2014/main" id="{F90C667B-59E8-44C5-9994-0DFB834075F7}"/>
              </a:ext>
            </a:extLst>
          </p:cNvPr>
          <p:cNvSpPr/>
          <p:nvPr/>
        </p:nvSpPr>
        <p:spPr>
          <a:xfrm>
            <a:off x="6210810" y="295277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Dir. Rentabilidad y Costos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2F0F96E0-8FD6-4F7E-BE6E-B35C069230DE}"/>
              </a:ext>
            </a:extLst>
          </p:cNvPr>
          <p:cNvSpPr/>
          <p:nvPr/>
        </p:nvSpPr>
        <p:spPr>
          <a:xfrm>
            <a:off x="4772262" y="2956176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Dir. Planeación y Control Finan.</a:t>
            </a:r>
          </a:p>
        </p:txBody>
      </p:sp>
      <p:cxnSp>
        <p:nvCxnSpPr>
          <p:cNvPr id="94" name="Conector: angular 93">
            <a:extLst>
              <a:ext uri="{FF2B5EF4-FFF2-40B4-BE49-F238E27FC236}">
                <a16:creationId xmlns:a16="http://schemas.microsoft.com/office/drawing/2014/main" id="{742E92D2-62AF-4B33-8210-CB76A2D1ED92}"/>
              </a:ext>
            </a:extLst>
          </p:cNvPr>
          <p:cNvCxnSpPr>
            <a:cxnSpLocks/>
            <a:stCxn id="165" idx="2"/>
            <a:endCxn id="139" idx="0"/>
          </p:cNvCxnSpPr>
          <p:nvPr/>
        </p:nvCxnSpPr>
        <p:spPr>
          <a:xfrm rot="16200000" flipH="1">
            <a:off x="6323950" y="2435910"/>
            <a:ext cx="290863" cy="7428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Financiero y Administrativo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" name="Rectángulo 14">
            <a:extLst>
              <a:ext uri="{FF2B5EF4-FFF2-40B4-BE49-F238E27FC236}">
                <a16:creationId xmlns:a16="http://schemas.microsoft.com/office/drawing/2014/main" id="{5EE46123-A0A5-4321-B814-C5840EBC22E8}"/>
              </a:ext>
            </a:extLst>
          </p:cNvPr>
          <p:cNvSpPr/>
          <p:nvPr/>
        </p:nvSpPr>
        <p:spPr>
          <a:xfrm>
            <a:off x="9087381" y="3366808"/>
            <a:ext cx="1260000" cy="164966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143DF17A-A500-4669-ADFE-81EF0FAB8B39}"/>
              </a:ext>
            </a:extLst>
          </p:cNvPr>
          <p:cNvSpPr/>
          <p:nvPr/>
        </p:nvSpPr>
        <p:spPr>
          <a:xfrm>
            <a:off x="4772259" y="3366808"/>
            <a:ext cx="1260000" cy="162840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D286FA38-2668-4710-A0A4-C77BF9577666}"/>
              </a:ext>
            </a:extLst>
          </p:cNvPr>
          <p:cNvSpPr/>
          <p:nvPr/>
        </p:nvSpPr>
        <p:spPr>
          <a:xfrm>
            <a:off x="6210806" y="3366808"/>
            <a:ext cx="1260000" cy="21381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9F06F943-B43C-4D42-A658-BCEAA67175F5}"/>
              </a:ext>
            </a:extLst>
          </p:cNvPr>
          <p:cNvSpPr/>
          <p:nvPr/>
        </p:nvSpPr>
        <p:spPr>
          <a:xfrm>
            <a:off x="1915325" y="3366808"/>
            <a:ext cx="1260000" cy="16234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1FF01D74-45FB-4034-BD5A-AF9ADD23F09F}"/>
              </a:ext>
            </a:extLst>
          </p:cNvPr>
          <p:cNvSpPr/>
          <p:nvPr/>
        </p:nvSpPr>
        <p:spPr>
          <a:xfrm>
            <a:off x="1975122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Optimización Impuestos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EFABB1BE-DBA6-4AF0-B66E-0CF1DCCA4075}"/>
              </a:ext>
            </a:extLst>
          </p:cNvPr>
          <p:cNvSpPr/>
          <p:nvPr/>
        </p:nvSpPr>
        <p:spPr>
          <a:xfrm>
            <a:off x="1975122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Homologación Niveles de Serv. CV y BCF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17CFF391-1676-4EA4-8980-D698EC0E38E1}"/>
              </a:ext>
            </a:extLst>
          </p:cNvPr>
          <p:cNvSpPr/>
          <p:nvPr/>
        </p:nvSpPr>
        <p:spPr>
          <a:xfrm>
            <a:off x="1975122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FD61A53B-0AB0-4C41-916B-5A073CF20138}"/>
              </a:ext>
            </a:extLst>
          </p:cNvPr>
          <p:cNvSpPr/>
          <p:nvPr/>
        </p:nvSpPr>
        <p:spPr>
          <a:xfrm>
            <a:off x="9122501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FB6C3499-7534-42F0-BD56-D6003E46DA68}"/>
              </a:ext>
            </a:extLst>
          </p:cNvPr>
          <p:cNvSpPr/>
          <p:nvPr/>
        </p:nvSpPr>
        <p:spPr>
          <a:xfrm>
            <a:off x="9122501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Rendimiento Inversiones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68830E0E-3AD8-4C44-9F94-5296E108E866}"/>
              </a:ext>
            </a:extLst>
          </p:cNvPr>
          <p:cNvSpPr/>
          <p:nvPr/>
        </p:nvSpPr>
        <p:spPr>
          <a:xfrm>
            <a:off x="9122501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Costo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Fondos CP</a:t>
            </a: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BAD52CEE-AB5A-431F-AE3D-3C7887B63E4C}"/>
              </a:ext>
            </a:extLst>
          </p:cNvPr>
          <p:cNvSpPr/>
          <p:nvPr/>
        </p:nvSpPr>
        <p:spPr>
          <a:xfrm>
            <a:off x="4807635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57" name="Rectángulo 56">
            <a:extLst>
              <a:ext uri="{FF2B5EF4-FFF2-40B4-BE49-F238E27FC236}">
                <a16:creationId xmlns:a16="http://schemas.microsoft.com/office/drawing/2014/main" id="{DAEC2F10-3558-4D49-A490-B1E9C5E34399}"/>
              </a:ext>
            </a:extLst>
          </p:cNvPr>
          <p:cNvSpPr/>
          <p:nvPr/>
        </p:nvSpPr>
        <p:spPr>
          <a:xfrm>
            <a:off x="6259914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Productos</a:t>
            </a:r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D91A574F-C220-49C6-B995-CD9383459BA9}"/>
              </a:ext>
            </a:extLst>
          </p:cNvPr>
          <p:cNvSpPr/>
          <p:nvPr/>
        </p:nvSpPr>
        <p:spPr>
          <a:xfrm>
            <a:off x="6259914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Canales</a:t>
            </a:r>
          </a:p>
        </p:txBody>
      </p:sp>
      <p:sp>
        <p:nvSpPr>
          <p:cNvPr id="67" name="Rectángulo 66">
            <a:extLst>
              <a:ext uri="{FF2B5EF4-FFF2-40B4-BE49-F238E27FC236}">
                <a16:creationId xmlns:a16="http://schemas.microsoft.com/office/drawing/2014/main" id="{2BC335FC-D8CB-436A-BD84-3018E1602EBB}"/>
              </a:ext>
            </a:extLst>
          </p:cNvPr>
          <p:cNvSpPr/>
          <p:nvPr/>
        </p:nvSpPr>
        <p:spPr>
          <a:xfrm>
            <a:off x="6259914" y="500731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B8765705-A422-49DC-B167-6AE2B455D5ED}"/>
              </a:ext>
            </a:extLst>
          </p:cNvPr>
          <p:cNvSpPr/>
          <p:nvPr/>
        </p:nvSpPr>
        <p:spPr>
          <a:xfrm>
            <a:off x="6259914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Hitos Modelo  Rentabilidad</a:t>
            </a: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1BA2A7DF-5411-4939-936F-09DCE21B1329}"/>
              </a:ext>
            </a:extLst>
          </p:cNvPr>
          <p:cNvSpPr/>
          <p:nvPr/>
        </p:nvSpPr>
        <p:spPr>
          <a:xfrm>
            <a:off x="4807635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Efectividad Proyecciones</a:t>
            </a:r>
          </a:p>
        </p:txBody>
      </p:sp>
      <p:sp>
        <p:nvSpPr>
          <p:cNvPr id="79" name="Rectángulo 78">
            <a:extLst>
              <a:ext uri="{FF2B5EF4-FFF2-40B4-BE49-F238E27FC236}">
                <a16:creationId xmlns:a16="http://schemas.microsoft.com/office/drawing/2014/main" id="{8AAB5766-6371-409B-87C3-387F4B7A3557}"/>
              </a:ext>
            </a:extLst>
          </p:cNvPr>
          <p:cNvSpPr/>
          <p:nvPr/>
        </p:nvSpPr>
        <p:spPr>
          <a:xfrm>
            <a:off x="4807635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Rentabilidad Patrimonio</a:t>
            </a:r>
          </a:p>
        </p:txBody>
      </p:sp>
      <p:sp>
        <p:nvSpPr>
          <p:cNvPr id="98" name="Rectángulo 97">
            <a:extLst>
              <a:ext uri="{FF2B5EF4-FFF2-40B4-BE49-F238E27FC236}">
                <a16:creationId xmlns:a16="http://schemas.microsoft.com/office/drawing/2014/main" id="{61037AAB-5942-4BD3-99A2-D33924807B87}"/>
              </a:ext>
            </a:extLst>
          </p:cNvPr>
          <p:cNvSpPr/>
          <p:nvPr/>
        </p:nvSpPr>
        <p:spPr>
          <a:xfrm>
            <a:off x="7252586" y="4492264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99" name="Rectángulo 98">
            <a:extLst>
              <a:ext uri="{FF2B5EF4-FFF2-40B4-BE49-F238E27FC236}">
                <a16:creationId xmlns:a16="http://schemas.microsoft.com/office/drawing/2014/main" id="{75349768-B707-46E6-86CA-471B8322C620}"/>
              </a:ext>
            </a:extLst>
          </p:cNvPr>
          <p:cNvSpPr/>
          <p:nvPr/>
        </p:nvSpPr>
        <p:spPr>
          <a:xfrm>
            <a:off x="7252586" y="397496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00" name="Rectángulo 99">
            <a:extLst>
              <a:ext uri="{FF2B5EF4-FFF2-40B4-BE49-F238E27FC236}">
                <a16:creationId xmlns:a16="http://schemas.microsoft.com/office/drawing/2014/main" id="{818D4C68-F2D0-458D-9C7C-6A5B9BFEEAF5}"/>
              </a:ext>
            </a:extLst>
          </p:cNvPr>
          <p:cNvSpPr/>
          <p:nvPr/>
        </p:nvSpPr>
        <p:spPr>
          <a:xfrm>
            <a:off x="7252586" y="346632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01" name="Rectángulo 100">
            <a:extLst>
              <a:ext uri="{FF2B5EF4-FFF2-40B4-BE49-F238E27FC236}">
                <a16:creationId xmlns:a16="http://schemas.microsoft.com/office/drawing/2014/main" id="{71649149-C28F-4C69-8922-68DED0A91A16}"/>
              </a:ext>
            </a:extLst>
          </p:cNvPr>
          <p:cNvSpPr/>
          <p:nvPr/>
        </p:nvSpPr>
        <p:spPr>
          <a:xfrm>
            <a:off x="7252586" y="500611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DEC7642E-5531-4658-BFF9-20923A151BD0}"/>
              </a:ext>
            </a:extLst>
          </p:cNvPr>
          <p:cNvSpPr/>
          <p:nvPr/>
        </p:nvSpPr>
        <p:spPr>
          <a:xfrm>
            <a:off x="5799339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9CEAE9C7-6A1F-4BEA-90D6-5D5420CE37E4}"/>
              </a:ext>
            </a:extLst>
          </p:cNvPr>
          <p:cNvSpPr/>
          <p:nvPr/>
        </p:nvSpPr>
        <p:spPr>
          <a:xfrm>
            <a:off x="5799339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06" name="Rectángulo 105">
            <a:extLst>
              <a:ext uri="{FF2B5EF4-FFF2-40B4-BE49-F238E27FC236}">
                <a16:creationId xmlns:a16="http://schemas.microsoft.com/office/drawing/2014/main" id="{47C7263D-C75C-467F-AA62-CC0A5838445B}"/>
              </a:ext>
            </a:extLst>
          </p:cNvPr>
          <p:cNvSpPr/>
          <p:nvPr/>
        </p:nvSpPr>
        <p:spPr>
          <a:xfrm>
            <a:off x="5799339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19" name="Rectángulo 118">
            <a:extLst>
              <a:ext uri="{FF2B5EF4-FFF2-40B4-BE49-F238E27FC236}">
                <a16:creationId xmlns:a16="http://schemas.microsoft.com/office/drawing/2014/main" id="{D0FE0AA8-9E14-4CBC-8063-3F34B5E7B3D1}"/>
              </a:ext>
            </a:extLst>
          </p:cNvPr>
          <p:cNvSpPr/>
          <p:nvPr/>
        </p:nvSpPr>
        <p:spPr>
          <a:xfrm>
            <a:off x="10106932" y="449974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20" name="Rectángulo 119">
            <a:extLst>
              <a:ext uri="{FF2B5EF4-FFF2-40B4-BE49-F238E27FC236}">
                <a16:creationId xmlns:a16="http://schemas.microsoft.com/office/drawing/2014/main" id="{4B27E996-6B76-4637-A439-E522FAD8A2EB}"/>
              </a:ext>
            </a:extLst>
          </p:cNvPr>
          <p:cNvSpPr/>
          <p:nvPr/>
        </p:nvSpPr>
        <p:spPr>
          <a:xfrm>
            <a:off x="10106932" y="398245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121" name="Rectángulo 120">
            <a:extLst>
              <a:ext uri="{FF2B5EF4-FFF2-40B4-BE49-F238E27FC236}">
                <a16:creationId xmlns:a16="http://schemas.microsoft.com/office/drawing/2014/main" id="{3F0E5841-A05F-461C-AD92-91747C6D6901}"/>
              </a:ext>
            </a:extLst>
          </p:cNvPr>
          <p:cNvSpPr/>
          <p:nvPr/>
        </p:nvSpPr>
        <p:spPr>
          <a:xfrm>
            <a:off x="10106932" y="346428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32" name="Rectángulo 131">
            <a:extLst>
              <a:ext uri="{FF2B5EF4-FFF2-40B4-BE49-F238E27FC236}">
                <a16:creationId xmlns:a16="http://schemas.microsoft.com/office/drawing/2014/main" id="{1E065392-F639-42B9-97F1-C1CFDB0680C4}"/>
              </a:ext>
            </a:extLst>
          </p:cNvPr>
          <p:cNvSpPr/>
          <p:nvPr/>
        </p:nvSpPr>
        <p:spPr>
          <a:xfrm>
            <a:off x="2965819" y="4499558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33" name="Rectángulo 132">
            <a:extLst>
              <a:ext uri="{FF2B5EF4-FFF2-40B4-BE49-F238E27FC236}">
                <a16:creationId xmlns:a16="http://schemas.microsoft.com/office/drawing/2014/main" id="{37BA45BF-8A00-4F6E-A96A-5B5E05009685}"/>
              </a:ext>
            </a:extLst>
          </p:cNvPr>
          <p:cNvSpPr/>
          <p:nvPr/>
        </p:nvSpPr>
        <p:spPr>
          <a:xfrm>
            <a:off x="2965819" y="3982262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34" name="Rectángulo 133">
            <a:extLst>
              <a:ext uri="{FF2B5EF4-FFF2-40B4-BE49-F238E27FC236}">
                <a16:creationId xmlns:a16="http://schemas.microsoft.com/office/drawing/2014/main" id="{3E9CC085-67E1-45CC-A59A-9851C7DA7CBC}"/>
              </a:ext>
            </a:extLst>
          </p:cNvPr>
          <p:cNvSpPr/>
          <p:nvPr/>
        </p:nvSpPr>
        <p:spPr>
          <a:xfrm>
            <a:off x="2965819" y="3464090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43" name="Rectángulo 142">
            <a:extLst>
              <a:ext uri="{FF2B5EF4-FFF2-40B4-BE49-F238E27FC236}">
                <a16:creationId xmlns:a16="http://schemas.microsoft.com/office/drawing/2014/main" id="{D7482E9E-F6CD-45C2-87D9-F2A6362FC446}"/>
              </a:ext>
            </a:extLst>
          </p:cNvPr>
          <p:cNvSpPr/>
          <p:nvPr/>
        </p:nvSpPr>
        <p:spPr>
          <a:xfrm>
            <a:off x="3353872" y="3468108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Contabilidad</a:t>
            </a:r>
          </a:p>
        </p:txBody>
      </p:sp>
      <p:sp>
        <p:nvSpPr>
          <p:cNvPr id="144" name="Rectángulo 143">
            <a:extLst>
              <a:ext uri="{FF2B5EF4-FFF2-40B4-BE49-F238E27FC236}">
                <a16:creationId xmlns:a16="http://schemas.microsoft.com/office/drawing/2014/main" id="{5E0E5C8C-17AE-4ABD-B92C-17C88EB87301}"/>
              </a:ext>
            </a:extLst>
          </p:cNvPr>
          <p:cNvSpPr/>
          <p:nvPr/>
        </p:nvSpPr>
        <p:spPr>
          <a:xfrm>
            <a:off x="3353873" y="3883726"/>
            <a:ext cx="1260000" cy="162125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1" name="Rectángulo 150">
            <a:extLst>
              <a:ext uri="{FF2B5EF4-FFF2-40B4-BE49-F238E27FC236}">
                <a16:creationId xmlns:a16="http://schemas.microsoft.com/office/drawing/2014/main" id="{8BCF7CBC-BA1A-46D8-B402-D229912B0CDA}"/>
              </a:ext>
            </a:extLst>
          </p:cNvPr>
          <p:cNvSpPr/>
          <p:nvPr/>
        </p:nvSpPr>
        <p:spPr>
          <a:xfrm>
            <a:off x="3413670" y="3979083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Optimización Impuestos</a:t>
            </a:r>
          </a:p>
        </p:txBody>
      </p:sp>
      <p:sp>
        <p:nvSpPr>
          <p:cNvPr id="154" name="Rectángulo 153">
            <a:extLst>
              <a:ext uri="{FF2B5EF4-FFF2-40B4-BE49-F238E27FC236}">
                <a16:creationId xmlns:a16="http://schemas.microsoft.com/office/drawing/2014/main" id="{04332626-BDB4-46DA-BAC8-7F77945806B3}"/>
              </a:ext>
            </a:extLst>
          </p:cNvPr>
          <p:cNvSpPr/>
          <p:nvPr/>
        </p:nvSpPr>
        <p:spPr>
          <a:xfrm>
            <a:off x="3413670" y="4494132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Homologación Niveles de Serv. CV y BCF</a:t>
            </a:r>
          </a:p>
        </p:txBody>
      </p:sp>
      <p:sp>
        <p:nvSpPr>
          <p:cNvPr id="155" name="Rectángulo 154">
            <a:extLst>
              <a:ext uri="{FF2B5EF4-FFF2-40B4-BE49-F238E27FC236}">
                <a16:creationId xmlns:a16="http://schemas.microsoft.com/office/drawing/2014/main" id="{8640EE52-954D-4E09-98D1-1A7699A48CD2}"/>
              </a:ext>
            </a:extLst>
          </p:cNvPr>
          <p:cNvSpPr/>
          <p:nvPr/>
        </p:nvSpPr>
        <p:spPr>
          <a:xfrm>
            <a:off x="3413670" y="5009181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 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159" name="Rectángulo 158">
            <a:extLst>
              <a:ext uri="{FF2B5EF4-FFF2-40B4-BE49-F238E27FC236}">
                <a16:creationId xmlns:a16="http://schemas.microsoft.com/office/drawing/2014/main" id="{FFCD3D68-A1E5-4CB1-A9C9-581FE41A0A54}"/>
              </a:ext>
            </a:extLst>
          </p:cNvPr>
          <p:cNvSpPr/>
          <p:nvPr/>
        </p:nvSpPr>
        <p:spPr>
          <a:xfrm>
            <a:off x="4404367" y="5016475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60" name="Rectángulo 159">
            <a:extLst>
              <a:ext uri="{FF2B5EF4-FFF2-40B4-BE49-F238E27FC236}">
                <a16:creationId xmlns:a16="http://schemas.microsoft.com/office/drawing/2014/main" id="{0C16264D-5B27-4FE8-92AC-B96F749F4115}"/>
              </a:ext>
            </a:extLst>
          </p:cNvPr>
          <p:cNvSpPr/>
          <p:nvPr/>
        </p:nvSpPr>
        <p:spPr>
          <a:xfrm>
            <a:off x="4404367" y="449917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61" name="Rectángulo 160">
            <a:extLst>
              <a:ext uri="{FF2B5EF4-FFF2-40B4-BE49-F238E27FC236}">
                <a16:creationId xmlns:a16="http://schemas.microsoft.com/office/drawing/2014/main" id="{28039C64-C790-4358-B92C-FAB03C517A6B}"/>
              </a:ext>
            </a:extLst>
          </p:cNvPr>
          <p:cNvSpPr/>
          <p:nvPr/>
        </p:nvSpPr>
        <p:spPr>
          <a:xfrm>
            <a:off x="4404367" y="3981007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cxnSp>
        <p:nvCxnSpPr>
          <p:cNvPr id="164" name="Conector: angular 163">
            <a:extLst>
              <a:ext uri="{FF2B5EF4-FFF2-40B4-BE49-F238E27FC236}">
                <a16:creationId xmlns:a16="http://schemas.microsoft.com/office/drawing/2014/main" id="{68A525BA-0F05-4B43-BA96-76C07E54D741}"/>
              </a:ext>
            </a:extLst>
          </p:cNvPr>
          <p:cNvCxnSpPr>
            <a:cxnSpLocks/>
            <a:stCxn id="9" idx="3"/>
            <a:endCxn id="143" idx="0"/>
          </p:cNvCxnSpPr>
          <p:nvPr/>
        </p:nvCxnSpPr>
        <p:spPr>
          <a:xfrm>
            <a:off x="3175324" y="3149191"/>
            <a:ext cx="808548" cy="318917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5" name="Rectángulo 164">
            <a:extLst>
              <a:ext uri="{FF2B5EF4-FFF2-40B4-BE49-F238E27FC236}">
                <a16:creationId xmlns:a16="http://schemas.microsoft.com/office/drawing/2014/main" id="{A330267C-7BFA-49EF-B352-693E7431198A}"/>
              </a:ext>
            </a:extLst>
          </p:cNvPr>
          <p:cNvSpPr/>
          <p:nvPr/>
        </p:nvSpPr>
        <p:spPr>
          <a:xfrm>
            <a:off x="3451953" y="2083818"/>
            <a:ext cx="529200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6" name="Rectángulo 165">
            <a:extLst>
              <a:ext uri="{FF2B5EF4-FFF2-40B4-BE49-F238E27FC236}">
                <a16:creationId xmlns:a16="http://schemas.microsoft.com/office/drawing/2014/main" id="{CBD230AD-7261-4CBC-B61A-1285AA838FD4}"/>
              </a:ext>
            </a:extLst>
          </p:cNvPr>
          <p:cNvSpPr/>
          <p:nvPr/>
        </p:nvSpPr>
        <p:spPr>
          <a:xfrm>
            <a:off x="3537922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b="1">
                <a:solidFill>
                  <a:schemeClr val="accent1"/>
                </a:solidFill>
              </a:rPr>
              <a:t>Costos Fondos CP</a:t>
            </a:r>
          </a:p>
        </p:txBody>
      </p:sp>
      <p:sp>
        <p:nvSpPr>
          <p:cNvPr id="167" name="Rectángulo 166">
            <a:extLst>
              <a:ext uri="{FF2B5EF4-FFF2-40B4-BE49-F238E27FC236}">
                <a16:creationId xmlns:a16="http://schemas.microsoft.com/office/drawing/2014/main" id="{EA75822E-4697-44AA-8925-8704C1EEE7D3}"/>
              </a:ext>
            </a:extLst>
          </p:cNvPr>
          <p:cNvSpPr/>
          <p:nvPr/>
        </p:nvSpPr>
        <p:spPr>
          <a:xfrm>
            <a:off x="4857513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ANS Contractuales</a:t>
            </a:r>
          </a:p>
        </p:txBody>
      </p:sp>
      <p:sp>
        <p:nvSpPr>
          <p:cNvPr id="168" name="Rectángulo 167">
            <a:extLst>
              <a:ext uri="{FF2B5EF4-FFF2-40B4-BE49-F238E27FC236}">
                <a16:creationId xmlns:a16="http://schemas.microsoft.com/office/drawing/2014/main" id="{E20596BF-11D8-4A6F-AA1F-1E93E8715785}"/>
              </a:ext>
            </a:extLst>
          </p:cNvPr>
          <p:cNvSpPr/>
          <p:nvPr/>
        </p:nvSpPr>
        <p:spPr>
          <a:xfrm>
            <a:off x="6177104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Presupuesto  Gastos G&amp;A</a:t>
            </a:r>
            <a:r>
              <a:rPr lang="es-CO" sz="1200" b="1" baseline="30000">
                <a:solidFill>
                  <a:schemeClr val="accent1"/>
                </a:solidFill>
              </a:rPr>
              <a:t>1</a:t>
            </a:r>
            <a:endParaRPr lang="es-CO" sz="1200" b="1">
              <a:solidFill>
                <a:schemeClr val="accent1"/>
              </a:solidFill>
            </a:endParaRPr>
          </a:p>
        </p:txBody>
      </p:sp>
      <p:sp>
        <p:nvSpPr>
          <p:cNvPr id="169" name="Rectángulo 168">
            <a:extLst>
              <a:ext uri="{FF2B5EF4-FFF2-40B4-BE49-F238E27FC236}">
                <a16:creationId xmlns:a16="http://schemas.microsoft.com/office/drawing/2014/main" id="{2D60C6FA-AAD3-45B4-9753-C0D81B099F10}"/>
              </a:ext>
            </a:extLst>
          </p:cNvPr>
          <p:cNvSpPr/>
          <p:nvPr/>
        </p:nvSpPr>
        <p:spPr>
          <a:xfrm>
            <a:off x="7496695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ANS </a:t>
            </a:r>
            <a:br>
              <a:rPr lang="es-CO" sz="1200" b="1">
                <a:solidFill>
                  <a:schemeClr val="accent1"/>
                </a:solidFill>
              </a:rPr>
            </a:br>
            <a:r>
              <a:rPr lang="es-CO" sz="1200" b="1">
                <a:solidFill>
                  <a:schemeClr val="accent1"/>
                </a:solidFill>
              </a:rPr>
              <a:t>Interno</a:t>
            </a:r>
          </a:p>
        </p:txBody>
      </p:sp>
      <p:sp>
        <p:nvSpPr>
          <p:cNvPr id="170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52E64AC-88D8-4D2D-B930-595990CB22E1}"/>
              </a:ext>
            </a:extLst>
          </p:cNvPr>
          <p:cNvSpPr/>
          <p:nvPr/>
        </p:nvSpPr>
        <p:spPr>
          <a:xfrm>
            <a:off x="4572117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9DB83BC-79F7-42C1-AA1F-7CFB47475323}"/>
              </a:ext>
            </a:extLst>
          </p:cNvPr>
          <p:cNvSpPr/>
          <p:nvPr/>
        </p:nvSpPr>
        <p:spPr>
          <a:xfrm>
            <a:off x="5894313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2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D17E208-EDD8-4FF5-891A-1B65541A2552}"/>
              </a:ext>
            </a:extLst>
          </p:cNvPr>
          <p:cNvSpPr/>
          <p:nvPr/>
        </p:nvSpPr>
        <p:spPr>
          <a:xfrm>
            <a:off x="7213904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5" name="Rectángulo 174">
            <a:extLst>
              <a:ext uri="{FF2B5EF4-FFF2-40B4-BE49-F238E27FC236}">
                <a16:creationId xmlns:a16="http://schemas.microsoft.com/office/drawing/2014/main" id="{280D5B7E-55AD-4B7A-B287-F5639BA76353}"/>
              </a:ext>
            </a:extLst>
          </p:cNvPr>
          <p:cNvSpPr/>
          <p:nvPr/>
        </p:nvSpPr>
        <p:spPr>
          <a:xfrm>
            <a:off x="4541418" y="217259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76" name="Rectángulo 175">
            <a:extLst>
              <a:ext uri="{FF2B5EF4-FFF2-40B4-BE49-F238E27FC236}">
                <a16:creationId xmlns:a16="http://schemas.microsoft.com/office/drawing/2014/main" id="{CD6EA3B4-3935-4667-AC05-8EEF54635881}"/>
              </a:ext>
            </a:extLst>
          </p:cNvPr>
          <p:cNvSpPr/>
          <p:nvPr/>
        </p:nvSpPr>
        <p:spPr>
          <a:xfrm>
            <a:off x="5846257" y="217259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77" name="Rectángulo 176">
            <a:extLst>
              <a:ext uri="{FF2B5EF4-FFF2-40B4-BE49-F238E27FC236}">
                <a16:creationId xmlns:a16="http://schemas.microsoft.com/office/drawing/2014/main" id="{1D55EBAB-964F-4462-9CF8-4C85DF9D3CA0}"/>
              </a:ext>
            </a:extLst>
          </p:cNvPr>
          <p:cNvSpPr/>
          <p:nvPr/>
        </p:nvSpPr>
        <p:spPr>
          <a:xfrm>
            <a:off x="7168453" y="217259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178" name="Rectángulo 177">
            <a:extLst>
              <a:ext uri="{FF2B5EF4-FFF2-40B4-BE49-F238E27FC236}">
                <a16:creationId xmlns:a16="http://schemas.microsoft.com/office/drawing/2014/main" id="{26ED6A13-A730-46AE-8877-4364BB2A0ED7}"/>
              </a:ext>
            </a:extLst>
          </p:cNvPr>
          <p:cNvSpPr/>
          <p:nvPr/>
        </p:nvSpPr>
        <p:spPr>
          <a:xfrm>
            <a:off x="8488044" y="2172596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</a:p>
        </p:txBody>
      </p:sp>
      <p:sp>
        <p:nvSpPr>
          <p:cNvPr id="6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EE3F396-20D8-4F45-B4E6-9989FE15C17E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BBC6E85-0AE8-4502-99BF-64CC7699A1FC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B376B00-A6A9-48AB-9F18-FEC650D2404E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CuadroTexto 9">
            <a:extLst>
              <a:ext uri="{FF2B5EF4-FFF2-40B4-BE49-F238E27FC236}">
                <a16:creationId xmlns:a16="http://schemas.microsoft.com/office/drawing/2014/main" id="{97272390-680A-43EC-9814-73CF66C45C25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DC1E3040-6DF7-43EE-A994-729A1EEF840B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CuadroTexto 12">
            <a:extLst>
              <a:ext uri="{FF2B5EF4-FFF2-40B4-BE49-F238E27FC236}">
                <a16:creationId xmlns:a16="http://schemas.microsoft.com/office/drawing/2014/main" id="{FE4419A1-0926-4E7A-A8CB-03830C5CB1CF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1C83ABA-D7DF-4361-A58B-9D7DD11458A0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" name="CuadroTexto 18">
            <a:extLst>
              <a:ext uri="{FF2B5EF4-FFF2-40B4-BE49-F238E27FC236}">
                <a16:creationId xmlns:a16="http://schemas.microsoft.com/office/drawing/2014/main" id="{51D3A24C-57F6-4C61-9410-F5ADACA50B4D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685B18B1-6EC8-42C6-809D-F0CC1FA0F2D4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9B4FDD81-B6AC-41F4-BE84-D37170DE42F9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5" name="Elipse 134">
            <a:extLst>
              <a:ext uri="{FF2B5EF4-FFF2-40B4-BE49-F238E27FC236}">
                <a16:creationId xmlns:a16="http://schemas.microsoft.com/office/drawing/2014/main" id="{0F4A3938-A319-4D76-8C98-32EC5E722BF6}"/>
              </a:ext>
            </a:extLst>
          </p:cNvPr>
          <p:cNvSpPr/>
          <p:nvPr/>
        </p:nvSpPr>
        <p:spPr>
          <a:xfrm>
            <a:off x="5071120" y="137481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38" name="Elipse 137">
            <a:extLst>
              <a:ext uri="{FF2B5EF4-FFF2-40B4-BE49-F238E27FC236}">
                <a16:creationId xmlns:a16="http://schemas.microsoft.com/office/drawing/2014/main" id="{930BB491-E032-49B4-8AD9-632A90526591}"/>
              </a:ext>
            </a:extLst>
          </p:cNvPr>
          <p:cNvSpPr/>
          <p:nvPr/>
        </p:nvSpPr>
        <p:spPr>
          <a:xfrm>
            <a:off x="5071120" y="160174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560EB693-F29A-4D40-AD4E-090470DC6141}"/>
              </a:ext>
            </a:extLst>
          </p:cNvPr>
          <p:cNvSpPr/>
          <p:nvPr/>
        </p:nvSpPr>
        <p:spPr>
          <a:xfrm>
            <a:off x="503727" y="1318226"/>
            <a:ext cx="1551096" cy="1296000"/>
          </a:xfrm>
          <a:prstGeom prst="rect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Financiero</a:t>
            </a:r>
          </a:p>
          <a:p>
            <a:pPr marL="357188" indent="-93663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357188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Económico</a:t>
            </a:r>
          </a:p>
          <a:p>
            <a:pPr marL="266700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266700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Gastos y Eficiencias</a:t>
            </a:r>
          </a:p>
          <a:p>
            <a:pPr marL="266700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266700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ALCO</a:t>
            </a:r>
          </a:p>
          <a:p>
            <a:pPr marL="266700" indent="-317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tabLst>
                <a:tab pos="266700" algn="l"/>
              </a:tabLst>
            </a:pPr>
            <a:r>
              <a:rPr lang="es-CO" sz="1100">
                <a:latin typeface="Arial" panose="020B0604020202020204" pitchFamily="34" charset="0"/>
                <a:cs typeface="Arial" panose="020B0604020202020204" pitchFamily="34" charset="0"/>
              </a:rPr>
              <a:t>C. Compras</a:t>
            </a:r>
          </a:p>
        </p:txBody>
      </p:sp>
      <p:sp>
        <p:nvSpPr>
          <p:cNvPr id="46" name="Elipse 45">
            <a:extLst>
              <a:ext uri="{FF2B5EF4-FFF2-40B4-BE49-F238E27FC236}">
                <a16:creationId xmlns:a16="http://schemas.microsoft.com/office/drawing/2014/main" id="{EEBA6794-0094-44CF-92CF-7CBD3D37D253}"/>
              </a:ext>
            </a:extLst>
          </p:cNvPr>
          <p:cNvSpPr/>
          <p:nvPr/>
        </p:nvSpPr>
        <p:spPr>
          <a:xfrm>
            <a:off x="512735" y="1354264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1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50" name="CuadroTexto 49">
            <a:extLst>
              <a:ext uri="{FF2B5EF4-FFF2-40B4-BE49-F238E27FC236}">
                <a16:creationId xmlns:a16="http://schemas.microsoft.com/office/drawing/2014/main" id="{AD96C256-5FAC-4103-96DB-18DD1E17552C}"/>
              </a:ext>
            </a:extLst>
          </p:cNvPr>
          <p:cNvSpPr txBox="1"/>
          <p:nvPr/>
        </p:nvSpPr>
        <p:spPr>
          <a:xfrm>
            <a:off x="866761" y="1074539"/>
            <a:ext cx="790601" cy="2585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 b="1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</a:t>
            </a:r>
          </a:p>
        </p:txBody>
      </p:sp>
      <p:sp>
        <p:nvSpPr>
          <p:cNvPr id="51" name="Botón de acción: ir hacia delante o siguiente 50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576D6E89-475D-4746-8BF8-83024D5D151D}"/>
              </a:ext>
            </a:extLst>
          </p:cNvPr>
          <p:cNvSpPr/>
          <p:nvPr/>
        </p:nvSpPr>
        <p:spPr>
          <a:xfrm>
            <a:off x="1786383" y="136544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53B86AB6-462C-42C9-B2D1-1204050547D7}"/>
              </a:ext>
            </a:extLst>
          </p:cNvPr>
          <p:cNvSpPr/>
          <p:nvPr/>
        </p:nvSpPr>
        <p:spPr>
          <a:xfrm>
            <a:off x="512735" y="1580138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2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58" name="Botón de acción: ir hacia delante o siguiente 57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99463304-6673-449D-96EE-9F2D744C46E2}"/>
              </a:ext>
            </a:extLst>
          </p:cNvPr>
          <p:cNvSpPr/>
          <p:nvPr/>
        </p:nvSpPr>
        <p:spPr>
          <a:xfrm>
            <a:off x="1786383" y="1598906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9" name="Elipse 148">
            <a:extLst>
              <a:ext uri="{FF2B5EF4-FFF2-40B4-BE49-F238E27FC236}">
                <a16:creationId xmlns:a16="http://schemas.microsoft.com/office/drawing/2014/main" id="{FDE0D9A2-62DA-430C-9713-853044D269F9}"/>
              </a:ext>
            </a:extLst>
          </p:cNvPr>
          <p:cNvSpPr/>
          <p:nvPr/>
        </p:nvSpPr>
        <p:spPr>
          <a:xfrm>
            <a:off x="5071120" y="1806665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50" name="Elipse 149">
            <a:extLst>
              <a:ext uri="{FF2B5EF4-FFF2-40B4-BE49-F238E27FC236}">
                <a16:creationId xmlns:a16="http://schemas.microsoft.com/office/drawing/2014/main" id="{66FD58D3-4DA0-46FF-B11B-2B99A5E3F17A}"/>
              </a:ext>
            </a:extLst>
          </p:cNvPr>
          <p:cNvSpPr/>
          <p:nvPr/>
        </p:nvSpPr>
        <p:spPr>
          <a:xfrm>
            <a:off x="512735" y="1866799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3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79" name="Elipse 178">
            <a:extLst>
              <a:ext uri="{FF2B5EF4-FFF2-40B4-BE49-F238E27FC236}">
                <a16:creationId xmlns:a16="http://schemas.microsoft.com/office/drawing/2014/main" id="{805976D8-3A88-4459-AA90-EED2B084B265}"/>
              </a:ext>
            </a:extLst>
          </p:cNvPr>
          <p:cNvSpPr/>
          <p:nvPr/>
        </p:nvSpPr>
        <p:spPr>
          <a:xfrm>
            <a:off x="512735" y="2156502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80" name="Botón de acción: ir hacia delante o siguiente 179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AB62ACF2-7F95-47B2-8190-1788994ADD88}"/>
              </a:ext>
            </a:extLst>
          </p:cNvPr>
          <p:cNvSpPr/>
          <p:nvPr/>
        </p:nvSpPr>
        <p:spPr>
          <a:xfrm>
            <a:off x="1786383" y="1866722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1" name="Botón de acción: ir hacia delante o siguiente 180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A601F988-22C3-40B8-BAB8-FCAEFFCC32EF}"/>
              </a:ext>
            </a:extLst>
          </p:cNvPr>
          <p:cNvSpPr/>
          <p:nvPr/>
        </p:nvSpPr>
        <p:spPr>
          <a:xfrm>
            <a:off x="1786383" y="2186364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2" name="Elipse 181">
            <a:extLst>
              <a:ext uri="{FF2B5EF4-FFF2-40B4-BE49-F238E27FC236}">
                <a16:creationId xmlns:a16="http://schemas.microsoft.com/office/drawing/2014/main" id="{6D5046F6-664B-4D8B-A2E7-7E6B792F8C00}"/>
              </a:ext>
            </a:extLst>
          </p:cNvPr>
          <p:cNvSpPr/>
          <p:nvPr/>
        </p:nvSpPr>
        <p:spPr>
          <a:xfrm>
            <a:off x="5312846" y="1806665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4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83" name="Botón de acción: ir hacia delante o siguiente 18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34B72115-75E1-49BB-97E6-4C7773CB97B0}"/>
              </a:ext>
            </a:extLst>
          </p:cNvPr>
          <p:cNvSpPr/>
          <p:nvPr/>
        </p:nvSpPr>
        <p:spPr>
          <a:xfrm>
            <a:off x="1786383" y="2424490"/>
            <a:ext cx="128861" cy="150415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4" name="Elipse 183">
            <a:extLst>
              <a:ext uri="{FF2B5EF4-FFF2-40B4-BE49-F238E27FC236}">
                <a16:creationId xmlns:a16="http://schemas.microsoft.com/office/drawing/2014/main" id="{2DD38973-8926-4876-98DE-F50C48CC2C38}"/>
              </a:ext>
            </a:extLst>
          </p:cNvPr>
          <p:cNvSpPr/>
          <p:nvPr/>
        </p:nvSpPr>
        <p:spPr>
          <a:xfrm>
            <a:off x="512735" y="2390501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5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186" name="Rectángulo 185">
            <a:extLst>
              <a:ext uri="{FF2B5EF4-FFF2-40B4-BE49-F238E27FC236}">
                <a16:creationId xmlns:a16="http://schemas.microsoft.com/office/drawing/2014/main" id="{B9BD52F3-5725-4DF9-84A1-20AF303B3AFC}"/>
              </a:ext>
            </a:extLst>
          </p:cNvPr>
          <p:cNvSpPr/>
          <p:nvPr/>
        </p:nvSpPr>
        <p:spPr>
          <a:xfrm>
            <a:off x="7639381" y="2951191"/>
            <a:ext cx="1260000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Administrativo</a:t>
            </a:r>
          </a:p>
        </p:txBody>
      </p:sp>
      <p:sp>
        <p:nvSpPr>
          <p:cNvPr id="187" name="Rectángulo 186">
            <a:extLst>
              <a:ext uri="{FF2B5EF4-FFF2-40B4-BE49-F238E27FC236}">
                <a16:creationId xmlns:a16="http://schemas.microsoft.com/office/drawing/2014/main" id="{F7410D44-50DC-45E4-ABF9-221816CF453D}"/>
              </a:ext>
            </a:extLst>
          </p:cNvPr>
          <p:cNvSpPr/>
          <p:nvPr/>
        </p:nvSpPr>
        <p:spPr>
          <a:xfrm>
            <a:off x="7639380" y="3366808"/>
            <a:ext cx="1260000" cy="164966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8" name="Rectángulo 187">
            <a:extLst>
              <a:ext uri="{FF2B5EF4-FFF2-40B4-BE49-F238E27FC236}">
                <a16:creationId xmlns:a16="http://schemas.microsoft.com/office/drawing/2014/main" id="{B2043667-A03E-46E5-B598-24A73F5A290B}"/>
              </a:ext>
            </a:extLst>
          </p:cNvPr>
          <p:cNvSpPr/>
          <p:nvPr/>
        </p:nvSpPr>
        <p:spPr>
          <a:xfrm>
            <a:off x="7674500" y="4492264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ANS</a:t>
            </a:r>
            <a:b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Interno</a:t>
            </a:r>
          </a:p>
        </p:txBody>
      </p:sp>
      <p:sp>
        <p:nvSpPr>
          <p:cNvPr id="189" name="Rectángulo 188">
            <a:extLst>
              <a:ext uri="{FF2B5EF4-FFF2-40B4-BE49-F238E27FC236}">
                <a16:creationId xmlns:a16="http://schemas.microsoft.com/office/drawing/2014/main" id="{FD38BD28-D0AA-4330-B186-558E3DC5992B}"/>
              </a:ext>
            </a:extLst>
          </p:cNvPr>
          <p:cNvSpPr/>
          <p:nvPr/>
        </p:nvSpPr>
        <p:spPr>
          <a:xfrm>
            <a:off x="7674500" y="3977215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Presupuesto  Gastos G&amp;A</a:t>
            </a:r>
            <a:r>
              <a:rPr lang="es-CO" sz="1200" b="1" baseline="30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es-CO" sz="12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0" name="Rectángulo 189">
            <a:extLst>
              <a:ext uri="{FF2B5EF4-FFF2-40B4-BE49-F238E27FC236}">
                <a16:creationId xmlns:a16="http://schemas.microsoft.com/office/drawing/2014/main" id="{8BBC8045-F701-43AF-8F46-2AA3FB8C9A1C}"/>
              </a:ext>
            </a:extLst>
          </p:cNvPr>
          <p:cNvSpPr/>
          <p:nvPr/>
        </p:nvSpPr>
        <p:spPr>
          <a:xfrm>
            <a:off x="7674500" y="3462166"/>
            <a:ext cx="1179871" cy="432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Ahorro Total Costos</a:t>
            </a:r>
          </a:p>
        </p:txBody>
      </p:sp>
      <p:sp>
        <p:nvSpPr>
          <p:cNvPr id="194" name="Rectángulo 193">
            <a:extLst>
              <a:ext uri="{FF2B5EF4-FFF2-40B4-BE49-F238E27FC236}">
                <a16:creationId xmlns:a16="http://schemas.microsoft.com/office/drawing/2014/main" id="{3DB09AD4-9372-448A-89A7-40FB0B8CF1B2}"/>
              </a:ext>
            </a:extLst>
          </p:cNvPr>
          <p:cNvSpPr/>
          <p:nvPr/>
        </p:nvSpPr>
        <p:spPr>
          <a:xfrm>
            <a:off x="8658931" y="449974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195" name="Rectángulo 194">
            <a:extLst>
              <a:ext uri="{FF2B5EF4-FFF2-40B4-BE49-F238E27FC236}">
                <a16:creationId xmlns:a16="http://schemas.microsoft.com/office/drawing/2014/main" id="{FF9B4468-0F0B-4CAA-B30D-DC30D1E7466A}"/>
              </a:ext>
            </a:extLst>
          </p:cNvPr>
          <p:cNvSpPr/>
          <p:nvPr/>
        </p:nvSpPr>
        <p:spPr>
          <a:xfrm>
            <a:off x="8658931" y="3982453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96" name="Rectángulo 195">
            <a:extLst>
              <a:ext uri="{FF2B5EF4-FFF2-40B4-BE49-F238E27FC236}">
                <a16:creationId xmlns:a16="http://schemas.microsoft.com/office/drawing/2014/main" id="{9E02E760-E007-41CC-9606-7C35E99495ED}"/>
              </a:ext>
            </a:extLst>
          </p:cNvPr>
          <p:cNvSpPr/>
          <p:nvPr/>
        </p:nvSpPr>
        <p:spPr>
          <a:xfrm>
            <a:off x="8658931" y="3464281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cxnSp>
        <p:nvCxnSpPr>
          <p:cNvPr id="199" name="Conector: angular 198">
            <a:extLst>
              <a:ext uri="{FF2B5EF4-FFF2-40B4-BE49-F238E27FC236}">
                <a16:creationId xmlns:a16="http://schemas.microsoft.com/office/drawing/2014/main" id="{C0DC4F92-962F-4A2A-B726-B748B35054F1}"/>
              </a:ext>
            </a:extLst>
          </p:cNvPr>
          <p:cNvCxnSpPr>
            <a:cxnSpLocks/>
            <a:stCxn id="165" idx="2"/>
            <a:endCxn id="186" idx="0"/>
          </p:cNvCxnSpPr>
          <p:nvPr/>
        </p:nvCxnSpPr>
        <p:spPr>
          <a:xfrm rot="16200000" flipH="1">
            <a:off x="7039026" y="1720835"/>
            <a:ext cx="289283" cy="217142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5" name="Elipse 184">
            <a:extLst>
              <a:ext uri="{FF2B5EF4-FFF2-40B4-BE49-F238E27FC236}">
                <a16:creationId xmlns:a16="http://schemas.microsoft.com/office/drawing/2014/main" id="{0ED7908B-9223-419C-82E8-5A84F60FD8D8}"/>
              </a:ext>
            </a:extLst>
          </p:cNvPr>
          <p:cNvSpPr/>
          <p:nvPr/>
        </p:nvSpPr>
        <p:spPr>
          <a:xfrm>
            <a:off x="7548533" y="2875133"/>
            <a:ext cx="180000" cy="180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bg1"/>
                </a:solidFill>
              </a:rPr>
              <a:t>5</a:t>
            </a:r>
            <a:endParaRPr lang="es-CO" sz="1200">
              <a:solidFill>
                <a:schemeClr val="bg1"/>
              </a:solidFill>
            </a:endParaRPr>
          </a:p>
        </p:txBody>
      </p:sp>
      <p:sp>
        <p:nvSpPr>
          <p:cNvPr id="200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1080A903-EFEB-40A0-B208-2E296162C50E}"/>
              </a:ext>
            </a:extLst>
          </p:cNvPr>
          <p:cNvSpPr/>
          <p:nvPr/>
        </p:nvSpPr>
        <p:spPr>
          <a:xfrm>
            <a:off x="6906000" y="1468534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1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2F83DA74-D567-4D44-978D-24E76BAB4DA4}"/>
              </a:ext>
            </a:extLst>
          </p:cNvPr>
          <p:cNvSpPr/>
          <p:nvPr/>
        </p:nvSpPr>
        <p:spPr>
          <a:xfrm>
            <a:off x="6906000" y="1766481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2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CA2AFD45-7AB4-496B-B9F7-1A151D829189}"/>
              </a:ext>
            </a:extLst>
          </p:cNvPr>
          <p:cNvSpPr/>
          <p:nvPr/>
        </p:nvSpPr>
        <p:spPr>
          <a:xfrm>
            <a:off x="3031324" y="295174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3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529BD9D8-901F-4927-AF18-55CA17B696C1}"/>
              </a:ext>
            </a:extLst>
          </p:cNvPr>
          <p:cNvSpPr/>
          <p:nvPr/>
        </p:nvSpPr>
        <p:spPr>
          <a:xfrm>
            <a:off x="3031324" y="322412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4" name="Botón de acción: Hacia delante o Siguiente 32">
            <a:hlinkClick r:id="rId14" action="ppaction://hlinksldjump" highlightClick="1"/>
            <a:extLst>
              <a:ext uri="{FF2B5EF4-FFF2-40B4-BE49-F238E27FC236}">
                <a16:creationId xmlns:a16="http://schemas.microsoft.com/office/drawing/2014/main" id="{2AD9CF7C-DCDE-4E74-9BC3-9F27C6F43BAB}"/>
              </a:ext>
            </a:extLst>
          </p:cNvPr>
          <p:cNvSpPr/>
          <p:nvPr/>
        </p:nvSpPr>
        <p:spPr>
          <a:xfrm>
            <a:off x="8754390" y="295174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5" name="Botón de acción: Hacia delante o Siguiente 32">
            <a:hlinkClick r:id="rId15" action="ppaction://hlinksldjump" highlightClick="1"/>
            <a:extLst>
              <a:ext uri="{FF2B5EF4-FFF2-40B4-BE49-F238E27FC236}">
                <a16:creationId xmlns:a16="http://schemas.microsoft.com/office/drawing/2014/main" id="{E49CAF7F-EAC6-461B-B2E7-B4A7CE8B691B}"/>
              </a:ext>
            </a:extLst>
          </p:cNvPr>
          <p:cNvSpPr/>
          <p:nvPr/>
        </p:nvSpPr>
        <p:spPr>
          <a:xfrm>
            <a:off x="8754390" y="322412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6" name="Botón de acción: Hacia delante o Siguiente 32">
            <a:hlinkClick r:id="rId16" action="ppaction://hlinksldjump" highlightClick="1"/>
            <a:extLst>
              <a:ext uri="{FF2B5EF4-FFF2-40B4-BE49-F238E27FC236}">
                <a16:creationId xmlns:a16="http://schemas.microsoft.com/office/drawing/2014/main" id="{BC5E49A6-77AF-4233-89B1-8AFB6E5A795D}"/>
              </a:ext>
            </a:extLst>
          </p:cNvPr>
          <p:cNvSpPr/>
          <p:nvPr/>
        </p:nvSpPr>
        <p:spPr>
          <a:xfrm>
            <a:off x="10206549" y="295174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7" name="Botón de acción: Hacia delante o Siguiente 32">
            <a:hlinkClick r:id="rId17" action="ppaction://hlinksldjump" highlightClick="1"/>
            <a:extLst>
              <a:ext uri="{FF2B5EF4-FFF2-40B4-BE49-F238E27FC236}">
                <a16:creationId xmlns:a16="http://schemas.microsoft.com/office/drawing/2014/main" id="{3DFB5A6A-7C71-49A7-8CAC-8923EE431CD4}"/>
              </a:ext>
            </a:extLst>
          </p:cNvPr>
          <p:cNvSpPr/>
          <p:nvPr/>
        </p:nvSpPr>
        <p:spPr>
          <a:xfrm>
            <a:off x="10206549" y="322412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0" name="Botón de acción: Hacia delante o Siguiente 32">
            <a:hlinkClick r:id="rId18" action="ppaction://hlinksldjump" highlightClick="1"/>
            <a:extLst>
              <a:ext uri="{FF2B5EF4-FFF2-40B4-BE49-F238E27FC236}">
                <a16:creationId xmlns:a16="http://schemas.microsoft.com/office/drawing/2014/main" id="{36237C6F-F022-4821-ADE3-AA3CF5EA04F7}"/>
              </a:ext>
            </a:extLst>
          </p:cNvPr>
          <p:cNvSpPr/>
          <p:nvPr/>
        </p:nvSpPr>
        <p:spPr>
          <a:xfrm>
            <a:off x="5890307" y="295174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1" name="Botón de acción: Hacia delante o Siguiente 32">
            <a:hlinkClick r:id="rId19" action="ppaction://hlinksldjump" highlightClick="1"/>
            <a:extLst>
              <a:ext uri="{FF2B5EF4-FFF2-40B4-BE49-F238E27FC236}">
                <a16:creationId xmlns:a16="http://schemas.microsoft.com/office/drawing/2014/main" id="{781E47AF-482F-44B1-B6AF-FEEC133C2CFB}"/>
              </a:ext>
            </a:extLst>
          </p:cNvPr>
          <p:cNvSpPr/>
          <p:nvPr/>
        </p:nvSpPr>
        <p:spPr>
          <a:xfrm>
            <a:off x="5890307" y="322412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2" name="Botón de acción: Hacia delante o Siguiente 32">
            <a:hlinkClick r:id="rId20" action="ppaction://hlinksldjump" highlightClick="1"/>
            <a:extLst>
              <a:ext uri="{FF2B5EF4-FFF2-40B4-BE49-F238E27FC236}">
                <a16:creationId xmlns:a16="http://schemas.microsoft.com/office/drawing/2014/main" id="{C98FC3A8-901F-49C1-96EF-42CB82FE8DBD}"/>
              </a:ext>
            </a:extLst>
          </p:cNvPr>
          <p:cNvSpPr/>
          <p:nvPr/>
        </p:nvSpPr>
        <p:spPr>
          <a:xfrm>
            <a:off x="7328115" y="295174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3" name="Botón de acción: Hacia delante o Siguiente 32">
            <a:hlinkClick r:id="rId21" action="ppaction://hlinksldjump" highlightClick="1"/>
            <a:extLst>
              <a:ext uri="{FF2B5EF4-FFF2-40B4-BE49-F238E27FC236}">
                <a16:creationId xmlns:a16="http://schemas.microsoft.com/office/drawing/2014/main" id="{A006C1CC-48D0-4764-AA06-B9947F8EC718}"/>
              </a:ext>
            </a:extLst>
          </p:cNvPr>
          <p:cNvSpPr/>
          <p:nvPr/>
        </p:nvSpPr>
        <p:spPr>
          <a:xfrm>
            <a:off x="7328115" y="322412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4" name="Botón de acción: Hacia delante o Siguiente 32">
            <a:hlinkClick r:id="rId22" action="ppaction://hlinksldjump" highlightClick="1"/>
            <a:extLst>
              <a:ext uri="{FF2B5EF4-FFF2-40B4-BE49-F238E27FC236}">
                <a16:creationId xmlns:a16="http://schemas.microsoft.com/office/drawing/2014/main" id="{1B7C5C04-875C-4A53-AA26-5CB273CFAFEF}"/>
              </a:ext>
            </a:extLst>
          </p:cNvPr>
          <p:cNvSpPr/>
          <p:nvPr/>
        </p:nvSpPr>
        <p:spPr>
          <a:xfrm>
            <a:off x="4469571" y="3475575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15" name="Botón de acción: Hacia delante o Siguiente 32">
            <a:hlinkClick r:id="rId23" action="ppaction://hlinksldjump" highlightClick="1"/>
            <a:extLst>
              <a:ext uri="{FF2B5EF4-FFF2-40B4-BE49-F238E27FC236}">
                <a16:creationId xmlns:a16="http://schemas.microsoft.com/office/drawing/2014/main" id="{42907914-F489-4437-B793-04C6DC67A214}"/>
              </a:ext>
            </a:extLst>
          </p:cNvPr>
          <p:cNvSpPr/>
          <p:nvPr/>
        </p:nvSpPr>
        <p:spPr>
          <a:xfrm>
            <a:off x="4469571" y="374795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2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E63AE8D2-1589-46D4-9ADD-81857F083391}"/>
              </a:ext>
            </a:extLst>
          </p:cNvPr>
          <p:cNvSpPr/>
          <p:nvPr/>
        </p:nvSpPr>
        <p:spPr>
          <a:xfrm>
            <a:off x="3005287" y="375768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3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4D0A2619-691F-4563-8D39-20A1A455957E}"/>
              </a:ext>
            </a:extLst>
          </p:cNvPr>
          <p:cNvSpPr/>
          <p:nvPr/>
        </p:nvSpPr>
        <p:spPr>
          <a:xfrm>
            <a:off x="3005287" y="427391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5" name="Botón de acción: Hacia delante o Siguiente 32">
            <a:hlinkClick r:id="rId26" action="ppaction://hlinksldjump" highlightClick="1"/>
            <a:extLst>
              <a:ext uri="{FF2B5EF4-FFF2-40B4-BE49-F238E27FC236}">
                <a16:creationId xmlns:a16="http://schemas.microsoft.com/office/drawing/2014/main" id="{99D04F5F-AF1B-4D79-8147-AEC99EA8BD28}"/>
              </a:ext>
            </a:extLst>
          </p:cNvPr>
          <p:cNvSpPr/>
          <p:nvPr/>
        </p:nvSpPr>
        <p:spPr>
          <a:xfrm>
            <a:off x="5855793" y="375768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6" name="Botón de acción: Hacia delante o Siguiente 32">
            <a:hlinkClick r:id="rId27" action="ppaction://hlinksldjump" highlightClick="1"/>
            <a:extLst>
              <a:ext uri="{FF2B5EF4-FFF2-40B4-BE49-F238E27FC236}">
                <a16:creationId xmlns:a16="http://schemas.microsoft.com/office/drawing/2014/main" id="{BE8140DC-3EC4-41C2-9DE5-FE3666964700}"/>
              </a:ext>
            </a:extLst>
          </p:cNvPr>
          <p:cNvSpPr/>
          <p:nvPr/>
        </p:nvSpPr>
        <p:spPr>
          <a:xfrm>
            <a:off x="5855793" y="428449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7" name="Botón de acción: Hacia delante o Siguiente 32">
            <a:hlinkClick r:id="rId28" action="ppaction://hlinksldjump" highlightClick="1"/>
            <a:extLst>
              <a:ext uri="{FF2B5EF4-FFF2-40B4-BE49-F238E27FC236}">
                <a16:creationId xmlns:a16="http://schemas.microsoft.com/office/drawing/2014/main" id="{B1CBA1A6-F835-414A-AFB8-64276777740D}"/>
              </a:ext>
            </a:extLst>
          </p:cNvPr>
          <p:cNvSpPr/>
          <p:nvPr/>
        </p:nvSpPr>
        <p:spPr>
          <a:xfrm>
            <a:off x="7317785" y="37566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8" name="Botón de acción: Hacia delante o Siguiente 32">
            <a:hlinkClick r:id="rId29" action="ppaction://hlinksldjump" highlightClick="1"/>
            <a:extLst>
              <a:ext uri="{FF2B5EF4-FFF2-40B4-BE49-F238E27FC236}">
                <a16:creationId xmlns:a16="http://schemas.microsoft.com/office/drawing/2014/main" id="{A9BDF338-D01F-4EAE-8FF3-9ACC1762A3A1}"/>
              </a:ext>
            </a:extLst>
          </p:cNvPr>
          <p:cNvSpPr/>
          <p:nvPr/>
        </p:nvSpPr>
        <p:spPr>
          <a:xfrm>
            <a:off x="7317785" y="428449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9" name="Botón de acción: Hacia delante o Siguiente 32">
            <a:hlinkClick r:id="rId30" action="ppaction://hlinksldjump" highlightClick="1"/>
            <a:extLst>
              <a:ext uri="{FF2B5EF4-FFF2-40B4-BE49-F238E27FC236}">
                <a16:creationId xmlns:a16="http://schemas.microsoft.com/office/drawing/2014/main" id="{E2E7D219-CE8C-493C-B01F-C93E74888DF9}"/>
              </a:ext>
            </a:extLst>
          </p:cNvPr>
          <p:cNvSpPr/>
          <p:nvPr/>
        </p:nvSpPr>
        <p:spPr>
          <a:xfrm>
            <a:off x="7317785" y="479954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0" name="Botón de acción: Hacia delante o Siguiente 32">
            <a:hlinkClick r:id="rId31" action="ppaction://hlinksldjump" highlightClick="1"/>
            <a:extLst>
              <a:ext uri="{FF2B5EF4-FFF2-40B4-BE49-F238E27FC236}">
                <a16:creationId xmlns:a16="http://schemas.microsoft.com/office/drawing/2014/main" id="{8A0A6AEC-A26D-4B2E-8DE9-F79148596F4D}"/>
              </a:ext>
            </a:extLst>
          </p:cNvPr>
          <p:cNvSpPr/>
          <p:nvPr/>
        </p:nvSpPr>
        <p:spPr>
          <a:xfrm>
            <a:off x="8709478" y="3756698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1" name="Botón de acción: Hacia delante o Siguiente 32">
            <a:hlinkClick r:id="rId32" action="ppaction://hlinksldjump" highlightClick="1"/>
            <a:extLst>
              <a:ext uri="{FF2B5EF4-FFF2-40B4-BE49-F238E27FC236}">
                <a16:creationId xmlns:a16="http://schemas.microsoft.com/office/drawing/2014/main" id="{8A936AFC-D89F-4148-B60A-5D685D21F104}"/>
              </a:ext>
            </a:extLst>
          </p:cNvPr>
          <p:cNvSpPr/>
          <p:nvPr/>
        </p:nvSpPr>
        <p:spPr>
          <a:xfrm>
            <a:off x="10158372" y="4284492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6BCE32C-3CD4-4D3A-8290-51080C0DE647}"/>
              </a:ext>
            </a:extLst>
          </p:cNvPr>
          <p:cNvSpPr/>
          <p:nvPr/>
        </p:nvSpPr>
        <p:spPr>
          <a:xfrm>
            <a:off x="10158372" y="376456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FEA99E3C-C677-4D32-A6BE-1684171D441A}"/>
              </a:ext>
            </a:extLst>
          </p:cNvPr>
          <p:cNvSpPr/>
          <p:nvPr/>
        </p:nvSpPr>
        <p:spPr>
          <a:xfrm>
            <a:off x="8529256" y="2459896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0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C034A1B3-DAAC-40FA-AB67-F3E584304147}"/>
              </a:ext>
            </a:extLst>
          </p:cNvPr>
          <p:cNvSpPr/>
          <p:nvPr/>
        </p:nvSpPr>
        <p:spPr>
          <a:xfrm>
            <a:off x="3004901" y="479954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1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58005852-0531-4625-91A2-5E2A48154D65}"/>
              </a:ext>
            </a:extLst>
          </p:cNvPr>
          <p:cNvSpPr/>
          <p:nvPr/>
        </p:nvSpPr>
        <p:spPr>
          <a:xfrm>
            <a:off x="4447567" y="5305300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2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AFBA6A2E-8F37-476C-8B39-CC52A2CD126B}"/>
              </a:ext>
            </a:extLst>
          </p:cNvPr>
          <p:cNvSpPr/>
          <p:nvPr/>
        </p:nvSpPr>
        <p:spPr>
          <a:xfrm>
            <a:off x="5843507" y="4799541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5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AA680A0A-5785-43C2-8908-A6EA7BB47DAC}"/>
              </a:ext>
            </a:extLst>
          </p:cNvPr>
          <p:cNvSpPr/>
          <p:nvPr/>
        </p:nvSpPr>
        <p:spPr>
          <a:xfrm>
            <a:off x="7291130" y="5307365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6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59AF41F4-5713-432D-9EA0-8350EA8D8DD5}"/>
              </a:ext>
            </a:extLst>
          </p:cNvPr>
          <p:cNvSpPr/>
          <p:nvPr/>
        </p:nvSpPr>
        <p:spPr>
          <a:xfrm>
            <a:off x="8704150" y="479093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7" name="Botón de acción: Hacia delante o Siguiente 32">
            <a:hlinkClick r:id="rId33" action="ppaction://hlinksldjump" highlightClick="1"/>
            <a:extLst>
              <a:ext uri="{FF2B5EF4-FFF2-40B4-BE49-F238E27FC236}">
                <a16:creationId xmlns:a16="http://schemas.microsoft.com/office/drawing/2014/main" id="{4F2159ED-D602-46F4-A3BA-909FCE26C2B6}"/>
              </a:ext>
            </a:extLst>
          </p:cNvPr>
          <p:cNvSpPr/>
          <p:nvPr/>
        </p:nvSpPr>
        <p:spPr>
          <a:xfrm>
            <a:off x="10159860" y="479093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2" name="Botón de acción: Hacia delante o Siguiente 32">
            <a:hlinkClick r:id="rId24" action="ppaction://hlinksldjump" highlightClick="1"/>
            <a:extLst>
              <a:ext uri="{FF2B5EF4-FFF2-40B4-BE49-F238E27FC236}">
                <a16:creationId xmlns:a16="http://schemas.microsoft.com/office/drawing/2014/main" id="{FFCAEEBA-270C-4573-A77F-23D43FA3C173}"/>
              </a:ext>
            </a:extLst>
          </p:cNvPr>
          <p:cNvSpPr/>
          <p:nvPr/>
        </p:nvSpPr>
        <p:spPr>
          <a:xfrm>
            <a:off x="4446850" y="4274057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3" name="Botón de acción: Hacia delante o Siguiente 32">
            <a:hlinkClick r:id="rId25" action="ppaction://hlinksldjump" highlightClick="1"/>
            <a:extLst>
              <a:ext uri="{FF2B5EF4-FFF2-40B4-BE49-F238E27FC236}">
                <a16:creationId xmlns:a16="http://schemas.microsoft.com/office/drawing/2014/main" id="{18267ADA-9577-4326-8B5B-5ABDDB7C2439}"/>
              </a:ext>
            </a:extLst>
          </p:cNvPr>
          <p:cNvSpPr/>
          <p:nvPr/>
        </p:nvSpPr>
        <p:spPr>
          <a:xfrm>
            <a:off x="4446850" y="479028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20EB39E-ACEF-43F6-AC51-9789A0E577D2}"/>
              </a:ext>
            </a:extLst>
          </p:cNvPr>
          <p:cNvSpPr/>
          <p:nvPr/>
        </p:nvSpPr>
        <p:spPr>
          <a:xfrm>
            <a:off x="8713271" y="4277289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Botón de acción: Hacia delante o Siguiente 32">
            <a:hlinkClick r:id="rId34" action="ppaction://hlinksldjump" highlightClick="1"/>
            <a:extLst>
              <a:ext uri="{FF2B5EF4-FFF2-40B4-BE49-F238E27FC236}">
                <a16:creationId xmlns:a16="http://schemas.microsoft.com/office/drawing/2014/main" id="{A6E89956-8749-43A5-93C9-4A573542A9F9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CuadroTexto 27">
            <a:extLst>
              <a:ext uri="{FF2B5EF4-FFF2-40B4-BE49-F238E27FC236}">
                <a16:creationId xmlns:a16="http://schemas.microsoft.com/office/drawing/2014/main" id="{1E459DFA-5E90-4CE6-89D5-31345F026D67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5DA7289-1C7A-4CA3-82B5-810AD09056B2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701027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513A48F-05BE-4956-97CF-BAC3DF61AD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Cascada Indicadores de Gestión del Desempeño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C5138B1-81F4-45DA-AFE8-AB2FBE81C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</a:t>
            </a:fld>
            <a:endParaRPr lang="es-ES_tradn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6D6D62-0BAD-453A-8FC7-DDFBF05C9FD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4D04F0C-2A41-4629-9950-89F70EEADD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definición del modelo de medición parte de la delimitación de los indicadores corporativos y posterior despliegue en cascada a los demás niveles de la organización</a:t>
            </a:r>
            <a:endParaRPr lang="es-CO"/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D888010C-2D8E-4C73-9961-03311E212B20}"/>
              </a:ext>
            </a:extLst>
          </p:cNvPr>
          <p:cNvSpPr/>
          <p:nvPr/>
        </p:nvSpPr>
        <p:spPr>
          <a:xfrm>
            <a:off x="5142000" y="1469508"/>
            <a:ext cx="1908000" cy="432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A55F76EF-A8A6-4539-8474-4E2B36D7498E}"/>
              </a:ext>
            </a:extLst>
          </p:cNvPr>
          <p:cNvCxnSpPr>
            <a:cxnSpLocks/>
            <a:stCxn id="23" idx="2"/>
          </p:cNvCxnSpPr>
          <p:nvPr/>
        </p:nvCxnSpPr>
        <p:spPr>
          <a:xfrm>
            <a:off x="6096000" y="1901508"/>
            <a:ext cx="0" cy="18231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5" name="Rectángulo 164">
            <a:extLst>
              <a:ext uri="{FF2B5EF4-FFF2-40B4-BE49-F238E27FC236}">
                <a16:creationId xmlns:a16="http://schemas.microsoft.com/office/drawing/2014/main" id="{A330267C-7BFA-49EF-B352-693E7431198A}"/>
              </a:ext>
            </a:extLst>
          </p:cNvPr>
          <p:cNvSpPr/>
          <p:nvPr/>
        </p:nvSpPr>
        <p:spPr>
          <a:xfrm>
            <a:off x="4098000" y="2083818"/>
            <a:ext cx="3996000" cy="57809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2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6" name="Rectángulo 165">
            <a:extLst>
              <a:ext uri="{FF2B5EF4-FFF2-40B4-BE49-F238E27FC236}">
                <a16:creationId xmlns:a16="http://schemas.microsoft.com/office/drawing/2014/main" id="{CBD230AD-7261-4CBC-B61A-1285AA838FD4}"/>
              </a:ext>
            </a:extLst>
          </p:cNvPr>
          <p:cNvSpPr/>
          <p:nvPr/>
        </p:nvSpPr>
        <p:spPr>
          <a:xfrm>
            <a:off x="4183969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b="1">
                <a:solidFill>
                  <a:schemeClr val="accent1"/>
                </a:solidFill>
              </a:rPr>
              <a:t>Volúmenes Fondeo LP</a:t>
            </a:r>
          </a:p>
        </p:txBody>
      </p:sp>
      <p:sp>
        <p:nvSpPr>
          <p:cNvPr id="167" name="Rectángulo 166">
            <a:extLst>
              <a:ext uri="{FF2B5EF4-FFF2-40B4-BE49-F238E27FC236}">
                <a16:creationId xmlns:a16="http://schemas.microsoft.com/office/drawing/2014/main" id="{EA75822E-4697-44AA-8925-8704C1EEE7D3}"/>
              </a:ext>
            </a:extLst>
          </p:cNvPr>
          <p:cNvSpPr/>
          <p:nvPr/>
        </p:nvSpPr>
        <p:spPr>
          <a:xfrm>
            <a:off x="5503560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Costo Fondos LP</a:t>
            </a:r>
          </a:p>
        </p:txBody>
      </p:sp>
      <p:sp>
        <p:nvSpPr>
          <p:cNvPr id="168" name="Rectángulo 167">
            <a:extLst>
              <a:ext uri="{FF2B5EF4-FFF2-40B4-BE49-F238E27FC236}">
                <a16:creationId xmlns:a16="http://schemas.microsoft.com/office/drawing/2014/main" id="{E20596BF-11D8-4A6F-AA1F-1E93E8715785}"/>
              </a:ext>
            </a:extLst>
          </p:cNvPr>
          <p:cNvSpPr/>
          <p:nvPr/>
        </p:nvSpPr>
        <p:spPr>
          <a:xfrm>
            <a:off x="6823151" y="2157496"/>
            <a:ext cx="1180800" cy="432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accent1"/>
                </a:solidFill>
              </a:rPr>
              <a:t>Mix Inversionistas</a:t>
            </a:r>
          </a:p>
        </p:txBody>
      </p:sp>
      <p:sp>
        <p:nvSpPr>
          <p:cNvPr id="170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52E64AC-88D8-4D2D-B930-595990CB22E1}"/>
              </a:ext>
            </a:extLst>
          </p:cNvPr>
          <p:cNvSpPr/>
          <p:nvPr/>
        </p:nvSpPr>
        <p:spPr>
          <a:xfrm>
            <a:off x="5218164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9DB83BC-79F7-42C1-AA1F-7CFB47475323}"/>
              </a:ext>
            </a:extLst>
          </p:cNvPr>
          <p:cNvSpPr/>
          <p:nvPr/>
        </p:nvSpPr>
        <p:spPr>
          <a:xfrm>
            <a:off x="6540360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2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D17E208-EDD8-4FF5-891A-1B65541A2552}"/>
              </a:ext>
            </a:extLst>
          </p:cNvPr>
          <p:cNvSpPr/>
          <p:nvPr/>
        </p:nvSpPr>
        <p:spPr>
          <a:xfrm>
            <a:off x="7859951" y="2459896"/>
            <a:ext cx="144000" cy="129600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5" name="Rectángulo 174">
            <a:extLst>
              <a:ext uri="{FF2B5EF4-FFF2-40B4-BE49-F238E27FC236}">
                <a16:creationId xmlns:a16="http://schemas.microsoft.com/office/drawing/2014/main" id="{280D5B7E-55AD-4B7A-B287-F5639BA76353}"/>
              </a:ext>
            </a:extLst>
          </p:cNvPr>
          <p:cNvSpPr/>
          <p:nvPr/>
        </p:nvSpPr>
        <p:spPr>
          <a:xfrm>
            <a:off x="5188405" y="216178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76" name="Rectángulo 175">
            <a:extLst>
              <a:ext uri="{FF2B5EF4-FFF2-40B4-BE49-F238E27FC236}">
                <a16:creationId xmlns:a16="http://schemas.microsoft.com/office/drawing/2014/main" id="{CD6EA3B4-3935-4667-AC05-8EEF54635881}"/>
              </a:ext>
            </a:extLst>
          </p:cNvPr>
          <p:cNvSpPr/>
          <p:nvPr/>
        </p:nvSpPr>
        <p:spPr>
          <a:xfrm>
            <a:off x="6493244" y="216178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r>
          </a:p>
        </p:txBody>
      </p:sp>
      <p:sp>
        <p:nvSpPr>
          <p:cNvPr id="177" name="Rectángulo 176">
            <a:extLst>
              <a:ext uri="{FF2B5EF4-FFF2-40B4-BE49-F238E27FC236}">
                <a16:creationId xmlns:a16="http://schemas.microsoft.com/office/drawing/2014/main" id="{1D55EBAB-964F-4462-9CF8-4C85DF9D3CA0}"/>
              </a:ext>
            </a:extLst>
          </p:cNvPr>
          <p:cNvSpPr/>
          <p:nvPr/>
        </p:nvSpPr>
        <p:spPr>
          <a:xfrm>
            <a:off x="7815440" y="2161780"/>
            <a:ext cx="1800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</a:t>
            </a:r>
          </a:p>
        </p:txBody>
      </p:sp>
      <p:sp>
        <p:nvSpPr>
          <p:cNvPr id="6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D8FFD0A-28DB-4917-85C7-E0833E711402}"/>
              </a:ext>
            </a:extLst>
          </p:cNvPr>
          <p:cNvSpPr/>
          <p:nvPr/>
        </p:nvSpPr>
        <p:spPr>
          <a:xfrm>
            <a:off x="3148901" y="6552273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4F12400-197F-483E-89C4-6E2520B49E13}"/>
              </a:ext>
            </a:extLst>
          </p:cNvPr>
          <p:cNvSpPr/>
          <p:nvPr/>
        </p:nvSpPr>
        <p:spPr>
          <a:xfrm>
            <a:off x="7884560" y="6552273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C284E5-6ED6-4477-B22E-3F41B19C8761}"/>
              </a:ext>
            </a:extLst>
          </p:cNvPr>
          <p:cNvSpPr/>
          <p:nvPr/>
        </p:nvSpPr>
        <p:spPr>
          <a:xfrm>
            <a:off x="6439135" y="6552273"/>
            <a:ext cx="14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B8090F99-F6E9-4A24-96FF-F06605B8EA68}"/>
              </a:ext>
            </a:extLst>
          </p:cNvPr>
          <p:cNvSpPr txBox="1"/>
          <p:nvPr/>
        </p:nvSpPr>
        <p:spPr>
          <a:xfrm>
            <a:off x="3298164" y="6504371"/>
            <a:ext cx="17917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Descripción de Cargo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CuadroTexto 9">
            <a:extLst>
              <a:ext uri="{FF2B5EF4-FFF2-40B4-BE49-F238E27FC236}">
                <a16:creationId xmlns:a16="http://schemas.microsoft.com/office/drawing/2014/main" id="{CB881279-728A-4D02-9DCC-DDA4C6D0D75D}"/>
              </a:ext>
            </a:extLst>
          </p:cNvPr>
          <p:cNvSpPr txBox="1"/>
          <p:nvPr/>
        </p:nvSpPr>
        <p:spPr>
          <a:xfrm>
            <a:off x="8022028" y="6504371"/>
            <a:ext cx="13703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Compensación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FA8C8F07-E9D3-4D1A-B29E-FE799648AC1C}"/>
              </a:ext>
            </a:extLst>
          </p:cNvPr>
          <p:cNvSpPr txBox="1"/>
          <p:nvPr/>
        </p:nvSpPr>
        <p:spPr>
          <a:xfrm>
            <a:off x="6576652" y="6504371"/>
            <a:ext cx="111009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Indicador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6C4B956-0DE0-40E0-9557-8F17C21DA696}"/>
              </a:ext>
            </a:extLst>
          </p:cNvPr>
          <p:cNvSpPr/>
          <p:nvPr/>
        </p:nvSpPr>
        <p:spPr>
          <a:xfrm>
            <a:off x="5168846" y="6552273"/>
            <a:ext cx="144000" cy="129600"/>
          </a:xfrm>
          <a:prstGeom prst="actionButtonForwardNex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CuadroTexto 12">
            <a:extLst>
              <a:ext uri="{FF2B5EF4-FFF2-40B4-BE49-F238E27FC236}">
                <a16:creationId xmlns:a16="http://schemas.microsoft.com/office/drawing/2014/main" id="{4564DF0A-FD6D-4136-BF28-D91C3A80AEAD}"/>
              </a:ext>
            </a:extLst>
          </p:cNvPr>
          <p:cNvSpPr txBox="1"/>
          <p:nvPr/>
        </p:nvSpPr>
        <p:spPr>
          <a:xfrm>
            <a:off x="5292319" y="6504371"/>
            <a:ext cx="94904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Ficha Comité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CuadroTexto 13">
            <a:extLst>
              <a:ext uri="{FF2B5EF4-FFF2-40B4-BE49-F238E27FC236}">
                <a16:creationId xmlns:a16="http://schemas.microsoft.com/office/drawing/2014/main" id="{49F54004-1781-459C-B330-5F41037A3B31}"/>
              </a:ext>
            </a:extLst>
          </p:cNvPr>
          <p:cNvSpPr txBox="1"/>
          <p:nvPr/>
        </p:nvSpPr>
        <p:spPr>
          <a:xfrm>
            <a:off x="9993101" y="1217655"/>
            <a:ext cx="190799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Ponderación indicadores (%)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D5F23056-4673-47F6-8B66-9C12AC94AB7A}"/>
              </a:ext>
            </a:extLst>
          </p:cNvPr>
          <p:cNvSpPr/>
          <p:nvPr/>
        </p:nvSpPr>
        <p:spPr>
          <a:xfrm>
            <a:off x="9761985" y="1287999"/>
            <a:ext cx="187200" cy="10800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8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889436F7-3697-4939-B433-90B3EF459A2E}"/>
              </a:ext>
            </a:extLst>
          </p:cNvPr>
          <p:cNvSpPr/>
          <p:nvPr/>
        </p:nvSpPr>
        <p:spPr>
          <a:xfrm>
            <a:off x="6921626" y="1467127"/>
            <a:ext cx="144000" cy="129600"/>
          </a:xfrm>
          <a:prstGeom prst="actionButtonForwardNex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6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9DCD27BE-52F1-4462-B168-83D94B4B00B1}"/>
              </a:ext>
            </a:extLst>
          </p:cNvPr>
          <p:cNvSpPr/>
          <p:nvPr/>
        </p:nvSpPr>
        <p:spPr>
          <a:xfrm>
            <a:off x="6921626" y="1793508"/>
            <a:ext cx="144000" cy="129600"/>
          </a:xfrm>
          <a:prstGeom prst="actionButtonForwardNex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6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6CDF0A41-5CE2-4414-AA2F-E44479EF6DF8}"/>
              </a:ext>
            </a:extLst>
          </p:cNvPr>
          <p:cNvSpPr/>
          <p:nvPr/>
        </p:nvSpPr>
        <p:spPr>
          <a:xfrm>
            <a:off x="9645369" y="6523080"/>
            <a:ext cx="144000" cy="129600"/>
          </a:xfrm>
          <a:prstGeom prst="actionButtonForwardNex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AD7A9A52-EB12-49A2-B80F-B16E2DF8D5DA}"/>
              </a:ext>
            </a:extLst>
          </p:cNvPr>
          <p:cNvSpPr txBox="1"/>
          <p:nvPr/>
        </p:nvSpPr>
        <p:spPr>
          <a:xfrm>
            <a:off x="9750173" y="6475178"/>
            <a:ext cx="16624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Modelo de Competencias</a:t>
            </a:r>
            <a:endParaRPr lang="es-CO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0F05D9FE-81F8-4AA1-9D8A-16E07DEB1158}"/>
              </a:ext>
            </a:extLst>
          </p:cNvPr>
          <p:cNvSpPr/>
          <p:nvPr/>
        </p:nvSpPr>
        <p:spPr>
          <a:xfrm>
            <a:off x="9599366" y="6479115"/>
            <a:ext cx="1813267" cy="2186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371646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 b="1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21217906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Presidente Junta Directiva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el modelo de transición el Presidente de la JD liderará la definición de la estrategia, el relacionamiento externo y </a:t>
            </a:r>
            <a:r>
              <a:rPr lang="es-ES">
                <a:latin typeface="+mn-lt"/>
                <a:cs typeface="Calibri"/>
              </a:rPr>
              <a:t>estará involucrado activamente en temas financieros y de fondeo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t-BR" sz="1400" b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Presidente Junta </a:t>
            </a:r>
            <a:r>
              <a:rPr lang="es-CO" sz="1400" b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Directiva</a:t>
            </a:r>
            <a:r>
              <a:rPr lang="pt-BR" sz="1400" b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FI/CV – Modelo </a:t>
            </a:r>
            <a:r>
              <a:rPr lang="es-CO" sz="1400" b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Transición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5" y="1853115"/>
            <a:ext cx="4932000" cy="41215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Liderar la definición de la estrategia, y asegurar que se cuenta con el equipo ejecutivo para su ejecución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Asegurar el traspaso del liderazgo del relacionamiento externo al Presidente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Liderar comité de Estrategia de la Junta Directiva – participar en la definición del direccionamiento estratégico para establecer los lineamientos del negocio a corto, mediano y largo plazo (involucramiento en innovación)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Evaluar el trabajo del presidente, realizando el adecuado seguimiento y evaluación – ejercer rol activo de mentor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Mantenerse actualizado ante las nuevas oportunidades de expansión, desarrollos de la industria y cambios en la competencia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Evaluar los riesgos garantizando que sean monitoreados y minimizados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Analizar y liderar oportunidades de crecimiento inorgánicas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Estudiar y monitorear constantemente el entorno financiero y del negocio, tanto nacional como internacionalmente, con el fin de dar una retroalimentación constante a la alta gerencia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6056675"/>
            <a:ext cx="4918780" cy="3915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Arial" panose="020B0604020202020204" pitchFamily="34" charset="0"/>
                <a:cs typeface="Arial" panose="020B0604020202020204" pitchFamily="34" charset="0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495704"/>
            <a:ext cx="1398168" cy="6952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Lineamientos y Políticas de Direccionamiento Estratégico de la JD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076378"/>
            <a:ext cx="1008000" cy="38980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Junta Directiva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256748" y="1843324"/>
            <a:ext cx="660293" cy="23305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2354505"/>
            <a:ext cx="1398169" cy="44187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Expectativas de Mediano y Largo Plazo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532267" y="2190668"/>
            <a:ext cx="109256" cy="6602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2575442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837197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81982" y="2513831"/>
            <a:ext cx="680762" cy="132364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62744" y="4095818"/>
            <a:ext cx="1422000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Resultados financieros y operativos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39354" y="3945224"/>
            <a:ext cx="166019" cy="6807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084744" y="2513831"/>
            <a:ext cx="30337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77982" y="3837471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Presidente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62744" y="2220217"/>
            <a:ext cx="1422000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Direccionamiento estratégico y de innovación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FD46F3A4-F002-41E8-930C-F3EB9ABF1654}"/>
              </a:ext>
            </a:extLst>
          </p:cNvPr>
          <p:cNvSpPr/>
          <p:nvPr/>
        </p:nvSpPr>
        <p:spPr>
          <a:xfrm>
            <a:off x="10413041" y="3976940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>
                <a:latin typeface="Arial" panose="020B0604020202020204" pitchFamily="34" charset="0"/>
                <a:cs typeface="Arial" panose="020B0604020202020204" pitchFamily="34" charset="0"/>
              </a:rPr>
              <a:t>VP </a:t>
            </a:r>
            <a:r>
              <a:rPr lang="en-US" sz="1200" err="1">
                <a:latin typeface="Arial" panose="020B0604020202020204" pitchFamily="34" charset="0"/>
                <a:cs typeface="Arial" panose="020B0604020202020204" pitchFamily="34" charset="0"/>
              </a:rPr>
              <a:t>Finan</a:t>
            </a:r>
            <a:r>
              <a:rPr lang="en-US" sz="1200">
                <a:latin typeface="Arial" panose="020B0604020202020204" pitchFamily="34" charset="0"/>
                <a:cs typeface="Arial" panose="020B0604020202020204" pitchFamily="34" charset="0"/>
              </a:rPr>
              <a:t>. Est.</a:t>
            </a:r>
          </a:p>
        </p:txBody>
      </p:sp>
      <p:sp>
        <p:nvSpPr>
          <p:cNvPr id="60" name="Marcador de contenido 5">
            <a:extLst>
              <a:ext uri="{FF2B5EF4-FFF2-40B4-BE49-F238E27FC236}">
                <a16:creationId xmlns:a16="http://schemas.microsoft.com/office/drawing/2014/main" id="{339D8616-8BC9-4807-B428-4468DC8721AF}"/>
              </a:ext>
            </a:extLst>
          </p:cNvPr>
          <p:cNvSpPr txBox="1">
            <a:spLocks/>
          </p:cNvSpPr>
          <p:nvPr/>
        </p:nvSpPr>
        <p:spPr>
          <a:xfrm>
            <a:off x="8858580" y="2957829"/>
            <a:ext cx="1398170" cy="52246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Novedades fondeo de LP – estado de los mercados</a:t>
            </a:r>
          </a:p>
        </p:txBody>
      </p:sp>
      <p:sp>
        <p:nvSpPr>
          <p:cNvPr id="62" name="Marcador de contenido 5">
            <a:extLst>
              <a:ext uri="{FF2B5EF4-FFF2-40B4-BE49-F238E27FC236}">
                <a16:creationId xmlns:a16="http://schemas.microsoft.com/office/drawing/2014/main" id="{77383090-8259-4634-A695-1A9C5C3C3183}"/>
              </a:ext>
            </a:extLst>
          </p:cNvPr>
          <p:cNvSpPr txBox="1">
            <a:spLocks/>
          </p:cNvSpPr>
          <p:nvPr/>
        </p:nvSpPr>
        <p:spPr>
          <a:xfrm>
            <a:off x="8858580" y="4923751"/>
            <a:ext cx="1398168" cy="69524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Apoyo en la definición de la  estrategia de finan. de largo plazo</a:t>
            </a:r>
          </a:p>
        </p:txBody>
      </p:sp>
      <p:cxnSp>
        <p:nvCxnSpPr>
          <p:cNvPr id="63" name="Conector angular 37">
            <a:extLst>
              <a:ext uri="{FF2B5EF4-FFF2-40B4-BE49-F238E27FC236}">
                <a16:creationId xmlns:a16="http://schemas.microsoft.com/office/drawing/2014/main" id="{D219E468-40EA-4F12-A81F-35AA4867C5D4}"/>
              </a:ext>
            </a:extLst>
          </p:cNvPr>
          <p:cNvCxnSpPr>
            <a:cxnSpLocks/>
            <a:stCxn id="58" idx="2"/>
            <a:endCxn id="62" idx="3"/>
          </p:cNvCxnSpPr>
          <p:nvPr/>
        </p:nvCxnSpPr>
        <p:spPr>
          <a:xfrm rot="5400000">
            <a:off x="10209680" y="4564009"/>
            <a:ext cx="754431" cy="66029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angular 32">
            <a:extLst>
              <a:ext uri="{FF2B5EF4-FFF2-40B4-BE49-F238E27FC236}">
                <a16:creationId xmlns:a16="http://schemas.microsoft.com/office/drawing/2014/main" id="{9A73A830-A0A6-499E-A9D0-349EBA6E18D3}"/>
              </a:ext>
            </a:extLst>
          </p:cNvPr>
          <p:cNvCxnSpPr>
            <a:cxnSpLocks/>
            <a:stCxn id="60" idx="3"/>
            <a:endCxn id="58" idx="0"/>
          </p:cNvCxnSpPr>
          <p:nvPr/>
        </p:nvCxnSpPr>
        <p:spPr>
          <a:xfrm>
            <a:off x="10256750" y="3219062"/>
            <a:ext cx="660291" cy="75787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Marcador de contenido 5">
            <a:extLst>
              <a:ext uri="{FF2B5EF4-FFF2-40B4-BE49-F238E27FC236}">
                <a16:creationId xmlns:a16="http://schemas.microsoft.com/office/drawing/2014/main" id="{7D3A978A-10BF-4BA4-B4DC-0589EBCF240E}"/>
              </a:ext>
            </a:extLst>
          </p:cNvPr>
          <p:cNvSpPr txBox="1">
            <a:spLocks/>
          </p:cNvSpPr>
          <p:nvPr/>
        </p:nvSpPr>
        <p:spPr>
          <a:xfrm>
            <a:off x="8858580" y="3544051"/>
            <a:ext cx="1398170" cy="53290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Requerimientos apoyo en relación con inversionistas</a:t>
            </a:r>
          </a:p>
        </p:txBody>
      </p:sp>
      <p:sp>
        <p:nvSpPr>
          <p:cNvPr id="90" name="Marcador de contenido 5">
            <a:extLst>
              <a:ext uri="{FF2B5EF4-FFF2-40B4-BE49-F238E27FC236}">
                <a16:creationId xmlns:a16="http://schemas.microsoft.com/office/drawing/2014/main" id="{B54A2103-F7A0-4A09-9986-8FF5CF1EF625}"/>
              </a:ext>
            </a:extLst>
          </p:cNvPr>
          <p:cNvSpPr txBox="1">
            <a:spLocks/>
          </p:cNvSpPr>
          <p:nvPr/>
        </p:nvSpPr>
        <p:spPr>
          <a:xfrm>
            <a:off x="8858580" y="4461872"/>
            <a:ext cx="1398170" cy="38768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Apoyo relación con inversionistas</a:t>
            </a:r>
          </a:p>
        </p:txBody>
      </p:sp>
      <p:cxnSp>
        <p:nvCxnSpPr>
          <p:cNvPr id="91" name="Conector angular 32">
            <a:extLst>
              <a:ext uri="{FF2B5EF4-FFF2-40B4-BE49-F238E27FC236}">
                <a16:creationId xmlns:a16="http://schemas.microsoft.com/office/drawing/2014/main" id="{74C2B884-164D-4F54-9371-7B14697D185F}"/>
              </a:ext>
            </a:extLst>
          </p:cNvPr>
          <p:cNvCxnSpPr>
            <a:cxnSpLocks/>
            <a:stCxn id="78" idx="3"/>
            <a:endCxn id="58" idx="0"/>
          </p:cNvCxnSpPr>
          <p:nvPr/>
        </p:nvCxnSpPr>
        <p:spPr>
          <a:xfrm>
            <a:off x="10256750" y="3810504"/>
            <a:ext cx="660291" cy="16643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angular 37">
            <a:extLst>
              <a:ext uri="{FF2B5EF4-FFF2-40B4-BE49-F238E27FC236}">
                <a16:creationId xmlns:a16="http://schemas.microsoft.com/office/drawing/2014/main" id="{A5CCB238-661B-4A51-9C9E-94CE51042210}"/>
              </a:ext>
            </a:extLst>
          </p:cNvPr>
          <p:cNvCxnSpPr>
            <a:cxnSpLocks/>
            <a:stCxn id="58" idx="2"/>
            <a:endCxn id="90" idx="3"/>
          </p:cNvCxnSpPr>
          <p:nvPr/>
        </p:nvCxnSpPr>
        <p:spPr>
          <a:xfrm rot="5400000">
            <a:off x="10517510" y="4256181"/>
            <a:ext cx="138773" cy="6602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recto de flecha 104">
            <a:extLst>
              <a:ext uri="{FF2B5EF4-FFF2-40B4-BE49-F238E27FC236}">
                <a16:creationId xmlns:a16="http://schemas.microsoft.com/office/drawing/2014/main" id="{DBB3CC6A-EEEB-432B-BF58-A062663DF344}"/>
              </a:ext>
            </a:extLst>
          </p:cNvPr>
          <p:cNvCxnSpPr>
            <a:cxnSpLocks/>
          </p:cNvCxnSpPr>
          <p:nvPr/>
        </p:nvCxnSpPr>
        <p:spPr>
          <a:xfrm flipH="1">
            <a:off x="8476636" y="4654210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ector recto de flecha 105">
            <a:extLst>
              <a:ext uri="{FF2B5EF4-FFF2-40B4-BE49-F238E27FC236}">
                <a16:creationId xmlns:a16="http://schemas.microsoft.com/office/drawing/2014/main" id="{FF90861F-50AF-4668-8087-4C073112657A}"/>
              </a:ext>
            </a:extLst>
          </p:cNvPr>
          <p:cNvCxnSpPr>
            <a:cxnSpLocks/>
          </p:cNvCxnSpPr>
          <p:nvPr/>
        </p:nvCxnSpPr>
        <p:spPr>
          <a:xfrm flipH="1">
            <a:off x="8476636" y="5280845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ector recto de flecha 106">
            <a:extLst>
              <a:ext uri="{FF2B5EF4-FFF2-40B4-BE49-F238E27FC236}">
                <a16:creationId xmlns:a16="http://schemas.microsoft.com/office/drawing/2014/main" id="{9A157451-46C1-4089-9239-A2AB5F3A0AE7}"/>
              </a:ext>
            </a:extLst>
          </p:cNvPr>
          <p:cNvCxnSpPr>
            <a:cxnSpLocks/>
          </p:cNvCxnSpPr>
          <p:nvPr/>
        </p:nvCxnSpPr>
        <p:spPr>
          <a:xfrm>
            <a:off x="8476636" y="3255987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ector recto de flecha 107">
            <a:extLst>
              <a:ext uri="{FF2B5EF4-FFF2-40B4-BE49-F238E27FC236}">
                <a16:creationId xmlns:a16="http://schemas.microsoft.com/office/drawing/2014/main" id="{4B08D56F-DB2A-4F8E-AF13-2659E37C795D}"/>
              </a:ext>
            </a:extLst>
          </p:cNvPr>
          <p:cNvCxnSpPr>
            <a:cxnSpLocks/>
          </p:cNvCxnSpPr>
          <p:nvPr/>
        </p:nvCxnSpPr>
        <p:spPr>
          <a:xfrm>
            <a:off x="8476636" y="3810503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Marcador de contenido 5">
            <a:extLst>
              <a:ext uri="{FF2B5EF4-FFF2-40B4-BE49-F238E27FC236}">
                <a16:creationId xmlns:a16="http://schemas.microsoft.com/office/drawing/2014/main" id="{3E4BEF40-DB63-4B94-A064-A758EC29C62C}"/>
              </a:ext>
            </a:extLst>
          </p:cNvPr>
          <p:cNvSpPr txBox="1">
            <a:spLocks/>
          </p:cNvSpPr>
          <p:nvPr/>
        </p:nvSpPr>
        <p:spPr>
          <a:xfrm>
            <a:off x="1662744" y="2944315"/>
            <a:ext cx="1422000" cy="86891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Mentoría 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Gestión estratégica del negocio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Relacionamiento externo</a:t>
            </a:r>
          </a:p>
        </p:txBody>
      </p:sp>
      <p:sp>
        <p:nvSpPr>
          <p:cNvPr id="116" name="Marcador de contenido 5">
            <a:extLst>
              <a:ext uri="{FF2B5EF4-FFF2-40B4-BE49-F238E27FC236}">
                <a16:creationId xmlns:a16="http://schemas.microsoft.com/office/drawing/2014/main" id="{C3E64D70-F459-4355-AD6A-CDBB51A170F4}"/>
              </a:ext>
            </a:extLst>
          </p:cNvPr>
          <p:cNvSpPr txBox="1">
            <a:spLocks/>
          </p:cNvSpPr>
          <p:nvPr/>
        </p:nvSpPr>
        <p:spPr>
          <a:xfrm>
            <a:off x="1662744" y="4715694"/>
            <a:ext cx="1422000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Requerimientos de mentoría</a:t>
            </a:r>
          </a:p>
        </p:txBody>
      </p:sp>
      <p:cxnSp>
        <p:nvCxnSpPr>
          <p:cNvPr id="117" name="Conector angular 26">
            <a:extLst>
              <a:ext uri="{FF2B5EF4-FFF2-40B4-BE49-F238E27FC236}">
                <a16:creationId xmlns:a16="http://schemas.microsoft.com/office/drawing/2014/main" id="{B019A16C-598A-4BA4-8C0A-A851C3C81961}"/>
              </a:ext>
            </a:extLst>
          </p:cNvPr>
          <p:cNvCxnSpPr>
            <a:cxnSpLocks/>
            <a:stCxn id="22" idx="2"/>
            <a:endCxn id="116" idx="1"/>
          </p:cNvCxnSpPr>
          <p:nvPr/>
        </p:nvCxnSpPr>
        <p:spPr>
          <a:xfrm rot="16200000" flipH="1">
            <a:off x="929416" y="4255162"/>
            <a:ext cx="785895" cy="6807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angular 23">
            <a:extLst>
              <a:ext uri="{FF2B5EF4-FFF2-40B4-BE49-F238E27FC236}">
                <a16:creationId xmlns:a16="http://schemas.microsoft.com/office/drawing/2014/main" id="{39125411-F4BC-444D-9785-C2E2C6617BBE}"/>
              </a:ext>
            </a:extLst>
          </p:cNvPr>
          <p:cNvCxnSpPr>
            <a:cxnSpLocks/>
            <a:stCxn id="112" idx="1"/>
            <a:endCxn id="22" idx="0"/>
          </p:cNvCxnSpPr>
          <p:nvPr/>
        </p:nvCxnSpPr>
        <p:spPr>
          <a:xfrm rot="10800000" flipV="1">
            <a:off x="981982" y="3378773"/>
            <a:ext cx="680762" cy="4586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ector recto de flecha 122">
            <a:extLst>
              <a:ext uri="{FF2B5EF4-FFF2-40B4-BE49-F238E27FC236}">
                <a16:creationId xmlns:a16="http://schemas.microsoft.com/office/drawing/2014/main" id="{B247D055-68AF-4C0D-9DA2-425A0D6E13AE}"/>
              </a:ext>
            </a:extLst>
          </p:cNvPr>
          <p:cNvCxnSpPr>
            <a:cxnSpLocks/>
          </p:cNvCxnSpPr>
          <p:nvPr/>
        </p:nvCxnSpPr>
        <p:spPr>
          <a:xfrm flipH="1">
            <a:off x="3079899" y="336347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ector recto de flecha 123">
            <a:extLst>
              <a:ext uri="{FF2B5EF4-FFF2-40B4-BE49-F238E27FC236}">
                <a16:creationId xmlns:a16="http://schemas.microsoft.com/office/drawing/2014/main" id="{6F568EFD-C6F6-4121-8999-F8B7DF4CF591}"/>
              </a:ext>
            </a:extLst>
          </p:cNvPr>
          <p:cNvCxnSpPr>
            <a:cxnSpLocks/>
          </p:cNvCxnSpPr>
          <p:nvPr/>
        </p:nvCxnSpPr>
        <p:spPr>
          <a:xfrm>
            <a:off x="3098928" y="4368615"/>
            <a:ext cx="29391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ector recto de flecha 125">
            <a:extLst>
              <a:ext uri="{FF2B5EF4-FFF2-40B4-BE49-F238E27FC236}">
                <a16:creationId xmlns:a16="http://schemas.microsoft.com/office/drawing/2014/main" id="{1FB7A2F3-99E6-4F60-A5E4-F2E60379C07F}"/>
              </a:ext>
            </a:extLst>
          </p:cNvPr>
          <p:cNvCxnSpPr>
            <a:cxnSpLocks/>
          </p:cNvCxnSpPr>
          <p:nvPr/>
        </p:nvCxnSpPr>
        <p:spPr>
          <a:xfrm>
            <a:off x="3098928" y="4988491"/>
            <a:ext cx="29391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A926595-9171-43B3-A791-FD08B86C9E41}"/>
              </a:ext>
            </a:extLst>
          </p:cNvPr>
          <p:cNvSpPr/>
          <p:nvPr/>
        </p:nvSpPr>
        <p:spPr>
          <a:xfrm>
            <a:off x="9357237" y="6526792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Flecha: pentágono 26">
            <a:extLst>
              <a:ext uri="{FF2B5EF4-FFF2-40B4-BE49-F238E27FC236}">
                <a16:creationId xmlns:a16="http://schemas.microsoft.com/office/drawing/2014/main" id="{53B4DEF9-255C-4C7F-949D-76C95DE57AD4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32" name="Signo más 31">
            <a:extLst>
              <a:ext uri="{FF2B5EF4-FFF2-40B4-BE49-F238E27FC236}">
                <a16:creationId xmlns:a16="http://schemas.microsoft.com/office/drawing/2014/main" id="{40FBBAEC-D530-46BF-B905-F35BEF2CE5F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B709E5BE-1D60-4EB5-AA02-9288F4589CD8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76358E1-B2F2-4B0F-8B70-AD8A2CDCA3DF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B441D816-602B-466B-9657-55C3F57032FD}"/>
              </a:ext>
            </a:extLst>
          </p:cNvPr>
          <p:cNvSpPr/>
          <p:nvPr/>
        </p:nvSpPr>
        <p:spPr>
          <a:xfrm>
            <a:off x="8296506" y="6473797"/>
            <a:ext cx="1340935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Objetivo</a:t>
            </a:r>
          </a:p>
        </p:txBody>
      </p:sp>
    </p:spTree>
    <p:extLst>
      <p:ext uri="{BB962C8B-B14F-4D97-AF65-F5344CB8AC3E}">
        <p14:creationId xmlns:p14="http://schemas.microsoft.com/office/powerpoint/2010/main" val="357272185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Presidente Junta Directiva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el modelo objetivo el Presidente de la JD liderará el direccionamiento estratégico y de innovación a través del Comité de Estrategia de JD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t-BR" sz="1400" b="1">
                <a:solidFill>
                  <a:prstClr val="white"/>
                </a:solidFill>
              </a:rPr>
              <a:t>Presidente Junta </a:t>
            </a:r>
            <a:r>
              <a:rPr lang="es-CO" sz="1400" b="1">
                <a:solidFill>
                  <a:prstClr val="white"/>
                </a:solidFill>
              </a:rPr>
              <a:t>Directiva</a:t>
            </a:r>
            <a:r>
              <a:rPr lang="pt-BR" sz="1400" b="1">
                <a:solidFill>
                  <a:prstClr val="white"/>
                </a:solidFill>
              </a:rPr>
              <a:t> FI/CV – Modelo </a:t>
            </a:r>
            <a:r>
              <a:rPr lang="es-CO" sz="1400" b="1">
                <a:solidFill>
                  <a:prstClr val="white"/>
                </a:solidFill>
              </a:rPr>
              <a:t>Objetivo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32000" cy="399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de la estrategia, y asegurar que se cuenta con el equipo ejecutivo para su ejecución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comité de Estrategia de la Junta Directiva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que la Junta Directiva fije e implemente eficientemente la dirección estratégica de la sociedad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Evaluar el trabajo del presidente, realizando el adecuado seguimiento y evaluación – ejercer rol activo de mentor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Mantenerse actualizado ante las nuevas oportunidades de expansión, desarrollos de la industria y cambios en la competencia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Evaluar los riesgos para la empresa, garantizando que sean monitorizados y minimizados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y liderar oportunidades de crecimiento inorgánicas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Estudiar y monitorear constantemente el entorno financiero y del negocio, tanto nacional como internacionalmente, con el fin de dar una retroalimentación constante a la alta gerencia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Participar en la definición del direccionamiento estratégico de la compañía para establecer los lineamientos del negocio a corto, mediano y largo plazo – a través de la junta directiva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02858"/>
            <a:ext cx="4918780" cy="5453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2330891"/>
            <a:ext cx="1398168" cy="6952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Lineamientos y Políticas de Direccionamiento Estratégico de la JD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977987"/>
            <a:ext cx="1008000" cy="38980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Junta Directiva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256748" y="2678511"/>
            <a:ext cx="660293" cy="129947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4501185"/>
            <a:ext cx="1398169" cy="44187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Mediano y Largo Plazo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09732" y="4214812"/>
            <a:ext cx="354327" cy="6602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76638" y="4722122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2672384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06996" y="3025172"/>
            <a:ext cx="1422000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74166" y="2765138"/>
            <a:ext cx="240647" cy="82501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77982" y="2692197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Presidente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FD46F3A4-F002-41E8-930C-F3EB9ABF1654}"/>
              </a:ext>
            </a:extLst>
          </p:cNvPr>
          <p:cNvSpPr/>
          <p:nvPr/>
        </p:nvSpPr>
        <p:spPr>
          <a:xfrm>
            <a:off x="386488" y="4819708"/>
            <a:ext cx="1008000" cy="40998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/>
              <a:t>VP </a:t>
            </a:r>
            <a:r>
              <a:rPr lang="en-US" sz="1200" err="1"/>
              <a:t>Finan</a:t>
            </a:r>
            <a:r>
              <a:rPr lang="en-US" sz="1200"/>
              <a:t>. Est.</a:t>
            </a:r>
          </a:p>
        </p:txBody>
      </p:sp>
      <p:sp>
        <p:nvSpPr>
          <p:cNvPr id="60" name="Marcador de contenido 5">
            <a:extLst>
              <a:ext uri="{FF2B5EF4-FFF2-40B4-BE49-F238E27FC236}">
                <a16:creationId xmlns:a16="http://schemas.microsoft.com/office/drawing/2014/main" id="{339D8616-8BC9-4807-B428-4468DC8721AF}"/>
              </a:ext>
            </a:extLst>
          </p:cNvPr>
          <p:cNvSpPr txBox="1">
            <a:spLocks/>
          </p:cNvSpPr>
          <p:nvPr/>
        </p:nvSpPr>
        <p:spPr>
          <a:xfrm>
            <a:off x="1816488" y="4351896"/>
            <a:ext cx="1398170" cy="52246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Novedades fondeo de LP – estado de los mercados</a:t>
            </a:r>
          </a:p>
        </p:txBody>
      </p:sp>
      <p:sp>
        <p:nvSpPr>
          <p:cNvPr id="62" name="Marcador de contenido 5">
            <a:extLst>
              <a:ext uri="{FF2B5EF4-FFF2-40B4-BE49-F238E27FC236}">
                <a16:creationId xmlns:a16="http://schemas.microsoft.com/office/drawing/2014/main" id="{77383090-8259-4634-A695-1A9C5C3C3183}"/>
              </a:ext>
            </a:extLst>
          </p:cNvPr>
          <p:cNvSpPr txBox="1">
            <a:spLocks/>
          </p:cNvSpPr>
          <p:nvPr/>
        </p:nvSpPr>
        <p:spPr>
          <a:xfrm>
            <a:off x="1806996" y="5035615"/>
            <a:ext cx="1398168" cy="69524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la definición de la  estrategia de finan. de largo plazo</a:t>
            </a:r>
          </a:p>
        </p:txBody>
      </p:sp>
      <p:cxnSp>
        <p:nvCxnSpPr>
          <p:cNvPr id="63" name="Conector angular 37">
            <a:extLst>
              <a:ext uri="{FF2B5EF4-FFF2-40B4-BE49-F238E27FC236}">
                <a16:creationId xmlns:a16="http://schemas.microsoft.com/office/drawing/2014/main" id="{D219E468-40EA-4F12-A81F-35AA4867C5D4}"/>
              </a:ext>
            </a:extLst>
          </p:cNvPr>
          <p:cNvCxnSpPr>
            <a:cxnSpLocks/>
            <a:stCxn id="58" idx="2"/>
            <a:endCxn id="62" idx="1"/>
          </p:cNvCxnSpPr>
          <p:nvPr/>
        </p:nvCxnSpPr>
        <p:spPr>
          <a:xfrm rot="16200000" flipH="1">
            <a:off x="1271972" y="4848210"/>
            <a:ext cx="153541" cy="91650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angular 32">
            <a:extLst>
              <a:ext uri="{FF2B5EF4-FFF2-40B4-BE49-F238E27FC236}">
                <a16:creationId xmlns:a16="http://schemas.microsoft.com/office/drawing/2014/main" id="{9A73A830-A0A6-499E-A9D0-349EBA6E18D3}"/>
              </a:ext>
            </a:extLst>
          </p:cNvPr>
          <p:cNvCxnSpPr>
            <a:cxnSpLocks/>
            <a:stCxn id="60" idx="1"/>
            <a:endCxn id="58" idx="0"/>
          </p:cNvCxnSpPr>
          <p:nvPr/>
        </p:nvCxnSpPr>
        <p:spPr>
          <a:xfrm rot="10800000" flipV="1">
            <a:off x="890488" y="4613128"/>
            <a:ext cx="926000" cy="20657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Marcador de contenido 5">
            <a:extLst>
              <a:ext uri="{FF2B5EF4-FFF2-40B4-BE49-F238E27FC236}">
                <a16:creationId xmlns:a16="http://schemas.microsoft.com/office/drawing/2014/main" id="{3E4BEF40-DB63-4B94-A064-A758EC29C62C}"/>
              </a:ext>
            </a:extLst>
          </p:cNvPr>
          <p:cNvSpPr txBox="1">
            <a:spLocks/>
          </p:cNvSpPr>
          <p:nvPr/>
        </p:nvSpPr>
        <p:spPr>
          <a:xfrm>
            <a:off x="1806996" y="1962919"/>
            <a:ext cx="1422000" cy="86891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b="1">
                <a:solidFill>
                  <a:schemeClr val="tx1"/>
                </a:solidFill>
                <a:latin typeface="+mn-lt"/>
              </a:rPr>
              <a:t>Mentoría 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Gestión estratégica del negocio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Relacionamiento externo</a:t>
            </a:r>
          </a:p>
        </p:txBody>
      </p:sp>
      <p:sp>
        <p:nvSpPr>
          <p:cNvPr id="116" name="Marcador de contenido 5">
            <a:extLst>
              <a:ext uri="{FF2B5EF4-FFF2-40B4-BE49-F238E27FC236}">
                <a16:creationId xmlns:a16="http://schemas.microsoft.com/office/drawing/2014/main" id="{C3E64D70-F459-4355-AD6A-CDBB51A170F4}"/>
              </a:ext>
            </a:extLst>
          </p:cNvPr>
          <p:cNvSpPr txBox="1">
            <a:spLocks/>
          </p:cNvSpPr>
          <p:nvPr/>
        </p:nvSpPr>
        <p:spPr>
          <a:xfrm>
            <a:off x="1806996" y="3645048"/>
            <a:ext cx="1422000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mentoría</a:t>
            </a:r>
          </a:p>
        </p:txBody>
      </p:sp>
      <p:cxnSp>
        <p:nvCxnSpPr>
          <p:cNvPr id="117" name="Conector angular 26">
            <a:extLst>
              <a:ext uri="{FF2B5EF4-FFF2-40B4-BE49-F238E27FC236}">
                <a16:creationId xmlns:a16="http://schemas.microsoft.com/office/drawing/2014/main" id="{B019A16C-598A-4BA4-8C0A-A851C3C81961}"/>
              </a:ext>
            </a:extLst>
          </p:cNvPr>
          <p:cNvCxnSpPr>
            <a:cxnSpLocks/>
            <a:stCxn id="22" idx="2"/>
            <a:endCxn id="116" idx="1"/>
          </p:cNvCxnSpPr>
          <p:nvPr/>
        </p:nvCxnSpPr>
        <p:spPr>
          <a:xfrm rot="16200000" flipH="1">
            <a:off x="964228" y="3075076"/>
            <a:ext cx="860523" cy="82501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angular 23">
            <a:extLst>
              <a:ext uri="{FF2B5EF4-FFF2-40B4-BE49-F238E27FC236}">
                <a16:creationId xmlns:a16="http://schemas.microsoft.com/office/drawing/2014/main" id="{39125411-F4BC-444D-9785-C2E2C6617BBE}"/>
              </a:ext>
            </a:extLst>
          </p:cNvPr>
          <p:cNvCxnSpPr>
            <a:cxnSpLocks/>
            <a:stCxn id="112" idx="1"/>
            <a:endCxn id="22" idx="0"/>
          </p:cNvCxnSpPr>
          <p:nvPr/>
        </p:nvCxnSpPr>
        <p:spPr>
          <a:xfrm rot="10800000" flipV="1">
            <a:off x="981982" y="2397377"/>
            <a:ext cx="825014" cy="2948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ector recto de flecha 122">
            <a:extLst>
              <a:ext uri="{FF2B5EF4-FFF2-40B4-BE49-F238E27FC236}">
                <a16:creationId xmlns:a16="http://schemas.microsoft.com/office/drawing/2014/main" id="{B247D055-68AF-4C0D-9DA2-425A0D6E13AE}"/>
              </a:ext>
            </a:extLst>
          </p:cNvPr>
          <p:cNvCxnSpPr>
            <a:cxnSpLocks/>
          </p:cNvCxnSpPr>
          <p:nvPr/>
        </p:nvCxnSpPr>
        <p:spPr>
          <a:xfrm flipH="1">
            <a:off x="3224151" y="2408304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ector recto de flecha 123">
            <a:extLst>
              <a:ext uri="{FF2B5EF4-FFF2-40B4-BE49-F238E27FC236}">
                <a16:creationId xmlns:a16="http://schemas.microsoft.com/office/drawing/2014/main" id="{6F568EFD-C6F6-4121-8999-F8B7DF4CF591}"/>
              </a:ext>
            </a:extLst>
          </p:cNvPr>
          <p:cNvCxnSpPr>
            <a:cxnSpLocks/>
          </p:cNvCxnSpPr>
          <p:nvPr/>
        </p:nvCxnSpPr>
        <p:spPr>
          <a:xfrm>
            <a:off x="3243180" y="3297969"/>
            <a:ext cx="29391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ector recto de flecha 125">
            <a:extLst>
              <a:ext uri="{FF2B5EF4-FFF2-40B4-BE49-F238E27FC236}">
                <a16:creationId xmlns:a16="http://schemas.microsoft.com/office/drawing/2014/main" id="{1FB7A2F3-99E6-4F60-A5E4-F2E60379C07F}"/>
              </a:ext>
            </a:extLst>
          </p:cNvPr>
          <p:cNvCxnSpPr>
            <a:cxnSpLocks/>
          </p:cNvCxnSpPr>
          <p:nvPr/>
        </p:nvCxnSpPr>
        <p:spPr>
          <a:xfrm>
            <a:off x="3243180" y="3917845"/>
            <a:ext cx="29391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Marcador de contenido 5">
            <a:extLst>
              <a:ext uri="{FF2B5EF4-FFF2-40B4-BE49-F238E27FC236}">
                <a16:creationId xmlns:a16="http://schemas.microsoft.com/office/drawing/2014/main" id="{0D64EC3A-BEE4-43AC-AB8C-616B45D8E812}"/>
              </a:ext>
            </a:extLst>
          </p:cNvPr>
          <p:cNvSpPr txBox="1">
            <a:spLocks/>
          </p:cNvSpPr>
          <p:nvPr/>
        </p:nvSpPr>
        <p:spPr>
          <a:xfrm>
            <a:off x="8846664" y="3298799"/>
            <a:ext cx="1422000" cy="5872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negocio de Mediano y Largo Plazo</a:t>
            </a:r>
          </a:p>
        </p:txBody>
      </p: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645F4EB4-1D46-4167-9DF7-06FBFC39A723}"/>
              </a:ext>
            </a:extLst>
          </p:cNvPr>
          <p:cNvCxnSpPr>
            <a:cxnSpLocks/>
          </p:cNvCxnSpPr>
          <p:nvPr/>
        </p:nvCxnSpPr>
        <p:spPr>
          <a:xfrm>
            <a:off x="8476636" y="3587875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angular 32">
            <a:extLst>
              <a:ext uri="{FF2B5EF4-FFF2-40B4-BE49-F238E27FC236}">
                <a16:creationId xmlns:a16="http://schemas.microsoft.com/office/drawing/2014/main" id="{8C8D876A-CEEB-4C5C-B129-80527C76BD58}"/>
              </a:ext>
            </a:extLst>
          </p:cNvPr>
          <p:cNvCxnSpPr>
            <a:cxnSpLocks/>
            <a:stCxn id="43" idx="3"/>
            <a:endCxn id="11" idx="0"/>
          </p:cNvCxnSpPr>
          <p:nvPr/>
        </p:nvCxnSpPr>
        <p:spPr>
          <a:xfrm>
            <a:off x="10268664" y="3592413"/>
            <a:ext cx="648377" cy="38557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D0E1587D-AFB8-45F0-AC78-6A2B3DCD9B49}"/>
              </a:ext>
            </a:extLst>
          </p:cNvPr>
          <p:cNvCxnSpPr>
            <a:cxnSpLocks/>
          </p:cNvCxnSpPr>
          <p:nvPr/>
        </p:nvCxnSpPr>
        <p:spPr>
          <a:xfrm flipH="1">
            <a:off x="3224151" y="464542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ector recto de flecha 80">
            <a:extLst>
              <a:ext uri="{FF2B5EF4-FFF2-40B4-BE49-F238E27FC236}">
                <a16:creationId xmlns:a16="http://schemas.microsoft.com/office/drawing/2014/main" id="{C2B99C3C-FC05-4DAA-BD35-E83917E1C468}"/>
              </a:ext>
            </a:extLst>
          </p:cNvPr>
          <p:cNvCxnSpPr>
            <a:cxnSpLocks/>
          </p:cNvCxnSpPr>
          <p:nvPr/>
        </p:nvCxnSpPr>
        <p:spPr>
          <a:xfrm>
            <a:off x="3243180" y="5389261"/>
            <a:ext cx="29391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Bocadillo: rectángulo con esquinas redondeadas 60">
            <a:extLst>
              <a:ext uri="{FF2B5EF4-FFF2-40B4-BE49-F238E27FC236}">
                <a16:creationId xmlns:a16="http://schemas.microsoft.com/office/drawing/2014/main" id="{17419595-F1A2-4934-BAFF-C1EB90D08963}"/>
              </a:ext>
            </a:extLst>
          </p:cNvPr>
          <p:cNvSpPr/>
          <p:nvPr/>
        </p:nvSpPr>
        <p:spPr>
          <a:xfrm>
            <a:off x="139581" y="1730523"/>
            <a:ext cx="1583994" cy="569815"/>
          </a:xfrm>
          <a:prstGeom prst="wedgeRoundRectCallout">
            <a:avLst>
              <a:gd name="adj1" fmla="val 43406"/>
              <a:gd name="adj2" fmla="val 82656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Direccionamiento estratégico a Presidencia través del Comité de Estrategia de la </a:t>
            </a:r>
            <a:r>
              <a:rPr lang="es-ES" sz="1000" err="1">
                <a:latin typeface="Arial" panose="020B0604020202020204" pitchFamily="34" charset="0"/>
                <a:cs typeface="Arial" panose="020B0604020202020204" pitchFamily="34" charset="0"/>
              </a:rPr>
              <a:t>Jd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Flecha: pentágono 22">
            <a:extLst>
              <a:ext uri="{FF2B5EF4-FFF2-40B4-BE49-F238E27FC236}">
                <a16:creationId xmlns:a16="http://schemas.microsoft.com/office/drawing/2014/main" id="{A9FD0424-4025-4892-AA1D-03A9B1B76993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4" name="Signo más 23">
            <a:extLst>
              <a:ext uri="{FF2B5EF4-FFF2-40B4-BE49-F238E27FC236}">
                <a16:creationId xmlns:a16="http://schemas.microsoft.com/office/drawing/2014/main" id="{95774992-B223-405C-B2AA-04C956743CB8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F6F4CE32-0B3B-474F-8719-163D9F4B90AA}"/>
              </a:ext>
            </a:extLst>
          </p:cNvPr>
          <p:cNvSpPr/>
          <p:nvPr/>
        </p:nvSpPr>
        <p:spPr>
          <a:xfrm>
            <a:off x="8385716" y="6473796"/>
            <a:ext cx="139825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Transición</a:t>
            </a:r>
          </a:p>
        </p:txBody>
      </p:sp>
      <p:sp>
        <p:nvSpPr>
          <p:cNvPr id="4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A8BE9C6-4FA6-4EAF-8C4D-D731638F66BE}"/>
              </a:ext>
            </a:extLst>
          </p:cNvPr>
          <p:cNvSpPr/>
          <p:nvPr/>
        </p:nvSpPr>
        <p:spPr>
          <a:xfrm rot="10800000">
            <a:off x="9509658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976D5017-FA26-477B-89E0-21FAB7BAC5A8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2249911-B40E-4EC1-A7FC-AA5B0ECEBDF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5901847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Miembro de Junta Directiva (Carlos Ivan Vargas)</a:t>
            </a: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la transición, Carlos Iván apoyará el direccionamiento estratégico desde su rol activo como miembro de la JD y apoyará el relacionamiento externo – asegurando su sucesión a Presidencia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Miembro de Junta Directiva (CI) – Modelo de Transición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5097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Participar en el gobierno de la organización desde su rol de miembro de JD, basado en su conocimiento y experiencia en entidades financieras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relacionamiento externo – mentoría al presidente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Aportar su conocimiento y experiencia como líder de organizaciones bancarias desde su rol como miembro de un órgano colegiado - gestión del negocio, gestión del balance, regulación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relacionamiento externo – mentoría al presidente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Como miembro de un órgano colegiado, participar en sesiones plenarias y comités de la JD para: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Revisión y aprobación de la estrategia de la organización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Revisión y aprobación del presupuesto anual de la organización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Seguimiento al despliegue y resultados de la estrategia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Determinar/aprobar límites de endeudamiento, </a:t>
            </a:r>
            <a:r>
              <a:rPr lang="es-ES" sz="1200" err="1">
                <a:latin typeface="+mn-lt"/>
                <a:cs typeface="Calibri"/>
              </a:rPr>
              <a:t>M&amp;As</a:t>
            </a:r>
            <a:r>
              <a:rPr lang="es-ES" sz="1200">
                <a:latin typeface="+mn-lt"/>
                <a:cs typeface="Calibri"/>
              </a:rPr>
              <a:t> y la incursión en nuevos negocios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Realizar seguimiento periódico a los resultados de auditorías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100012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609756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Junta Directiva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endCxn id="11" idx="0"/>
          </p:cNvCxnSpPr>
          <p:nvPr/>
        </p:nvCxnSpPr>
        <p:spPr>
          <a:xfrm>
            <a:off x="10118580" y="2846873"/>
            <a:ext cx="798461" cy="7628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3" y="4059756"/>
            <a:ext cx="1260000" cy="7925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Hitos de relevancia estratégica a discutir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91995" y="3930974"/>
            <a:ext cx="306264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7" y="4425081"/>
            <a:ext cx="4365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2846873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908157"/>
            <a:ext cx="942860" cy="48006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122132"/>
            <a:ext cx="1343533" cy="7312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apoyo en relacionamiento externo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23021" y="3742962"/>
            <a:ext cx="559545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90815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388225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Presidente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614544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relacionamiento externo - mentoría</a:t>
            </a:r>
          </a:p>
        </p:txBody>
      </p:sp>
      <p:cxnSp>
        <p:nvCxnSpPr>
          <p:cNvPr id="44" name="Conector recto de flecha 43">
            <a:extLst>
              <a:ext uri="{FF2B5EF4-FFF2-40B4-BE49-F238E27FC236}">
                <a16:creationId xmlns:a16="http://schemas.microsoft.com/office/drawing/2014/main" id="{CF73DC94-9E74-4C92-8FB3-1FF301CFA549}"/>
              </a:ext>
            </a:extLst>
          </p:cNvPr>
          <p:cNvCxnSpPr>
            <a:cxnSpLocks/>
          </p:cNvCxnSpPr>
          <p:nvPr/>
        </p:nvCxnSpPr>
        <p:spPr>
          <a:xfrm>
            <a:off x="3211361" y="4515435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2F01E4B-4D91-4795-878A-BD1ECFF05FA2}"/>
              </a:ext>
            </a:extLst>
          </p:cNvPr>
          <p:cNvSpPr/>
          <p:nvPr/>
        </p:nvSpPr>
        <p:spPr>
          <a:xfrm>
            <a:off x="9499824" y="6515190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93AA0A2B-0063-4BEE-BE9F-1C3A30524E33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8" name="Signo más 27">
            <a:extLst>
              <a:ext uri="{FF2B5EF4-FFF2-40B4-BE49-F238E27FC236}">
                <a16:creationId xmlns:a16="http://schemas.microsoft.com/office/drawing/2014/main" id="{BDD963D0-1D8D-42E6-8547-869BC924A942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Marcador de contenido 5">
            <a:extLst>
              <a:ext uri="{FF2B5EF4-FFF2-40B4-BE49-F238E27FC236}">
                <a16:creationId xmlns:a16="http://schemas.microsoft.com/office/drawing/2014/main" id="{C33F2979-BA81-42B7-B2E2-881691D182F1}"/>
              </a:ext>
            </a:extLst>
          </p:cNvPr>
          <p:cNvSpPr txBox="1">
            <a:spLocks/>
          </p:cNvSpPr>
          <p:nvPr/>
        </p:nvSpPr>
        <p:spPr>
          <a:xfrm>
            <a:off x="8858579" y="2337754"/>
            <a:ext cx="1314633" cy="9787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Aporte de conocimientos y experiencias como líder de organizaciones bancarias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827442E3-A3C4-4E7B-AEE5-F227A9EBDE60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4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C04E033-154E-4734-8040-69F4ABDA418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3947AD50-9E92-47D7-91AC-3876E0DCB82F}"/>
              </a:ext>
            </a:extLst>
          </p:cNvPr>
          <p:cNvSpPr/>
          <p:nvPr/>
        </p:nvSpPr>
        <p:spPr>
          <a:xfrm>
            <a:off x="8564137" y="6473796"/>
            <a:ext cx="1219834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objetivo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252262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Miembro de Junta Directiva (Carlos Ivan Vargas)</a:t>
            </a: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17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el modelo objetivo, Carlos Iván apoyará el direccionamiento estratégico de la organización desde su rol activo como miembro de la Junta Directiva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Miembro de Junta Directiva (CI) – Modelo Objetivo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Participar en el gobierno de a organización desde su rol de miembro de junta directiva, basado en su conocimiento y experiencia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relacionamiento externo – mentoría al presidente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Aportar su conocimiento y experiencia como líder de organizaciones bancarias desde su rol como miembro de un órgano colegiado - gestión del negocio, gestión del balance, regulación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Como miembro de un órgano colegiado, participar en sesiones plenarias y comités de la JD para: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Revisión y aprobación de la estrategia de la organización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Revisión y aprobación del presupuesto anual de la organización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Seguimiento al despliegue y resultados de la estrategia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Determinar/aprobar límites de endeudamiento, </a:t>
            </a:r>
            <a:r>
              <a:rPr lang="es-ES" sz="1200" err="1">
                <a:latin typeface="+mn-lt"/>
                <a:cs typeface="Calibri"/>
              </a:rPr>
              <a:t>M&amp;As</a:t>
            </a:r>
            <a:r>
              <a:rPr lang="es-ES" sz="1200">
                <a:latin typeface="+mn-lt"/>
                <a:cs typeface="Calibri"/>
              </a:rPr>
              <a:t> y la incursión en nuevos negocios</a:t>
            </a:r>
          </a:p>
          <a:p>
            <a:pPr marL="45085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200">
                <a:latin typeface="+mn-lt"/>
                <a:cs typeface="Calibri"/>
              </a:rPr>
              <a:t>Realizar seguimiento periódico a los resultados de auditorías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79" y="2083661"/>
            <a:ext cx="1314633" cy="104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Aporte de conocimientos y experiencias como líder de organizaciones bancarias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429000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Junta Directiva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73212" y="2605661"/>
            <a:ext cx="743829" cy="8233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4307672"/>
            <a:ext cx="1314633" cy="7925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Hitos de relevancia estratégica a discutir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177659" y="3964554"/>
            <a:ext cx="734936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5" y="4762004"/>
            <a:ext cx="3600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5" y="2616551"/>
            <a:ext cx="360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lecha: pentágono 16">
            <a:extLst>
              <a:ext uri="{FF2B5EF4-FFF2-40B4-BE49-F238E27FC236}">
                <a16:creationId xmlns:a16="http://schemas.microsoft.com/office/drawing/2014/main" id="{34863339-3AB9-4E48-A39A-DC8EFCE392C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5" name="Signo más 24">
            <a:extLst>
              <a:ext uri="{FF2B5EF4-FFF2-40B4-BE49-F238E27FC236}">
                <a16:creationId xmlns:a16="http://schemas.microsoft.com/office/drawing/2014/main" id="{F2CE8415-53C0-4BD9-85F0-74D1CD9653B5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E22457EE-D90E-4A28-8B0A-099E2AB2A5AF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3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415FD6F-F469-4E49-97C7-2BC2583A3D7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AC1ACCCD-15B0-49CA-9D38-1B3AC9CD1905}"/>
              </a:ext>
            </a:extLst>
          </p:cNvPr>
          <p:cNvSpPr/>
          <p:nvPr/>
        </p:nvSpPr>
        <p:spPr>
          <a:xfrm>
            <a:off x="8385716" y="6473796"/>
            <a:ext cx="139825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Transición</a:t>
            </a:r>
          </a:p>
        </p:txBody>
      </p:sp>
      <p:sp>
        <p:nvSpPr>
          <p:cNvPr id="3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D1A31A2-7FBD-4F90-BBCC-1AA7E73F7ACE}"/>
              </a:ext>
            </a:extLst>
          </p:cNvPr>
          <p:cNvSpPr/>
          <p:nvPr/>
        </p:nvSpPr>
        <p:spPr>
          <a:xfrm rot="10800000">
            <a:off x="9509658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4710622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Auditoria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18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Auditoria provee recomendaciones para administrar riesgos y garantiza el cumplimiento de procesos y políticas de la organización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Auditoria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9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tIns="0" rIns="54000" anchor="ctr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aseguramiento de la gestión y el control interno de la organización, garantizando el cumplimiento legal y normativo, la aplicación de los procesos definidos y la gestión de los controles establecidos para la mitigación de los riesgos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Velar por la estandarización del modelo de control del ente vigilado para toda la organización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accent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la metodología para la evaluación del control interno y asegurar su estandarización en ambos entes legales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la ejecución del plan de auditoría y realizar una revisión integral de las auditorías – avance, resultados, desempeño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y evaluar el estado e impacto de los requisitos legales y normativos, los procesos y los riesgos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Apoyar/ser el consultor de las áreas de la organización dando recomendaciones y sugerencias en temas relacionados con control interno y mitigación de riesgos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Hacer seguimiento a los procesos legales de alto nivel de </a:t>
            </a:r>
            <a:r>
              <a:rPr lang="es-ES" sz="1200" err="1">
                <a:latin typeface="+mn-lt"/>
                <a:cs typeface="Calibri"/>
              </a:rPr>
              <a:t>org</a:t>
            </a:r>
            <a:r>
              <a:rPr lang="es-ES" sz="1200">
                <a:latin typeface="+mn-lt"/>
                <a:cs typeface="Calibri"/>
              </a:rPr>
              <a:t>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las necesidades de contratación de auditorías con externos y definir los alcances y marcos de actuación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26892"/>
            <a:ext cx="4918780" cy="4467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363538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31203" y="3841507"/>
            <a:ext cx="1351859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100"/>
              <a:t>Presidencia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73" idx="3"/>
            <a:endCxn id="11" idx="0"/>
          </p:cNvCxnSpPr>
          <p:nvPr/>
        </p:nvCxnSpPr>
        <p:spPr>
          <a:xfrm>
            <a:off x="10212375" y="2677823"/>
            <a:ext cx="794758" cy="1163684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77" idx="3"/>
          </p:cNvCxnSpPr>
          <p:nvPr/>
        </p:nvCxnSpPr>
        <p:spPr>
          <a:xfrm rot="5400000">
            <a:off x="10249157" y="4322015"/>
            <a:ext cx="721194" cy="794758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2677823"/>
            <a:ext cx="282937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63" idx="1"/>
            <a:endCxn id="22" idx="0"/>
          </p:cNvCxnSpPr>
          <p:nvPr/>
        </p:nvCxnSpPr>
        <p:spPr>
          <a:xfrm rot="10800000" flipV="1">
            <a:off x="1115246" y="1957283"/>
            <a:ext cx="752582" cy="538951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496235"/>
            <a:ext cx="1362975" cy="422936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Funciones Organizacionales</a:t>
            </a:r>
          </a:p>
        </p:txBody>
      </p:sp>
      <p:sp>
        <p:nvSpPr>
          <p:cNvPr id="43" name="Rectángulo 42">
            <a:extLst>
              <a:ext uri="{FF2B5EF4-FFF2-40B4-BE49-F238E27FC236}">
                <a16:creationId xmlns:a16="http://schemas.microsoft.com/office/drawing/2014/main" id="{9FAD3802-EAF2-461F-AE0A-69A0076C61CB}"/>
              </a:ext>
            </a:extLst>
          </p:cNvPr>
          <p:cNvSpPr/>
          <p:nvPr/>
        </p:nvSpPr>
        <p:spPr>
          <a:xfrm>
            <a:off x="433757" y="4027199"/>
            <a:ext cx="1362975" cy="288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Riesgos (SAR)</a:t>
            </a:r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7336BE0E-B084-4507-9E3B-DDEB61F776CD}"/>
              </a:ext>
            </a:extLst>
          </p:cNvPr>
          <p:cNvSpPr/>
          <p:nvPr/>
        </p:nvSpPr>
        <p:spPr>
          <a:xfrm>
            <a:off x="433757" y="4367476"/>
            <a:ext cx="1362975" cy="288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2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Planeación Fin. y Control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C7AF54D1-4DC5-464C-86F1-DF661F2CA900}"/>
              </a:ext>
            </a:extLst>
          </p:cNvPr>
          <p:cNvSpPr/>
          <p:nvPr/>
        </p:nvSpPr>
        <p:spPr>
          <a:xfrm>
            <a:off x="433757" y="4707753"/>
            <a:ext cx="1362975" cy="288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Cumplimiento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BD8BAA9E-394B-464B-AE89-44DF4946B0B6}"/>
              </a:ext>
            </a:extLst>
          </p:cNvPr>
          <p:cNvSpPr/>
          <p:nvPr/>
        </p:nvSpPr>
        <p:spPr>
          <a:xfrm>
            <a:off x="433757" y="5048031"/>
            <a:ext cx="1362975" cy="288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Comités de Gobierno</a:t>
            </a:r>
          </a:p>
        </p:txBody>
      </p: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6A2EC735-1A25-4958-9682-47DEBEA8AE6C}"/>
              </a:ext>
            </a:extLst>
          </p:cNvPr>
          <p:cNvCxnSpPr>
            <a:cxnSpLocks/>
          </p:cNvCxnSpPr>
          <p:nvPr/>
        </p:nvCxnSpPr>
        <p:spPr>
          <a:xfrm flipH="1">
            <a:off x="3211361" y="1957284"/>
            <a:ext cx="321012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Conector recto de flecha 49">
            <a:extLst>
              <a:ext uri="{FF2B5EF4-FFF2-40B4-BE49-F238E27FC236}">
                <a16:creationId xmlns:a16="http://schemas.microsoft.com/office/drawing/2014/main" id="{0EDEA6A2-D0FD-4569-9FFC-15DCC799C7EE}"/>
              </a:ext>
            </a:extLst>
          </p:cNvPr>
          <p:cNvCxnSpPr>
            <a:cxnSpLocks/>
          </p:cNvCxnSpPr>
          <p:nvPr/>
        </p:nvCxnSpPr>
        <p:spPr>
          <a:xfrm>
            <a:off x="3224151" y="3105637"/>
            <a:ext cx="308222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Marcador de contenido 5">
            <a:extLst>
              <a:ext uri="{FF2B5EF4-FFF2-40B4-BE49-F238E27FC236}">
                <a16:creationId xmlns:a16="http://schemas.microsoft.com/office/drawing/2014/main" id="{4326E4BC-D019-4E1F-9D48-CF52B2DA5B8E}"/>
              </a:ext>
            </a:extLst>
          </p:cNvPr>
          <p:cNvSpPr txBox="1">
            <a:spLocks/>
          </p:cNvSpPr>
          <p:nvPr/>
        </p:nvSpPr>
        <p:spPr>
          <a:xfrm>
            <a:off x="1880618" y="5324590"/>
            <a:ext cx="1343533" cy="49071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Gestión del Control Interno</a:t>
            </a:r>
          </a:p>
        </p:txBody>
      </p:sp>
      <p:sp>
        <p:nvSpPr>
          <p:cNvPr id="63" name="Marcador de contenido 5">
            <a:extLst>
              <a:ext uri="{FF2B5EF4-FFF2-40B4-BE49-F238E27FC236}">
                <a16:creationId xmlns:a16="http://schemas.microsoft.com/office/drawing/2014/main" id="{77E11D63-EA7D-4FDD-A702-5C5E3594AC50}"/>
              </a:ext>
            </a:extLst>
          </p:cNvPr>
          <p:cNvSpPr txBox="1">
            <a:spLocks/>
          </p:cNvSpPr>
          <p:nvPr/>
        </p:nvSpPr>
        <p:spPr>
          <a:xfrm>
            <a:off x="1867828" y="1761496"/>
            <a:ext cx="1343533" cy="39157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Plan de Control Interno</a:t>
            </a:r>
          </a:p>
        </p:txBody>
      </p: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3FC7FEAB-29E1-4627-B61C-B45BE72D00BF}"/>
              </a:ext>
            </a:extLst>
          </p:cNvPr>
          <p:cNvSpPr txBox="1">
            <a:spLocks/>
          </p:cNvSpPr>
          <p:nvPr/>
        </p:nvSpPr>
        <p:spPr>
          <a:xfrm>
            <a:off x="1867828" y="3521865"/>
            <a:ext cx="1343533" cy="680239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y metodología para la evaluación del control interno</a:t>
            </a:r>
          </a:p>
        </p:txBody>
      </p:sp>
      <p:sp>
        <p:nvSpPr>
          <p:cNvPr id="67" name="Marcador de contenido 5">
            <a:extLst>
              <a:ext uri="{FF2B5EF4-FFF2-40B4-BE49-F238E27FC236}">
                <a16:creationId xmlns:a16="http://schemas.microsoft.com/office/drawing/2014/main" id="{104D53F5-E70D-4EDB-885D-E360F3E9BACF}"/>
              </a:ext>
            </a:extLst>
          </p:cNvPr>
          <p:cNvSpPr txBox="1">
            <a:spLocks/>
          </p:cNvSpPr>
          <p:nvPr/>
        </p:nvSpPr>
        <p:spPr>
          <a:xfrm>
            <a:off x="1867828" y="2614317"/>
            <a:ext cx="1343533" cy="77568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implementación de planes y recomendaciones</a:t>
            </a:r>
          </a:p>
        </p:txBody>
      </p:sp>
      <p:cxnSp>
        <p:nvCxnSpPr>
          <p:cNvPr id="68" name="Conector angular 23">
            <a:extLst>
              <a:ext uri="{FF2B5EF4-FFF2-40B4-BE49-F238E27FC236}">
                <a16:creationId xmlns:a16="http://schemas.microsoft.com/office/drawing/2014/main" id="{B9D1893C-8FA4-4A7D-9328-9A337C4D9088}"/>
              </a:ext>
            </a:extLst>
          </p:cNvPr>
          <p:cNvCxnSpPr>
            <a:cxnSpLocks/>
            <a:stCxn id="22" idx="2"/>
          </p:cNvCxnSpPr>
          <p:nvPr/>
        </p:nvCxnSpPr>
        <p:spPr>
          <a:xfrm rot="16200000" flipH="1">
            <a:off x="1367941" y="2666476"/>
            <a:ext cx="247195" cy="752584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173B0BA1-CC73-4EF2-A82B-014D4FAB19FD}"/>
              </a:ext>
            </a:extLst>
          </p:cNvPr>
          <p:cNvSpPr txBox="1">
            <a:spLocks/>
          </p:cNvSpPr>
          <p:nvPr/>
        </p:nvSpPr>
        <p:spPr>
          <a:xfrm>
            <a:off x="8759573" y="2496279"/>
            <a:ext cx="1452802" cy="36308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Plan de Control Interno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B2FCD7D9-1979-4072-8C83-FE141257E8A8}"/>
              </a:ext>
            </a:extLst>
          </p:cNvPr>
          <p:cNvSpPr txBox="1">
            <a:spLocks/>
          </p:cNvSpPr>
          <p:nvPr/>
        </p:nvSpPr>
        <p:spPr>
          <a:xfrm>
            <a:off x="8759573" y="4812820"/>
            <a:ext cx="1452802" cy="5343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Aprobación plan de control interno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78" name="Marcador de contenido 5">
            <a:extLst>
              <a:ext uri="{FF2B5EF4-FFF2-40B4-BE49-F238E27FC236}">
                <a16:creationId xmlns:a16="http://schemas.microsoft.com/office/drawing/2014/main" id="{4DCB3507-BA8F-48BB-87FC-0E1077C8D3B1}"/>
              </a:ext>
            </a:extLst>
          </p:cNvPr>
          <p:cNvSpPr txBox="1">
            <a:spLocks/>
          </p:cNvSpPr>
          <p:nvPr/>
        </p:nvSpPr>
        <p:spPr>
          <a:xfrm>
            <a:off x="1867828" y="2196910"/>
            <a:ext cx="1343533" cy="39157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Auditoria de Procesos</a:t>
            </a:r>
          </a:p>
        </p:txBody>
      </p:sp>
      <p:cxnSp>
        <p:nvCxnSpPr>
          <p:cNvPr id="80" name="Conector angular 23">
            <a:extLst>
              <a:ext uri="{FF2B5EF4-FFF2-40B4-BE49-F238E27FC236}">
                <a16:creationId xmlns:a16="http://schemas.microsoft.com/office/drawing/2014/main" id="{B9DE447E-418F-4056-8461-FAE59C213CD2}"/>
              </a:ext>
            </a:extLst>
          </p:cNvPr>
          <p:cNvCxnSpPr>
            <a:cxnSpLocks/>
            <a:stCxn id="78" idx="1"/>
            <a:endCxn id="22" idx="0"/>
          </p:cNvCxnSpPr>
          <p:nvPr/>
        </p:nvCxnSpPr>
        <p:spPr>
          <a:xfrm rot="10800000" flipV="1">
            <a:off x="1115246" y="2392697"/>
            <a:ext cx="752582" cy="103537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Conector recto de flecha 83">
            <a:extLst>
              <a:ext uri="{FF2B5EF4-FFF2-40B4-BE49-F238E27FC236}">
                <a16:creationId xmlns:a16="http://schemas.microsoft.com/office/drawing/2014/main" id="{11925D2E-160F-4D97-BC07-D1631B3200E7}"/>
              </a:ext>
            </a:extLst>
          </p:cNvPr>
          <p:cNvCxnSpPr>
            <a:cxnSpLocks/>
          </p:cNvCxnSpPr>
          <p:nvPr/>
        </p:nvCxnSpPr>
        <p:spPr>
          <a:xfrm>
            <a:off x="3249436" y="5606336"/>
            <a:ext cx="282937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B3E73401-44CB-4C8A-8FE3-185C581124B5}"/>
              </a:ext>
            </a:extLst>
          </p:cNvPr>
          <p:cNvCxnSpPr>
            <a:cxnSpLocks/>
          </p:cNvCxnSpPr>
          <p:nvPr/>
        </p:nvCxnSpPr>
        <p:spPr>
          <a:xfrm flipH="1">
            <a:off x="3211361" y="3941935"/>
            <a:ext cx="321012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6C3DF70E-48DA-4E06-9126-6D3E26E9B99C}"/>
              </a:ext>
            </a:extLst>
          </p:cNvPr>
          <p:cNvCxnSpPr>
            <a:cxnSpLocks/>
          </p:cNvCxnSpPr>
          <p:nvPr/>
        </p:nvCxnSpPr>
        <p:spPr>
          <a:xfrm flipH="1">
            <a:off x="3211361" y="2383694"/>
            <a:ext cx="321012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Conector recto de flecha 86">
            <a:extLst>
              <a:ext uri="{FF2B5EF4-FFF2-40B4-BE49-F238E27FC236}">
                <a16:creationId xmlns:a16="http://schemas.microsoft.com/office/drawing/2014/main" id="{F1FB29EF-D2A3-45DC-AA6A-CFE36FB707CD}"/>
              </a:ext>
            </a:extLst>
          </p:cNvPr>
          <p:cNvCxnSpPr>
            <a:cxnSpLocks/>
            <a:stCxn id="77" idx="1"/>
          </p:cNvCxnSpPr>
          <p:nvPr/>
        </p:nvCxnSpPr>
        <p:spPr>
          <a:xfrm flipH="1">
            <a:off x="8476636" y="5079991"/>
            <a:ext cx="282937" cy="7177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Conector: angular 89">
            <a:extLst>
              <a:ext uri="{FF2B5EF4-FFF2-40B4-BE49-F238E27FC236}">
                <a16:creationId xmlns:a16="http://schemas.microsoft.com/office/drawing/2014/main" id="{AFC46979-0102-4DFA-A47A-A2B0D5D21718}"/>
              </a:ext>
            </a:extLst>
          </p:cNvPr>
          <p:cNvCxnSpPr>
            <a:stCxn id="64" idx="1"/>
            <a:endCxn id="43" idx="0"/>
          </p:cNvCxnSpPr>
          <p:nvPr/>
        </p:nvCxnSpPr>
        <p:spPr>
          <a:xfrm rot="10800000" flipV="1">
            <a:off x="1115246" y="3861985"/>
            <a:ext cx="752583" cy="165214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B4DD3048-D16F-4307-9CD2-779A74F0E720}"/>
              </a:ext>
            </a:extLst>
          </p:cNvPr>
          <p:cNvSpPr txBox="1">
            <a:spLocks/>
          </p:cNvSpPr>
          <p:nvPr/>
        </p:nvSpPr>
        <p:spPr>
          <a:xfrm>
            <a:off x="8759573" y="2925410"/>
            <a:ext cx="1452802" cy="36308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Riesgos y recomendaciones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9" name="Conector angular 32">
            <a:extLst>
              <a:ext uri="{FF2B5EF4-FFF2-40B4-BE49-F238E27FC236}">
                <a16:creationId xmlns:a16="http://schemas.microsoft.com/office/drawing/2014/main" id="{12DD5F9F-36CC-45B7-AD80-49727FF5E9FE}"/>
              </a:ext>
            </a:extLst>
          </p:cNvPr>
          <p:cNvCxnSpPr>
            <a:cxnSpLocks/>
            <a:stCxn id="38" idx="3"/>
            <a:endCxn id="11" idx="0"/>
          </p:cNvCxnSpPr>
          <p:nvPr/>
        </p:nvCxnSpPr>
        <p:spPr>
          <a:xfrm>
            <a:off x="10212375" y="3106954"/>
            <a:ext cx="794758" cy="734553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B122F67F-2F69-44B0-A48A-55F7C0B20AB0}"/>
              </a:ext>
            </a:extLst>
          </p:cNvPr>
          <p:cNvCxnSpPr>
            <a:cxnSpLocks/>
          </p:cNvCxnSpPr>
          <p:nvPr/>
        </p:nvCxnSpPr>
        <p:spPr>
          <a:xfrm>
            <a:off x="8476636" y="3106954"/>
            <a:ext cx="282937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Conector angular 23">
            <a:extLst>
              <a:ext uri="{FF2B5EF4-FFF2-40B4-BE49-F238E27FC236}">
                <a16:creationId xmlns:a16="http://schemas.microsoft.com/office/drawing/2014/main" id="{19B96139-6A69-4BBA-B39F-9479362C6FB3}"/>
              </a:ext>
            </a:extLst>
          </p:cNvPr>
          <p:cNvCxnSpPr>
            <a:cxnSpLocks/>
            <a:stCxn id="46" idx="2"/>
            <a:endCxn id="56" idx="1"/>
          </p:cNvCxnSpPr>
          <p:nvPr/>
        </p:nvCxnSpPr>
        <p:spPr>
          <a:xfrm rot="16200000" flipH="1">
            <a:off x="1380972" y="5070303"/>
            <a:ext cx="233918" cy="765373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Marcador de pie de página 2">
            <a:extLst>
              <a:ext uri="{FF2B5EF4-FFF2-40B4-BE49-F238E27FC236}">
                <a16:creationId xmlns:a16="http://schemas.microsoft.com/office/drawing/2014/main" id="{5A5CBF1A-8D27-4B25-9A15-31B47262D03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18" name="Flecha: pentágono 17">
            <a:extLst>
              <a:ext uri="{FF2B5EF4-FFF2-40B4-BE49-F238E27FC236}">
                <a16:creationId xmlns:a16="http://schemas.microsoft.com/office/drawing/2014/main" id="{CAFDF172-CE94-407C-9145-A94400DF5B33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19" name="Imagen 18" descr="Imagen que contiene dibujo&#10;&#10;Descripción generada automáticamente">
            <a:extLst>
              <a:ext uri="{FF2B5EF4-FFF2-40B4-BE49-F238E27FC236}">
                <a16:creationId xmlns:a16="http://schemas.microsoft.com/office/drawing/2014/main" id="{10BE934C-0118-4D48-B470-ADDF5F1B0C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13" name="Rectángulo 12">
            <a:extLst>
              <a:ext uri="{FF2B5EF4-FFF2-40B4-BE49-F238E27FC236}">
                <a16:creationId xmlns:a16="http://schemas.microsoft.com/office/drawing/2014/main" id="{F491D5ED-E20E-4270-AED8-67AD06C33D6A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BC005D50-68C3-41A4-9729-0C69CBCAC2D6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0BE9D25-C63C-427D-88E5-5917527F44C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56745461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Presidente</a:t>
            </a: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19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la transición el Presidente liderará la definición y ejecución del plan estratégico, en particular la innovación digital – inicia la sucesión del relacionamiento externo con apoyo de CI-DS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Presidente – Modelo de Transición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7736" cy="38062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y ejecución del plan estratégico,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en particular la innovación digital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Comunicar y asegurar los lineamientos estratégicos - liderar la construcción, implementación, seguimiento y ajustes del plan estratégico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consolidación de un equipo directivo completo idóneo, cohesionado y alineado con la estrategia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Revisar y avalar el plan de negocio y financiero de alto nivel – expectativas acerca de rentabilidad y colocación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Decidir sobre oportunidades de alto impacto para la organización y proponer su priorización– </a:t>
            </a:r>
            <a:r>
              <a:rPr lang="es-ES" sz="1200" err="1">
                <a:latin typeface="+mn-lt"/>
                <a:cs typeface="Calibri"/>
              </a:rPr>
              <a:t>e.g</a:t>
            </a:r>
            <a:r>
              <a:rPr lang="es-ES" sz="1200">
                <a:latin typeface="+mn-lt"/>
                <a:cs typeface="Calibri"/>
              </a:rPr>
              <a:t>., adquisiciones o alianzas estratégicas regionales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Supervisar a través de los Vicepresidentes, Gerentes de primer nivel y Staff de Presidencia todas las funciones clave del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exploración de oportunidades de alianzas estratégicas - primer acercamiento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1646056" y="3814844"/>
            <a:ext cx="1584000" cy="37924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381357" y="4205573"/>
            <a:ext cx="1152000" cy="37688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/>
              <a:t>Junta </a:t>
            </a:r>
            <a:r>
              <a:rPr lang="es-CO" sz="1200"/>
              <a:t>Directiva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1"/>
            <a:endCxn id="11" idx="0"/>
          </p:cNvCxnSpPr>
          <p:nvPr/>
        </p:nvCxnSpPr>
        <p:spPr>
          <a:xfrm rot="10800000" flipV="1">
            <a:off x="957358" y="4004467"/>
            <a:ext cx="688699" cy="2011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1646056" y="5014645"/>
            <a:ext cx="1584000" cy="3918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mediano y largo plazo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26" idx="1"/>
          </p:cNvCxnSpPr>
          <p:nvPr/>
        </p:nvCxnSpPr>
        <p:spPr>
          <a:xfrm rot="16200000" flipH="1">
            <a:off x="766812" y="4772998"/>
            <a:ext cx="1068745" cy="68765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57358" y="1887946"/>
            <a:ext cx="724412" cy="5784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81771" y="2758614"/>
            <a:ext cx="1584000" cy="40471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381358" y="2466430"/>
            <a:ext cx="1152000" cy="37688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Liderazgo de primer nivel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81770" y="1692159"/>
            <a:ext cx="1584000" cy="3915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4415DA57-9A13-4058-B139-147E1BC1916E}"/>
              </a:ext>
            </a:extLst>
          </p:cNvPr>
          <p:cNvSpPr txBox="1">
            <a:spLocks/>
          </p:cNvSpPr>
          <p:nvPr/>
        </p:nvSpPr>
        <p:spPr>
          <a:xfrm>
            <a:off x="1645012" y="5482097"/>
            <a:ext cx="1584000" cy="33820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31" name="Conector angular 37">
            <a:extLst>
              <a:ext uri="{FF2B5EF4-FFF2-40B4-BE49-F238E27FC236}">
                <a16:creationId xmlns:a16="http://schemas.microsoft.com/office/drawing/2014/main" id="{BF3D7E72-5BC6-479E-AB6C-2BC7BBF41F06}"/>
              </a:ext>
            </a:extLst>
          </p:cNvPr>
          <p:cNvCxnSpPr>
            <a:cxnSpLocks/>
            <a:stCxn id="11" idx="2"/>
            <a:endCxn id="13" idx="1"/>
          </p:cNvCxnSpPr>
          <p:nvPr/>
        </p:nvCxnSpPr>
        <p:spPr>
          <a:xfrm rot="16200000" flipH="1">
            <a:off x="987641" y="4552169"/>
            <a:ext cx="628131" cy="6886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Marcador de contenido 5">
            <a:extLst>
              <a:ext uri="{FF2B5EF4-FFF2-40B4-BE49-F238E27FC236}">
                <a16:creationId xmlns:a16="http://schemas.microsoft.com/office/drawing/2014/main" id="{89124967-BACE-4148-8BF1-214E7CB69F55}"/>
              </a:ext>
            </a:extLst>
          </p:cNvPr>
          <p:cNvSpPr txBox="1">
            <a:spLocks/>
          </p:cNvSpPr>
          <p:nvPr/>
        </p:nvSpPr>
        <p:spPr>
          <a:xfrm>
            <a:off x="1681770" y="2145881"/>
            <a:ext cx="1584000" cy="41598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negocio y financieras</a:t>
            </a:r>
          </a:p>
        </p:txBody>
      </p:sp>
      <p:cxnSp>
        <p:nvCxnSpPr>
          <p:cNvPr id="75" name="Conector angular 23">
            <a:extLst>
              <a:ext uri="{FF2B5EF4-FFF2-40B4-BE49-F238E27FC236}">
                <a16:creationId xmlns:a16="http://schemas.microsoft.com/office/drawing/2014/main" id="{7FE780EA-04D4-49CF-BA63-B177C43AAD3F}"/>
              </a:ext>
            </a:extLst>
          </p:cNvPr>
          <p:cNvCxnSpPr>
            <a:cxnSpLocks/>
            <a:stCxn id="53" idx="1"/>
            <a:endCxn id="22" idx="0"/>
          </p:cNvCxnSpPr>
          <p:nvPr/>
        </p:nvCxnSpPr>
        <p:spPr>
          <a:xfrm rot="10800000" flipV="1">
            <a:off x="957358" y="2353870"/>
            <a:ext cx="724412" cy="1125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Marcador de contenido 5">
            <a:extLst>
              <a:ext uri="{FF2B5EF4-FFF2-40B4-BE49-F238E27FC236}">
                <a16:creationId xmlns:a16="http://schemas.microsoft.com/office/drawing/2014/main" id="{BF6BE04E-8E20-4DA3-AFC8-781E3B0F16BC}"/>
              </a:ext>
            </a:extLst>
          </p:cNvPr>
          <p:cNvSpPr txBox="1">
            <a:spLocks/>
          </p:cNvSpPr>
          <p:nvPr/>
        </p:nvSpPr>
        <p:spPr>
          <a:xfrm>
            <a:off x="8808235" y="1743413"/>
            <a:ext cx="1583994" cy="4217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128" name="Rectángulo 127">
            <a:extLst>
              <a:ext uri="{FF2B5EF4-FFF2-40B4-BE49-F238E27FC236}">
                <a16:creationId xmlns:a16="http://schemas.microsoft.com/office/drawing/2014/main" id="{2D0D005D-2540-47DA-AA20-E22D78748EC8}"/>
              </a:ext>
            </a:extLst>
          </p:cNvPr>
          <p:cNvSpPr/>
          <p:nvPr/>
        </p:nvSpPr>
        <p:spPr>
          <a:xfrm>
            <a:off x="10609942" y="2558271"/>
            <a:ext cx="1152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Presidente FI/CV</a:t>
            </a:r>
          </a:p>
        </p:txBody>
      </p:sp>
      <p:sp>
        <p:nvSpPr>
          <p:cNvPr id="129" name="Marcador de contenido 5">
            <a:extLst>
              <a:ext uri="{FF2B5EF4-FFF2-40B4-BE49-F238E27FC236}">
                <a16:creationId xmlns:a16="http://schemas.microsoft.com/office/drawing/2014/main" id="{3B878765-B47E-45F6-86B2-9F096A849CD7}"/>
              </a:ext>
            </a:extLst>
          </p:cNvPr>
          <p:cNvSpPr txBox="1">
            <a:spLocks/>
          </p:cNvSpPr>
          <p:nvPr/>
        </p:nvSpPr>
        <p:spPr>
          <a:xfrm>
            <a:off x="8808235" y="2795482"/>
            <a:ext cx="1583994" cy="5872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Direccionamiento estratégico y de innovación</a:t>
            </a:r>
          </a:p>
        </p:txBody>
      </p:sp>
      <p:cxnSp>
        <p:nvCxnSpPr>
          <p:cNvPr id="132" name="Conector angular 23">
            <a:extLst>
              <a:ext uri="{FF2B5EF4-FFF2-40B4-BE49-F238E27FC236}">
                <a16:creationId xmlns:a16="http://schemas.microsoft.com/office/drawing/2014/main" id="{AB8E0DFD-09D4-4874-A9B2-E8B898A523BC}"/>
              </a:ext>
            </a:extLst>
          </p:cNvPr>
          <p:cNvCxnSpPr>
            <a:cxnSpLocks/>
            <a:stCxn id="134" idx="3"/>
            <a:endCxn id="128" idx="0"/>
          </p:cNvCxnSpPr>
          <p:nvPr/>
        </p:nvCxnSpPr>
        <p:spPr>
          <a:xfrm>
            <a:off x="10392229" y="2442139"/>
            <a:ext cx="793713" cy="1161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" name="Marcador de contenido 5">
            <a:extLst>
              <a:ext uri="{FF2B5EF4-FFF2-40B4-BE49-F238E27FC236}">
                <a16:creationId xmlns:a16="http://schemas.microsoft.com/office/drawing/2014/main" id="{EDFD3CB1-B465-45B7-A762-9A801A42CEDC}"/>
              </a:ext>
            </a:extLst>
          </p:cNvPr>
          <p:cNvSpPr txBox="1">
            <a:spLocks/>
          </p:cNvSpPr>
          <p:nvPr/>
        </p:nvSpPr>
        <p:spPr>
          <a:xfrm>
            <a:off x="8808235" y="3449767"/>
            <a:ext cx="1583994" cy="86891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b="1">
                <a:solidFill>
                  <a:schemeClr val="tx1"/>
                </a:solidFill>
                <a:latin typeface="+mn-lt"/>
              </a:rPr>
              <a:t>Mentoría 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Gestión estratégica del negocio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Relacionamiento externo</a:t>
            </a:r>
          </a:p>
        </p:txBody>
      </p:sp>
      <p:sp>
        <p:nvSpPr>
          <p:cNvPr id="134" name="Marcador de contenido 5">
            <a:extLst>
              <a:ext uri="{FF2B5EF4-FFF2-40B4-BE49-F238E27FC236}">
                <a16:creationId xmlns:a16="http://schemas.microsoft.com/office/drawing/2014/main" id="{C35C424E-4C6E-4F6E-98CC-48E3B02E8ECC}"/>
              </a:ext>
            </a:extLst>
          </p:cNvPr>
          <p:cNvSpPr txBox="1">
            <a:spLocks/>
          </p:cNvSpPr>
          <p:nvPr/>
        </p:nvSpPr>
        <p:spPr>
          <a:xfrm>
            <a:off x="8808235" y="2231276"/>
            <a:ext cx="1583994" cy="4217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mentoría</a:t>
            </a:r>
          </a:p>
        </p:txBody>
      </p:sp>
      <p:cxnSp>
        <p:nvCxnSpPr>
          <p:cNvPr id="160" name="Conector angular 23">
            <a:extLst>
              <a:ext uri="{FF2B5EF4-FFF2-40B4-BE49-F238E27FC236}">
                <a16:creationId xmlns:a16="http://schemas.microsoft.com/office/drawing/2014/main" id="{FA9ECD89-73F8-4DB6-892B-0B95F53069A2}"/>
              </a:ext>
            </a:extLst>
          </p:cNvPr>
          <p:cNvCxnSpPr>
            <a:cxnSpLocks/>
            <a:stCxn id="125" idx="3"/>
            <a:endCxn id="128" idx="0"/>
          </p:cNvCxnSpPr>
          <p:nvPr/>
        </p:nvCxnSpPr>
        <p:spPr>
          <a:xfrm>
            <a:off x="10392229" y="1954276"/>
            <a:ext cx="793713" cy="6039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ector angular 23">
            <a:extLst>
              <a:ext uri="{FF2B5EF4-FFF2-40B4-BE49-F238E27FC236}">
                <a16:creationId xmlns:a16="http://schemas.microsoft.com/office/drawing/2014/main" id="{98E1C992-02FB-4A92-B929-1ABF32C42693}"/>
              </a:ext>
            </a:extLst>
          </p:cNvPr>
          <p:cNvCxnSpPr>
            <a:cxnSpLocks/>
            <a:stCxn id="128" idx="2"/>
            <a:endCxn id="129" idx="3"/>
          </p:cNvCxnSpPr>
          <p:nvPr/>
        </p:nvCxnSpPr>
        <p:spPr>
          <a:xfrm rot="5400000">
            <a:off x="10706236" y="2609390"/>
            <a:ext cx="165700" cy="7937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ector angular 23">
            <a:extLst>
              <a:ext uri="{FF2B5EF4-FFF2-40B4-BE49-F238E27FC236}">
                <a16:creationId xmlns:a16="http://schemas.microsoft.com/office/drawing/2014/main" id="{330F5739-E630-4B22-BE41-FD3284FA6F22}"/>
              </a:ext>
            </a:extLst>
          </p:cNvPr>
          <p:cNvCxnSpPr>
            <a:cxnSpLocks/>
            <a:stCxn id="128" idx="2"/>
            <a:endCxn id="133" idx="3"/>
          </p:cNvCxnSpPr>
          <p:nvPr/>
        </p:nvCxnSpPr>
        <p:spPr>
          <a:xfrm rot="5400000">
            <a:off x="10308672" y="3006954"/>
            <a:ext cx="960829" cy="7937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6" name="Rectángulo 195">
            <a:extLst>
              <a:ext uri="{FF2B5EF4-FFF2-40B4-BE49-F238E27FC236}">
                <a16:creationId xmlns:a16="http://schemas.microsoft.com/office/drawing/2014/main" id="{7EAD43DC-9BC0-46D3-A807-CF1C6FE044EE}"/>
              </a:ext>
            </a:extLst>
          </p:cNvPr>
          <p:cNvSpPr/>
          <p:nvPr/>
        </p:nvSpPr>
        <p:spPr>
          <a:xfrm>
            <a:off x="10609942" y="4920440"/>
            <a:ext cx="1152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Miembro JD Carlos Ivan</a:t>
            </a:r>
          </a:p>
        </p:txBody>
      </p:sp>
      <p:sp>
        <p:nvSpPr>
          <p:cNvPr id="202" name="Marcador de contenido 5">
            <a:extLst>
              <a:ext uri="{FF2B5EF4-FFF2-40B4-BE49-F238E27FC236}">
                <a16:creationId xmlns:a16="http://schemas.microsoft.com/office/drawing/2014/main" id="{EAE0BB99-D1D1-447B-B72C-CEB677C07DEB}"/>
              </a:ext>
            </a:extLst>
          </p:cNvPr>
          <p:cNvSpPr txBox="1">
            <a:spLocks/>
          </p:cNvSpPr>
          <p:nvPr/>
        </p:nvSpPr>
        <p:spPr>
          <a:xfrm>
            <a:off x="8808235" y="4465012"/>
            <a:ext cx="1583994" cy="52876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apoyo relacionamiento externo</a:t>
            </a:r>
          </a:p>
        </p:txBody>
      </p:sp>
      <p:sp>
        <p:nvSpPr>
          <p:cNvPr id="203" name="Marcador de contenido 5">
            <a:extLst>
              <a:ext uri="{FF2B5EF4-FFF2-40B4-BE49-F238E27FC236}">
                <a16:creationId xmlns:a16="http://schemas.microsoft.com/office/drawing/2014/main" id="{520EEE90-9F63-4379-9B74-2327587F0810}"/>
              </a:ext>
            </a:extLst>
          </p:cNvPr>
          <p:cNvSpPr txBox="1">
            <a:spLocks/>
          </p:cNvSpPr>
          <p:nvPr/>
        </p:nvSpPr>
        <p:spPr>
          <a:xfrm>
            <a:off x="8808235" y="5103004"/>
            <a:ext cx="1583994" cy="66327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relacionamiento externo (SFC) – mentoría a CEO</a:t>
            </a:r>
          </a:p>
        </p:txBody>
      </p:sp>
      <p:cxnSp>
        <p:nvCxnSpPr>
          <p:cNvPr id="204" name="Conector angular 23">
            <a:extLst>
              <a:ext uri="{FF2B5EF4-FFF2-40B4-BE49-F238E27FC236}">
                <a16:creationId xmlns:a16="http://schemas.microsoft.com/office/drawing/2014/main" id="{D2DFCC1F-47C0-4035-BB09-C67ABC393B55}"/>
              </a:ext>
            </a:extLst>
          </p:cNvPr>
          <p:cNvCxnSpPr>
            <a:cxnSpLocks/>
            <a:stCxn id="196" idx="2"/>
            <a:endCxn id="203" idx="3"/>
          </p:cNvCxnSpPr>
          <p:nvPr/>
        </p:nvCxnSpPr>
        <p:spPr>
          <a:xfrm rot="5400000">
            <a:off x="10714549" y="4963246"/>
            <a:ext cx="149075" cy="7937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Conector angular 23">
            <a:extLst>
              <a:ext uri="{FF2B5EF4-FFF2-40B4-BE49-F238E27FC236}">
                <a16:creationId xmlns:a16="http://schemas.microsoft.com/office/drawing/2014/main" id="{229D8526-1520-49FD-B574-6C205C75E969}"/>
              </a:ext>
            </a:extLst>
          </p:cNvPr>
          <p:cNvCxnSpPr>
            <a:cxnSpLocks/>
            <a:stCxn id="202" idx="3"/>
            <a:endCxn id="196" idx="0"/>
          </p:cNvCxnSpPr>
          <p:nvPr/>
        </p:nvCxnSpPr>
        <p:spPr>
          <a:xfrm>
            <a:off x="10392229" y="4729394"/>
            <a:ext cx="793713" cy="19104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1" name="Conector recto de flecha 210">
            <a:extLst>
              <a:ext uri="{FF2B5EF4-FFF2-40B4-BE49-F238E27FC236}">
                <a16:creationId xmlns:a16="http://schemas.microsoft.com/office/drawing/2014/main" id="{5C58C18E-174B-4A31-A1EC-5FD10083795D}"/>
              </a:ext>
            </a:extLst>
          </p:cNvPr>
          <p:cNvCxnSpPr>
            <a:cxnSpLocks/>
          </p:cNvCxnSpPr>
          <p:nvPr/>
        </p:nvCxnSpPr>
        <p:spPr>
          <a:xfrm flipH="1">
            <a:off x="8463944" y="5402778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7" name="Conector recto de flecha 216">
            <a:extLst>
              <a:ext uri="{FF2B5EF4-FFF2-40B4-BE49-F238E27FC236}">
                <a16:creationId xmlns:a16="http://schemas.microsoft.com/office/drawing/2014/main" id="{3E14BD12-B25A-45E5-BCAE-51EB7E86F898}"/>
              </a:ext>
            </a:extLst>
          </p:cNvPr>
          <p:cNvCxnSpPr>
            <a:cxnSpLocks/>
          </p:cNvCxnSpPr>
          <p:nvPr/>
        </p:nvCxnSpPr>
        <p:spPr>
          <a:xfrm>
            <a:off x="8451773" y="4727710"/>
            <a:ext cx="3817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Conector recto de flecha 218">
            <a:extLst>
              <a:ext uri="{FF2B5EF4-FFF2-40B4-BE49-F238E27FC236}">
                <a16:creationId xmlns:a16="http://schemas.microsoft.com/office/drawing/2014/main" id="{7B313A38-CA08-44FD-B5AF-8171332D5B44}"/>
              </a:ext>
            </a:extLst>
          </p:cNvPr>
          <p:cNvCxnSpPr>
            <a:cxnSpLocks/>
          </p:cNvCxnSpPr>
          <p:nvPr/>
        </p:nvCxnSpPr>
        <p:spPr>
          <a:xfrm flipH="1">
            <a:off x="8463944" y="3883125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0" name="Conector recto de flecha 219">
            <a:extLst>
              <a:ext uri="{FF2B5EF4-FFF2-40B4-BE49-F238E27FC236}">
                <a16:creationId xmlns:a16="http://schemas.microsoft.com/office/drawing/2014/main" id="{5117B2AD-A160-42E4-A410-5FE96B4A83E6}"/>
              </a:ext>
            </a:extLst>
          </p:cNvPr>
          <p:cNvCxnSpPr>
            <a:cxnSpLocks/>
          </p:cNvCxnSpPr>
          <p:nvPr/>
        </p:nvCxnSpPr>
        <p:spPr>
          <a:xfrm flipH="1">
            <a:off x="8463944" y="3044979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Conector recto de flecha 220">
            <a:extLst>
              <a:ext uri="{FF2B5EF4-FFF2-40B4-BE49-F238E27FC236}">
                <a16:creationId xmlns:a16="http://schemas.microsoft.com/office/drawing/2014/main" id="{D80687A2-A43B-43EF-BCBB-495997CE1AC9}"/>
              </a:ext>
            </a:extLst>
          </p:cNvPr>
          <p:cNvCxnSpPr>
            <a:cxnSpLocks/>
          </p:cNvCxnSpPr>
          <p:nvPr/>
        </p:nvCxnSpPr>
        <p:spPr>
          <a:xfrm>
            <a:off x="8451773" y="2442139"/>
            <a:ext cx="3817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2" name="Conector recto de flecha 221">
            <a:extLst>
              <a:ext uri="{FF2B5EF4-FFF2-40B4-BE49-F238E27FC236}">
                <a16:creationId xmlns:a16="http://schemas.microsoft.com/office/drawing/2014/main" id="{FD330F0B-B8D1-4D48-8004-F646AB1BEA4E}"/>
              </a:ext>
            </a:extLst>
          </p:cNvPr>
          <p:cNvCxnSpPr>
            <a:cxnSpLocks/>
          </p:cNvCxnSpPr>
          <p:nvPr/>
        </p:nvCxnSpPr>
        <p:spPr>
          <a:xfrm>
            <a:off x="8451773" y="1954276"/>
            <a:ext cx="3817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4" name="Marcador de contenido 5">
            <a:extLst>
              <a:ext uri="{FF2B5EF4-FFF2-40B4-BE49-F238E27FC236}">
                <a16:creationId xmlns:a16="http://schemas.microsoft.com/office/drawing/2014/main" id="{58C70235-6913-441E-A527-6C828A913AFA}"/>
              </a:ext>
            </a:extLst>
          </p:cNvPr>
          <p:cNvSpPr txBox="1">
            <a:spLocks/>
          </p:cNvSpPr>
          <p:nvPr/>
        </p:nvSpPr>
        <p:spPr>
          <a:xfrm>
            <a:off x="1646056" y="3491929"/>
            <a:ext cx="1584000" cy="26398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Propuesta de plan estratégico</a:t>
            </a:r>
          </a:p>
        </p:txBody>
      </p:sp>
      <p:sp>
        <p:nvSpPr>
          <p:cNvPr id="227" name="Marcador de contenido 5">
            <a:extLst>
              <a:ext uri="{FF2B5EF4-FFF2-40B4-BE49-F238E27FC236}">
                <a16:creationId xmlns:a16="http://schemas.microsoft.com/office/drawing/2014/main" id="{0414793B-0C97-403E-A151-083998110D23}"/>
              </a:ext>
            </a:extLst>
          </p:cNvPr>
          <p:cNvSpPr txBox="1">
            <a:spLocks/>
          </p:cNvSpPr>
          <p:nvPr/>
        </p:nvSpPr>
        <p:spPr>
          <a:xfrm>
            <a:off x="1646056" y="4625466"/>
            <a:ext cx="1584000" cy="3165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Plan estratégico aprobado</a:t>
            </a:r>
          </a:p>
        </p:txBody>
      </p:sp>
      <p:cxnSp>
        <p:nvCxnSpPr>
          <p:cNvPr id="257" name="Conector angular 32">
            <a:extLst>
              <a:ext uri="{FF2B5EF4-FFF2-40B4-BE49-F238E27FC236}">
                <a16:creationId xmlns:a16="http://schemas.microsoft.com/office/drawing/2014/main" id="{F2397039-DB2E-49D7-84F5-A483BFD3709E}"/>
              </a:ext>
            </a:extLst>
          </p:cNvPr>
          <p:cNvCxnSpPr>
            <a:cxnSpLocks/>
            <a:stCxn id="224" idx="1"/>
            <a:endCxn id="11" idx="0"/>
          </p:cNvCxnSpPr>
          <p:nvPr/>
        </p:nvCxnSpPr>
        <p:spPr>
          <a:xfrm rot="10800000" flipV="1">
            <a:off x="957358" y="3623919"/>
            <a:ext cx="688699" cy="5816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0" name="Conector angular 23">
            <a:extLst>
              <a:ext uri="{FF2B5EF4-FFF2-40B4-BE49-F238E27FC236}">
                <a16:creationId xmlns:a16="http://schemas.microsoft.com/office/drawing/2014/main" id="{EC591960-BAD7-4F92-98DE-DFBECDB9E1CE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60735" y="2539933"/>
            <a:ext cx="117659" cy="7244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57FD7CEA-FA02-40BA-8ED4-C8F9084810E7}"/>
              </a:ext>
            </a:extLst>
          </p:cNvPr>
          <p:cNvCxnSpPr>
            <a:cxnSpLocks/>
          </p:cNvCxnSpPr>
          <p:nvPr/>
        </p:nvCxnSpPr>
        <p:spPr>
          <a:xfrm flipH="1">
            <a:off x="3229012" y="1887946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7" name="Conector recto de flecha 266">
            <a:extLst>
              <a:ext uri="{FF2B5EF4-FFF2-40B4-BE49-F238E27FC236}">
                <a16:creationId xmlns:a16="http://schemas.microsoft.com/office/drawing/2014/main" id="{A79CEE1E-23D3-4E6C-B9D5-410C1AEF0A25}"/>
              </a:ext>
            </a:extLst>
          </p:cNvPr>
          <p:cNvCxnSpPr>
            <a:cxnSpLocks/>
          </p:cNvCxnSpPr>
          <p:nvPr/>
        </p:nvCxnSpPr>
        <p:spPr>
          <a:xfrm flipH="1">
            <a:off x="3229012" y="2358162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8" name="Conector recto de flecha 267">
            <a:extLst>
              <a:ext uri="{FF2B5EF4-FFF2-40B4-BE49-F238E27FC236}">
                <a16:creationId xmlns:a16="http://schemas.microsoft.com/office/drawing/2014/main" id="{54A9FED9-182C-4B85-BCBD-CB2E6DD78146}"/>
              </a:ext>
            </a:extLst>
          </p:cNvPr>
          <p:cNvCxnSpPr>
            <a:cxnSpLocks/>
          </p:cNvCxnSpPr>
          <p:nvPr/>
        </p:nvCxnSpPr>
        <p:spPr>
          <a:xfrm flipH="1">
            <a:off x="3229012" y="3623919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" name="Conector recto de flecha 268">
            <a:extLst>
              <a:ext uri="{FF2B5EF4-FFF2-40B4-BE49-F238E27FC236}">
                <a16:creationId xmlns:a16="http://schemas.microsoft.com/office/drawing/2014/main" id="{E6BB353C-7AAA-45BE-AEA2-D70A001833EB}"/>
              </a:ext>
            </a:extLst>
          </p:cNvPr>
          <p:cNvCxnSpPr>
            <a:cxnSpLocks/>
          </p:cNvCxnSpPr>
          <p:nvPr/>
        </p:nvCxnSpPr>
        <p:spPr>
          <a:xfrm flipH="1">
            <a:off x="3229012" y="4004467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0" name="Conector recto de flecha 269">
            <a:extLst>
              <a:ext uri="{FF2B5EF4-FFF2-40B4-BE49-F238E27FC236}">
                <a16:creationId xmlns:a16="http://schemas.microsoft.com/office/drawing/2014/main" id="{63D5AE7A-AC7D-47A4-BE0E-9F84E99393D5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65771" y="2960970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3" name="Conector recto de flecha 272">
            <a:extLst>
              <a:ext uri="{FF2B5EF4-FFF2-40B4-BE49-F238E27FC236}">
                <a16:creationId xmlns:a16="http://schemas.microsoft.com/office/drawing/2014/main" id="{8DB9350A-E191-4A88-8CCC-A4B2DE736E85}"/>
              </a:ext>
            </a:extLst>
          </p:cNvPr>
          <p:cNvCxnSpPr>
            <a:cxnSpLocks/>
          </p:cNvCxnSpPr>
          <p:nvPr/>
        </p:nvCxnSpPr>
        <p:spPr>
          <a:xfrm>
            <a:off x="3265771" y="4752231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4" name="Conector recto de flecha 273">
            <a:extLst>
              <a:ext uri="{FF2B5EF4-FFF2-40B4-BE49-F238E27FC236}">
                <a16:creationId xmlns:a16="http://schemas.microsoft.com/office/drawing/2014/main" id="{51C8CAC2-EDA2-4D07-BF54-27879A580F88}"/>
              </a:ext>
            </a:extLst>
          </p:cNvPr>
          <p:cNvCxnSpPr>
            <a:cxnSpLocks/>
          </p:cNvCxnSpPr>
          <p:nvPr/>
        </p:nvCxnSpPr>
        <p:spPr>
          <a:xfrm>
            <a:off x="3265771" y="5210584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5" name="Conector recto de flecha 274">
            <a:extLst>
              <a:ext uri="{FF2B5EF4-FFF2-40B4-BE49-F238E27FC236}">
                <a16:creationId xmlns:a16="http://schemas.microsoft.com/office/drawing/2014/main" id="{F595289D-6575-48D1-8172-F0E3B5A8A4D6}"/>
              </a:ext>
            </a:extLst>
          </p:cNvPr>
          <p:cNvCxnSpPr>
            <a:cxnSpLocks/>
          </p:cNvCxnSpPr>
          <p:nvPr/>
        </p:nvCxnSpPr>
        <p:spPr>
          <a:xfrm>
            <a:off x="3265771" y="5651198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Marcador de pie de página 2">
            <a:extLst>
              <a:ext uri="{FF2B5EF4-FFF2-40B4-BE49-F238E27FC236}">
                <a16:creationId xmlns:a16="http://schemas.microsoft.com/office/drawing/2014/main" id="{E52A4DF1-4B31-41EF-B02F-696BC1F362C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3" name="Marcador de contenido 5">
            <a:extLst>
              <a:ext uri="{FF2B5EF4-FFF2-40B4-BE49-F238E27FC236}">
                <a16:creationId xmlns:a16="http://schemas.microsoft.com/office/drawing/2014/main" id="{B30A9423-125C-403D-8CEB-AB3C161A6B0F}"/>
              </a:ext>
            </a:extLst>
          </p:cNvPr>
          <p:cNvSpPr txBox="1">
            <a:spLocks/>
          </p:cNvSpPr>
          <p:nvPr/>
        </p:nvSpPr>
        <p:spPr>
          <a:xfrm>
            <a:off x="3545164" y="5732352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</a:t>
            </a:r>
            <a:r>
              <a:rPr lang="es-ES" sz="1400" kern="0">
                <a:latin typeface="+mn-lt"/>
                <a:cs typeface="Arial"/>
                <a:sym typeface="Arial"/>
                <a:rtl val="0"/>
              </a:rPr>
              <a:t> 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Cumplimiento hitos del PE; (2) ROA; (3) Calificación de riesgo; (4) % Cumplimiento de reportes directos; (5) NPS Cliente Externo</a:t>
            </a:r>
          </a:p>
        </p:txBody>
      </p:sp>
      <p:sp>
        <p:nvSpPr>
          <p:cNvPr id="21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18E30B2-51E8-4513-956D-F53B56F09F47}"/>
              </a:ext>
            </a:extLst>
          </p:cNvPr>
          <p:cNvSpPr/>
          <p:nvPr/>
        </p:nvSpPr>
        <p:spPr>
          <a:xfrm>
            <a:off x="9514127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3C4F135B-9421-4A2F-8DA6-491BEF19C03F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8" name="Imagen 2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D48A9660-2993-48D6-8276-45708930F8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0" name="Rectángulo 19">
            <a:extLst>
              <a:ext uri="{FF2B5EF4-FFF2-40B4-BE49-F238E27FC236}">
                <a16:creationId xmlns:a16="http://schemas.microsoft.com/office/drawing/2014/main" id="{C37910EB-5639-466C-AADF-D1961033D895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cxnSp>
        <p:nvCxnSpPr>
          <p:cNvPr id="67" name="Conector angular 37">
            <a:extLst>
              <a:ext uri="{FF2B5EF4-FFF2-40B4-BE49-F238E27FC236}">
                <a16:creationId xmlns:a16="http://schemas.microsoft.com/office/drawing/2014/main" id="{BE3CE986-4F09-4C97-A20D-8F2485A45FB7}"/>
              </a:ext>
            </a:extLst>
          </p:cNvPr>
          <p:cNvCxnSpPr>
            <a:cxnSpLocks/>
            <a:stCxn id="11" idx="2"/>
            <a:endCxn id="227" idx="1"/>
          </p:cNvCxnSpPr>
          <p:nvPr/>
        </p:nvCxnSpPr>
        <p:spPr>
          <a:xfrm rot="16200000" flipH="1">
            <a:off x="1201073" y="4338737"/>
            <a:ext cx="201266" cy="6886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1007F45-F3A1-44D7-A02C-9A712C6C85F2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7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4E335FF-252E-4837-9D52-379702E807E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68" name="Rectángulo 67">
            <a:extLst>
              <a:ext uri="{FF2B5EF4-FFF2-40B4-BE49-F238E27FC236}">
                <a16:creationId xmlns:a16="http://schemas.microsoft.com/office/drawing/2014/main" id="{87E4F27A-994B-4C86-A659-048F2B83E839}"/>
              </a:ext>
            </a:extLst>
          </p:cNvPr>
          <p:cNvSpPr/>
          <p:nvPr/>
        </p:nvSpPr>
        <p:spPr>
          <a:xfrm>
            <a:off x="8552985" y="6473797"/>
            <a:ext cx="1264342" cy="2159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Objetivo</a:t>
            </a:r>
          </a:p>
        </p:txBody>
      </p:sp>
    </p:spTree>
    <p:extLst>
      <p:ext uri="{BB962C8B-B14F-4D97-AF65-F5344CB8AC3E}">
        <p14:creationId xmlns:p14="http://schemas.microsoft.com/office/powerpoint/2010/main" val="104919899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Presidente</a:t>
            </a: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20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En el modelo objetivo, el Presidente responderá por la definición y ejecución del plan estratégico, el relacionamiento externo y temas de fondeo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Presidente – Modelo Objetivo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8062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y ejecución del plan estratégico,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en particular la innovación digital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Comunicar y asegurar los lineamientos estratégicos - liderar la construcción, implementación, seguimiento y ajustes del plan estratégico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consolidación de un equipo directivo completo idóneo, cohesionado y alineado con la estrategia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Revisar y avalar el plan de negocio y financiero de alto nivel – expectativas de desempeño comercial y de rentabilidad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Decidir sobre oportunidades de alto impacto para la organización y proponer su priorización– </a:t>
            </a:r>
            <a:r>
              <a:rPr lang="es-ES" sz="1200" err="1">
                <a:latin typeface="+mn-lt"/>
                <a:cs typeface="Calibri"/>
              </a:rPr>
              <a:t>e.g</a:t>
            </a:r>
            <a:r>
              <a:rPr lang="es-ES" sz="1200">
                <a:latin typeface="+mn-lt"/>
                <a:cs typeface="Calibri"/>
              </a:rPr>
              <a:t>., </a:t>
            </a:r>
            <a:r>
              <a:rPr lang="es-ES" sz="1200" err="1">
                <a:latin typeface="+mn-lt"/>
                <a:cs typeface="Calibri"/>
              </a:rPr>
              <a:t>M&amp;As</a:t>
            </a:r>
            <a:r>
              <a:rPr lang="es-ES" sz="1200">
                <a:latin typeface="+mn-lt"/>
                <a:cs typeface="Calibri"/>
              </a:rPr>
              <a:t> o alianzas estratégicas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exploración de oportunidades de alianzas estratégicas - primer acercamiento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relacionamiento externo integral y temas de fondeo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Supervisar a través de sus reportes directos todas las funciones clave del negocio – Comercial, Operaciones, RRHH y Finanzas</a:t>
            </a:r>
          </a:p>
        </p:txBody>
      </p:sp>
      <p:sp>
        <p:nvSpPr>
          <p:cNvPr id="99" name="Marcador de contenido 5">
            <a:extLst>
              <a:ext uri="{FF2B5EF4-FFF2-40B4-BE49-F238E27FC236}">
                <a16:creationId xmlns:a16="http://schemas.microsoft.com/office/drawing/2014/main" id="{4660E0F3-FB58-4976-89E2-20D650EF3061}"/>
              </a:ext>
            </a:extLst>
          </p:cNvPr>
          <p:cNvSpPr txBox="1">
            <a:spLocks/>
          </p:cNvSpPr>
          <p:nvPr/>
        </p:nvSpPr>
        <p:spPr>
          <a:xfrm>
            <a:off x="1646056" y="3804212"/>
            <a:ext cx="1584000" cy="37924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100" name="Rectángulo 99">
            <a:extLst>
              <a:ext uri="{FF2B5EF4-FFF2-40B4-BE49-F238E27FC236}">
                <a16:creationId xmlns:a16="http://schemas.microsoft.com/office/drawing/2014/main" id="{49FC6F0E-CF11-49A7-B191-1E410AAEC25D}"/>
              </a:ext>
            </a:extLst>
          </p:cNvPr>
          <p:cNvSpPr/>
          <p:nvPr/>
        </p:nvSpPr>
        <p:spPr>
          <a:xfrm>
            <a:off x="381357" y="4194941"/>
            <a:ext cx="1152000" cy="37688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/>
              <a:t>Junta </a:t>
            </a:r>
            <a:r>
              <a:rPr lang="es-CO" sz="1200"/>
              <a:t>Directiva</a:t>
            </a:r>
          </a:p>
        </p:txBody>
      </p:sp>
      <p:cxnSp>
        <p:nvCxnSpPr>
          <p:cNvPr id="101" name="Conector angular 32">
            <a:extLst>
              <a:ext uri="{FF2B5EF4-FFF2-40B4-BE49-F238E27FC236}">
                <a16:creationId xmlns:a16="http://schemas.microsoft.com/office/drawing/2014/main" id="{96ABF8A3-2357-4893-A76A-36E3313AF172}"/>
              </a:ext>
            </a:extLst>
          </p:cNvPr>
          <p:cNvCxnSpPr>
            <a:cxnSpLocks/>
            <a:stCxn id="99" idx="1"/>
            <a:endCxn id="100" idx="0"/>
          </p:cNvCxnSpPr>
          <p:nvPr/>
        </p:nvCxnSpPr>
        <p:spPr>
          <a:xfrm rot="10800000" flipV="1">
            <a:off x="957358" y="3993835"/>
            <a:ext cx="688699" cy="2011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Marcador de contenido 5">
            <a:extLst>
              <a:ext uri="{FF2B5EF4-FFF2-40B4-BE49-F238E27FC236}">
                <a16:creationId xmlns:a16="http://schemas.microsoft.com/office/drawing/2014/main" id="{1BD1EB74-681B-4896-9CDB-CD27214CC9DB}"/>
              </a:ext>
            </a:extLst>
          </p:cNvPr>
          <p:cNvSpPr txBox="1">
            <a:spLocks/>
          </p:cNvSpPr>
          <p:nvPr/>
        </p:nvSpPr>
        <p:spPr>
          <a:xfrm>
            <a:off x="1646056" y="5004013"/>
            <a:ext cx="1584000" cy="3918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mediano y largo plazo</a:t>
            </a:r>
          </a:p>
        </p:txBody>
      </p:sp>
      <p:cxnSp>
        <p:nvCxnSpPr>
          <p:cNvPr id="103" name="Conector angular 37">
            <a:extLst>
              <a:ext uri="{FF2B5EF4-FFF2-40B4-BE49-F238E27FC236}">
                <a16:creationId xmlns:a16="http://schemas.microsoft.com/office/drawing/2014/main" id="{B3F7AA36-360D-4529-8413-56D0E151556C}"/>
              </a:ext>
            </a:extLst>
          </p:cNvPr>
          <p:cNvCxnSpPr>
            <a:cxnSpLocks/>
            <a:stCxn id="100" idx="2"/>
            <a:endCxn id="110" idx="1"/>
          </p:cNvCxnSpPr>
          <p:nvPr/>
        </p:nvCxnSpPr>
        <p:spPr>
          <a:xfrm rot="16200000" flipH="1">
            <a:off x="766812" y="4762366"/>
            <a:ext cx="1068745" cy="68765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ector angular 23">
            <a:extLst>
              <a:ext uri="{FF2B5EF4-FFF2-40B4-BE49-F238E27FC236}">
                <a16:creationId xmlns:a16="http://schemas.microsoft.com/office/drawing/2014/main" id="{803745BA-A4BE-43F7-B55A-6C3B74FAE35E}"/>
              </a:ext>
            </a:extLst>
          </p:cNvPr>
          <p:cNvCxnSpPr>
            <a:cxnSpLocks/>
            <a:stCxn id="109" idx="1"/>
            <a:endCxn id="108" idx="0"/>
          </p:cNvCxnSpPr>
          <p:nvPr/>
        </p:nvCxnSpPr>
        <p:spPr>
          <a:xfrm rot="10800000" flipV="1">
            <a:off x="957358" y="1877314"/>
            <a:ext cx="724412" cy="5784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Marcador de contenido 5">
            <a:extLst>
              <a:ext uri="{FF2B5EF4-FFF2-40B4-BE49-F238E27FC236}">
                <a16:creationId xmlns:a16="http://schemas.microsoft.com/office/drawing/2014/main" id="{D69198B4-9629-4CDB-A8AE-8FC949096E86}"/>
              </a:ext>
            </a:extLst>
          </p:cNvPr>
          <p:cNvSpPr txBox="1">
            <a:spLocks/>
          </p:cNvSpPr>
          <p:nvPr/>
        </p:nvSpPr>
        <p:spPr>
          <a:xfrm>
            <a:off x="1681771" y="2747982"/>
            <a:ext cx="1584000" cy="40471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108" name="Rectángulo 107">
            <a:extLst>
              <a:ext uri="{FF2B5EF4-FFF2-40B4-BE49-F238E27FC236}">
                <a16:creationId xmlns:a16="http://schemas.microsoft.com/office/drawing/2014/main" id="{C887A0C3-FB26-4699-81FA-69FDF71F9D74}"/>
              </a:ext>
            </a:extLst>
          </p:cNvPr>
          <p:cNvSpPr/>
          <p:nvPr/>
        </p:nvSpPr>
        <p:spPr>
          <a:xfrm>
            <a:off x="381358" y="2455798"/>
            <a:ext cx="1152000" cy="37688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Liderazgo de primer nivel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B746D61E-F777-40FB-92C0-6E0DC5D8F946}"/>
              </a:ext>
            </a:extLst>
          </p:cNvPr>
          <p:cNvSpPr txBox="1">
            <a:spLocks/>
          </p:cNvSpPr>
          <p:nvPr/>
        </p:nvSpPr>
        <p:spPr>
          <a:xfrm>
            <a:off x="1681770" y="1681527"/>
            <a:ext cx="1584000" cy="3915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sp>
        <p:nvSpPr>
          <p:cNvPr id="110" name="Marcador de contenido 5">
            <a:extLst>
              <a:ext uri="{FF2B5EF4-FFF2-40B4-BE49-F238E27FC236}">
                <a16:creationId xmlns:a16="http://schemas.microsoft.com/office/drawing/2014/main" id="{4B5DAF72-43B5-4B6B-BDE7-F2BFCD7B3FB7}"/>
              </a:ext>
            </a:extLst>
          </p:cNvPr>
          <p:cNvSpPr txBox="1">
            <a:spLocks/>
          </p:cNvSpPr>
          <p:nvPr/>
        </p:nvSpPr>
        <p:spPr>
          <a:xfrm>
            <a:off x="1645012" y="5471465"/>
            <a:ext cx="1584000" cy="33820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11" name="Conector angular 37">
            <a:extLst>
              <a:ext uri="{FF2B5EF4-FFF2-40B4-BE49-F238E27FC236}">
                <a16:creationId xmlns:a16="http://schemas.microsoft.com/office/drawing/2014/main" id="{2A3BECF3-57E6-4E96-A5B0-ECC39ECFCF82}"/>
              </a:ext>
            </a:extLst>
          </p:cNvPr>
          <p:cNvCxnSpPr>
            <a:cxnSpLocks/>
            <a:stCxn id="100" idx="2"/>
            <a:endCxn id="102" idx="1"/>
          </p:cNvCxnSpPr>
          <p:nvPr/>
        </p:nvCxnSpPr>
        <p:spPr>
          <a:xfrm rot="16200000" flipH="1">
            <a:off x="987641" y="4541537"/>
            <a:ext cx="628131" cy="6886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Marcador de contenido 5">
            <a:extLst>
              <a:ext uri="{FF2B5EF4-FFF2-40B4-BE49-F238E27FC236}">
                <a16:creationId xmlns:a16="http://schemas.microsoft.com/office/drawing/2014/main" id="{5152599E-D3F4-4A76-A657-03FDE07DE9CF}"/>
              </a:ext>
            </a:extLst>
          </p:cNvPr>
          <p:cNvSpPr txBox="1">
            <a:spLocks/>
          </p:cNvSpPr>
          <p:nvPr/>
        </p:nvSpPr>
        <p:spPr>
          <a:xfrm>
            <a:off x="1681770" y="2135249"/>
            <a:ext cx="1584000" cy="41598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negocio y financieras</a:t>
            </a:r>
          </a:p>
        </p:txBody>
      </p:sp>
      <p:cxnSp>
        <p:nvCxnSpPr>
          <p:cNvPr id="113" name="Conector angular 23">
            <a:extLst>
              <a:ext uri="{FF2B5EF4-FFF2-40B4-BE49-F238E27FC236}">
                <a16:creationId xmlns:a16="http://schemas.microsoft.com/office/drawing/2014/main" id="{F3F4635E-0A20-4347-B953-B02B6E89242F}"/>
              </a:ext>
            </a:extLst>
          </p:cNvPr>
          <p:cNvCxnSpPr>
            <a:cxnSpLocks/>
            <a:stCxn id="112" idx="1"/>
            <a:endCxn id="108" idx="0"/>
          </p:cNvCxnSpPr>
          <p:nvPr/>
        </p:nvCxnSpPr>
        <p:spPr>
          <a:xfrm rot="10800000" flipV="1">
            <a:off x="957358" y="2343238"/>
            <a:ext cx="724412" cy="1125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Marcador de contenido 5">
            <a:extLst>
              <a:ext uri="{FF2B5EF4-FFF2-40B4-BE49-F238E27FC236}">
                <a16:creationId xmlns:a16="http://schemas.microsoft.com/office/drawing/2014/main" id="{1E555464-8F3E-40A2-9464-A9A0188D3667}"/>
              </a:ext>
            </a:extLst>
          </p:cNvPr>
          <p:cNvSpPr txBox="1">
            <a:spLocks/>
          </p:cNvSpPr>
          <p:nvPr/>
        </p:nvSpPr>
        <p:spPr>
          <a:xfrm>
            <a:off x="8808235" y="2643026"/>
            <a:ext cx="1583994" cy="4217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y operativos</a:t>
            </a:r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3F1078F0-6184-497C-BF8C-01E352A77A72}"/>
              </a:ext>
            </a:extLst>
          </p:cNvPr>
          <p:cNvSpPr/>
          <p:nvPr/>
        </p:nvSpPr>
        <p:spPr>
          <a:xfrm>
            <a:off x="10609942" y="3457884"/>
            <a:ext cx="1152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Presidente FI/CV</a:t>
            </a:r>
          </a:p>
        </p:txBody>
      </p:sp>
      <p:cxnSp>
        <p:nvCxnSpPr>
          <p:cNvPr id="117" name="Conector angular 23">
            <a:extLst>
              <a:ext uri="{FF2B5EF4-FFF2-40B4-BE49-F238E27FC236}">
                <a16:creationId xmlns:a16="http://schemas.microsoft.com/office/drawing/2014/main" id="{A3B81AB5-FA33-4162-B15C-9C640E751B07}"/>
              </a:ext>
            </a:extLst>
          </p:cNvPr>
          <p:cNvCxnSpPr>
            <a:cxnSpLocks/>
            <a:stCxn id="119" idx="3"/>
            <a:endCxn id="115" idx="0"/>
          </p:cNvCxnSpPr>
          <p:nvPr/>
        </p:nvCxnSpPr>
        <p:spPr>
          <a:xfrm>
            <a:off x="10392229" y="3341752"/>
            <a:ext cx="793713" cy="1161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Marcador de contenido 5">
            <a:extLst>
              <a:ext uri="{FF2B5EF4-FFF2-40B4-BE49-F238E27FC236}">
                <a16:creationId xmlns:a16="http://schemas.microsoft.com/office/drawing/2014/main" id="{097A52AE-7DB0-4E35-BC9C-ABD9E7717A44}"/>
              </a:ext>
            </a:extLst>
          </p:cNvPr>
          <p:cNvSpPr txBox="1">
            <a:spLocks/>
          </p:cNvSpPr>
          <p:nvPr/>
        </p:nvSpPr>
        <p:spPr>
          <a:xfrm>
            <a:off x="8808235" y="3857901"/>
            <a:ext cx="1583994" cy="86891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b="1">
                <a:solidFill>
                  <a:schemeClr val="tx1"/>
                </a:solidFill>
                <a:latin typeface="+mn-lt"/>
              </a:rPr>
              <a:t>Mentoría 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Gestión estratégica del negocio</a:t>
            </a:r>
          </a:p>
          <a:p>
            <a:pPr marL="93663" indent="-90488"/>
            <a:r>
              <a:rPr lang="es-ES" sz="1100">
                <a:solidFill>
                  <a:schemeClr val="tx1"/>
                </a:solidFill>
                <a:latin typeface="+mn-lt"/>
              </a:rPr>
              <a:t>Relacionamiento externo</a:t>
            </a:r>
          </a:p>
        </p:txBody>
      </p:sp>
      <p:sp>
        <p:nvSpPr>
          <p:cNvPr id="119" name="Marcador de contenido 5">
            <a:extLst>
              <a:ext uri="{FF2B5EF4-FFF2-40B4-BE49-F238E27FC236}">
                <a16:creationId xmlns:a16="http://schemas.microsoft.com/office/drawing/2014/main" id="{A93D6857-6413-42D4-822F-E57A11E3AEC1}"/>
              </a:ext>
            </a:extLst>
          </p:cNvPr>
          <p:cNvSpPr txBox="1">
            <a:spLocks/>
          </p:cNvSpPr>
          <p:nvPr/>
        </p:nvSpPr>
        <p:spPr>
          <a:xfrm>
            <a:off x="8808235" y="3130889"/>
            <a:ext cx="1583994" cy="4217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mentoría</a:t>
            </a:r>
          </a:p>
        </p:txBody>
      </p:sp>
      <p:cxnSp>
        <p:nvCxnSpPr>
          <p:cNvPr id="120" name="Conector angular 23">
            <a:extLst>
              <a:ext uri="{FF2B5EF4-FFF2-40B4-BE49-F238E27FC236}">
                <a16:creationId xmlns:a16="http://schemas.microsoft.com/office/drawing/2014/main" id="{1BE934C6-97EC-4AC7-BFEF-C1B8140ABB87}"/>
              </a:ext>
            </a:extLst>
          </p:cNvPr>
          <p:cNvCxnSpPr>
            <a:cxnSpLocks/>
            <a:stCxn id="114" idx="3"/>
            <a:endCxn id="115" idx="0"/>
          </p:cNvCxnSpPr>
          <p:nvPr/>
        </p:nvCxnSpPr>
        <p:spPr>
          <a:xfrm>
            <a:off x="10392229" y="2853889"/>
            <a:ext cx="793713" cy="6039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ector angular 23">
            <a:extLst>
              <a:ext uri="{FF2B5EF4-FFF2-40B4-BE49-F238E27FC236}">
                <a16:creationId xmlns:a16="http://schemas.microsoft.com/office/drawing/2014/main" id="{B0AA6F14-A63D-4015-94D1-7853C9C9F3D1}"/>
              </a:ext>
            </a:extLst>
          </p:cNvPr>
          <p:cNvCxnSpPr>
            <a:cxnSpLocks/>
            <a:stCxn id="115" idx="2"/>
            <a:endCxn id="118" idx="3"/>
          </p:cNvCxnSpPr>
          <p:nvPr/>
        </p:nvCxnSpPr>
        <p:spPr>
          <a:xfrm rot="5400000">
            <a:off x="10554411" y="3660828"/>
            <a:ext cx="469350" cy="7937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ector recto de flecha 135">
            <a:extLst>
              <a:ext uri="{FF2B5EF4-FFF2-40B4-BE49-F238E27FC236}">
                <a16:creationId xmlns:a16="http://schemas.microsoft.com/office/drawing/2014/main" id="{B8D706C4-4BE5-444E-B08F-E51B7ED82AED}"/>
              </a:ext>
            </a:extLst>
          </p:cNvPr>
          <p:cNvCxnSpPr>
            <a:cxnSpLocks/>
          </p:cNvCxnSpPr>
          <p:nvPr/>
        </p:nvCxnSpPr>
        <p:spPr>
          <a:xfrm flipH="1">
            <a:off x="8463944" y="4291259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8" name="Conector recto de flecha 137">
            <a:extLst>
              <a:ext uri="{FF2B5EF4-FFF2-40B4-BE49-F238E27FC236}">
                <a16:creationId xmlns:a16="http://schemas.microsoft.com/office/drawing/2014/main" id="{B8DF2D88-6F56-405D-A1CE-97AE95E16610}"/>
              </a:ext>
            </a:extLst>
          </p:cNvPr>
          <p:cNvCxnSpPr>
            <a:cxnSpLocks/>
          </p:cNvCxnSpPr>
          <p:nvPr/>
        </p:nvCxnSpPr>
        <p:spPr>
          <a:xfrm>
            <a:off x="8451773" y="3341752"/>
            <a:ext cx="3817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ector recto de flecha 138">
            <a:extLst>
              <a:ext uri="{FF2B5EF4-FFF2-40B4-BE49-F238E27FC236}">
                <a16:creationId xmlns:a16="http://schemas.microsoft.com/office/drawing/2014/main" id="{95144181-F1BE-456B-A519-CB05FCC7558A}"/>
              </a:ext>
            </a:extLst>
          </p:cNvPr>
          <p:cNvCxnSpPr>
            <a:cxnSpLocks/>
          </p:cNvCxnSpPr>
          <p:nvPr/>
        </p:nvCxnSpPr>
        <p:spPr>
          <a:xfrm>
            <a:off x="8451773" y="2853889"/>
            <a:ext cx="3817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Marcador de contenido 5">
            <a:extLst>
              <a:ext uri="{FF2B5EF4-FFF2-40B4-BE49-F238E27FC236}">
                <a16:creationId xmlns:a16="http://schemas.microsoft.com/office/drawing/2014/main" id="{616768CC-AAB9-4289-AB02-91DD16A60322}"/>
              </a:ext>
            </a:extLst>
          </p:cNvPr>
          <p:cNvSpPr txBox="1">
            <a:spLocks/>
          </p:cNvSpPr>
          <p:nvPr/>
        </p:nvSpPr>
        <p:spPr>
          <a:xfrm>
            <a:off x="1646056" y="3481297"/>
            <a:ext cx="1584000" cy="26398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Plan estratégico</a:t>
            </a:r>
          </a:p>
        </p:txBody>
      </p:sp>
      <p:sp>
        <p:nvSpPr>
          <p:cNvPr id="141" name="Marcador de contenido 5">
            <a:extLst>
              <a:ext uri="{FF2B5EF4-FFF2-40B4-BE49-F238E27FC236}">
                <a16:creationId xmlns:a16="http://schemas.microsoft.com/office/drawing/2014/main" id="{C8094538-78AC-4E61-AA96-0D1375795D04}"/>
              </a:ext>
            </a:extLst>
          </p:cNvPr>
          <p:cNvSpPr txBox="1">
            <a:spLocks/>
          </p:cNvSpPr>
          <p:nvPr/>
        </p:nvSpPr>
        <p:spPr>
          <a:xfrm>
            <a:off x="1646056" y="4614834"/>
            <a:ext cx="1584000" cy="3165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Plan estratégico aprobado</a:t>
            </a:r>
          </a:p>
        </p:txBody>
      </p:sp>
      <p:cxnSp>
        <p:nvCxnSpPr>
          <p:cNvPr id="142" name="Conector angular 32">
            <a:extLst>
              <a:ext uri="{FF2B5EF4-FFF2-40B4-BE49-F238E27FC236}">
                <a16:creationId xmlns:a16="http://schemas.microsoft.com/office/drawing/2014/main" id="{D6CA8947-03EE-41A6-8DA5-0F7F27909294}"/>
              </a:ext>
            </a:extLst>
          </p:cNvPr>
          <p:cNvCxnSpPr>
            <a:cxnSpLocks/>
            <a:stCxn id="140" idx="1"/>
            <a:endCxn id="100" idx="0"/>
          </p:cNvCxnSpPr>
          <p:nvPr/>
        </p:nvCxnSpPr>
        <p:spPr>
          <a:xfrm rot="10800000" flipV="1">
            <a:off x="957358" y="3613287"/>
            <a:ext cx="688699" cy="5816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ector angular 23">
            <a:extLst>
              <a:ext uri="{FF2B5EF4-FFF2-40B4-BE49-F238E27FC236}">
                <a16:creationId xmlns:a16="http://schemas.microsoft.com/office/drawing/2014/main" id="{2038C2BD-6A3F-4632-9B57-B6D32836341A}"/>
              </a:ext>
            </a:extLst>
          </p:cNvPr>
          <p:cNvCxnSpPr>
            <a:cxnSpLocks/>
            <a:stCxn id="108" idx="2"/>
            <a:endCxn id="105" idx="1"/>
          </p:cNvCxnSpPr>
          <p:nvPr/>
        </p:nvCxnSpPr>
        <p:spPr>
          <a:xfrm rot="16200000" flipH="1">
            <a:off x="1260735" y="2529301"/>
            <a:ext cx="117659" cy="7244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Conector recto de flecha 143">
            <a:extLst>
              <a:ext uri="{FF2B5EF4-FFF2-40B4-BE49-F238E27FC236}">
                <a16:creationId xmlns:a16="http://schemas.microsoft.com/office/drawing/2014/main" id="{AA02D296-B4F1-4362-84F7-AFAA707CF416}"/>
              </a:ext>
            </a:extLst>
          </p:cNvPr>
          <p:cNvCxnSpPr>
            <a:cxnSpLocks/>
          </p:cNvCxnSpPr>
          <p:nvPr/>
        </p:nvCxnSpPr>
        <p:spPr>
          <a:xfrm flipH="1">
            <a:off x="3229012" y="1877314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ector recto de flecha 144">
            <a:extLst>
              <a:ext uri="{FF2B5EF4-FFF2-40B4-BE49-F238E27FC236}">
                <a16:creationId xmlns:a16="http://schemas.microsoft.com/office/drawing/2014/main" id="{19AFD680-2747-4271-AFA3-6CDFFFD13497}"/>
              </a:ext>
            </a:extLst>
          </p:cNvPr>
          <p:cNvCxnSpPr>
            <a:cxnSpLocks/>
          </p:cNvCxnSpPr>
          <p:nvPr/>
        </p:nvCxnSpPr>
        <p:spPr>
          <a:xfrm flipH="1">
            <a:off x="3229012" y="2347530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ector recto de flecha 145">
            <a:extLst>
              <a:ext uri="{FF2B5EF4-FFF2-40B4-BE49-F238E27FC236}">
                <a16:creationId xmlns:a16="http://schemas.microsoft.com/office/drawing/2014/main" id="{9D37B804-15A3-4BE4-BD05-CFA0841D9A3A}"/>
              </a:ext>
            </a:extLst>
          </p:cNvPr>
          <p:cNvCxnSpPr>
            <a:cxnSpLocks/>
          </p:cNvCxnSpPr>
          <p:nvPr/>
        </p:nvCxnSpPr>
        <p:spPr>
          <a:xfrm flipH="1">
            <a:off x="3229012" y="3613287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7" name="Conector recto de flecha 146">
            <a:extLst>
              <a:ext uri="{FF2B5EF4-FFF2-40B4-BE49-F238E27FC236}">
                <a16:creationId xmlns:a16="http://schemas.microsoft.com/office/drawing/2014/main" id="{7D42DC8D-7282-4C62-A5D4-3F153EA048CB}"/>
              </a:ext>
            </a:extLst>
          </p:cNvPr>
          <p:cNvCxnSpPr>
            <a:cxnSpLocks/>
          </p:cNvCxnSpPr>
          <p:nvPr/>
        </p:nvCxnSpPr>
        <p:spPr>
          <a:xfrm flipH="1">
            <a:off x="3229012" y="3993835"/>
            <a:ext cx="27905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ector recto de flecha 147">
            <a:extLst>
              <a:ext uri="{FF2B5EF4-FFF2-40B4-BE49-F238E27FC236}">
                <a16:creationId xmlns:a16="http://schemas.microsoft.com/office/drawing/2014/main" id="{693688C2-4092-46F9-AA41-AB2BC06DCD47}"/>
              </a:ext>
            </a:extLst>
          </p:cNvPr>
          <p:cNvCxnSpPr>
            <a:cxnSpLocks/>
            <a:stCxn id="105" idx="3"/>
          </p:cNvCxnSpPr>
          <p:nvPr/>
        </p:nvCxnSpPr>
        <p:spPr>
          <a:xfrm>
            <a:off x="3265771" y="2950338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ector recto de flecha 148">
            <a:extLst>
              <a:ext uri="{FF2B5EF4-FFF2-40B4-BE49-F238E27FC236}">
                <a16:creationId xmlns:a16="http://schemas.microsoft.com/office/drawing/2014/main" id="{4FEF2CCB-0FB5-4207-AE5F-32C851F33990}"/>
              </a:ext>
            </a:extLst>
          </p:cNvPr>
          <p:cNvCxnSpPr>
            <a:cxnSpLocks/>
          </p:cNvCxnSpPr>
          <p:nvPr/>
        </p:nvCxnSpPr>
        <p:spPr>
          <a:xfrm>
            <a:off x="3265771" y="4741599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ector recto de flecha 149">
            <a:extLst>
              <a:ext uri="{FF2B5EF4-FFF2-40B4-BE49-F238E27FC236}">
                <a16:creationId xmlns:a16="http://schemas.microsoft.com/office/drawing/2014/main" id="{5DDB2C54-CD5A-47C3-B335-209368A00FDC}"/>
              </a:ext>
            </a:extLst>
          </p:cNvPr>
          <p:cNvCxnSpPr>
            <a:cxnSpLocks/>
          </p:cNvCxnSpPr>
          <p:nvPr/>
        </p:nvCxnSpPr>
        <p:spPr>
          <a:xfrm>
            <a:off x="3265771" y="5199952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ector recto de flecha 150">
            <a:extLst>
              <a:ext uri="{FF2B5EF4-FFF2-40B4-BE49-F238E27FC236}">
                <a16:creationId xmlns:a16="http://schemas.microsoft.com/office/drawing/2014/main" id="{25FBF2A0-EA31-4814-8AF7-87C5B6ED5EE5}"/>
              </a:ext>
            </a:extLst>
          </p:cNvPr>
          <p:cNvCxnSpPr>
            <a:cxnSpLocks/>
          </p:cNvCxnSpPr>
          <p:nvPr/>
        </p:nvCxnSpPr>
        <p:spPr>
          <a:xfrm>
            <a:off x="3265771" y="5640566"/>
            <a:ext cx="2793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Bocadillo: rectángulo con esquinas redondeadas 77">
            <a:extLst>
              <a:ext uri="{FF2B5EF4-FFF2-40B4-BE49-F238E27FC236}">
                <a16:creationId xmlns:a16="http://schemas.microsoft.com/office/drawing/2014/main" id="{7F606908-DA7D-4A77-A2B8-6F38AA5FE61F}"/>
              </a:ext>
            </a:extLst>
          </p:cNvPr>
          <p:cNvSpPr/>
          <p:nvPr/>
        </p:nvSpPr>
        <p:spPr>
          <a:xfrm>
            <a:off x="9909267" y="4871170"/>
            <a:ext cx="1583994" cy="569815"/>
          </a:xfrm>
          <a:prstGeom prst="wedgeRoundRectCallout">
            <a:avLst>
              <a:gd name="adj1" fmla="val 908"/>
              <a:gd name="adj2" fmla="val -127092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Direccionamiento estratégico a través del comité de Junta Directiva</a:t>
            </a:r>
          </a:p>
        </p:txBody>
      </p:sp>
      <p:sp>
        <p:nvSpPr>
          <p:cNvPr id="58" name="Marcador de pie de página 2">
            <a:extLst>
              <a:ext uri="{FF2B5EF4-FFF2-40B4-BE49-F238E27FC236}">
                <a16:creationId xmlns:a16="http://schemas.microsoft.com/office/drawing/2014/main" id="{3FCA0D06-AB50-472A-B8D7-83CDFD60D85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3" name="Marcador de contenido 5">
            <a:extLst>
              <a:ext uri="{FF2B5EF4-FFF2-40B4-BE49-F238E27FC236}">
                <a16:creationId xmlns:a16="http://schemas.microsoft.com/office/drawing/2014/main" id="{5080A358-8131-4D24-B6F1-FBA7A997B695}"/>
              </a:ext>
            </a:extLst>
          </p:cNvPr>
          <p:cNvSpPr txBox="1">
            <a:spLocks/>
          </p:cNvSpPr>
          <p:nvPr/>
        </p:nvSpPr>
        <p:spPr>
          <a:xfrm>
            <a:off x="3545164" y="5732352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</a:t>
            </a:r>
            <a:r>
              <a:rPr lang="es-ES" sz="1400" kern="0">
                <a:latin typeface="+mn-lt"/>
                <a:cs typeface="Arial"/>
                <a:sym typeface="Arial"/>
                <a:rtl val="0"/>
              </a:rPr>
              <a:t> 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Cumplimiento hitos del PE; (2) ROA; (3) Calificación de riesgo; (4) % Cumplimiento de reportes directos; (5) NPS Cliente Externo</a:t>
            </a:r>
            <a:endParaRPr lang="es-ES" sz="14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3" name="Flecha: pentágono 12">
            <a:extLst>
              <a:ext uri="{FF2B5EF4-FFF2-40B4-BE49-F238E27FC236}">
                <a16:creationId xmlns:a16="http://schemas.microsoft.com/office/drawing/2014/main" id="{517A4C30-9850-4B46-8574-BD3F92B4806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15" name="Imagen 1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0CFE574A-1D63-4601-81B0-113F259C21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11" name="Rectángulo 10">
            <a:extLst>
              <a:ext uri="{FF2B5EF4-FFF2-40B4-BE49-F238E27FC236}">
                <a16:creationId xmlns:a16="http://schemas.microsoft.com/office/drawing/2014/main" id="{ABE63A47-8F71-4520-AC09-A1B190DB0D98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cxnSp>
        <p:nvCxnSpPr>
          <p:cNvPr id="51" name="Conector angular 37">
            <a:extLst>
              <a:ext uri="{FF2B5EF4-FFF2-40B4-BE49-F238E27FC236}">
                <a16:creationId xmlns:a16="http://schemas.microsoft.com/office/drawing/2014/main" id="{6217B923-570E-49C7-A547-663A78D62942}"/>
              </a:ext>
            </a:extLst>
          </p:cNvPr>
          <p:cNvCxnSpPr>
            <a:cxnSpLocks/>
            <a:stCxn id="100" idx="2"/>
            <a:endCxn id="141" idx="1"/>
          </p:cNvCxnSpPr>
          <p:nvPr/>
        </p:nvCxnSpPr>
        <p:spPr>
          <a:xfrm rot="16200000" flipH="1">
            <a:off x="1201073" y="4328105"/>
            <a:ext cx="201266" cy="6886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Rectángulo 11">
            <a:extLst>
              <a:ext uri="{FF2B5EF4-FFF2-40B4-BE49-F238E27FC236}">
                <a16:creationId xmlns:a16="http://schemas.microsoft.com/office/drawing/2014/main" id="{6CFB6818-F36D-4964-B284-2F91BBBDA6E5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21AAEC6D-954C-444C-BABD-528DE58A748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E6EC9792-829D-4093-BFA2-1E18994BE715}"/>
              </a:ext>
            </a:extLst>
          </p:cNvPr>
          <p:cNvSpPr/>
          <p:nvPr/>
        </p:nvSpPr>
        <p:spPr>
          <a:xfrm>
            <a:off x="8451773" y="6473797"/>
            <a:ext cx="1365554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Modelo Transición</a:t>
            </a:r>
          </a:p>
        </p:txBody>
      </p:sp>
      <p:sp>
        <p:nvSpPr>
          <p:cNvPr id="60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CEE36B88-15EF-42C8-A284-B14C229F206D}"/>
              </a:ext>
            </a:extLst>
          </p:cNvPr>
          <p:cNvSpPr/>
          <p:nvPr/>
        </p:nvSpPr>
        <p:spPr>
          <a:xfrm rot="10800000">
            <a:off x="9561025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78361482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Dirección de Gestión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21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Relevante: Asociada al plan estratégico, </a:t>
            </a:r>
            <a:br>
              <a:rPr lang="es-ES_tradnl"/>
            </a:br>
            <a:r>
              <a:rPr lang="es-ES_tradnl"/>
              <a:t>involucramiento de 2 o más áreas de la organización y relevancia económica y/o estratégica ; 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</a:t>
            </a:r>
            <a:r>
              <a:rPr lang="es-CO"/>
              <a:t>Gestión será el encargado de apoyar a la Presidencia a gestionar el negocio e impulsar la implementación del plan estratégico a través del manejo de la PMO corporativa y el BI</a:t>
            </a:r>
            <a:endParaRPr lang="es-E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Dirección de Gestión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915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Actuar como un facilitador que apoye a la presidencia a gestionar el negocio e impulsar la implementación del plan estratégico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VE" sz="1200">
                <a:latin typeface="+mn-lt"/>
              </a:rPr>
              <a:t>Apoyar la definición de las prioridades estratégicas – identificación de asuntos clave en el foco de la gestión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VE" sz="1200">
                <a:latin typeface="+mn-lt"/>
              </a:rPr>
              <a:t>Preparar y hacer seguimiento a la agenda estratégica de presidencia – garantizar la disponibilidad y entendimiento de información relevante y clave para el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VE" sz="1200">
                <a:latin typeface="+mn-lt"/>
              </a:rPr>
              <a:t>Asegurar la participación oportuna de presidencia en la toma de decisiones relevantes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VE" sz="1200">
                <a:latin typeface="+mn-lt"/>
              </a:rPr>
              <a:t>Realizar seguimiento a los </a:t>
            </a:r>
            <a:r>
              <a:rPr lang="es-ES" sz="1200">
                <a:latin typeface="+mn-lt"/>
                <a:cs typeface="Calibri"/>
              </a:rPr>
              <a:t>proyectos e iniciativas estratégicas y asegurar la visibilidad y priorización de asuntos clave a comunicar a presidencia</a:t>
            </a:r>
            <a:endParaRPr lang="es-ES" sz="1200" baseline="300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desarrollo y gestión de tableros de control– visión integral del desempeño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Representar a Presidencia, por demanda, en reuniones relevantes y asegurar la comunicación de mensajes clave e implicaciones en la estrategia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88798"/>
            <a:ext cx="4918780" cy="84383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80" kern="0">
                <a:latin typeface="+mn-lt"/>
                <a:cs typeface="Arial"/>
                <a:sym typeface="Arial"/>
                <a:rtl val="0"/>
              </a:rPr>
              <a:t>(1) Impacto en los proyectos realizados – disminución de tiempos, coberturas,… (2) Rentabilidad de la implementación de proyectos estratégicos; (3) NPS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554397"/>
            <a:ext cx="1584000" cy="58570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Resumen ejecutivo gestión de proyectos estratégicos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744160" y="4516426"/>
            <a:ext cx="1008000" cy="3651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Presidente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442580" y="1847249"/>
            <a:ext cx="805580" cy="266917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93483" y="1841049"/>
            <a:ext cx="365097" cy="620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405505"/>
            <a:ext cx="811662" cy="25211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49420" y="3062548"/>
            <a:ext cx="1474731" cy="87181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Avance del portafolio, novedades y asuntos críticos de iniciativas relevantes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93171" y="2942206"/>
            <a:ext cx="300836" cy="8116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405505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657619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Jefe PMO Corporativa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49420" y="2229061"/>
            <a:ext cx="1474731" cy="35288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E0F3F830-981F-42F6-9343-AD0F5B67CC4D}"/>
              </a:ext>
            </a:extLst>
          </p:cNvPr>
          <p:cNvSpPr/>
          <p:nvPr/>
        </p:nvSpPr>
        <p:spPr>
          <a:xfrm>
            <a:off x="433758" y="4557161"/>
            <a:ext cx="1008000" cy="373503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Analista BI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49D72AFB-9369-40A1-9D19-47CFD7231970}"/>
              </a:ext>
            </a:extLst>
          </p:cNvPr>
          <p:cNvSpPr txBox="1">
            <a:spLocks/>
          </p:cNvSpPr>
          <p:nvPr/>
        </p:nvSpPr>
        <p:spPr>
          <a:xfrm>
            <a:off x="1749420" y="4131421"/>
            <a:ext cx="1474731" cy="35288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40" name="Marcador de contenido 5">
            <a:extLst>
              <a:ext uri="{FF2B5EF4-FFF2-40B4-BE49-F238E27FC236}">
                <a16:creationId xmlns:a16="http://schemas.microsoft.com/office/drawing/2014/main" id="{7F07CF58-3573-4363-AD82-796C405990F8}"/>
              </a:ext>
            </a:extLst>
          </p:cNvPr>
          <p:cNvSpPr txBox="1">
            <a:spLocks/>
          </p:cNvSpPr>
          <p:nvPr/>
        </p:nvSpPr>
        <p:spPr>
          <a:xfrm>
            <a:off x="1749420" y="4777555"/>
            <a:ext cx="1474731" cy="71473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Tablero de control de indicadores de gestión actualizado</a:t>
            </a:r>
          </a:p>
        </p:txBody>
      </p:sp>
      <p:cxnSp>
        <p:nvCxnSpPr>
          <p:cNvPr id="41" name="Conector angular 23">
            <a:extLst>
              <a:ext uri="{FF2B5EF4-FFF2-40B4-BE49-F238E27FC236}">
                <a16:creationId xmlns:a16="http://schemas.microsoft.com/office/drawing/2014/main" id="{EEDC7C2D-10A0-4F61-A6F3-4864D1BE8CD7}"/>
              </a:ext>
            </a:extLst>
          </p:cNvPr>
          <p:cNvCxnSpPr>
            <a:cxnSpLocks/>
            <a:stCxn id="38" idx="1"/>
            <a:endCxn id="29" idx="0"/>
          </p:cNvCxnSpPr>
          <p:nvPr/>
        </p:nvCxnSpPr>
        <p:spPr>
          <a:xfrm rot="10800000" flipV="1">
            <a:off x="937758" y="4307865"/>
            <a:ext cx="811662" cy="2492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ector angular 26">
            <a:extLst>
              <a:ext uri="{FF2B5EF4-FFF2-40B4-BE49-F238E27FC236}">
                <a16:creationId xmlns:a16="http://schemas.microsoft.com/office/drawing/2014/main" id="{D1D8BCE9-4C2F-4911-8E21-A0CB41122540}"/>
              </a:ext>
            </a:extLst>
          </p:cNvPr>
          <p:cNvCxnSpPr>
            <a:cxnSpLocks/>
            <a:stCxn id="29" idx="2"/>
            <a:endCxn id="40" idx="1"/>
          </p:cNvCxnSpPr>
          <p:nvPr/>
        </p:nvCxnSpPr>
        <p:spPr>
          <a:xfrm rot="16200000" flipH="1">
            <a:off x="1241460" y="4626962"/>
            <a:ext cx="204259" cy="8116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Marcador de contenido 5">
            <a:extLst>
              <a:ext uri="{FF2B5EF4-FFF2-40B4-BE49-F238E27FC236}">
                <a16:creationId xmlns:a16="http://schemas.microsoft.com/office/drawing/2014/main" id="{F455F9B2-1258-4D09-BDB1-544CDEC57165}"/>
              </a:ext>
            </a:extLst>
          </p:cNvPr>
          <p:cNvSpPr txBox="1">
            <a:spLocks/>
          </p:cNvSpPr>
          <p:nvPr/>
        </p:nvSpPr>
        <p:spPr>
          <a:xfrm>
            <a:off x="8858580" y="2200140"/>
            <a:ext cx="1584000" cy="4153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Resumen ejecutivo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KPIs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 de gestión</a:t>
            </a:r>
          </a:p>
        </p:txBody>
      </p:sp>
      <p:sp>
        <p:nvSpPr>
          <p:cNvPr id="58" name="Marcador de contenido 5">
            <a:extLst>
              <a:ext uri="{FF2B5EF4-FFF2-40B4-BE49-F238E27FC236}">
                <a16:creationId xmlns:a16="http://schemas.microsoft.com/office/drawing/2014/main" id="{594A4758-FE7D-4248-A21E-BDB25ACAD3B3}"/>
              </a:ext>
            </a:extLst>
          </p:cNvPr>
          <p:cNvSpPr txBox="1">
            <a:spLocks/>
          </p:cNvSpPr>
          <p:nvPr/>
        </p:nvSpPr>
        <p:spPr>
          <a:xfrm>
            <a:off x="8858580" y="2680920"/>
            <a:ext cx="1584000" cy="38361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Apoyo en la definición de prioridades</a:t>
            </a:r>
          </a:p>
        </p:txBody>
      </p: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B5F720F3-D10D-46EA-B527-F6A4E32F9FC5}"/>
              </a:ext>
            </a:extLst>
          </p:cNvPr>
          <p:cNvSpPr txBox="1">
            <a:spLocks/>
          </p:cNvSpPr>
          <p:nvPr/>
        </p:nvSpPr>
        <p:spPr>
          <a:xfrm>
            <a:off x="8858580" y="3560142"/>
            <a:ext cx="1584000" cy="54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Requerimiento de involucramiento en toma de decisiones</a:t>
            </a:r>
          </a:p>
        </p:txBody>
      </p:sp>
      <p:sp>
        <p:nvSpPr>
          <p:cNvPr id="65" name="Marcador de contenido 5">
            <a:extLst>
              <a:ext uri="{FF2B5EF4-FFF2-40B4-BE49-F238E27FC236}">
                <a16:creationId xmlns:a16="http://schemas.microsoft.com/office/drawing/2014/main" id="{58814B63-1171-4EF2-A486-3F73A3FD98DD}"/>
              </a:ext>
            </a:extLst>
          </p:cNvPr>
          <p:cNvSpPr txBox="1">
            <a:spLocks/>
          </p:cNvSpPr>
          <p:nvPr/>
        </p:nvSpPr>
        <p:spPr>
          <a:xfrm>
            <a:off x="8858580" y="4852777"/>
            <a:ext cx="1584000" cy="4279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Lineamiento estratégicos</a:t>
            </a:r>
          </a:p>
        </p:txBody>
      </p:sp>
      <p:sp>
        <p:nvSpPr>
          <p:cNvPr id="67" name="Marcador de contenido 5">
            <a:extLst>
              <a:ext uri="{FF2B5EF4-FFF2-40B4-BE49-F238E27FC236}">
                <a16:creationId xmlns:a16="http://schemas.microsoft.com/office/drawing/2014/main" id="{0D1D7190-C734-4DA5-9D3F-B7EF8F1ECD70}"/>
              </a:ext>
            </a:extLst>
          </p:cNvPr>
          <p:cNvSpPr txBox="1">
            <a:spLocks/>
          </p:cNvSpPr>
          <p:nvPr/>
        </p:nvSpPr>
        <p:spPr>
          <a:xfrm>
            <a:off x="8858580" y="4149408"/>
            <a:ext cx="1584000" cy="40083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Representación en reuniones</a:t>
            </a:r>
          </a:p>
        </p:txBody>
      </p: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B4E707D6-65A1-413D-9C84-B2B8C633ECFE}"/>
              </a:ext>
            </a:extLst>
          </p:cNvPr>
          <p:cNvSpPr txBox="1">
            <a:spLocks/>
          </p:cNvSpPr>
          <p:nvPr/>
        </p:nvSpPr>
        <p:spPr>
          <a:xfrm>
            <a:off x="8858580" y="5327046"/>
            <a:ext cx="1584000" cy="54159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Requerimientos de representación en reuniones</a:t>
            </a:r>
          </a:p>
        </p:txBody>
      </p:sp>
      <p:cxnSp>
        <p:nvCxnSpPr>
          <p:cNvPr id="71" name="Conector angular 32">
            <a:extLst>
              <a:ext uri="{FF2B5EF4-FFF2-40B4-BE49-F238E27FC236}">
                <a16:creationId xmlns:a16="http://schemas.microsoft.com/office/drawing/2014/main" id="{D02E231A-67AC-4458-8259-49A1BC7B892F}"/>
              </a:ext>
            </a:extLst>
          </p:cNvPr>
          <p:cNvCxnSpPr>
            <a:cxnSpLocks/>
            <a:stCxn id="57" idx="3"/>
            <a:endCxn id="11" idx="0"/>
          </p:cNvCxnSpPr>
          <p:nvPr/>
        </p:nvCxnSpPr>
        <p:spPr>
          <a:xfrm>
            <a:off x="10442580" y="2407818"/>
            <a:ext cx="805580" cy="210860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angular 32">
            <a:extLst>
              <a:ext uri="{FF2B5EF4-FFF2-40B4-BE49-F238E27FC236}">
                <a16:creationId xmlns:a16="http://schemas.microsoft.com/office/drawing/2014/main" id="{F89259B5-03DF-4AAE-B9F6-1A3465196273}"/>
              </a:ext>
            </a:extLst>
          </p:cNvPr>
          <p:cNvCxnSpPr>
            <a:cxnSpLocks/>
            <a:stCxn id="58" idx="3"/>
            <a:endCxn id="11" idx="0"/>
          </p:cNvCxnSpPr>
          <p:nvPr/>
        </p:nvCxnSpPr>
        <p:spPr>
          <a:xfrm>
            <a:off x="10442580" y="2872726"/>
            <a:ext cx="805580" cy="164370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angular 32">
            <a:extLst>
              <a:ext uri="{FF2B5EF4-FFF2-40B4-BE49-F238E27FC236}">
                <a16:creationId xmlns:a16="http://schemas.microsoft.com/office/drawing/2014/main" id="{BC0A796C-41D4-46B3-B693-115810C91D0C}"/>
              </a:ext>
            </a:extLst>
          </p:cNvPr>
          <p:cNvCxnSpPr>
            <a:cxnSpLocks/>
            <a:stCxn id="61" idx="3"/>
            <a:endCxn id="11" idx="0"/>
          </p:cNvCxnSpPr>
          <p:nvPr/>
        </p:nvCxnSpPr>
        <p:spPr>
          <a:xfrm>
            <a:off x="10442580" y="3830142"/>
            <a:ext cx="805580" cy="68628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angular 32">
            <a:extLst>
              <a:ext uri="{FF2B5EF4-FFF2-40B4-BE49-F238E27FC236}">
                <a16:creationId xmlns:a16="http://schemas.microsoft.com/office/drawing/2014/main" id="{C9A1A43E-0411-4D72-8D6A-458F5681B2F8}"/>
              </a:ext>
            </a:extLst>
          </p:cNvPr>
          <p:cNvCxnSpPr>
            <a:cxnSpLocks/>
            <a:stCxn id="67" idx="3"/>
            <a:endCxn id="11" idx="0"/>
          </p:cNvCxnSpPr>
          <p:nvPr/>
        </p:nvCxnSpPr>
        <p:spPr>
          <a:xfrm>
            <a:off x="10442580" y="4349828"/>
            <a:ext cx="805580" cy="1665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angular 32">
            <a:extLst>
              <a:ext uri="{FF2B5EF4-FFF2-40B4-BE49-F238E27FC236}">
                <a16:creationId xmlns:a16="http://schemas.microsoft.com/office/drawing/2014/main" id="{C81FFA6C-645B-45FC-AE9E-57231CD5F959}"/>
              </a:ext>
            </a:extLst>
          </p:cNvPr>
          <p:cNvCxnSpPr>
            <a:cxnSpLocks/>
            <a:endCxn id="65" idx="3"/>
          </p:cNvCxnSpPr>
          <p:nvPr/>
        </p:nvCxnSpPr>
        <p:spPr>
          <a:xfrm rot="5400000">
            <a:off x="10731003" y="4549585"/>
            <a:ext cx="228734" cy="80558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32">
            <a:extLst>
              <a:ext uri="{FF2B5EF4-FFF2-40B4-BE49-F238E27FC236}">
                <a16:creationId xmlns:a16="http://schemas.microsoft.com/office/drawing/2014/main" id="{95012C0D-110E-4DF8-942F-069728578B65}"/>
              </a:ext>
            </a:extLst>
          </p:cNvPr>
          <p:cNvCxnSpPr>
            <a:cxnSpLocks/>
            <a:endCxn id="69" idx="3"/>
          </p:cNvCxnSpPr>
          <p:nvPr/>
        </p:nvCxnSpPr>
        <p:spPr>
          <a:xfrm rot="5400000">
            <a:off x="10465453" y="4815135"/>
            <a:ext cx="759834" cy="80558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recto de flecha 90">
            <a:extLst>
              <a:ext uri="{FF2B5EF4-FFF2-40B4-BE49-F238E27FC236}">
                <a16:creationId xmlns:a16="http://schemas.microsoft.com/office/drawing/2014/main" id="{11F98CF2-2A86-4787-9BDB-4FECF97EB485}"/>
              </a:ext>
            </a:extLst>
          </p:cNvPr>
          <p:cNvCxnSpPr>
            <a:cxnSpLocks/>
          </p:cNvCxnSpPr>
          <p:nvPr/>
        </p:nvCxnSpPr>
        <p:spPr>
          <a:xfrm>
            <a:off x="8493483" y="2433610"/>
            <a:ext cx="36509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recto de flecha 91">
            <a:extLst>
              <a:ext uri="{FF2B5EF4-FFF2-40B4-BE49-F238E27FC236}">
                <a16:creationId xmlns:a16="http://schemas.microsoft.com/office/drawing/2014/main" id="{54A84B21-D24E-4D7F-9BB1-AB3F740B1CC0}"/>
              </a:ext>
            </a:extLst>
          </p:cNvPr>
          <p:cNvCxnSpPr>
            <a:cxnSpLocks/>
          </p:cNvCxnSpPr>
          <p:nvPr/>
        </p:nvCxnSpPr>
        <p:spPr>
          <a:xfrm>
            <a:off x="8493483" y="2860101"/>
            <a:ext cx="36509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48510431-574F-4D31-AEB3-8515BC5D1458}"/>
              </a:ext>
            </a:extLst>
          </p:cNvPr>
          <p:cNvCxnSpPr>
            <a:cxnSpLocks/>
          </p:cNvCxnSpPr>
          <p:nvPr/>
        </p:nvCxnSpPr>
        <p:spPr>
          <a:xfrm>
            <a:off x="8493483" y="3803993"/>
            <a:ext cx="36509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F0842856-6582-48A7-B1C9-C9BD0C636809}"/>
              </a:ext>
            </a:extLst>
          </p:cNvPr>
          <p:cNvCxnSpPr>
            <a:cxnSpLocks/>
          </p:cNvCxnSpPr>
          <p:nvPr/>
        </p:nvCxnSpPr>
        <p:spPr>
          <a:xfrm>
            <a:off x="8493483" y="4358819"/>
            <a:ext cx="36509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0DE4379D-F54D-4831-B676-DF6B02674DDF}"/>
              </a:ext>
            </a:extLst>
          </p:cNvPr>
          <p:cNvCxnSpPr>
            <a:cxnSpLocks/>
          </p:cNvCxnSpPr>
          <p:nvPr/>
        </p:nvCxnSpPr>
        <p:spPr>
          <a:xfrm flipH="1">
            <a:off x="8454110" y="5068604"/>
            <a:ext cx="4044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0BBA21E0-EB59-406B-B3BC-0C7A1FE3428E}"/>
              </a:ext>
            </a:extLst>
          </p:cNvPr>
          <p:cNvCxnSpPr>
            <a:cxnSpLocks/>
          </p:cNvCxnSpPr>
          <p:nvPr/>
        </p:nvCxnSpPr>
        <p:spPr>
          <a:xfrm flipH="1">
            <a:off x="8454110" y="5597842"/>
            <a:ext cx="4044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recto de flecha 100">
            <a:extLst>
              <a:ext uri="{FF2B5EF4-FFF2-40B4-BE49-F238E27FC236}">
                <a16:creationId xmlns:a16="http://schemas.microsoft.com/office/drawing/2014/main" id="{99F0D941-2CFC-415D-80DA-522320C0D450}"/>
              </a:ext>
            </a:extLst>
          </p:cNvPr>
          <p:cNvCxnSpPr>
            <a:cxnSpLocks/>
          </p:cNvCxnSpPr>
          <p:nvPr/>
        </p:nvCxnSpPr>
        <p:spPr>
          <a:xfrm flipH="1">
            <a:off x="3224151" y="4307864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ector recto de flecha 101">
            <a:extLst>
              <a:ext uri="{FF2B5EF4-FFF2-40B4-BE49-F238E27FC236}">
                <a16:creationId xmlns:a16="http://schemas.microsoft.com/office/drawing/2014/main" id="{A2B2F1B2-0348-4250-B404-A6FBE6218FB8}"/>
              </a:ext>
            </a:extLst>
          </p:cNvPr>
          <p:cNvCxnSpPr>
            <a:cxnSpLocks/>
          </p:cNvCxnSpPr>
          <p:nvPr/>
        </p:nvCxnSpPr>
        <p:spPr>
          <a:xfrm>
            <a:off x="3224151" y="3452573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recto de flecha 104">
            <a:extLst>
              <a:ext uri="{FF2B5EF4-FFF2-40B4-BE49-F238E27FC236}">
                <a16:creationId xmlns:a16="http://schemas.microsoft.com/office/drawing/2014/main" id="{2FD8A8E8-3058-435C-A70F-67E49CCF0067}"/>
              </a:ext>
            </a:extLst>
          </p:cNvPr>
          <p:cNvCxnSpPr>
            <a:cxnSpLocks/>
          </p:cNvCxnSpPr>
          <p:nvPr/>
        </p:nvCxnSpPr>
        <p:spPr>
          <a:xfrm>
            <a:off x="3224151" y="5134922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Marcador de contenido 5">
            <a:extLst>
              <a:ext uri="{FF2B5EF4-FFF2-40B4-BE49-F238E27FC236}">
                <a16:creationId xmlns:a16="http://schemas.microsoft.com/office/drawing/2014/main" id="{222B3159-FEE1-4770-B618-0251623B49F9}"/>
              </a:ext>
            </a:extLst>
          </p:cNvPr>
          <p:cNvSpPr txBox="1">
            <a:spLocks/>
          </p:cNvSpPr>
          <p:nvPr/>
        </p:nvSpPr>
        <p:spPr>
          <a:xfrm>
            <a:off x="8858580" y="3111226"/>
            <a:ext cx="1584000" cy="40083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Asesoría y apoyo en toma de decisiones</a:t>
            </a:r>
          </a:p>
        </p:txBody>
      </p: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DB77ACE9-B9CE-4838-AEF5-158DA9118E73}"/>
              </a:ext>
            </a:extLst>
          </p:cNvPr>
          <p:cNvCxnSpPr>
            <a:cxnSpLocks/>
          </p:cNvCxnSpPr>
          <p:nvPr/>
        </p:nvCxnSpPr>
        <p:spPr>
          <a:xfrm>
            <a:off x="8493483" y="3319129"/>
            <a:ext cx="36509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angular 32">
            <a:extLst>
              <a:ext uri="{FF2B5EF4-FFF2-40B4-BE49-F238E27FC236}">
                <a16:creationId xmlns:a16="http://schemas.microsoft.com/office/drawing/2014/main" id="{514C65D3-6918-4931-A36D-7BE88FBBB16D}"/>
              </a:ext>
            </a:extLst>
          </p:cNvPr>
          <p:cNvCxnSpPr>
            <a:cxnSpLocks/>
            <a:stCxn id="30" idx="3"/>
            <a:endCxn id="11" idx="0"/>
          </p:cNvCxnSpPr>
          <p:nvPr/>
        </p:nvCxnSpPr>
        <p:spPr>
          <a:xfrm>
            <a:off x="10442580" y="3311646"/>
            <a:ext cx="805580" cy="120478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Flecha: pentágono 44">
            <a:extLst>
              <a:ext uri="{FF2B5EF4-FFF2-40B4-BE49-F238E27FC236}">
                <a16:creationId xmlns:a16="http://schemas.microsoft.com/office/drawing/2014/main" id="{436D62C1-F663-4918-A2CA-F79D773C7BB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46" name="Signo más 45">
            <a:extLst>
              <a:ext uri="{FF2B5EF4-FFF2-40B4-BE49-F238E27FC236}">
                <a16:creationId xmlns:a16="http://schemas.microsoft.com/office/drawing/2014/main" id="{D76036B5-4639-42A0-8BAB-1952B53DA9D4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0048C650-1299-4EAF-8D41-39987410D72D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66DD8BA-FBD6-4A63-8D5E-F7B203855B2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93373262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Analista Business </a:t>
            </a:r>
            <a:r>
              <a:rPr lang="en-US"/>
              <a:t>Intelligence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Analista BI será el encargado de facilitar la toma de decisiones oportunas por medio del análisis y visualización de datos clave para la organización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Analista Business </a:t>
            </a:r>
            <a:r>
              <a:rPr lang="en-US" sz="1400" b="1">
                <a:solidFill>
                  <a:prstClr val="white"/>
                </a:solidFill>
              </a:rPr>
              <a:t>Intelligence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92921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Facilitar la toma de decisiones oportunas por medio del análisis y visualización de los datos clave utilizados por la organización – </a:t>
            </a:r>
            <a:r>
              <a:rPr lang="es-ES" sz="1200" err="1">
                <a:latin typeface="+mn-lt"/>
                <a:cs typeface="Calibri"/>
              </a:rPr>
              <a:t>KPIs</a:t>
            </a:r>
            <a:r>
              <a:rPr lang="es-ES" sz="1200">
                <a:latin typeface="+mn-lt"/>
                <a:cs typeface="Calibri"/>
              </a:rPr>
              <a:t> relevantes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Recopilar datos de inteligencia de negocios de fuentes internas y externas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Crear herramientas o sistemas de inteligencia de negocios, incluyendo diseño de bases de datos, hojas de cálculo o salidas relacionadas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Sintetizar los datos actuales de inteligencia de negocios a través de tableros de control interactivos para respaldar la toma de decisiones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Mantener o actualizar las herramientas de inteligencia de negocios, bases de datos, cuadros de mando, sistemas o métodos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o coordinar pruebas para asegurar que la inteligencia es consistente con las necesidades definidas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las estrategias de mercado competitivas a través del estudio de las tendencias relacionadas con el producto, los clientes o el mercado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877812"/>
            <a:ext cx="4918780" cy="570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97648" y="2831722"/>
            <a:ext cx="1320931" cy="7282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Tablero de control de indicadores de gestión actualizado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670626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Director de Gestión 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79" y="3195850"/>
            <a:ext cx="798462" cy="47477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97648" y="4295377"/>
            <a:ext cx="1320931" cy="7282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293371" y="4035834"/>
            <a:ext cx="448879" cy="7984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4692200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3195850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907853"/>
            <a:ext cx="671100" cy="44690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96068" y="4180398"/>
            <a:ext cx="1615294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Reportes, Herramientas y soluciones de datos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987694" y="3844821"/>
            <a:ext cx="558438" cy="6583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2907853"/>
            <a:ext cx="308322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354757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Dir. Gestión de Datos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08858" y="2709907"/>
            <a:ext cx="1615294" cy="39589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gestión de datos</a:t>
            </a:r>
          </a:p>
        </p:txBody>
      </p:sp>
      <p:sp>
        <p:nvSpPr>
          <p:cNvPr id="32" name="Marcador de contenido 5">
            <a:extLst>
              <a:ext uri="{FF2B5EF4-FFF2-40B4-BE49-F238E27FC236}">
                <a16:creationId xmlns:a16="http://schemas.microsoft.com/office/drawing/2014/main" id="{F2EA1318-3B87-411A-B72F-DA7CD86FF34A}"/>
              </a:ext>
            </a:extLst>
          </p:cNvPr>
          <p:cNvSpPr txBox="1">
            <a:spLocks/>
          </p:cNvSpPr>
          <p:nvPr/>
        </p:nvSpPr>
        <p:spPr>
          <a:xfrm>
            <a:off x="1608858" y="2160714"/>
            <a:ext cx="1615294" cy="39589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información</a:t>
            </a:r>
          </a:p>
        </p:txBody>
      </p:sp>
      <p:cxnSp>
        <p:nvCxnSpPr>
          <p:cNvPr id="34" name="Conector angular 23">
            <a:extLst>
              <a:ext uri="{FF2B5EF4-FFF2-40B4-BE49-F238E27FC236}">
                <a16:creationId xmlns:a16="http://schemas.microsoft.com/office/drawing/2014/main" id="{14C2480E-6592-41AF-972F-5EB3DF980F0C}"/>
              </a:ext>
            </a:extLst>
          </p:cNvPr>
          <p:cNvCxnSpPr>
            <a:cxnSpLocks/>
            <a:stCxn id="32" idx="1"/>
            <a:endCxn id="22" idx="0"/>
          </p:cNvCxnSpPr>
          <p:nvPr/>
        </p:nvCxnSpPr>
        <p:spPr>
          <a:xfrm rot="10800000" flipV="1">
            <a:off x="937758" y="2358661"/>
            <a:ext cx="671100" cy="9960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de flecha 37">
            <a:extLst>
              <a:ext uri="{FF2B5EF4-FFF2-40B4-BE49-F238E27FC236}">
                <a16:creationId xmlns:a16="http://schemas.microsoft.com/office/drawing/2014/main" id="{48BBD04D-B652-4D9B-8EC8-5B701E7A6C5A}"/>
              </a:ext>
            </a:extLst>
          </p:cNvPr>
          <p:cNvCxnSpPr>
            <a:cxnSpLocks/>
          </p:cNvCxnSpPr>
          <p:nvPr/>
        </p:nvCxnSpPr>
        <p:spPr>
          <a:xfrm flipH="1">
            <a:off x="3224151" y="2358973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8BCB6A37-3FFB-40B8-8C5D-91C04085184C}"/>
              </a:ext>
            </a:extLst>
          </p:cNvPr>
          <p:cNvCxnSpPr>
            <a:cxnSpLocks/>
          </p:cNvCxnSpPr>
          <p:nvPr/>
        </p:nvCxnSpPr>
        <p:spPr>
          <a:xfrm>
            <a:off x="3236842" y="4453195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EA6EF356-2FFF-4708-A679-0E1CA5A8432D}"/>
              </a:ext>
            </a:extLst>
          </p:cNvPr>
          <p:cNvSpPr txBox="1">
            <a:spLocks/>
          </p:cNvSpPr>
          <p:nvPr/>
        </p:nvSpPr>
        <p:spPr>
          <a:xfrm>
            <a:off x="1596068" y="4806202"/>
            <a:ext cx="1615294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Acceso a consultas en el Data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Warehouse</a:t>
            </a:r>
            <a:endParaRPr lang="es-ES" sz="11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Conector angular 26">
            <a:extLst>
              <a:ext uri="{FF2B5EF4-FFF2-40B4-BE49-F238E27FC236}">
                <a16:creationId xmlns:a16="http://schemas.microsoft.com/office/drawing/2014/main" id="{E7CD6D56-E3C6-44E4-BB4F-E0E658E6CD0F}"/>
              </a:ext>
            </a:extLst>
          </p:cNvPr>
          <p:cNvCxnSpPr>
            <a:cxnSpLocks/>
            <a:stCxn id="22" idx="2"/>
            <a:endCxn id="33" idx="1"/>
          </p:cNvCxnSpPr>
          <p:nvPr/>
        </p:nvCxnSpPr>
        <p:spPr>
          <a:xfrm rot="16200000" flipH="1">
            <a:off x="674792" y="4157723"/>
            <a:ext cx="1184242" cy="6583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ector recto de flecha 40">
            <a:extLst>
              <a:ext uri="{FF2B5EF4-FFF2-40B4-BE49-F238E27FC236}">
                <a16:creationId xmlns:a16="http://schemas.microsoft.com/office/drawing/2014/main" id="{679C5F91-E496-47A0-9AF9-F68C1FCA9D8B}"/>
              </a:ext>
            </a:extLst>
          </p:cNvPr>
          <p:cNvCxnSpPr>
            <a:cxnSpLocks/>
          </p:cNvCxnSpPr>
          <p:nvPr/>
        </p:nvCxnSpPr>
        <p:spPr>
          <a:xfrm>
            <a:off x="3236842" y="5074116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Marcador de contenido 5">
            <a:extLst>
              <a:ext uri="{FF2B5EF4-FFF2-40B4-BE49-F238E27FC236}">
                <a16:creationId xmlns:a16="http://schemas.microsoft.com/office/drawing/2014/main" id="{471F2350-52D7-4635-A24E-ECDC64F332A3}"/>
              </a:ext>
            </a:extLst>
          </p:cNvPr>
          <p:cNvSpPr txBox="1">
            <a:spLocks/>
          </p:cNvSpPr>
          <p:nvPr/>
        </p:nvSpPr>
        <p:spPr>
          <a:xfrm>
            <a:off x="8797648" y="1794666"/>
            <a:ext cx="1320931" cy="9264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Hallazgos relevantes – oportunidades, tendencias</a:t>
            </a:r>
          </a:p>
        </p:txBody>
      </p:sp>
      <p:cxnSp>
        <p:nvCxnSpPr>
          <p:cNvPr id="44" name="Conector angular 32">
            <a:extLst>
              <a:ext uri="{FF2B5EF4-FFF2-40B4-BE49-F238E27FC236}">
                <a16:creationId xmlns:a16="http://schemas.microsoft.com/office/drawing/2014/main" id="{17341421-D6B0-4EEC-A1C4-19563677A8F3}"/>
              </a:ext>
            </a:extLst>
          </p:cNvPr>
          <p:cNvCxnSpPr>
            <a:cxnSpLocks/>
            <a:stCxn id="40" idx="3"/>
            <a:endCxn id="11" idx="0"/>
          </p:cNvCxnSpPr>
          <p:nvPr/>
        </p:nvCxnSpPr>
        <p:spPr>
          <a:xfrm>
            <a:off x="10118579" y="2257870"/>
            <a:ext cx="798462" cy="141275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ector recto de flecha 46">
            <a:extLst>
              <a:ext uri="{FF2B5EF4-FFF2-40B4-BE49-F238E27FC236}">
                <a16:creationId xmlns:a16="http://schemas.microsoft.com/office/drawing/2014/main" id="{B7724E08-74D6-4EEC-A9D9-396EC0C6B95A}"/>
              </a:ext>
            </a:extLst>
          </p:cNvPr>
          <p:cNvCxnSpPr>
            <a:cxnSpLocks/>
          </p:cNvCxnSpPr>
          <p:nvPr/>
        </p:nvCxnSpPr>
        <p:spPr>
          <a:xfrm>
            <a:off x="8489327" y="2263728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Flecha: pentágono 49">
            <a:extLst>
              <a:ext uri="{FF2B5EF4-FFF2-40B4-BE49-F238E27FC236}">
                <a16:creationId xmlns:a16="http://schemas.microsoft.com/office/drawing/2014/main" id="{F246A6CC-1660-4302-9EC1-2A3E373E196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52" name="Signo más 51">
            <a:extLst>
              <a:ext uri="{FF2B5EF4-FFF2-40B4-BE49-F238E27FC236}">
                <a16:creationId xmlns:a16="http://schemas.microsoft.com/office/drawing/2014/main" id="{A67C5FBE-55B9-46F8-9FB2-9CF43E43321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0459A9AF-5D6F-496A-9AD0-EFF08EB848D7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677E345-57DF-4DC6-A756-5B14CFCDC132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8999440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Comunicaciones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23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Comunicaciones gestionará el plan de comunicaciones institucionales de presidencia hacia afuera y hacia adentro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Comunicaciones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767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71463" indent="-173038">
              <a:spcBef>
                <a:spcPts val="0"/>
              </a:spcBef>
              <a:spcAft>
                <a:spcPts val="2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plan de comunicaciones institucionales de Presidencia hacia afuera y hacia adentro – </a:t>
            </a:r>
            <a:r>
              <a:rPr lang="es-ES" sz="1200" err="1">
                <a:latin typeface="+mn-lt"/>
                <a:cs typeface="Calibri"/>
              </a:rPr>
              <a:t>p.ej</a:t>
            </a:r>
            <a:r>
              <a:rPr lang="es-ES" sz="1200">
                <a:latin typeface="+mn-lt"/>
                <a:cs typeface="Calibri"/>
              </a:rPr>
              <a:t> comunicados corporativos, entes regulatorios </a:t>
            </a:r>
            <a:endParaRPr lang="es-CO" sz="1200" b="1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las relaciones públicas, gubernamentales e institucionales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medios, comunicados y conferencias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formulación del Plan de Comunicación de la organización a través de la identificación, priorización, selección y validación de las iniciativas de intervención en comunicación al igual que el cronograma de ejecución de estas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ajustar y divulgar la política y lineamientos de comunicación en la organización asegurando la alineación con la estrategia corporativa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los objetivos y estrategias comunicativas de la organización a través de un plan de comunicación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Dar directrices sobre el manejo de la imagen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instancias de comunicación con </a:t>
            </a:r>
            <a:r>
              <a:rPr lang="es-ES" sz="1200" err="1">
                <a:latin typeface="+mn-lt"/>
                <a:cs typeface="Calibri"/>
              </a:rPr>
              <a:t>stakeholders</a:t>
            </a:r>
            <a:r>
              <a:rPr lang="es-ES" sz="1200">
                <a:latin typeface="+mn-lt"/>
                <a:cs typeface="Calibri"/>
              </a:rPr>
              <a:t> clave, p.ej. inversionistas institucionales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Brand awareness; (2) Reputación de la marca 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2072856"/>
            <a:ext cx="14528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de comunicaciones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67350" y="354389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Presidente</a:t>
            </a:r>
          </a:p>
        </p:txBody>
      </p: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4236171"/>
            <a:ext cx="14528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533194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de comunicaciones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620407" y="3100076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Gerencia de Mercadeo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409818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Plan de Comunicación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858580" y="2601280"/>
            <a:ext cx="1452802" cy="50599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Agenda de Comunicaciones Corp. de Presidencia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E0F3F830-981F-42F6-9343-AD0F5B67CC4D}"/>
              </a:ext>
            </a:extLst>
          </p:cNvPr>
          <p:cNvSpPr/>
          <p:nvPr/>
        </p:nvSpPr>
        <p:spPr>
          <a:xfrm>
            <a:off x="603881" y="3540272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G. Gestión del Talento</a:t>
            </a:r>
          </a:p>
        </p:txBody>
      </p:sp>
      <p:sp>
        <p:nvSpPr>
          <p:cNvPr id="31" name="Marcador de contenido 5">
            <a:extLst>
              <a:ext uri="{FF2B5EF4-FFF2-40B4-BE49-F238E27FC236}">
                <a16:creationId xmlns:a16="http://schemas.microsoft.com/office/drawing/2014/main" id="{B3B4F0BC-9AFB-4FF6-A35A-0978AF83E878}"/>
              </a:ext>
            </a:extLst>
          </p:cNvPr>
          <p:cNvSpPr txBox="1">
            <a:spLocks/>
          </p:cNvSpPr>
          <p:nvPr/>
        </p:nvSpPr>
        <p:spPr>
          <a:xfrm>
            <a:off x="8858580" y="4665249"/>
            <a:ext cx="14528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Comunicación</a:t>
            </a:r>
          </a:p>
        </p:txBody>
      </p: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B20896D9-4DC5-4CB9-87E8-A3F2FB3FAF47}"/>
              </a:ext>
            </a:extLst>
          </p:cNvPr>
          <p:cNvCxnSpPr>
            <a:cxnSpLocks/>
            <a:stCxn id="11" idx="2"/>
            <a:endCxn id="31" idx="3"/>
          </p:cNvCxnSpPr>
          <p:nvPr/>
        </p:nvCxnSpPr>
        <p:spPr>
          <a:xfrm rot="5400000">
            <a:off x="10309407" y="4085868"/>
            <a:ext cx="763917" cy="759970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F75F6926-1648-4A17-A272-2C4AD2D7195E}"/>
              </a:ext>
            </a:extLst>
          </p:cNvPr>
          <p:cNvSpPr txBox="1">
            <a:spLocks/>
          </p:cNvSpPr>
          <p:nvPr/>
        </p:nvSpPr>
        <p:spPr>
          <a:xfrm>
            <a:off x="8858579" y="3139811"/>
            <a:ext cx="1452801" cy="39478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Lineamientos Plan de Comunicación</a:t>
            </a:r>
          </a:p>
        </p:txBody>
      </p:sp>
      <p:cxnSp>
        <p:nvCxnSpPr>
          <p:cNvPr id="42" name="Conector: angular 41">
            <a:extLst>
              <a:ext uri="{FF2B5EF4-FFF2-40B4-BE49-F238E27FC236}">
                <a16:creationId xmlns:a16="http://schemas.microsoft.com/office/drawing/2014/main" id="{0221AC96-DEC7-4C19-B26C-397FC565F1CA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311380" y="2315263"/>
            <a:ext cx="759970" cy="1228632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ector: angular 43">
            <a:extLst>
              <a:ext uri="{FF2B5EF4-FFF2-40B4-BE49-F238E27FC236}">
                <a16:creationId xmlns:a16="http://schemas.microsoft.com/office/drawing/2014/main" id="{70B90A61-9D2F-4973-B7A3-E408437F71B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523946" y="3871329"/>
            <a:ext cx="334839" cy="759970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Conector: angular 62">
            <a:extLst>
              <a:ext uri="{FF2B5EF4-FFF2-40B4-BE49-F238E27FC236}">
                <a16:creationId xmlns:a16="http://schemas.microsoft.com/office/drawing/2014/main" id="{784A082A-3443-4976-9AC0-AB774D922263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311382" y="2854278"/>
            <a:ext cx="759968" cy="689617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Conector: angular 64">
            <a:extLst>
              <a:ext uri="{FF2B5EF4-FFF2-40B4-BE49-F238E27FC236}">
                <a16:creationId xmlns:a16="http://schemas.microsoft.com/office/drawing/2014/main" id="{A6E4E214-B7E5-41AF-AB57-BA5F1B81959B}"/>
              </a:ext>
            </a:extLst>
          </p:cNvPr>
          <p:cNvCxnSpPr>
            <a:cxnSpLocks/>
            <a:stCxn id="41" idx="3"/>
            <a:endCxn id="11" idx="0"/>
          </p:cNvCxnSpPr>
          <p:nvPr/>
        </p:nvCxnSpPr>
        <p:spPr>
          <a:xfrm>
            <a:off x="10311380" y="3337203"/>
            <a:ext cx="759970" cy="206692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de flecha 71">
            <a:extLst>
              <a:ext uri="{FF2B5EF4-FFF2-40B4-BE49-F238E27FC236}">
                <a16:creationId xmlns:a16="http://schemas.microsoft.com/office/drawing/2014/main" id="{A223A2CA-D794-4BD9-8E44-5946F5872A23}"/>
              </a:ext>
            </a:extLst>
          </p:cNvPr>
          <p:cNvCxnSpPr>
            <a:cxnSpLocks/>
          </p:cNvCxnSpPr>
          <p:nvPr/>
        </p:nvCxnSpPr>
        <p:spPr>
          <a:xfrm>
            <a:off x="8463944" y="2338950"/>
            <a:ext cx="394636" cy="4557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9C5B5AB8-80D4-4C75-8D90-2FF74E13222E}"/>
              </a:ext>
            </a:extLst>
          </p:cNvPr>
          <p:cNvCxnSpPr>
            <a:cxnSpLocks/>
            <a:endCxn id="33" idx="1"/>
          </p:cNvCxnSpPr>
          <p:nvPr/>
        </p:nvCxnSpPr>
        <p:spPr>
          <a:xfrm flipV="1">
            <a:off x="8463944" y="2854278"/>
            <a:ext cx="394636" cy="9956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3EE2EA53-4987-4F94-9927-4EF5976EF64C}"/>
              </a:ext>
            </a:extLst>
          </p:cNvPr>
          <p:cNvCxnSpPr>
            <a:cxnSpLocks/>
            <a:endCxn id="41" idx="1"/>
          </p:cNvCxnSpPr>
          <p:nvPr/>
        </p:nvCxnSpPr>
        <p:spPr>
          <a:xfrm>
            <a:off x="8463944" y="3334923"/>
            <a:ext cx="394635" cy="228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8D7B70D4-F381-4684-8FF4-2257AB4CE8EC}"/>
              </a:ext>
            </a:extLst>
          </p:cNvPr>
          <p:cNvCxnSpPr>
            <a:cxnSpLocks/>
            <a:stCxn id="13" idx="1"/>
          </p:cNvCxnSpPr>
          <p:nvPr/>
        </p:nvCxnSpPr>
        <p:spPr>
          <a:xfrm flipH="1" flipV="1">
            <a:off x="8463944" y="4418733"/>
            <a:ext cx="394636" cy="1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Conector recto de flecha 80">
            <a:extLst>
              <a:ext uri="{FF2B5EF4-FFF2-40B4-BE49-F238E27FC236}">
                <a16:creationId xmlns:a16="http://schemas.microsoft.com/office/drawing/2014/main" id="{D602B703-2D94-4E9A-8D30-5FDC717256C2}"/>
              </a:ext>
            </a:extLst>
          </p:cNvPr>
          <p:cNvCxnSpPr>
            <a:cxnSpLocks/>
          </p:cNvCxnSpPr>
          <p:nvPr/>
        </p:nvCxnSpPr>
        <p:spPr>
          <a:xfrm flipH="1" flipV="1">
            <a:off x="8463944" y="4854220"/>
            <a:ext cx="394636" cy="1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Conector: angular 82">
            <a:extLst>
              <a:ext uri="{FF2B5EF4-FFF2-40B4-BE49-F238E27FC236}">
                <a16:creationId xmlns:a16="http://schemas.microsoft.com/office/drawing/2014/main" id="{0B382072-985A-4319-BB98-B4925D0BBBA9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124408" y="2703432"/>
            <a:ext cx="756211" cy="396644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Rectángulo 83">
            <a:extLst>
              <a:ext uri="{FF2B5EF4-FFF2-40B4-BE49-F238E27FC236}">
                <a16:creationId xmlns:a16="http://schemas.microsoft.com/office/drawing/2014/main" id="{1F8B4B73-54B2-49D1-9BC6-1C1945C5A492}"/>
              </a:ext>
            </a:extLst>
          </p:cNvPr>
          <p:cNvSpPr/>
          <p:nvPr/>
        </p:nvSpPr>
        <p:spPr>
          <a:xfrm>
            <a:off x="603881" y="3970334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VP Finan.</a:t>
            </a:r>
            <a:br>
              <a:rPr lang="es-CO" sz="1100">
                <a:solidFill>
                  <a:prstClr val="white"/>
                </a:solidFill>
              </a:rPr>
            </a:br>
            <a:r>
              <a:rPr lang="es-CO" sz="1100" err="1">
                <a:solidFill>
                  <a:prstClr val="white"/>
                </a:solidFill>
              </a:rPr>
              <a:t>Est</a:t>
            </a:r>
            <a:endParaRPr lang="es-CO" sz="1100">
              <a:solidFill>
                <a:prstClr val="white"/>
              </a:solidFill>
            </a:endParaRPr>
          </a:p>
        </p:txBody>
      </p:sp>
      <p:cxnSp>
        <p:nvCxnSpPr>
          <p:cNvPr id="87" name="Conector: angular 86">
            <a:extLst>
              <a:ext uri="{FF2B5EF4-FFF2-40B4-BE49-F238E27FC236}">
                <a16:creationId xmlns:a16="http://schemas.microsoft.com/office/drawing/2014/main" id="{9166D28E-EF12-42E3-AE5A-153E488C28B0}"/>
              </a:ext>
            </a:extLst>
          </p:cNvPr>
          <p:cNvCxnSpPr>
            <a:cxnSpLocks/>
            <a:stCxn id="84" idx="2"/>
            <a:endCxn id="18" idx="1"/>
          </p:cNvCxnSpPr>
          <p:nvPr/>
        </p:nvCxnSpPr>
        <p:spPr>
          <a:xfrm rot="16200000" flipH="1">
            <a:off x="1252588" y="4190751"/>
            <a:ext cx="470532" cy="759947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C0706F40-B5F8-4C6F-A63F-8EE6AF4A3317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4805991"/>
            <a:ext cx="333802" cy="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9117EAC6-C0B3-4F38-928E-B43CEF29DF3A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703431"/>
            <a:ext cx="321012" cy="1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Flecha: pentágono 16">
            <a:extLst>
              <a:ext uri="{FF2B5EF4-FFF2-40B4-BE49-F238E27FC236}">
                <a16:creationId xmlns:a16="http://schemas.microsoft.com/office/drawing/2014/main" id="{372ABD0F-2A5F-408C-A07A-23BBAB3519B9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19" name="Signo más 18">
            <a:extLst>
              <a:ext uri="{FF2B5EF4-FFF2-40B4-BE49-F238E27FC236}">
                <a16:creationId xmlns:a16="http://schemas.microsoft.com/office/drawing/2014/main" id="{B666ED78-40D6-41D0-83B3-DDA4DD6A430D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63B51199-3B03-465E-8800-CEFF91D10ADD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BF8D6BC-E191-443B-8545-A33CAB23ED3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56605381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Secretario General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24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Secretario General gestionará el gobierno corporativo de la organización, ejercerá el rol de Secretaria General de BCF y CV y liderará la gestión jurídica de ambos entes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Secretario General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99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gobierno corporativo de la organización –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Ejercer el rol de Secretaria General de BCF y CV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Gestionar todos los riesgos jurídicos de la organización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Recolectar y organizar la documentación y el material las sesiones de Junta Directiva y apoyar a la Presidencia en la preparación de la agenda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Elaborar actas de las sesiones de Junta Directiva en donde se recojan las discusiones y acuerdos adoptados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Brindar asistencia a la JD en temas relacionados al gobierno corporativo y cumplimiento normativo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Gestionar de forma integral al equipo jurídico, garantizando el cumplimiento de sus labores</a:t>
            </a:r>
          </a:p>
          <a:p>
            <a:pPr marL="271462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Definir de prioridades jurídicas para la compañía velando por el mantenimiento y actualización de recursos dispuestos por la ley colombiana u organismos de control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Garantizar el correcto cumplimiento de los marcos de actuación de la sociedad, el aseguramiento legal interno, el relacionamiento con los entes de control y la prestación de la asesoría legal a la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org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.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35179"/>
            <a:ext cx="4918780" cy="61095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Materialización de riesgos jurídicos igual a cero; (2) Ahorro en procesos jurídicos 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1746306" y="4594752"/>
            <a:ext cx="1452802" cy="6245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Apoyo preparación de la agenda la Junta Directiva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552496" y="4372749"/>
            <a:ext cx="1008000" cy="32564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Presidencia 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3" idx="1"/>
            <a:endCxn id="11" idx="0"/>
          </p:cNvCxnSpPr>
          <p:nvPr/>
        </p:nvCxnSpPr>
        <p:spPr>
          <a:xfrm rot="10800000" flipV="1">
            <a:off x="1056497" y="3501869"/>
            <a:ext cx="686195" cy="87087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1742691" y="3329202"/>
            <a:ext cx="1452802" cy="34533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41" idx="1"/>
          </p:cNvCxnSpPr>
          <p:nvPr/>
        </p:nvCxnSpPr>
        <p:spPr>
          <a:xfrm rot="16200000" flipH="1">
            <a:off x="957363" y="4797527"/>
            <a:ext cx="888076" cy="6898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56496" y="1972776"/>
            <a:ext cx="714246" cy="4639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70742" y="2682843"/>
            <a:ext cx="1454400" cy="3967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Jurídica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48741" y="2459205"/>
            <a:ext cx="129756" cy="71424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26015" y="1962163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52496" y="2436736"/>
            <a:ext cx="1008000" cy="314714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Jurídico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70742" y="1837252"/>
            <a:ext cx="1454400" cy="271048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Prioridades Jurídicas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CE9A8834-55FF-4472-8A59-8545346E964E}"/>
              </a:ext>
            </a:extLst>
          </p:cNvPr>
          <p:cNvSpPr/>
          <p:nvPr/>
        </p:nvSpPr>
        <p:spPr>
          <a:xfrm>
            <a:off x="10544274" y="4015992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Junta Directiva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4841AAE4-C894-4ECB-9D61-01D07D50E948}"/>
              </a:ext>
            </a:extLst>
          </p:cNvPr>
          <p:cNvSpPr txBox="1">
            <a:spLocks/>
          </p:cNvSpPr>
          <p:nvPr/>
        </p:nvSpPr>
        <p:spPr>
          <a:xfrm>
            <a:off x="1746306" y="5413802"/>
            <a:ext cx="1452802" cy="34533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Jurídica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5E4F684B-6B86-428D-9D5D-D65C8ABDE1E4}"/>
              </a:ext>
            </a:extLst>
          </p:cNvPr>
          <p:cNvSpPr txBox="1">
            <a:spLocks/>
          </p:cNvSpPr>
          <p:nvPr/>
        </p:nvSpPr>
        <p:spPr>
          <a:xfrm>
            <a:off x="1742691" y="3722360"/>
            <a:ext cx="1452802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Jurídicos</a:t>
            </a:r>
          </a:p>
        </p:txBody>
      </p:sp>
      <p:cxnSp>
        <p:nvCxnSpPr>
          <p:cNvPr id="49" name="Conector angular 37">
            <a:extLst>
              <a:ext uri="{FF2B5EF4-FFF2-40B4-BE49-F238E27FC236}">
                <a16:creationId xmlns:a16="http://schemas.microsoft.com/office/drawing/2014/main" id="{A1C7B86E-BC37-4D85-B54C-8E25AD8F0915}"/>
              </a:ext>
            </a:extLst>
          </p:cNvPr>
          <p:cNvCxnSpPr>
            <a:cxnSpLocks/>
            <a:stCxn id="11" idx="2"/>
            <a:endCxn id="10" idx="1"/>
          </p:cNvCxnSpPr>
          <p:nvPr/>
        </p:nvCxnSpPr>
        <p:spPr>
          <a:xfrm rot="16200000" flipH="1">
            <a:off x="1297094" y="4457796"/>
            <a:ext cx="208615" cy="6898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Marcador de contenido 5">
            <a:extLst>
              <a:ext uri="{FF2B5EF4-FFF2-40B4-BE49-F238E27FC236}">
                <a16:creationId xmlns:a16="http://schemas.microsoft.com/office/drawing/2014/main" id="{5067A69D-D126-4BAD-8E3E-B2151E34ABC2}"/>
              </a:ext>
            </a:extLst>
          </p:cNvPr>
          <p:cNvSpPr txBox="1">
            <a:spLocks/>
          </p:cNvSpPr>
          <p:nvPr/>
        </p:nvSpPr>
        <p:spPr>
          <a:xfrm>
            <a:off x="1770742" y="2165412"/>
            <a:ext cx="14544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62" name="Conector angular 23">
            <a:extLst>
              <a:ext uri="{FF2B5EF4-FFF2-40B4-BE49-F238E27FC236}">
                <a16:creationId xmlns:a16="http://schemas.microsoft.com/office/drawing/2014/main" id="{D994E7CA-8E07-4F7E-B6C7-A089E2B05E16}"/>
              </a:ext>
            </a:extLst>
          </p:cNvPr>
          <p:cNvCxnSpPr>
            <a:cxnSpLocks/>
            <a:stCxn id="60" idx="1"/>
            <a:endCxn id="22" idx="0"/>
          </p:cNvCxnSpPr>
          <p:nvPr/>
        </p:nvCxnSpPr>
        <p:spPr>
          <a:xfrm rot="10800000" flipV="1">
            <a:off x="1056496" y="2300412"/>
            <a:ext cx="714246" cy="13632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angular 32">
            <a:extLst>
              <a:ext uri="{FF2B5EF4-FFF2-40B4-BE49-F238E27FC236}">
                <a16:creationId xmlns:a16="http://schemas.microsoft.com/office/drawing/2014/main" id="{815B9A29-12B6-4022-A645-E81638BA780F}"/>
              </a:ext>
            </a:extLst>
          </p:cNvPr>
          <p:cNvCxnSpPr>
            <a:cxnSpLocks/>
            <a:stCxn id="48" idx="1"/>
            <a:endCxn id="11" idx="0"/>
          </p:cNvCxnSpPr>
          <p:nvPr/>
        </p:nvCxnSpPr>
        <p:spPr>
          <a:xfrm rot="10800000" flipV="1">
            <a:off x="1056497" y="3904923"/>
            <a:ext cx="686195" cy="46782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Marcador de contenido 5">
            <a:extLst>
              <a:ext uri="{FF2B5EF4-FFF2-40B4-BE49-F238E27FC236}">
                <a16:creationId xmlns:a16="http://schemas.microsoft.com/office/drawing/2014/main" id="{857F6277-5D8E-4D9D-82E4-C587DA084C00}"/>
              </a:ext>
            </a:extLst>
          </p:cNvPr>
          <p:cNvSpPr txBox="1">
            <a:spLocks/>
          </p:cNvSpPr>
          <p:nvPr/>
        </p:nvSpPr>
        <p:spPr>
          <a:xfrm>
            <a:off x="8769434" y="4628837"/>
            <a:ext cx="1584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Discusiones y acuerdos adoptados</a:t>
            </a:r>
          </a:p>
        </p:txBody>
      </p:sp>
      <p:sp>
        <p:nvSpPr>
          <p:cNvPr id="99" name="Marcador de contenido 5">
            <a:extLst>
              <a:ext uri="{FF2B5EF4-FFF2-40B4-BE49-F238E27FC236}">
                <a16:creationId xmlns:a16="http://schemas.microsoft.com/office/drawing/2014/main" id="{E8211E5A-D24D-4B9B-9DC6-D7DBCA01FE61}"/>
              </a:ext>
            </a:extLst>
          </p:cNvPr>
          <p:cNvSpPr txBox="1">
            <a:spLocks/>
          </p:cNvSpPr>
          <p:nvPr/>
        </p:nvSpPr>
        <p:spPr>
          <a:xfrm>
            <a:off x="8769434" y="3310823"/>
            <a:ext cx="1584000" cy="82307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Asesoría en temas relacionados al gobierno corporativo y cumplimiento normativo</a:t>
            </a:r>
          </a:p>
        </p:txBody>
      </p:sp>
      <p:cxnSp>
        <p:nvCxnSpPr>
          <p:cNvPr id="113" name="Conector recto de flecha 112">
            <a:extLst>
              <a:ext uri="{FF2B5EF4-FFF2-40B4-BE49-F238E27FC236}">
                <a16:creationId xmlns:a16="http://schemas.microsoft.com/office/drawing/2014/main" id="{244833B4-0F43-4CBF-BCE0-69EE2229EE3F}"/>
              </a:ext>
            </a:extLst>
          </p:cNvPr>
          <p:cNvCxnSpPr>
            <a:cxnSpLocks/>
          </p:cNvCxnSpPr>
          <p:nvPr/>
        </p:nvCxnSpPr>
        <p:spPr>
          <a:xfrm flipH="1">
            <a:off x="3226015" y="2313822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ector recto de flecha 117">
            <a:extLst>
              <a:ext uri="{FF2B5EF4-FFF2-40B4-BE49-F238E27FC236}">
                <a16:creationId xmlns:a16="http://schemas.microsoft.com/office/drawing/2014/main" id="{44CA3528-083D-405A-8363-A5BC5F8B5C8B}"/>
              </a:ext>
            </a:extLst>
          </p:cNvPr>
          <p:cNvCxnSpPr>
            <a:cxnSpLocks/>
          </p:cNvCxnSpPr>
          <p:nvPr/>
        </p:nvCxnSpPr>
        <p:spPr>
          <a:xfrm>
            <a:off x="3224151" y="2881205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Marcador de contenido 5">
            <a:extLst>
              <a:ext uri="{FF2B5EF4-FFF2-40B4-BE49-F238E27FC236}">
                <a16:creationId xmlns:a16="http://schemas.microsoft.com/office/drawing/2014/main" id="{4CCC1F1E-642D-4D6F-80E1-578D877FDC5F}"/>
              </a:ext>
            </a:extLst>
          </p:cNvPr>
          <p:cNvSpPr txBox="1">
            <a:spLocks/>
          </p:cNvSpPr>
          <p:nvPr/>
        </p:nvSpPr>
        <p:spPr>
          <a:xfrm>
            <a:off x="8769434" y="5085919"/>
            <a:ext cx="1584000" cy="3651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asesoría</a:t>
            </a:r>
          </a:p>
        </p:txBody>
      </p:sp>
      <p:sp>
        <p:nvSpPr>
          <p:cNvPr id="122" name="Marcador de contenido 5">
            <a:extLst>
              <a:ext uri="{FF2B5EF4-FFF2-40B4-BE49-F238E27FC236}">
                <a16:creationId xmlns:a16="http://schemas.microsoft.com/office/drawing/2014/main" id="{85E5C788-BC6F-4C2F-A3C1-5A7282DC2166}"/>
              </a:ext>
            </a:extLst>
          </p:cNvPr>
          <p:cNvSpPr txBox="1">
            <a:spLocks/>
          </p:cNvSpPr>
          <p:nvPr/>
        </p:nvSpPr>
        <p:spPr>
          <a:xfrm>
            <a:off x="8769434" y="1784146"/>
            <a:ext cx="1584000" cy="68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Documentación y material relevante de la Junta Directiva</a:t>
            </a:r>
          </a:p>
        </p:txBody>
      </p:sp>
      <p:cxnSp>
        <p:nvCxnSpPr>
          <p:cNvPr id="155" name="Conector recto de flecha 154">
            <a:extLst>
              <a:ext uri="{FF2B5EF4-FFF2-40B4-BE49-F238E27FC236}">
                <a16:creationId xmlns:a16="http://schemas.microsoft.com/office/drawing/2014/main" id="{29F69B3D-39C6-41C7-895C-4727438093A8}"/>
              </a:ext>
            </a:extLst>
          </p:cNvPr>
          <p:cNvCxnSpPr>
            <a:cxnSpLocks/>
          </p:cNvCxnSpPr>
          <p:nvPr/>
        </p:nvCxnSpPr>
        <p:spPr>
          <a:xfrm flipH="1">
            <a:off x="3226015" y="3501869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6" name="Conector recto de flecha 155">
            <a:extLst>
              <a:ext uri="{FF2B5EF4-FFF2-40B4-BE49-F238E27FC236}">
                <a16:creationId xmlns:a16="http://schemas.microsoft.com/office/drawing/2014/main" id="{1D8B253B-C47C-4214-A923-43DBC6906397}"/>
              </a:ext>
            </a:extLst>
          </p:cNvPr>
          <p:cNvCxnSpPr>
            <a:cxnSpLocks/>
          </p:cNvCxnSpPr>
          <p:nvPr/>
        </p:nvCxnSpPr>
        <p:spPr>
          <a:xfrm flipH="1">
            <a:off x="3226015" y="3916918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Conector recto de flecha 156">
            <a:extLst>
              <a:ext uri="{FF2B5EF4-FFF2-40B4-BE49-F238E27FC236}">
                <a16:creationId xmlns:a16="http://schemas.microsoft.com/office/drawing/2014/main" id="{7B138AAF-5B97-4257-8358-B83522AFBC93}"/>
              </a:ext>
            </a:extLst>
          </p:cNvPr>
          <p:cNvCxnSpPr>
            <a:cxnSpLocks/>
          </p:cNvCxnSpPr>
          <p:nvPr/>
        </p:nvCxnSpPr>
        <p:spPr>
          <a:xfrm>
            <a:off x="3224151" y="4949264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ector recto de flecha 157">
            <a:extLst>
              <a:ext uri="{FF2B5EF4-FFF2-40B4-BE49-F238E27FC236}">
                <a16:creationId xmlns:a16="http://schemas.microsoft.com/office/drawing/2014/main" id="{A3DCCB8E-24FC-46A2-8FB2-5AE8D637B321}"/>
              </a:ext>
            </a:extLst>
          </p:cNvPr>
          <p:cNvCxnSpPr>
            <a:cxnSpLocks/>
          </p:cNvCxnSpPr>
          <p:nvPr/>
        </p:nvCxnSpPr>
        <p:spPr>
          <a:xfrm>
            <a:off x="3224151" y="5586470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9" name="Marcador de contenido 5">
            <a:extLst>
              <a:ext uri="{FF2B5EF4-FFF2-40B4-BE49-F238E27FC236}">
                <a16:creationId xmlns:a16="http://schemas.microsoft.com/office/drawing/2014/main" id="{E7C7CFCB-84AF-4F71-AABA-14702C0577B5}"/>
              </a:ext>
            </a:extLst>
          </p:cNvPr>
          <p:cNvSpPr txBox="1">
            <a:spLocks/>
          </p:cNvSpPr>
          <p:nvPr/>
        </p:nvSpPr>
        <p:spPr>
          <a:xfrm>
            <a:off x="8769434" y="2624187"/>
            <a:ext cx="1584000" cy="46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Actas Junta Directiva</a:t>
            </a:r>
          </a:p>
        </p:txBody>
      </p:sp>
      <p:cxnSp>
        <p:nvCxnSpPr>
          <p:cNvPr id="160" name="Conector angular 32">
            <a:extLst>
              <a:ext uri="{FF2B5EF4-FFF2-40B4-BE49-F238E27FC236}">
                <a16:creationId xmlns:a16="http://schemas.microsoft.com/office/drawing/2014/main" id="{4D1A2923-72DA-424B-ACA6-84B88026EF88}"/>
              </a:ext>
            </a:extLst>
          </p:cNvPr>
          <p:cNvCxnSpPr>
            <a:cxnSpLocks/>
            <a:stCxn id="30" idx="2"/>
            <a:endCxn id="98" idx="3"/>
          </p:cNvCxnSpPr>
          <p:nvPr/>
        </p:nvCxnSpPr>
        <p:spPr>
          <a:xfrm rot="5400000">
            <a:off x="10573150" y="4336276"/>
            <a:ext cx="255408" cy="69484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Conector angular 32">
            <a:extLst>
              <a:ext uri="{FF2B5EF4-FFF2-40B4-BE49-F238E27FC236}">
                <a16:creationId xmlns:a16="http://schemas.microsoft.com/office/drawing/2014/main" id="{3EA5ADC7-FB04-443B-A86C-DE7BA46DF603}"/>
              </a:ext>
            </a:extLst>
          </p:cNvPr>
          <p:cNvCxnSpPr>
            <a:cxnSpLocks/>
            <a:stCxn id="30" idx="2"/>
            <a:endCxn id="121" idx="3"/>
          </p:cNvCxnSpPr>
          <p:nvPr/>
        </p:nvCxnSpPr>
        <p:spPr>
          <a:xfrm rot="5400000">
            <a:off x="10344609" y="4564817"/>
            <a:ext cx="712490" cy="69484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Conector angular 32">
            <a:extLst>
              <a:ext uri="{FF2B5EF4-FFF2-40B4-BE49-F238E27FC236}">
                <a16:creationId xmlns:a16="http://schemas.microsoft.com/office/drawing/2014/main" id="{1AEBC6FC-4F70-4D35-A9F2-CA122317C600}"/>
              </a:ext>
            </a:extLst>
          </p:cNvPr>
          <p:cNvCxnSpPr>
            <a:cxnSpLocks/>
            <a:stCxn id="99" idx="3"/>
            <a:endCxn id="30" idx="0"/>
          </p:cNvCxnSpPr>
          <p:nvPr/>
        </p:nvCxnSpPr>
        <p:spPr>
          <a:xfrm>
            <a:off x="10353434" y="3722360"/>
            <a:ext cx="694840" cy="2936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ector angular 32">
            <a:extLst>
              <a:ext uri="{FF2B5EF4-FFF2-40B4-BE49-F238E27FC236}">
                <a16:creationId xmlns:a16="http://schemas.microsoft.com/office/drawing/2014/main" id="{07B82E0A-CD4D-4CF4-9C41-D104D7D13A8F}"/>
              </a:ext>
            </a:extLst>
          </p:cNvPr>
          <p:cNvCxnSpPr>
            <a:cxnSpLocks/>
            <a:stCxn id="159" idx="3"/>
            <a:endCxn id="30" idx="0"/>
          </p:cNvCxnSpPr>
          <p:nvPr/>
        </p:nvCxnSpPr>
        <p:spPr>
          <a:xfrm>
            <a:off x="10353434" y="2858187"/>
            <a:ext cx="694840" cy="115780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2" name="Conector angular 32">
            <a:extLst>
              <a:ext uri="{FF2B5EF4-FFF2-40B4-BE49-F238E27FC236}">
                <a16:creationId xmlns:a16="http://schemas.microsoft.com/office/drawing/2014/main" id="{E4721D17-869B-4D3F-AA6A-52F9A0096FE5}"/>
              </a:ext>
            </a:extLst>
          </p:cNvPr>
          <p:cNvCxnSpPr>
            <a:cxnSpLocks/>
            <a:stCxn id="122" idx="3"/>
            <a:endCxn id="30" idx="0"/>
          </p:cNvCxnSpPr>
          <p:nvPr/>
        </p:nvCxnSpPr>
        <p:spPr>
          <a:xfrm>
            <a:off x="10353434" y="2126146"/>
            <a:ext cx="694840" cy="188984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ector recto de flecha 174">
            <a:extLst>
              <a:ext uri="{FF2B5EF4-FFF2-40B4-BE49-F238E27FC236}">
                <a16:creationId xmlns:a16="http://schemas.microsoft.com/office/drawing/2014/main" id="{FF8208E9-89FA-4951-9AD2-91D92B6678FC}"/>
              </a:ext>
            </a:extLst>
          </p:cNvPr>
          <p:cNvCxnSpPr>
            <a:cxnSpLocks/>
          </p:cNvCxnSpPr>
          <p:nvPr/>
        </p:nvCxnSpPr>
        <p:spPr>
          <a:xfrm>
            <a:off x="8463944" y="2102159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Conector recto de flecha 185">
            <a:extLst>
              <a:ext uri="{FF2B5EF4-FFF2-40B4-BE49-F238E27FC236}">
                <a16:creationId xmlns:a16="http://schemas.microsoft.com/office/drawing/2014/main" id="{7CF946BA-B399-441B-B797-0BF5C1403457}"/>
              </a:ext>
            </a:extLst>
          </p:cNvPr>
          <p:cNvCxnSpPr>
            <a:cxnSpLocks/>
          </p:cNvCxnSpPr>
          <p:nvPr/>
        </p:nvCxnSpPr>
        <p:spPr>
          <a:xfrm>
            <a:off x="8463944" y="2851337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7" name="Conector recto de flecha 186">
            <a:extLst>
              <a:ext uri="{FF2B5EF4-FFF2-40B4-BE49-F238E27FC236}">
                <a16:creationId xmlns:a16="http://schemas.microsoft.com/office/drawing/2014/main" id="{BBC7826B-1803-4FB3-810D-EFF8ED15A7AF}"/>
              </a:ext>
            </a:extLst>
          </p:cNvPr>
          <p:cNvCxnSpPr>
            <a:cxnSpLocks/>
          </p:cNvCxnSpPr>
          <p:nvPr/>
        </p:nvCxnSpPr>
        <p:spPr>
          <a:xfrm>
            <a:off x="8463944" y="3677601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8" name="Conector recto de flecha 187">
            <a:extLst>
              <a:ext uri="{FF2B5EF4-FFF2-40B4-BE49-F238E27FC236}">
                <a16:creationId xmlns:a16="http://schemas.microsoft.com/office/drawing/2014/main" id="{8A017B9F-6E2F-4307-9428-C1DB2776F6B5}"/>
              </a:ext>
            </a:extLst>
          </p:cNvPr>
          <p:cNvCxnSpPr>
            <a:cxnSpLocks/>
          </p:cNvCxnSpPr>
          <p:nvPr/>
        </p:nvCxnSpPr>
        <p:spPr>
          <a:xfrm flipH="1">
            <a:off x="8463944" y="4811399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9" name="Conector recto de flecha 188">
            <a:extLst>
              <a:ext uri="{FF2B5EF4-FFF2-40B4-BE49-F238E27FC236}">
                <a16:creationId xmlns:a16="http://schemas.microsoft.com/office/drawing/2014/main" id="{C628D6F4-86D5-49A3-B724-6F9BC2C2EA71}"/>
              </a:ext>
            </a:extLst>
          </p:cNvPr>
          <p:cNvCxnSpPr>
            <a:cxnSpLocks/>
          </p:cNvCxnSpPr>
          <p:nvPr/>
        </p:nvCxnSpPr>
        <p:spPr>
          <a:xfrm flipH="1">
            <a:off x="8463944" y="5248817"/>
            <a:ext cx="3191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Marcador de pie de página 2">
            <a:extLst>
              <a:ext uri="{FF2B5EF4-FFF2-40B4-BE49-F238E27FC236}">
                <a16:creationId xmlns:a16="http://schemas.microsoft.com/office/drawing/2014/main" id="{5637CACD-C7E6-4902-9DCA-078339C9A770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</a:t>
            </a:r>
            <a:br>
              <a:rPr lang="es-ES_tradnl"/>
            </a:br>
            <a:r>
              <a:rPr lang="es-ES_tradnl"/>
              <a:t>y/o responsabilidades; Fuente: Análisis Oval</a:t>
            </a:r>
          </a:p>
        </p:txBody>
      </p: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7F23B54A-9216-48F5-8CD3-5C88B06A4B5D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5" name="Imagen 2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922E3EA-E88E-4AF3-A905-64D0A7824A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0A882CE5-B619-47C0-BA1A-5572F913A42E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D54344E-151B-43B4-A48A-547997601149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A56E564-A4CC-4AE3-AF7B-61B28B880B8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03772379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Jurídico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25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D. Jurídico velará por el cumplimiento de los marcos de actuación de la organización, el aseguramiento legal interno y la prestación de la asesoría legal a la organización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333421" y="1449338"/>
            <a:ext cx="5428837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Jurídico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333421" y="1853116"/>
            <a:ext cx="5428837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por el correcto cumplimiento de los marcos de actuación de la sociedad, el aseguramiento legal interno, el </a:t>
            </a:r>
            <a:r>
              <a:rPr lang="es-ES" sz="1200" err="1">
                <a:latin typeface="+mn-lt"/>
                <a:cs typeface="Calibri"/>
              </a:rPr>
              <a:t>rela</a:t>
            </a:r>
            <a:r>
              <a:rPr lang="es-ES" sz="1200">
                <a:latin typeface="+mn-lt"/>
                <a:cs typeface="Calibri"/>
              </a:rPr>
              <a:t>. con los entes de control y la prestación de la asesoría legal a la </a:t>
            </a:r>
            <a:r>
              <a:rPr lang="es-ES" sz="1200" err="1">
                <a:latin typeface="+mn-lt"/>
                <a:cs typeface="Calibri"/>
              </a:rPr>
              <a:t>org</a:t>
            </a:r>
            <a:r>
              <a:rPr lang="es-ES" sz="1200">
                <a:latin typeface="+mn-lt"/>
                <a:cs typeface="Calibri"/>
              </a:rPr>
              <a:t>.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según alcance funcional</a:t>
            </a:r>
            <a:endParaRPr lang="es-ES" sz="1200" b="1">
              <a:solidFill>
                <a:schemeClr val="accent1"/>
              </a:solidFill>
              <a:latin typeface="+mn-lt"/>
              <a:cs typeface="Calibri"/>
            </a:endParaRPr>
          </a:p>
          <a:p>
            <a:pPr marL="100012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y proponer cambios en el marco de actuación societario e instancias de gobierno corporativo de acuerdo con necesidades del negocio y cambios en el entorno jurídico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de un marco de actuación en asuntos legales para toda la corporación y los mecanismos de control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Prestar asesoría legal a las diferentes áreas de la organización en el cumplimiento de sus objetivos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la elaboración de la matriz de obligaciones legales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Aprobar términos legales de transacciones y contratos de alto impacto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la contratación y administración de contratos de asesoría legal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y hacer seguimiento a litigios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Establecer y acordar niveles de servicio frente a las áreas y unidades de negocio para los servicios de asesoría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333421" y="5667022"/>
            <a:ext cx="5428837" cy="78122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Materialización de riesgos jurídicos igual a cero; (2) Ahorro en procesos jurídicos 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9191367" y="2302530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Jurídica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756900" y="3275027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Secretaria General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451367" y="2544937"/>
            <a:ext cx="809533" cy="7300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9246000" y="4407448"/>
            <a:ext cx="1260000" cy="7282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05176" y="3915851"/>
            <a:ext cx="956549" cy="75490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762258" y="4771576"/>
            <a:ext cx="4837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762258" y="2544937"/>
            <a:ext cx="42910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9" y="2448246"/>
            <a:ext cx="736031" cy="10529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60999" y="4599540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Necesidades de Servicio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883786" y="4095123"/>
            <a:ext cx="831185" cy="72324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017322" y="2448246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50115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73789" y="2154632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Asesoría Legal según alcance funcional </a:t>
            </a:r>
          </a:p>
        </p:txBody>
      </p:sp>
      <p:sp>
        <p:nvSpPr>
          <p:cNvPr id="31" name="Marcador de pie de página 2">
            <a:extLst>
              <a:ext uri="{FF2B5EF4-FFF2-40B4-BE49-F238E27FC236}">
                <a16:creationId xmlns:a16="http://schemas.microsoft.com/office/drawing/2014/main" id="{5171AF01-FE9D-4F42-9CCF-7C3D5001933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cxnSp>
        <p:nvCxnSpPr>
          <p:cNvPr id="26" name="Conector recto de flecha 25">
            <a:extLst>
              <a:ext uri="{FF2B5EF4-FFF2-40B4-BE49-F238E27FC236}">
                <a16:creationId xmlns:a16="http://schemas.microsoft.com/office/drawing/2014/main" id="{14CBC754-304C-4F16-9641-2DEEA97F6604}"/>
              </a:ext>
            </a:extLst>
          </p:cNvPr>
          <p:cNvCxnSpPr>
            <a:cxnSpLocks/>
          </p:cNvCxnSpPr>
          <p:nvPr/>
        </p:nvCxnSpPr>
        <p:spPr>
          <a:xfrm flipH="1">
            <a:off x="3004532" y="4872336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F7AE74CE-27A8-49F1-9FB9-D0CA6AD4C95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7" name="Imagen 2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82E5A558-DA3A-444B-B188-9409C293E1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4" name="Rectángulo 23">
            <a:extLst>
              <a:ext uri="{FF2B5EF4-FFF2-40B4-BE49-F238E27FC236}">
                <a16:creationId xmlns:a16="http://schemas.microsoft.com/office/drawing/2014/main" id="{13360053-E760-4C0D-AD24-657A7EAF8222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12CAB537-40E0-4AF5-97B0-E5D69D70CF1A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3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86644DB-BD8D-4BBC-AB1F-63DF750AF93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78773423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de Innovación y Digitalización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26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Vicepresidente de Innovación y Digitalización habilitará la digitalización del negocio e impulsará la generación de demanda para todos los</a:t>
            </a:r>
            <a:r>
              <a:rPr lang="es-ES">
                <a:solidFill>
                  <a:srgbClr val="FF0000"/>
                </a:solidFill>
              </a:rPr>
              <a:t> </a:t>
            </a:r>
            <a:r>
              <a:rPr lang="es-ES"/>
              <a:t>productos y canales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5076000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de Innovación y Digitalización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5076000" cy="36003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Proveer foco y dirección a la innovación y gestión en productos digitales y tradicionales – implementación proy. digitales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Impulsar la generación de demanda de los productos y canales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Participar en la definición de la estrategia digital – propuesta de priorización para Comité de Estrategia de la JD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digitalización del negocio asegurando la alineación y engranaje de las áreas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y coordinar canales, mercadeo y productos digitales para garantizar el cumplimiento de resultados y rentabilidad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Monitorear y hacer seguimiento a los resultados de canales, productos y proyectos digitales y alternos de la organización 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look &amp; </a:t>
            </a:r>
            <a:r>
              <a:rPr lang="es-ES" sz="1200" err="1">
                <a:latin typeface="+mn-lt"/>
                <a:cs typeface="Calibri"/>
              </a:rPr>
              <a:t>feel</a:t>
            </a:r>
            <a:r>
              <a:rPr lang="es-ES" sz="1200">
                <a:latin typeface="+mn-lt"/>
                <a:cs typeface="Calibri"/>
              </a:rPr>
              <a:t> y funcion. adecuado de los canales digitales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el modelo y la estrategia de experiencia del cliente 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Alinear procesos de analítica comercial con la estrategia </a:t>
            </a:r>
          </a:p>
          <a:p>
            <a:pPr marL="265113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exploración, estructuración y puesta en marcha de alianzas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3" y="5542561"/>
            <a:ext cx="5075999" cy="10723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de los hitos del plan de digitalización; (2) Cumplimiento volúmenes de venta canal digital; (3) Contribución agregada de los canales digitales, alternos, alianzas y nuevos productos; (4) Top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of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mind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; (5) Crecimiento neto de clientes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9018119" y="3034586"/>
            <a:ext cx="1452802" cy="55077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crecimiento del canal digital por producto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72581" y="3430317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100" err="1"/>
              <a:t>Presidente</a:t>
            </a:r>
            <a:endParaRPr lang="en-US" sz="1100"/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470921" y="3309974"/>
            <a:ext cx="605660" cy="12034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9018119" y="3876790"/>
            <a:ext cx="1452802" cy="40559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719117" y="3722121"/>
            <a:ext cx="109269" cy="6056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636177" y="4642209"/>
            <a:ext cx="435600" cy="176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636177" y="3309974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45" idx="0"/>
          </p:cNvCxnSpPr>
          <p:nvPr/>
        </p:nvCxnSpPr>
        <p:spPr>
          <a:xfrm rot="10800000" flipV="1">
            <a:off x="984414" y="2311459"/>
            <a:ext cx="896205" cy="16902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80618" y="4621199"/>
            <a:ext cx="1343533" cy="46224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45" idx="2"/>
            <a:endCxn id="18" idx="1"/>
          </p:cNvCxnSpPr>
          <p:nvPr/>
        </p:nvCxnSpPr>
        <p:spPr>
          <a:xfrm rot="16200000" flipH="1">
            <a:off x="1277200" y="4248901"/>
            <a:ext cx="310630" cy="89620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24151" y="2311460"/>
            <a:ext cx="30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128897"/>
            <a:ext cx="1343533" cy="36512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2ED29A52-384F-4269-8A9E-648B36E1E7B8}"/>
              </a:ext>
            </a:extLst>
          </p:cNvPr>
          <p:cNvSpPr txBox="1">
            <a:spLocks/>
          </p:cNvSpPr>
          <p:nvPr/>
        </p:nvSpPr>
        <p:spPr>
          <a:xfrm>
            <a:off x="9018119" y="4362251"/>
            <a:ext cx="1452802" cy="55991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crecimiento del canal digital</a:t>
            </a:r>
          </a:p>
        </p:txBody>
      </p:sp>
      <p:cxnSp>
        <p:nvCxnSpPr>
          <p:cNvPr id="36" name="Conector angular 37">
            <a:extLst>
              <a:ext uri="{FF2B5EF4-FFF2-40B4-BE49-F238E27FC236}">
                <a16:creationId xmlns:a16="http://schemas.microsoft.com/office/drawing/2014/main" id="{0F0D4D01-306D-41E7-9DD6-70F960ECCC14}"/>
              </a:ext>
            </a:extLst>
          </p:cNvPr>
          <p:cNvCxnSpPr>
            <a:cxnSpLocks/>
            <a:stCxn id="11" idx="2"/>
            <a:endCxn id="27" idx="3"/>
          </p:cNvCxnSpPr>
          <p:nvPr/>
        </p:nvCxnSpPr>
        <p:spPr>
          <a:xfrm rot="5400000">
            <a:off x="10437805" y="4003433"/>
            <a:ext cx="671892" cy="6056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ector recto de flecha 57">
            <a:extLst>
              <a:ext uri="{FF2B5EF4-FFF2-40B4-BE49-F238E27FC236}">
                <a16:creationId xmlns:a16="http://schemas.microsoft.com/office/drawing/2014/main" id="{5EC4CC57-DD65-4C68-9A98-2CBA1338FED8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636177" y="4079586"/>
            <a:ext cx="3819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Marcador de contenido 5">
            <a:extLst>
              <a:ext uri="{FF2B5EF4-FFF2-40B4-BE49-F238E27FC236}">
                <a16:creationId xmlns:a16="http://schemas.microsoft.com/office/drawing/2014/main" id="{2D38DF1D-8044-4390-85DE-82B9C6C99C90}"/>
              </a:ext>
            </a:extLst>
          </p:cNvPr>
          <p:cNvSpPr txBox="1">
            <a:spLocks/>
          </p:cNvSpPr>
          <p:nvPr/>
        </p:nvSpPr>
        <p:spPr>
          <a:xfrm>
            <a:off x="1880618" y="2536226"/>
            <a:ext cx="1343533" cy="54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crecimiento del canal digital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FB7D27BB-2F5B-47ED-8C6F-C790B70613C4}"/>
              </a:ext>
            </a:extLst>
          </p:cNvPr>
          <p:cNvSpPr txBox="1">
            <a:spLocks/>
          </p:cNvSpPr>
          <p:nvPr/>
        </p:nvSpPr>
        <p:spPr>
          <a:xfrm>
            <a:off x="1880618" y="3115943"/>
            <a:ext cx="1343533" cy="3651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proy. de digitalización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09897DDF-EC03-4A3D-9A96-466A1F45E82A}"/>
              </a:ext>
            </a:extLst>
          </p:cNvPr>
          <p:cNvSpPr/>
          <p:nvPr/>
        </p:nvSpPr>
        <p:spPr>
          <a:xfrm>
            <a:off x="441655" y="4001689"/>
            <a:ext cx="1085516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Equipo de Innovación y Digitalización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F104DA19-0A00-45BD-B171-D42831F98477}"/>
              </a:ext>
            </a:extLst>
          </p:cNvPr>
          <p:cNvSpPr txBox="1">
            <a:spLocks/>
          </p:cNvSpPr>
          <p:nvPr/>
        </p:nvSpPr>
        <p:spPr>
          <a:xfrm>
            <a:off x="1880618" y="3527147"/>
            <a:ext cx="1343533" cy="54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en digitalización de productos</a:t>
            </a:r>
          </a:p>
        </p:txBody>
      </p:sp>
      <p:cxnSp>
        <p:nvCxnSpPr>
          <p:cNvPr id="53" name="Conector angular 23">
            <a:extLst>
              <a:ext uri="{FF2B5EF4-FFF2-40B4-BE49-F238E27FC236}">
                <a16:creationId xmlns:a16="http://schemas.microsoft.com/office/drawing/2014/main" id="{326A9690-EEA8-44D1-BEDE-02F163098DF0}"/>
              </a:ext>
            </a:extLst>
          </p:cNvPr>
          <p:cNvCxnSpPr>
            <a:cxnSpLocks/>
            <a:stCxn id="40" idx="1"/>
            <a:endCxn id="45" idx="0"/>
          </p:cNvCxnSpPr>
          <p:nvPr/>
        </p:nvCxnSpPr>
        <p:spPr>
          <a:xfrm rot="10800000" flipV="1">
            <a:off x="984414" y="2806225"/>
            <a:ext cx="896205" cy="119546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angular 23">
            <a:extLst>
              <a:ext uri="{FF2B5EF4-FFF2-40B4-BE49-F238E27FC236}">
                <a16:creationId xmlns:a16="http://schemas.microsoft.com/office/drawing/2014/main" id="{E9E08137-5679-4B7D-B51C-B75B2945D3AC}"/>
              </a:ext>
            </a:extLst>
          </p:cNvPr>
          <p:cNvCxnSpPr>
            <a:cxnSpLocks/>
            <a:stCxn id="41" idx="1"/>
            <a:endCxn id="45" idx="0"/>
          </p:cNvCxnSpPr>
          <p:nvPr/>
        </p:nvCxnSpPr>
        <p:spPr>
          <a:xfrm rot="10800000" flipV="1">
            <a:off x="984414" y="3298505"/>
            <a:ext cx="896205" cy="7031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ector angular 23">
            <a:extLst>
              <a:ext uri="{FF2B5EF4-FFF2-40B4-BE49-F238E27FC236}">
                <a16:creationId xmlns:a16="http://schemas.microsoft.com/office/drawing/2014/main" id="{80A8E192-72D7-40BB-A2F8-A32CBF4FC896}"/>
              </a:ext>
            </a:extLst>
          </p:cNvPr>
          <p:cNvCxnSpPr>
            <a:cxnSpLocks/>
            <a:stCxn id="49" idx="1"/>
            <a:endCxn id="45" idx="0"/>
          </p:cNvCxnSpPr>
          <p:nvPr/>
        </p:nvCxnSpPr>
        <p:spPr>
          <a:xfrm rot="10800000" flipV="1">
            <a:off x="984414" y="3797147"/>
            <a:ext cx="896205" cy="20454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recto de flecha 62">
            <a:extLst>
              <a:ext uri="{FF2B5EF4-FFF2-40B4-BE49-F238E27FC236}">
                <a16:creationId xmlns:a16="http://schemas.microsoft.com/office/drawing/2014/main" id="{45F34AF8-4DAF-4A5F-84A7-F410630643A1}"/>
              </a:ext>
            </a:extLst>
          </p:cNvPr>
          <p:cNvCxnSpPr>
            <a:cxnSpLocks/>
          </p:cNvCxnSpPr>
          <p:nvPr/>
        </p:nvCxnSpPr>
        <p:spPr>
          <a:xfrm flipH="1">
            <a:off x="3224151" y="2827097"/>
            <a:ext cx="30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ector recto de flecha 66">
            <a:extLst>
              <a:ext uri="{FF2B5EF4-FFF2-40B4-BE49-F238E27FC236}">
                <a16:creationId xmlns:a16="http://schemas.microsoft.com/office/drawing/2014/main" id="{E609FD1F-E3E0-4238-8B81-1D3FDA0506D9}"/>
              </a:ext>
            </a:extLst>
          </p:cNvPr>
          <p:cNvCxnSpPr>
            <a:cxnSpLocks/>
          </p:cNvCxnSpPr>
          <p:nvPr/>
        </p:nvCxnSpPr>
        <p:spPr>
          <a:xfrm flipH="1">
            <a:off x="3224151" y="3298799"/>
            <a:ext cx="30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recto de flecha 67">
            <a:extLst>
              <a:ext uri="{FF2B5EF4-FFF2-40B4-BE49-F238E27FC236}">
                <a16:creationId xmlns:a16="http://schemas.microsoft.com/office/drawing/2014/main" id="{8AA48616-EA57-4E0A-AD16-013D823E3C1D}"/>
              </a:ext>
            </a:extLst>
          </p:cNvPr>
          <p:cNvCxnSpPr>
            <a:cxnSpLocks/>
          </p:cNvCxnSpPr>
          <p:nvPr/>
        </p:nvCxnSpPr>
        <p:spPr>
          <a:xfrm flipH="1">
            <a:off x="3224151" y="3797147"/>
            <a:ext cx="30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ector recto de flecha 68">
            <a:extLst>
              <a:ext uri="{FF2B5EF4-FFF2-40B4-BE49-F238E27FC236}">
                <a16:creationId xmlns:a16="http://schemas.microsoft.com/office/drawing/2014/main" id="{6E1C7E8A-5E3C-4DF5-9FE1-B0F8F199F1EF}"/>
              </a:ext>
            </a:extLst>
          </p:cNvPr>
          <p:cNvCxnSpPr>
            <a:cxnSpLocks/>
          </p:cNvCxnSpPr>
          <p:nvPr/>
        </p:nvCxnSpPr>
        <p:spPr>
          <a:xfrm>
            <a:off x="3224151" y="4861371"/>
            <a:ext cx="30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Marcador de contenido 5">
            <a:extLst>
              <a:ext uri="{FF2B5EF4-FFF2-40B4-BE49-F238E27FC236}">
                <a16:creationId xmlns:a16="http://schemas.microsoft.com/office/drawing/2014/main" id="{06700146-B471-4DE4-B326-5A493FC44E5A}"/>
              </a:ext>
            </a:extLst>
          </p:cNvPr>
          <p:cNvSpPr txBox="1">
            <a:spLocks/>
          </p:cNvSpPr>
          <p:nvPr/>
        </p:nvSpPr>
        <p:spPr>
          <a:xfrm>
            <a:off x="9018119" y="2429160"/>
            <a:ext cx="1452802" cy="55077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del plan de innovación y digitalización</a:t>
            </a:r>
          </a:p>
        </p:txBody>
      </p:sp>
      <p:cxnSp>
        <p:nvCxnSpPr>
          <p:cNvPr id="52" name="Conector angular 32">
            <a:extLst>
              <a:ext uri="{FF2B5EF4-FFF2-40B4-BE49-F238E27FC236}">
                <a16:creationId xmlns:a16="http://schemas.microsoft.com/office/drawing/2014/main" id="{33804DE0-5C4B-4715-834A-A96263B9C3EF}"/>
              </a:ext>
            </a:extLst>
          </p:cNvPr>
          <p:cNvCxnSpPr>
            <a:cxnSpLocks/>
            <a:stCxn id="29" idx="3"/>
            <a:endCxn id="11" idx="0"/>
          </p:cNvCxnSpPr>
          <p:nvPr/>
        </p:nvCxnSpPr>
        <p:spPr>
          <a:xfrm>
            <a:off x="10470921" y="2704548"/>
            <a:ext cx="605660" cy="72576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AD1D225A-00D9-4F79-B42E-4B3FC05B9A62}"/>
              </a:ext>
            </a:extLst>
          </p:cNvPr>
          <p:cNvCxnSpPr>
            <a:cxnSpLocks/>
            <a:endCxn id="29" idx="1"/>
          </p:cNvCxnSpPr>
          <p:nvPr/>
        </p:nvCxnSpPr>
        <p:spPr>
          <a:xfrm>
            <a:off x="8636177" y="2700396"/>
            <a:ext cx="381942" cy="4152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lecha: pentágono 36">
            <a:extLst>
              <a:ext uri="{FF2B5EF4-FFF2-40B4-BE49-F238E27FC236}">
                <a16:creationId xmlns:a16="http://schemas.microsoft.com/office/drawing/2014/main" id="{708E5485-0E3F-4294-90EE-7D9E410C0035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38" name="Signo más 37">
            <a:extLst>
              <a:ext uri="{FF2B5EF4-FFF2-40B4-BE49-F238E27FC236}">
                <a16:creationId xmlns:a16="http://schemas.microsoft.com/office/drawing/2014/main" id="{8A48B16F-FE0B-498E-9A9E-9D57F814C51F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EF1841B-B694-4A90-AFA1-CFE3C746BE28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4F3814BE-3A4A-4193-B9EC-2FF39E89CB8A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41854969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Coordinador Scrum Master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27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Los Coordinadores Scrum Master liderarán las células de trabajo asignadas a los proyectos de digitalización aportando </a:t>
            </a:r>
            <a:r>
              <a:rPr lang="es-ES" err="1"/>
              <a:t>expertise</a:t>
            </a:r>
            <a:r>
              <a:rPr lang="es-ES"/>
              <a:t> ágil a los proyectos</a:t>
            </a:r>
          </a:p>
          <a:p>
            <a:r>
              <a:rPr lang="es-ES"/>
              <a:t> 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Scrum Master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4"/>
            <a:ext cx="4918780" cy="4008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las células de trabajo asignadas a los proyectos de digitalización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Aportar expertise ágil a los proyectos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las células de trabajo ágiles en las fases de conceptualización, desarrollo, lanzamiento y despliegue de proyectos de digitalización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 y consolidar cronogramas proyectos de digitalización y asegurar su control y seguimiento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Comunicar hitos y riesgos de los proyectos, y escalar problemáticas para la toma oportuna de decisiones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Trabajar de la mano de los gerentes de producto en la definición de los objetivos del proyecto, detección de riesgos durante la etapa de desarrollo e identificación y priorización de tareas a desarrollar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involucramiento oportuno de áreas relevantes a las células de trabajo según las necesidades de cada fase del proyecto  – p.ej mercadeo, cobranzas, riesgos, costos, …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Instruir a las células de trabajo en la adopción de metodologías agiles y velar por su cumplimiento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899354"/>
            <a:ext cx="4918780" cy="5488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73517" y="1376925"/>
            <a:ext cx="1584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Hitos clave y problemáticas de los proyectos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20937" y="2362733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Innovación y Digitalización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357517" y="1619332"/>
            <a:ext cx="567420" cy="74340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73517" y="2936794"/>
            <a:ext cx="1584000" cy="36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Foco y dirección a la innovación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534197" y="2726053"/>
            <a:ext cx="214061" cy="5674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55370" y="3138706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80754" y="1619331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51632" y="2084487"/>
            <a:ext cx="782853" cy="159489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21694" y="4135604"/>
            <a:ext cx="1415052" cy="107890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r>
              <a:rPr lang="es-CO" sz="1100">
                <a:solidFill>
                  <a:schemeClr val="tx1"/>
                </a:solidFill>
                <a:latin typeface="+mn-lt"/>
              </a:rPr>
              <a:t>Reportes de avance</a:t>
            </a:r>
          </a:p>
          <a:p>
            <a:r>
              <a:rPr lang="es-CO" sz="1100">
                <a:solidFill>
                  <a:schemeClr val="tx1"/>
                </a:solidFill>
                <a:latin typeface="+mn-lt"/>
              </a:rPr>
              <a:t>Hitos clave</a:t>
            </a:r>
          </a:p>
          <a:p>
            <a:r>
              <a:rPr lang="es-CO" sz="1100">
                <a:solidFill>
                  <a:schemeClr val="tx1"/>
                </a:solidFill>
                <a:latin typeface="+mn-lt"/>
              </a:rPr>
              <a:t>Issues y barreras los proyectos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08827" y="4062188"/>
            <a:ext cx="455670" cy="77006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49536" y="2084487"/>
            <a:ext cx="282938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47631" y="3679385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trabajo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34484" y="1908044"/>
            <a:ext cx="1415052" cy="35288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Liderazgo</a:t>
            </a:r>
          </a:p>
        </p:txBody>
      </p:sp>
      <p:sp>
        <p:nvSpPr>
          <p:cNvPr id="37" name="Marcador de contenido 5">
            <a:extLst>
              <a:ext uri="{FF2B5EF4-FFF2-40B4-BE49-F238E27FC236}">
                <a16:creationId xmlns:a16="http://schemas.microsoft.com/office/drawing/2014/main" id="{F882EF74-7A30-4045-ABC7-17C1D12E05A9}"/>
              </a:ext>
            </a:extLst>
          </p:cNvPr>
          <p:cNvSpPr txBox="1">
            <a:spLocks/>
          </p:cNvSpPr>
          <p:nvPr/>
        </p:nvSpPr>
        <p:spPr>
          <a:xfrm>
            <a:off x="8773517" y="3344857"/>
            <a:ext cx="1584000" cy="54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en digitalización de productos </a:t>
            </a:r>
          </a:p>
        </p:txBody>
      </p: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5D795C88-68EC-4F0F-B975-A5FFCFD10F78}"/>
              </a:ext>
            </a:extLst>
          </p:cNvPr>
          <p:cNvSpPr txBox="1">
            <a:spLocks/>
          </p:cNvSpPr>
          <p:nvPr/>
        </p:nvSpPr>
        <p:spPr>
          <a:xfrm>
            <a:off x="1834484" y="2320392"/>
            <a:ext cx="1415052" cy="69203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Involucramiento oportuno de áreas relevantes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EF4E5406-C8DA-44E5-9563-BD1035455C5B}"/>
              </a:ext>
            </a:extLst>
          </p:cNvPr>
          <p:cNvSpPr txBox="1">
            <a:spLocks/>
          </p:cNvSpPr>
          <p:nvPr/>
        </p:nvSpPr>
        <p:spPr>
          <a:xfrm>
            <a:off x="1834484" y="3070180"/>
            <a:ext cx="1415052" cy="42449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ágil</a:t>
            </a:r>
          </a:p>
        </p:txBody>
      </p:sp>
      <p:sp>
        <p:nvSpPr>
          <p:cNvPr id="54" name="Marcador de contenido 5">
            <a:extLst>
              <a:ext uri="{FF2B5EF4-FFF2-40B4-BE49-F238E27FC236}">
                <a16:creationId xmlns:a16="http://schemas.microsoft.com/office/drawing/2014/main" id="{C1BA3088-C97B-40FE-96A0-8515403EB72E}"/>
              </a:ext>
            </a:extLst>
          </p:cNvPr>
          <p:cNvSpPr txBox="1">
            <a:spLocks/>
          </p:cNvSpPr>
          <p:nvPr/>
        </p:nvSpPr>
        <p:spPr>
          <a:xfrm>
            <a:off x="8773517" y="1912085"/>
            <a:ext cx="1584000" cy="45984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Estado de avance de los proyectos</a:t>
            </a:r>
          </a:p>
        </p:txBody>
      </p:sp>
      <p:cxnSp>
        <p:nvCxnSpPr>
          <p:cNvPr id="55" name="Conector recto de flecha 54">
            <a:extLst>
              <a:ext uri="{FF2B5EF4-FFF2-40B4-BE49-F238E27FC236}">
                <a16:creationId xmlns:a16="http://schemas.microsoft.com/office/drawing/2014/main" id="{ABDE7379-E226-4570-B743-6AE3B8606234}"/>
              </a:ext>
            </a:extLst>
          </p:cNvPr>
          <p:cNvCxnSpPr>
            <a:cxnSpLocks/>
          </p:cNvCxnSpPr>
          <p:nvPr/>
        </p:nvCxnSpPr>
        <p:spPr>
          <a:xfrm>
            <a:off x="8480754" y="2137491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recto de flecha 55">
            <a:extLst>
              <a:ext uri="{FF2B5EF4-FFF2-40B4-BE49-F238E27FC236}">
                <a16:creationId xmlns:a16="http://schemas.microsoft.com/office/drawing/2014/main" id="{EBE8131F-5D44-428D-AA6C-8E191DC52C5C}"/>
              </a:ext>
            </a:extLst>
          </p:cNvPr>
          <p:cNvCxnSpPr>
            <a:cxnSpLocks/>
          </p:cNvCxnSpPr>
          <p:nvPr/>
        </p:nvCxnSpPr>
        <p:spPr>
          <a:xfrm flipH="1">
            <a:off x="8455370" y="3622970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angular 23">
            <a:extLst>
              <a:ext uri="{FF2B5EF4-FFF2-40B4-BE49-F238E27FC236}">
                <a16:creationId xmlns:a16="http://schemas.microsoft.com/office/drawing/2014/main" id="{0E4497B0-0CCA-41AE-98E8-5E1CA909FCE8}"/>
              </a:ext>
            </a:extLst>
          </p:cNvPr>
          <p:cNvCxnSpPr>
            <a:cxnSpLocks/>
            <a:stCxn id="44" idx="1"/>
            <a:endCxn id="22" idx="0"/>
          </p:cNvCxnSpPr>
          <p:nvPr/>
        </p:nvCxnSpPr>
        <p:spPr>
          <a:xfrm rot="10800000" flipV="1">
            <a:off x="1051632" y="2666411"/>
            <a:ext cx="782853" cy="101297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angular 23">
            <a:extLst>
              <a:ext uri="{FF2B5EF4-FFF2-40B4-BE49-F238E27FC236}">
                <a16:creationId xmlns:a16="http://schemas.microsoft.com/office/drawing/2014/main" id="{E9B5CE22-ED5D-4F20-A913-9D412B70942C}"/>
              </a:ext>
            </a:extLst>
          </p:cNvPr>
          <p:cNvCxnSpPr>
            <a:cxnSpLocks/>
            <a:stCxn id="50" idx="1"/>
            <a:endCxn id="22" idx="0"/>
          </p:cNvCxnSpPr>
          <p:nvPr/>
        </p:nvCxnSpPr>
        <p:spPr>
          <a:xfrm rot="10800000" flipV="1">
            <a:off x="1051632" y="3282427"/>
            <a:ext cx="782853" cy="39695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angular 32">
            <a:extLst>
              <a:ext uri="{FF2B5EF4-FFF2-40B4-BE49-F238E27FC236}">
                <a16:creationId xmlns:a16="http://schemas.microsoft.com/office/drawing/2014/main" id="{0963EA49-06B3-40F0-BDFF-BA040E266DE7}"/>
              </a:ext>
            </a:extLst>
          </p:cNvPr>
          <p:cNvCxnSpPr>
            <a:cxnSpLocks/>
            <a:stCxn id="54" idx="3"/>
            <a:endCxn id="11" idx="0"/>
          </p:cNvCxnSpPr>
          <p:nvPr/>
        </p:nvCxnSpPr>
        <p:spPr>
          <a:xfrm>
            <a:off x="10357517" y="2142006"/>
            <a:ext cx="567420" cy="2207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angular 37">
            <a:extLst>
              <a:ext uri="{FF2B5EF4-FFF2-40B4-BE49-F238E27FC236}">
                <a16:creationId xmlns:a16="http://schemas.microsoft.com/office/drawing/2014/main" id="{71F48BE0-B86B-4CA6-8212-49217BC9308F}"/>
              </a:ext>
            </a:extLst>
          </p:cNvPr>
          <p:cNvCxnSpPr>
            <a:cxnSpLocks/>
            <a:stCxn id="11" idx="2"/>
            <a:endCxn id="37" idx="3"/>
          </p:cNvCxnSpPr>
          <p:nvPr/>
        </p:nvCxnSpPr>
        <p:spPr>
          <a:xfrm rot="5400000">
            <a:off x="10285165" y="2975085"/>
            <a:ext cx="712124" cy="5674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775DDAD8-14AF-4C6A-AF4A-F3B9FF5A21C5}"/>
              </a:ext>
            </a:extLst>
          </p:cNvPr>
          <p:cNvCxnSpPr>
            <a:cxnSpLocks/>
          </p:cNvCxnSpPr>
          <p:nvPr/>
        </p:nvCxnSpPr>
        <p:spPr>
          <a:xfrm flipH="1">
            <a:off x="3249535" y="2666386"/>
            <a:ext cx="28293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F0902ABD-ECD5-4868-90DA-2DDF2E29CB18}"/>
              </a:ext>
            </a:extLst>
          </p:cNvPr>
          <p:cNvCxnSpPr>
            <a:cxnSpLocks/>
          </p:cNvCxnSpPr>
          <p:nvPr/>
        </p:nvCxnSpPr>
        <p:spPr>
          <a:xfrm flipH="1">
            <a:off x="3249535" y="3284240"/>
            <a:ext cx="28293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recto de flecha 75">
            <a:extLst>
              <a:ext uri="{FF2B5EF4-FFF2-40B4-BE49-F238E27FC236}">
                <a16:creationId xmlns:a16="http://schemas.microsoft.com/office/drawing/2014/main" id="{D32746EA-6A2F-4104-B6E5-3EDA48770E54}"/>
              </a:ext>
            </a:extLst>
          </p:cNvPr>
          <p:cNvCxnSpPr>
            <a:cxnSpLocks/>
          </p:cNvCxnSpPr>
          <p:nvPr/>
        </p:nvCxnSpPr>
        <p:spPr>
          <a:xfrm>
            <a:off x="3249535" y="4625879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Flecha: pentágono 35">
            <a:extLst>
              <a:ext uri="{FF2B5EF4-FFF2-40B4-BE49-F238E27FC236}">
                <a16:creationId xmlns:a16="http://schemas.microsoft.com/office/drawing/2014/main" id="{C4BF3918-84B4-4E22-B27B-A87A6F9F8D0A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38" name="Signo más 37">
            <a:extLst>
              <a:ext uri="{FF2B5EF4-FFF2-40B4-BE49-F238E27FC236}">
                <a16:creationId xmlns:a16="http://schemas.microsoft.com/office/drawing/2014/main" id="{0855C36D-A221-4184-B309-0C14EA8B083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2" name="Rectángulo 91">
            <a:extLst>
              <a:ext uri="{FF2B5EF4-FFF2-40B4-BE49-F238E27FC236}">
                <a16:creationId xmlns:a16="http://schemas.microsoft.com/office/drawing/2014/main" id="{2DA0BCE5-D953-4F05-A4D5-9CB2DF61A58D}"/>
              </a:ext>
            </a:extLst>
          </p:cNvPr>
          <p:cNvSpPr/>
          <p:nvPr/>
        </p:nvSpPr>
        <p:spPr>
          <a:xfrm>
            <a:off x="10420937" y="4452962"/>
            <a:ext cx="1008000" cy="27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G. Producto</a:t>
            </a:r>
          </a:p>
        </p:txBody>
      </p:sp>
      <p:sp>
        <p:nvSpPr>
          <p:cNvPr id="93" name="Rectángulo 92">
            <a:extLst>
              <a:ext uri="{FF2B5EF4-FFF2-40B4-BE49-F238E27FC236}">
                <a16:creationId xmlns:a16="http://schemas.microsoft.com/office/drawing/2014/main" id="{78ADEB33-94F6-41BE-87AA-A104AE797639}"/>
              </a:ext>
            </a:extLst>
          </p:cNvPr>
          <p:cNvSpPr/>
          <p:nvPr/>
        </p:nvSpPr>
        <p:spPr>
          <a:xfrm>
            <a:off x="10420937" y="4766234"/>
            <a:ext cx="1008000" cy="27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G. Riesgo</a:t>
            </a:r>
          </a:p>
        </p:txBody>
      </p:sp>
      <p:sp>
        <p:nvSpPr>
          <p:cNvPr id="94" name="Rectángulo 93">
            <a:extLst>
              <a:ext uri="{FF2B5EF4-FFF2-40B4-BE49-F238E27FC236}">
                <a16:creationId xmlns:a16="http://schemas.microsoft.com/office/drawing/2014/main" id="{CC56F8A4-7F35-4EB7-8034-EF8C3AB877F5}"/>
              </a:ext>
            </a:extLst>
          </p:cNvPr>
          <p:cNvSpPr/>
          <p:nvPr/>
        </p:nvSpPr>
        <p:spPr>
          <a:xfrm>
            <a:off x="10420937" y="5079505"/>
            <a:ext cx="1008000" cy="27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G. Operaciones</a:t>
            </a:r>
          </a:p>
        </p:txBody>
      </p:sp>
      <p:sp>
        <p:nvSpPr>
          <p:cNvPr id="96" name="Marcador de contenido 5">
            <a:extLst>
              <a:ext uri="{FF2B5EF4-FFF2-40B4-BE49-F238E27FC236}">
                <a16:creationId xmlns:a16="http://schemas.microsoft.com/office/drawing/2014/main" id="{A7E18BE2-D5FA-4572-8098-563C66C44E5B}"/>
              </a:ext>
            </a:extLst>
          </p:cNvPr>
          <p:cNvSpPr txBox="1">
            <a:spLocks/>
          </p:cNvSpPr>
          <p:nvPr/>
        </p:nvSpPr>
        <p:spPr>
          <a:xfrm>
            <a:off x="8773517" y="3965330"/>
            <a:ext cx="1584000" cy="54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involucramiento para el  entendimiento del pro.</a:t>
            </a:r>
          </a:p>
        </p:txBody>
      </p:sp>
      <p:sp>
        <p:nvSpPr>
          <p:cNvPr id="97" name="Marcador de contenido 5">
            <a:extLst>
              <a:ext uri="{FF2B5EF4-FFF2-40B4-BE49-F238E27FC236}">
                <a16:creationId xmlns:a16="http://schemas.microsoft.com/office/drawing/2014/main" id="{155BFE6D-9FD3-41CE-8531-2913B80107D9}"/>
              </a:ext>
            </a:extLst>
          </p:cNvPr>
          <p:cNvSpPr txBox="1">
            <a:spLocks/>
          </p:cNvSpPr>
          <p:nvPr/>
        </p:nvSpPr>
        <p:spPr>
          <a:xfrm>
            <a:off x="8773517" y="5267065"/>
            <a:ext cx="1584000" cy="54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y soporte en el entendimiento del producto</a:t>
            </a:r>
          </a:p>
        </p:txBody>
      </p:sp>
      <p:cxnSp>
        <p:nvCxnSpPr>
          <p:cNvPr id="102" name="Conector angular 37">
            <a:extLst>
              <a:ext uri="{FF2B5EF4-FFF2-40B4-BE49-F238E27FC236}">
                <a16:creationId xmlns:a16="http://schemas.microsoft.com/office/drawing/2014/main" id="{DDDBC25E-7AB3-418D-A41C-ECC0C9CBDF8F}"/>
              </a:ext>
            </a:extLst>
          </p:cNvPr>
          <p:cNvCxnSpPr>
            <a:cxnSpLocks/>
            <a:stCxn id="94" idx="2"/>
            <a:endCxn id="97" idx="3"/>
          </p:cNvCxnSpPr>
          <p:nvPr/>
        </p:nvCxnSpPr>
        <p:spPr>
          <a:xfrm rot="5400000">
            <a:off x="10547447" y="5159575"/>
            <a:ext cx="187560" cy="5674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angular 32">
            <a:extLst>
              <a:ext uri="{FF2B5EF4-FFF2-40B4-BE49-F238E27FC236}">
                <a16:creationId xmlns:a16="http://schemas.microsoft.com/office/drawing/2014/main" id="{3166CA5E-38A1-4E64-A627-6198748B3D57}"/>
              </a:ext>
            </a:extLst>
          </p:cNvPr>
          <p:cNvCxnSpPr>
            <a:cxnSpLocks/>
            <a:stCxn id="96" idx="3"/>
            <a:endCxn id="92" idx="0"/>
          </p:cNvCxnSpPr>
          <p:nvPr/>
        </p:nvCxnSpPr>
        <p:spPr>
          <a:xfrm>
            <a:off x="10357517" y="4235330"/>
            <a:ext cx="567420" cy="2176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ector recto de flecha 108">
            <a:extLst>
              <a:ext uri="{FF2B5EF4-FFF2-40B4-BE49-F238E27FC236}">
                <a16:creationId xmlns:a16="http://schemas.microsoft.com/office/drawing/2014/main" id="{8E11C5C7-2D96-4813-813E-F7C896197A0C}"/>
              </a:ext>
            </a:extLst>
          </p:cNvPr>
          <p:cNvCxnSpPr>
            <a:cxnSpLocks/>
          </p:cNvCxnSpPr>
          <p:nvPr/>
        </p:nvCxnSpPr>
        <p:spPr>
          <a:xfrm flipH="1">
            <a:off x="8455370" y="5541768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ector recto de flecha 109">
            <a:extLst>
              <a:ext uri="{FF2B5EF4-FFF2-40B4-BE49-F238E27FC236}">
                <a16:creationId xmlns:a16="http://schemas.microsoft.com/office/drawing/2014/main" id="{8717AB17-4751-4A57-BE06-F80CA5DE1AB7}"/>
              </a:ext>
            </a:extLst>
          </p:cNvPr>
          <p:cNvCxnSpPr>
            <a:cxnSpLocks/>
          </p:cNvCxnSpPr>
          <p:nvPr/>
        </p:nvCxnSpPr>
        <p:spPr>
          <a:xfrm>
            <a:off x="8480754" y="4219384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991EE6A-B4E6-49B3-9D4D-0EFEB61E7EAE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D0D295D3-06C9-43FC-AB6E-FBE04A60BBEF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355242149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Coordinador Diseño UI/UX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28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Coordinador de Diseño UI/UX aportará </a:t>
            </a:r>
            <a:r>
              <a:rPr lang="es-ES" err="1"/>
              <a:t>expertise</a:t>
            </a:r>
            <a:r>
              <a:rPr lang="es-ES"/>
              <a:t> en digitalización de productos y garantizará la calidad de la experiencia y la interfaz de usuario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Coordinador Diseño UI/UX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Aportar </a:t>
            </a:r>
            <a:r>
              <a:rPr lang="es-ES" sz="1200" err="1">
                <a:latin typeface="+mn-lt"/>
                <a:cs typeface="Calibri"/>
              </a:rPr>
              <a:t>expertise</a:t>
            </a:r>
            <a:r>
              <a:rPr lang="es-ES" sz="1200">
                <a:latin typeface="+mn-lt"/>
                <a:cs typeface="Calibri"/>
              </a:rPr>
              <a:t> en digitalización de productos y garantizar la calidad de la experiencia y la interfaz de usuario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Experiencia de Usuario (UX)</a:t>
            </a:r>
          </a:p>
          <a:p>
            <a:pPr marL="36830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Entender las características del producto y analizar las historias del usuario – investigación de soluciones </a:t>
            </a:r>
            <a:r>
              <a:rPr lang="es-ES" sz="1100" err="1">
                <a:latin typeface="+mn-lt"/>
                <a:cs typeface="Calibri"/>
              </a:rPr>
              <a:t>digit</a:t>
            </a:r>
            <a:r>
              <a:rPr lang="es-ES" sz="1100">
                <a:latin typeface="+mn-lt"/>
                <a:cs typeface="Calibri"/>
              </a:rPr>
              <a:t>. existentes, entrevistas, análisis estadístico, …</a:t>
            </a:r>
          </a:p>
          <a:p>
            <a:pPr marL="36830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Colaborar con diseñadores y desarrolladores para crear plataformas optimizadas en usabilidad </a:t>
            </a:r>
          </a:p>
          <a:p>
            <a:pPr marL="368300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Realizar pruebas de concepto y usabilidad, recopilar comentarios e implementar mejoras en experiencia de usuario</a:t>
            </a:r>
          </a:p>
          <a:p>
            <a:pPr marL="269875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50">
                <a:latin typeface="+mn-lt"/>
                <a:cs typeface="Calibri"/>
              </a:rPr>
              <a:t>Interfaz de Usuario (UI)</a:t>
            </a:r>
          </a:p>
          <a:p>
            <a:pPr marL="363538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Asegurar la alineación de la interfaz del producto con la experiencia del usuario</a:t>
            </a:r>
          </a:p>
          <a:p>
            <a:pPr marL="363538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Garantizar el atractivo visual de la interfaz de la solución digital en todas las plataformas (web, móvil, app)</a:t>
            </a:r>
          </a:p>
          <a:p>
            <a:pPr marL="363538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Garantizar  la claridad, concisión y coherencia de la información presentada en las soluciones digitales en todas las plataformas</a:t>
            </a:r>
            <a:endParaRPr lang="es-ES" sz="105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35" idx="3"/>
            <a:endCxn id="26" idx="0"/>
          </p:cNvCxnSpPr>
          <p:nvPr/>
        </p:nvCxnSpPr>
        <p:spPr>
          <a:xfrm>
            <a:off x="10442580" y="2264203"/>
            <a:ext cx="628770" cy="3859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Rectángulo 25">
            <a:extLst>
              <a:ext uri="{FF2B5EF4-FFF2-40B4-BE49-F238E27FC236}">
                <a16:creationId xmlns:a16="http://schemas.microsoft.com/office/drawing/2014/main" id="{FC70070E-8F1F-4D60-B7E8-D86E0F10CA8D}"/>
              </a:ext>
            </a:extLst>
          </p:cNvPr>
          <p:cNvSpPr/>
          <p:nvPr/>
        </p:nvSpPr>
        <p:spPr>
          <a:xfrm>
            <a:off x="10567350" y="2650134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Innovación y Digitalización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85BBE934-A561-48B8-9BE2-97AEB9DE8F15}"/>
              </a:ext>
            </a:extLst>
          </p:cNvPr>
          <p:cNvSpPr txBox="1">
            <a:spLocks/>
          </p:cNvSpPr>
          <p:nvPr/>
        </p:nvSpPr>
        <p:spPr>
          <a:xfrm>
            <a:off x="8858580" y="3949731"/>
            <a:ext cx="1584000" cy="42562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Foco y dirección a la innovación</a:t>
            </a:r>
          </a:p>
        </p:txBody>
      </p:sp>
      <p:cxnSp>
        <p:nvCxnSpPr>
          <p:cNvPr id="28" name="Conector angular 37">
            <a:extLst>
              <a:ext uri="{FF2B5EF4-FFF2-40B4-BE49-F238E27FC236}">
                <a16:creationId xmlns:a16="http://schemas.microsoft.com/office/drawing/2014/main" id="{8464FCB4-53A4-45EE-ADCA-5CE627B61BB3}"/>
              </a:ext>
            </a:extLst>
          </p:cNvPr>
          <p:cNvCxnSpPr>
            <a:cxnSpLocks/>
            <a:stCxn id="26" idx="2"/>
            <a:endCxn id="27" idx="3"/>
          </p:cNvCxnSpPr>
          <p:nvPr/>
        </p:nvCxnSpPr>
        <p:spPr>
          <a:xfrm rot="5400000">
            <a:off x="10270761" y="3361953"/>
            <a:ext cx="972409" cy="6287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Marcador de contenido 5">
            <a:extLst>
              <a:ext uri="{FF2B5EF4-FFF2-40B4-BE49-F238E27FC236}">
                <a16:creationId xmlns:a16="http://schemas.microsoft.com/office/drawing/2014/main" id="{231CEF91-3619-453E-9D75-33072C5C6E6D}"/>
              </a:ext>
            </a:extLst>
          </p:cNvPr>
          <p:cNvSpPr txBox="1">
            <a:spLocks/>
          </p:cNvSpPr>
          <p:nvPr/>
        </p:nvSpPr>
        <p:spPr>
          <a:xfrm>
            <a:off x="8858580" y="4507613"/>
            <a:ext cx="1584000" cy="54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en digitalización de productos </a:t>
            </a:r>
          </a:p>
        </p:txBody>
      </p:sp>
      <p:cxnSp>
        <p:nvCxnSpPr>
          <p:cNvPr id="32" name="Conector angular 37">
            <a:extLst>
              <a:ext uri="{FF2B5EF4-FFF2-40B4-BE49-F238E27FC236}">
                <a16:creationId xmlns:a16="http://schemas.microsoft.com/office/drawing/2014/main" id="{0B37EB34-B0A8-4C52-ADCE-B4ADFEA665FB}"/>
              </a:ext>
            </a:extLst>
          </p:cNvPr>
          <p:cNvCxnSpPr>
            <a:cxnSpLocks/>
            <a:stCxn id="26" idx="2"/>
            <a:endCxn id="30" idx="3"/>
          </p:cNvCxnSpPr>
          <p:nvPr/>
        </p:nvCxnSpPr>
        <p:spPr>
          <a:xfrm rot="5400000">
            <a:off x="9963226" y="3669488"/>
            <a:ext cx="1587479" cy="6287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6C7FBBB3-493F-407C-805C-4857E156F718}"/>
              </a:ext>
            </a:extLst>
          </p:cNvPr>
          <p:cNvSpPr txBox="1">
            <a:spLocks/>
          </p:cNvSpPr>
          <p:nvPr/>
        </p:nvSpPr>
        <p:spPr>
          <a:xfrm>
            <a:off x="8858580" y="2051391"/>
            <a:ext cx="1584000" cy="42562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Prototipos experiencia e interfaz de usuario</a:t>
            </a:r>
          </a:p>
        </p:txBody>
      </p:sp>
      <p:sp>
        <p:nvSpPr>
          <p:cNvPr id="42" name="Marcador de contenido 5">
            <a:extLst>
              <a:ext uri="{FF2B5EF4-FFF2-40B4-BE49-F238E27FC236}">
                <a16:creationId xmlns:a16="http://schemas.microsoft.com/office/drawing/2014/main" id="{CE5AA043-7D57-4733-97B4-A3DC05EB3564}"/>
              </a:ext>
            </a:extLst>
          </p:cNvPr>
          <p:cNvSpPr txBox="1">
            <a:spLocks/>
          </p:cNvSpPr>
          <p:nvPr/>
        </p:nvSpPr>
        <p:spPr>
          <a:xfrm>
            <a:off x="8858580" y="3334661"/>
            <a:ext cx="1584000" cy="50014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experiencia e interfaz de usuario</a:t>
            </a:r>
          </a:p>
        </p:txBody>
      </p:sp>
      <p:cxnSp>
        <p:nvCxnSpPr>
          <p:cNvPr id="48" name="Conector angular 37">
            <a:extLst>
              <a:ext uri="{FF2B5EF4-FFF2-40B4-BE49-F238E27FC236}">
                <a16:creationId xmlns:a16="http://schemas.microsoft.com/office/drawing/2014/main" id="{148AD851-36AE-4605-991F-8143FC71329B}"/>
              </a:ext>
            </a:extLst>
          </p:cNvPr>
          <p:cNvCxnSpPr>
            <a:cxnSpLocks/>
            <a:stCxn id="26" idx="2"/>
            <a:endCxn id="42" idx="3"/>
          </p:cNvCxnSpPr>
          <p:nvPr/>
        </p:nvCxnSpPr>
        <p:spPr>
          <a:xfrm rot="5400000">
            <a:off x="10559666" y="3073048"/>
            <a:ext cx="394599" cy="6287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E2ABE3EE-AAB3-429A-A977-012366184F96}"/>
              </a:ext>
            </a:extLst>
          </p:cNvPr>
          <p:cNvCxnSpPr>
            <a:cxnSpLocks/>
          </p:cNvCxnSpPr>
          <p:nvPr/>
        </p:nvCxnSpPr>
        <p:spPr>
          <a:xfrm flipH="1">
            <a:off x="8476637" y="3584732"/>
            <a:ext cx="38194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ector recto de flecha 87">
            <a:extLst>
              <a:ext uri="{FF2B5EF4-FFF2-40B4-BE49-F238E27FC236}">
                <a16:creationId xmlns:a16="http://schemas.microsoft.com/office/drawing/2014/main" id="{70E5AAC7-3A8F-4943-B734-6F1CE6552983}"/>
              </a:ext>
            </a:extLst>
          </p:cNvPr>
          <p:cNvCxnSpPr>
            <a:cxnSpLocks/>
          </p:cNvCxnSpPr>
          <p:nvPr/>
        </p:nvCxnSpPr>
        <p:spPr>
          <a:xfrm flipH="1">
            <a:off x="8476637" y="4162542"/>
            <a:ext cx="38194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recto de flecha 88">
            <a:extLst>
              <a:ext uri="{FF2B5EF4-FFF2-40B4-BE49-F238E27FC236}">
                <a16:creationId xmlns:a16="http://schemas.microsoft.com/office/drawing/2014/main" id="{D26E150B-80CC-4F4A-971D-8B1A6B40889D}"/>
              </a:ext>
            </a:extLst>
          </p:cNvPr>
          <p:cNvCxnSpPr>
            <a:cxnSpLocks/>
          </p:cNvCxnSpPr>
          <p:nvPr/>
        </p:nvCxnSpPr>
        <p:spPr>
          <a:xfrm flipH="1">
            <a:off x="8476637" y="4784967"/>
            <a:ext cx="38194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2A8DDB4B-C762-4233-B3CB-94DD27DFAB03}"/>
              </a:ext>
            </a:extLst>
          </p:cNvPr>
          <p:cNvCxnSpPr>
            <a:cxnSpLocks/>
          </p:cNvCxnSpPr>
          <p:nvPr/>
        </p:nvCxnSpPr>
        <p:spPr>
          <a:xfrm>
            <a:off x="8503058" y="2264202"/>
            <a:ext cx="3291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Flecha: pentágono 30">
            <a:extLst>
              <a:ext uri="{FF2B5EF4-FFF2-40B4-BE49-F238E27FC236}">
                <a16:creationId xmlns:a16="http://schemas.microsoft.com/office/drawing/2014/main" id="{60BB954B-7F7B-4D63-A071-872F7C89286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33" name="Signo más 32">
            <a:extLst>
              <a:ext uri="{FF2B5EF4-FFF2-40B4-BE49-F238E27FC236}">
                <a16:creationId xmlns:a16="http://schemas.microsoft.com/office/drawing/2014/main" id="{0A4F4CD4-205C-4FBB-9429-28AEA7F0F66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43" name="Conector angular 23">
            <a:extLst>
              <a:ext uri="{FF2B5EF4-FFF2-40B4-BE49-F238E27FC236}">
                <a16:creationId xmlns:a16="http://schemas.microsoft.com/office/drawing/2014/main" id="{B497C0D4-9511-4AF3-9E85-0EEDFD71E461}"/>
              </a:ext>
            </a:extLst>
          </p:cNvPr>
          <p:cNvCxnSpPr>
            <a:cxnSpLocks/>
            <a:stCxn id="49" idx="1"/>
            <a:endCxn id="47" idx="0"/>
          </p:cNvCxnSpPr>
          <p:nvPr/>
        </p:nvCxnSpPr>
        <p:spPr>
          <a:xfrm rot="10800000" flipV="1">
            <a:off x="937758" y="1779361"/>
            <a:ext cx="942860" cy="25762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093E4FEF-DEC7-4839-8646-D24D3C9F94F2}"/>
              </a:ext>
            </a:extLst>
          </p:cNvPr>
          <p:cNvSpPr txBox="1">
            <a:spLocks/>
          </p:cNvSpPr>
          <p:nvPr/>
        </p:nvSpPr>
        <p:spPr>
          <a:xfrm>
            <a:off x="1867828" y="2178486"/>
            <a:ext cx="1343533" cy="723244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implementación experiencia e interfaz de usuario</a:t>
            </a:r>
          </a:p>
        </p:txBody>
      </p:sp>
      <p:cxnSp>
        <p:nvCxnSpPr>
          <p:cNvPr id="45" name="Conector angular 26">
            <a:extLst>
              <a:ext uri="{FF2B5EF4-FFF2-40B4-BE49-F238E27FC236}">
                <a16:creationId xmlns:a16="http://schemas.microsoft.com/office/drawing/2014/main" id="{E9276CE9-7DF2-4329-8A85-940DC04913F4}"/>
              </a:ext>
            </a:extLst>
          </p:cNvPr>
          <p:cNvCxnSpPr>
            <a:cxnSpLocks/>
            <a:stCxn id="47" idx="2"/>
            <a:endCxn id="44" idx="1"/>
          </p:cNvCxnSpPr>
          <p:nvPr/>
        </p:nvCxnSpPr>
        <p:spPr>
          <a:xfrm rot="16200000" flipH="1">
            <a:off x="1322265" y="1994545"/>
            <a:ext cx="161056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ector recto de flecha 45">
            <a:extLst>
              <a:ext uri="{FF2B5EF4-FFF2-40B4-BE49-F238E27FC236}">
                <a16:creationId xmlns:a16="http://schemas.microsoft.com/office/drawing/2014/main" id="{888D7818-C281-4EED-AF52-81C64CE11CB9}"/>
              </a:ext>
            </a:extLst>
          </p:cNvPr>
          <p:cNvCxnSpPr>
            <a:cxnSpLocks/>
            <a:endCxn id="49" idx="3"/>
          </p:cNvCxnSpPr>
          <p:nvPr/>
        </p:nvCxnSpPr>
        <p:spPr>
          <a:xfrm flipH="1">
            <a:off x="3224151" y="1779362"/>
            <a:ext cx="27819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ángulo 46">
            <a:extLst>
              <a:ext uri="{FF2B5EF4-FFF2-40B4-BE49-F238E27FC236}">
                <a16:creationId xmlns:a16="http://schemas.microsoft.com/office/drawing/2014/main" id="{E246BE53-1937-4A2C-99ED-ACAE0513E2C1}"/>
              </a:ext>
            </a:extLst>
          </p:cNvPr>
          <p:cNvSpPr/>
          <p:nvPr/>
        </p:nvSpPr>
        <p:spPr>
          <a:xfrm>
            <a:off x="433758" y="2036985"/>
            <a:ext cx="1008000" cy="342067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trabajo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F970BA4E-66CD-454E-BDBC-EA60FEB90F58}"/>
              </a:ext>
            </a:extLst>
          </p:cNvPr>
          <p:cNvSpPr txBox="1">
            <a:spLocks/>
          </p:cNvSpPr>
          <p:nvPr/>
        </p:nvSpPr>
        <p:spPr>
          <a:xfrm>
            <a:off x="1880618" y="1516639"/>
            <a:ext cx="1343533" cy="52544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err="1">
                <a:solidFill>
                  <a:schemeClr val="tx1"/>
                </a:solidFill>
                <a:latin typeface="+mn-lt"/>
              </a:rPr>
              <a:t>Expertise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 en diseño experiencia e interfaz de usuario</a:t>
            </a:r>
          </a:p>
        </p:txBody>
      </p:sp>
      <p:sp>
        <p:nvSpPr>
          <p:cNvPr id="50" name="Rectángulo 49">
            <a:extLst>
              <a:ext uri="{FF2B5EF4-FFF2-40B4-BE49-F238E27FC236}">
                <a16:creationId xmlns:a16="http://schemas.microsoft.com/office/drawing/2014/main" id="{6B7D773E-CBBF-4D97-B16E-47F9A7DCC7A0}"/>
              </a:ext>
            </a:extLst>
          </p:cNvPr>
          <p:cNvSpPr/>
          <p:nvPr/>
        </p:nvSpPr>
        <p:spPr>
          <a:xfrm>
            <a:off x="433757" y="3553165"/>
            <a:ext cx="1008000" cy="342067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G. de Producto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F32BC77F-3BA4-4D6F-9741-E2EAF12E1EF7}"/>
              </a:ext>
            </a:extLst>
          </p:cNvPr>
          <p:cNvSpPr txBox="1">
            <a:spLocks/>
          </p:cNvSpPr>
          <p:nvPr/>
        </p:nvSpPr>
        <p:spPr>
          <a:xfrm>
            <a:off x="1867828" y="3091045"/>
            <a:ext cx="1343533" cy="67591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 de entendimiento del producto y el mercado</a:t>
            </a:r>
          </a:p>
        </p:txBody>
      </p:sp>
      <p:sp>
        <p:nvSpPr>
          <p:cNvPr id="52" name="Marcador de contenido 5">
            <a:extLst>
              <a:ext uri="{FF2B5EF4-FFF2-40B4-BE49-F238E27FC236}">
                <a16:creationId xmlns:a16="http://schemas.microsoft.com/office/drawing/2014/main" id="{AF87DAE3-5843-4795-9646-967CBD73B9B9}"/>
              </a:ext>
            </a:extLst>
          </p:cNvPr>
          <p:cNvSpPr txBox="1">
            <a:spLocks/>
          </p:cNvSpPr>
          <p:nvPr/>
        </p:nvSpPr>
        <p:spPr>
          <a:xfrm>
            <a:off x="1867828" y="4825815"/>
            <a:ext cx="1343533" cy="699833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Conocimiento integral del producto y del mercado</a:t>
            </a:r>
          </a:p>
        </p:txBody>
      </p:sp>
      <p:cxnSp>
        <p:nvCxnSpPr>
          <p:cNvPr id="54" name="Conector angular 26">
            <a:extLst>
              <a:ext uri="{FF2B5EF4-FFF2-40B4-BE49-F238E27FC236}">
                <a16:creationId xmlns:a16="http://schemas.microsoft.com/office/drawing/2014/main" id="{9F70363C-C04E-45A0-A7F0-B07C64F32A97}"/>
              </a:ext>
            </a:extLst>
          </p:cNvPr>
          <p:cNvCxnSpPr>
            <a:cxnSpLocks/>
            <a:stCxn id="60" idx="2"/>
            <a:endCxn id="52" idx="1"/>
          </p:cNvCxnSpPr>
          <p:nvPr/>
        </p:nvCxnSpPr>
        <p:spPr>
          <a:xfrm rot="16200000" flipH="1">
            <a:off x="1137078" y="4444982"/>
            <a:ext cx="531428" cy="93007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angular 23">
            <a:extLst>
              <a:ext uri="{FF2B5EF4-FFF2-40B4-BE49-F238E27FC236}">
                <a16:creationId xmlns:a16="http://schemas.microsoft.com/office/drawing/2014/main" id="{DA361DC3-FEA6-47DF-9312-515FA1BC21EE}"/>
              </a:ext>
            </a:extLst>
          </p:cNvPr>
          <p:cNvCxnSpPr>
            <a:cxnSpLocks/>
            <a:stCxn id="51" idx="1"/>
            <a:endCxn id="50" idx="0"/>
          </p:cNvCxnSpPr>
          <p:nvPr/>
        </p:nvCxnSpPr>
        <p:spPr>
          <a:xfrm rot="10800000" flipV="1">
            <a:off x="937758" y="3428999"/>
            <a:ext cx="930071" cy="12416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recto de flecha 55">
            <a:extLst>
              <a:ext uri="{FF2B5EF4-FFF2-40B4-BE49-F238E27FC236}">
                <a16:creationId xmlns:a16="http://schemas.microsoft.com/office/drawing/2014/main" id="{ABA87B66-F98D-405F-97B4-0899D5E9E58A}"/>
              </a:ext>
            </a:extLst>
          </p:cNvPr>
          <p:cNvCxnSpPr>
            <a:cxnSpLocks/>
          </p:cNvCxnSpPr>
          <p:nvPr/>
        </p:nvCxnSpPr>
        <p:spPr>
          <a:xfrm flipH="1">
            <a:off x="3244133" y="3428999"/>
            <a:ext cx="281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3C1D1329-C479-4451-A268-E066F063C342}"/>
              </a:ext>
            </a:extLst>
          </p:cNvPr>
          <p:cNvCxnSpPr>
            <a:cxnSpLocks/>
          </p:cNvCxnSpPr>
          <p:nvPr/>
        </p:nvCxnSpPr>
        <p:spPr>
          <a:xfrm>
            <a:off x="3224151" y="2540108"/>
            <a:ext cx="27819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ector recto de flecha 57">
            <a:extLst>
              <a:ext uri="{FF2B5EF4-FFF2-40B4-BE49-F238E27FC236}">
                <a16:creationId xmlns:a16="http://schemas.microsoft.com/office/drawing/2014/main" id="{3B2836A4-D707-4FF2-B370-DC4DD1C55732}"/>
              </a:ext>
            </a:extLst>
          </p:cNvPr>
          <p:cNvCxnSpPr>
            <a:cxnSpLocks/>
          </p:cNvCxnSpPr>
          <p:nvPr/>
        </p:nvCxnSpPr>
        <p:spPr>
          <a:xfrm>
            <a:off x="3224151" y="5175732"/>
            <a:ext cx="27819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ángulo 58">
            <a:extLst>
              <a:ext uri="{FF2B5EF4-FFF2-40B4-BE49-F238E27FC236}">
                <a16:creationId xmlns:a16="http://schemas.microsoft.com/office/drawing/2014/main" id="{580BC7D5-11BC-47FB-B671-986861FA4FA0}"/>
              </a:ext>
            </a:extLst>
          </p:cNvPr>
          <p:cNvSpPr/>
          <p:nvPr/>
        </p:nvSpPr>
        <p:spPr>
          <a:xfrm>
            <a:off x="433757" y="3920816"/>
            <a:ext cx="1008000" cy="342067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G. de Riesgo</a:t>
            </a:r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11C087F2-DBB8-46F0-B168-E2CEB0952913}"/>
              </a:ext>
            </a:extLst>
          </p:cNvPr>
          <p:cNvSpPr/>
          <p:nvPr/>
        </p:nvSpPr>
        <p:spPr>
          <a:xfrm>
            <a:off x="433757" y="4302237"/>
            <a:ext cx="1008000" cy="342067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Gerencia Operaciones</a:t>
            </a:r>
          </a:p>
        </p:txBody>
      </p: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11C7F10-38BC-405C-9A72-679AA5FBA2F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E69984B2-4827-416C-8DE8-6BE1B3221231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20741668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Innovación en Canales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29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Notas: (1) Los canales digitales a cargo incluyen: </a:t>
            </a:r>
            <a:r>
              <a:rPr lang="es-ES" sz="900" err="1">
                <a:latin typeface="Arial" panose="020B0604020202020204" pitchFamily="34" charset="0"/>
                <a:cs typeface="Arial" panose="020B0604020202020204" pitchFamily="34" charset="0"/>
              </a:rPr>
              <a:t>Website</a:t>
            </a:r>
            <a:r>
              <a:rPr lang="es-ES" sz="900">
                <a:latin typeface="Arial" panose="020B0604020202020204" pitchFamily="34" charset="0"/>
                <a:cs typeface="Arial" panose="020B0604020202020204" pitchFamily="34" charset="0"/>
              </a:rPr>
              <a:t> y App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Innovación en Canales liderará la definición de la estrategia de canales alternos y planes de evolución y administrará los canales digitales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Innovación en Canales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estrategia de canales alternos y planes de evolución – p.ej. Unidades móviles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canales digitales – look &amp; </a:t>
            </a:r>
            <a:r>
              <a:rPr lang="es-ES" sz="1200" err="1">
                <a:latin typeface="+mn-lt"/>
                <a:cs typeface="Calibri"/>
              </a:rPr>
              <a:t>feel</a:t>
            </a:r>
            <a:r>
              <a:rPr lang="es-ES" sz="1200">
                <a:latin typeface="+mn-lt"/>
                <a:cs typeface="Calibri"/>
              </a:rPr>
              <a:t> y funcionamiento adecuado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oportunidades de negocio y de desarrollo de canales de venta alterna recopilando información de mercado y competencia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Proponer e implementar estrategias diseñadas para el crecimiento de cobertura, excelencia en la ejecución y rentabilización de canales alternos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Monitorear y liderar la implementación de mejoras a la experiencia de usuario y usabilidad de los canales digitales – look &amp; </a:t>
            </a:r>
            <a:r>
              <a:rPr lang="es-ES" sz="1200" err="1">
                <a:latin typeface="+mn-lt"/>
                <a:cs typeface="Calibri"/>
              </a:rPr>
              <a:t>feel</a:t>
            </a:r>
            <a:r>
              <a:rPr lang="es-ES" sz="1200">
                <a:latin typeface="+mn-lt"/>
                <a:cs typeface="Calibri"/>
              </a:rPr>
              <a:t> y funcionamiento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mantenimiento y actualización de las plataformas digitales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583816"/>
            <a:ext cx="4918780" cy="8644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de los volúmenes de venta de los canales alternos y digitales; (2) Contribución de canales alternos; (3)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QR´s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los canales alternos y digitales; (4) NPS del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94782" y="1667258"/>
            <a:ext cx="1260000" cy="4255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canales alternos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49242" y="3193267"/>
            <a:ext cx="1096137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Innovación y Digitalización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54782" y="1880028"/>
            <a:ext cx="842529" cy="13132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877069"/>
            <a:ext cx="308321" cy="2959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204651"/>
            <a:ext cx="809156" cy="26043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46914" y="3057764"/>
            <a:ext cx="1464447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79600" y="2763247"/>
            <a:ext cx="325472" cy="80915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2204651"/>
            <a:ext cx="30832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465089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TI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46914" y="1814315"/>
            <a:ext cx="1477238" cy="78067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Solicitud de ajustes en look &amp;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feel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 y funcionamiento de digitales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794782" y="2634967"/>
            <a:ext cx="1260000" cy="5446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administración canales digitales</a:t>
            </a:r>
            <a:r>
              <a:rPr lang="es-CO" sz="1100" baseline="30000">
                <a:solidFill>
                  <a:schemeClr val="tx1"/>
                </a:solidFill>
                <a:latin typeface="+mn-lt"/>
              </a:rPr>
              <a:t>1</a:t>
            </a:r>
          </a:p>
        </p:txBody>
      </p:sp>
      <p:sp>
        <p:nvSpPr>
          <p:cNvPr id="32" name="Marcador de contenido 5">
            <a:extLst>
              <a:ext uri="{FF2B5EF4-FFF2-40B4-BE49-F238E27FC236}">
                <a16:creationId xmlns:a16="http://schemas.microsoft.com/office/drawing/2014/main" id="{54E290A2-AA6A-4E96-9573-03D4138CFEEB}"/>
              </a:ext>
            </a:extLst>
          </p:cNvPr>
          <p:cNvSpPr txBox="1">
            <a:spLocks/>
          </p:cNvSpPr>
          <p:nvPr/>
        </p:nvSpPr>
        <p:spPr>
          <a:xfrm>
            <a:off x="8794782" y="2145914"/>
            <a:ext cx="1260000" cy="4255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admón. canales alternos</a:t>
            </a:r>
          </a:p>
        </p:txBody>
      </p:sp>
      <p:sp>
        <p:nvSpPr>
          <p:cNvPr id="37" name="Marcador de contenido 5">
            <a:extLst>
              <a:ext uri="{FF2B5EF4-FFF2-40B4-BE49-F238E27FC236}">
                <a16:creationId xmlns:a16="http://schemas.microsoft.com/office/drawing/2014/main" id="{9BD19111-34B6-41E9-9B88-438C261ECD9B}"/>
              </a:ext>
            </a:extLst>
          </p:cNvPr>
          <p:cNvSpPr txBox="1">
            <a:spLocks/>
          </p:cNvSpPr>
          <p:nvPr/>
        </p:nvSpPr>
        <p:spPr>
          <a:xfrm>
            <a:off x="8794782" y="4532321"/>
            <a:ext cx="1260000" cy="52689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canales alternos aprobada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1F1F421D-F140-4EAD-B30E-7CCF8676820F}"/>
              </a:ext>
            </a:extLst>
          </p:cNvPr>
          <p:cNvSpPr txBox="1">
            <a:spLocks/>
          </p:cNvSpPr>
          <p:nvPr/>
        </p:nvSpPr>
        <p:spPr>
          <a:xfrm>
            <a:off x="8794782" y="5119737"/>
            <a:ext cx="1260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en digitalización</a:t>
            </a:r>
          </a:p>
        </p:txBody>
      </p:sp>
      <p:cxnSp>
        <p:nvCxnSpPr>
          <p:cNvPr id="40" name="Conector angular 32">
            <a:extLst>
              <a:ext uri="{FF2B5EF4-FFF2-40B4-BE49-F238E27FC236}">
                <a16:creationId xmlns:a16="http://schemas.microsoft.com/office/drawing/2014/main" id="{E25D6864-19B3-4350-8F91-082C9FD38C45}"/>
              </a:ext>
            </a:extLst>
          </p:cNvPr>
          <p:cNvCxnSpPr>
            <a:cxnSpLocks/>
            <a:stCxn id="32" idx="3"/>
            <a:endCxn id="11" idx="0"/>
          </p:cNvCxnSpPr>
          <p:nvPr/>
        </p:nvCxnSpPr>
        <p:spPr>
          <a:xfrm>
            <a:off x="10054782" y="2358684"/>
            <a:ext cx="842529" cy="8345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ector angular 32">
            <a:extLst>
              <a:ext uri="{FF2B5EF4-FFF2-40B4-BE49-F238E27FC236}">
                <a16:creationId xmlns:a16="http://schemas.microsoft.com/office/drawing/2014/main" id="{583E85BD-22D7-455D-B953-C4E1BFB27FB1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054782" y="2907287"/>
            <a:ext cx="842529" cy="28598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angular 32">
            <a:extLst>
              <a:ext uri="{FF2B5EF4-FFF2-40B4-BE49-F238E27FC236}">
                <a16:creationId xmlns:a16="http://schemas.microsoft.com/office/drawing/2014/main" id="{8B7B5078-CF7B-435F-97CC-53A413EDE2FC}"/>
              </a:ext>
            </a:extLst>
          </p:cNvPr>
          <p:cNvCxnSpPr>
            <a:cxnSpLocks/>
            <a:stCxn id="11" idx="2"/>
            <a:endCxn id="37" idx="3"/>
          </p:cNvCxnSpPr>
          <p:nvPr/>
        </p:nvCxnSpPr>
        <p:spPr>
          <a:xfrm rot="5400000">
            <a:off x="9944795" y="3843255"/>
            <a:ext cx="1062504" cy="8425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ector angular 32">
            <a:extLst>
              <a:ext uri="{FF2B5EF4-FFF2-40B4-BE49-F238E27FC236}">
                <a16:creationId xmlns:a16="http://schemas.microsoft.com/office/drawing/2014/main" id="{1AF2E35A-C509-4B5E-8814-AB53CF07DB8A}"/>
              </a:ext>
            </a:extLst>
          </p:cNvPr>
          <p:cNvCxnSpPr>
            <a:cxnSpLocks/>
            <a:stCxn id="11" idx="2"/>
            <a:endCxn id="38" idx="3"/>
          </p:cNvCxnSpPr>
          <p:nvPr/>
        </p:nvCxnSpPr>
        <p:spPr>
          <a:xfrm rot="5400000">
            <a:off x="9691531" y="4096519"/>
            <a:ext cx="1569033" cy="8425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40E7B853-8954-4116-8AA5-A2AD9538E9C8}"/>
              </a:ext>
            </a:extLst>
          </p:cNvPr>
          <p:cNvCxnSpPr>
            <a:cxnSpLocks/>
          </p:cNvCxnSpPr>
          <p:nvPr/>
        </p:nvCxnSpPr>
        <p:spPr>
          <a:xfrm flipH="1">
            <a:off x="8476636" y="4795624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ector recto de flecha 53">
            <a:extLst>
              <a:ext uri="{FF2B5EF4-FFF2-40B4-BE49-F238E27FC236}">
                <a16:creationId xmlns:a16="http://schemas.microsoft.com/office/drawing/2014/main" id="{AAD5767F-442F-43D4-8B33-228B36AE9DA8}"/>
              </a:ext>
            </a:extLst>
          </p:cNvPr>
          <p:cNvCxnSpPr>
            <a:cxnSpLocks/>
          </p:cNvCxnSpPr>
          <p:nvPr/>
        </p:nvCxnSpPr>
        <p:spPr>
          <a:xfrm flipH="1">
            <a:off x="8476636" y="5302298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recto de flecha 54">
            <a:extLst>
              <a:ext uri="{FF2B5EF4-FFF2-40B4-BE49-F238E27FC236}">
                <a16:creationId xmlns:a16="http://schemas.microsoft.com/office/drawing/2014/main" id="{00D3AC87-66B3-4D56-A07D-D2E01B73C8F1}"/>
              </a:ext>
            </a:extLst>
          </p:cNvPr>
          <p:cNvCxnSpPr>
            <a:cxnSpLocks/>
          </p:cNvCxnSpPr>
          <p:nvPr/>
        </p:nvCxnSpPr>
        <p:spPr>
          <a:xfrm>
            <a:off x="8476636" y="2354237"/>
            <a:ext cx="308321" cy="2959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recto de flecha 55">
            <a:extLst>
              <a:ext uri="{FF2B5EF4-FFF2-40B4-BE49-F238E27FC236}">
                <a16:creationId xmlns:a16="http://schemas.microsoft.com/office/drawing/2014/main" id="{80BB5CB0-A89B-458C-8C2A-70F9F0EA8E6D}"/>
              </a:ext>
            </a:extLst>
          </p:cNvPr>
          <p:cNvCxnSpPr>
            <a:cxnSpLocks/>
          </p:cNvCxnSpPr>
          <p:nvPr/>
        </p:nvCxnSpPr>
        <p:spPr>
          <a:xfrm>
            <a:off x="8476636" y="2901503"/>
            <a:ext cx="308321" cy="2959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C02C99EA-BE31-48F0-A8DD-0F960BEEA2E2}"/>
              </a:ext>
            </a:extLst>
          </p:cNvPr>
          <p:cNvSpPr txBox="1">
            <a:spLocks/>
          </p:cNvSpPr>
          <p:nvPr/>
        </p:nvSpPr>
        <p:spPr>
          <a:xfrm>
            <a:off x="8794782" y="3893930"/>
            <a:ext cx="1260000" cy="5619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ventas en canales alternos</a:t>
            </a:r>
          </a:p>
        </p:txBody>
      </p:sp>
      <p:cxnSp>
        <p:nvCxnSpPr>
          <p:cNvPr id="71" name="Conector angular 37">
            <a:extLst>
              <a:ext uri="{FF2B5EF4-FFF2-40B4-BE49-F238E27FC236}">
                <a16:creationId xmlns:a16="http://schemas.microsoft.com/office/drawing/2014/main" id="{44F297CD-9E85-4A0A-97DF-C167806FF377}"/>
              </a:ext>
            </a:extLst>
          </p:cNvPr>
          <p:cNvCxnSpPr>
            <a:cxnSpLocks/>
            <a:endCxn id="66" idx="3"/>
          </p:cNvCxnSpPr>
          <p:nvPr/>
        </p:nvCxnSpPr>
        <p:spPr>
          <a:xfrm rot="5400000">
            <a:off x="10412534" y="3690148"/>
            <a:ext cx="127027" cy="8425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01BD622F-66F6-46B8-9DA1-02F6CEC0C7AA}"/>
              </a:ext>
            </a:extLst>
          </p:cNvPr>
          <p:cNvCxnSpPr>
            <a:cxnSpLocks/>
          </p:cNvCxnSpPr>
          <p:nvPr/>
        </p:nvCxnSpPr>
        <p:spPr>
          <a:xfrm flipH="1">
            <a:off x="8476636" y="4182411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ángulo 87">
            <a:extLst>
              <a:ext uri="{FF2B5EF4-FFF2-40B4-BE49-F238E27FC236}">
                <a16:creationId xmlns:a16="http://schemas.microsoft.com/office/drawing/2014/main" id="{1F2C5166-969F-4AA4-A641-55C5DBDFA69D}"/>
              </a:ext>
            </a:extLst>
          </p:cNvPr>
          <p:cNvSpPr/>
          <p:nvPr/>
        </p:nvSpPr>
        <p:spPr>
          <a:xfrm>
            <a:off x="433758" y="441385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Coord. Diseño UI/UX</a:t>
            </a:r>
          </a:p>
        </p:txBody>
      </p:sp>
      <p:sp>
        <p:nvSpPr>
          <p:cNvPr id="90" name="Marcador de contenido 5">
            <a:extLst>
              <a:ext uri="{FF2B5EF4-FFF2-40B4-BE49-F238E27FC236}">
                <a16:creationId xmlns:a16="http://schemas.microsoft.com/office/drawing/2014/main" id="{D8C7F536-0D8D-4B9A-A086-6C18AAD1D1E4}"/>
              </a:ext>
            </a:extLst>
          </p:cNvPr>
          <p:cNvSpPr txBox="1">
            <a:spLocks/>
          </p:cNvSpPr>
          <p:nvPr/>
        </p:nvSpPr>
        <p:spPr>
          <a:xfrm>
            <a:off x="1746914" y="5120195"/>
            <a:ext cx="1464447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Expertise en diseño UI/UX</a:t>
            </a:r>
          </a:p>
        </p:txBody>
      </p:sp>
      <p:sp>
        <p:nvSpPr>
          <p:cNvPr id="92" name="Marcador de contenido 5">
            <a:extLst>
              <a:ext uri="{FF2B5EF4-FFF2-40B4-BE49-F238E27FC236}">
                <a16:creationId xmlns:a16="http://schemas.microsoft.com/office/drawing/2014/main" id="{11E06F43-7304-4CED-9624-577B138568E1}"/>
              </a:ext>
            </a:extLst>
          </p:cNvPr>
          <p:cNvSpPr txBox="1">
            <a:spLocks/>
          </p:cNvSpPr>
          <p:nvPr/>
        </p:nvSpPr>
        <p:spPr>
          <a:xfrm>
            <a:off x="1746914" y="3820110"/>
            <a:ext cx="1464447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apoyo en diseño UI/UX</a:t>
            </a:r>
          </a:p>
        </p:txBody>
      </p:sp>
      <p:cxnSp>
        <p:nvCxnSpPr>
          <p:cNvPr id="93" name="Conector angular 26">
            <a:extLst>
              <a:ext uri="{FF2B5EF4-FFF2-40B4-BE49-F238E27FC236}">
                <a16:creationId xmlns:a16="http://schemas.microsoft.com/office/drawing/2014/main" id="{DA9BE97A-A6E2-4B0B-951B-B0C45EA2ED09}"/>
              </a:ext>
            </a:extLst>
          </p:cNvPr>
          <p:cNvCxnSpPr>
            <a:cxnSpLocks/>
            <a:stCxn id="88" idx="2"/>
            <a:endCxn id="90" idx="1"/>
          </p:cNvCxnSpPr>
          <p:nvPr/>
        </p:nvCxnSpPr>
        <p:spPr>
          <a:xfrm rot="16200000" flipH="1">
            <a:off x="1122766" y="4768844"/>
            <a:ext cx="439140" cy="80915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angular 26">
            <a:extLst>
              <a:ext uri="{FF2B5EF4-FFF2-40B4-BE49-F238E27FC236}">
                <a16:creationId xmlns:a16="http://schemas.microsoft.com/office/drawing/2014/main" id="{173280B0-5C94-469E-A731-58C93086692E}"/>
              </a:ext>
            </a:extLst>
          </p:cNvPr>
          <p:cNvCxnSpPr>
            <a:cxnSpLocks/>
            <a:stCxn id="92" idx="1"/>
            <a:endCxn id="88" idx="0"/>
          </p:cNvCxnSpPr>
          <p:nvPr/>
        </p:nvCxnSpPr>
        <p:spPr>
          <a:xfrm rot="10800000" flipV="1">
            <a:off x="937758" y="4092906"/>
            <a:ext cx="809156" cy="32094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07FAF004-596C-4D36-BF26-152289421666}"/>
              </a:ext>
            </a:extLst>
          </p:cNvPr>
          <p:cNvCxnSpPr>
            <a:cxnSpLocks/>
          </p:cNvCxnSpPr>
          <p:nvPr/>
        </p:nvCxnSpPr>
        <p:spPr>
          <a:xfrm flipH="1">
            <a:off x="3224152" y="4107892"/>
            <a:ext cx="30832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63510051-0023-419D-A0C3-C6B16B2535EF}"/>
              </a:ext>
            </a:extLst>
          </p:cNvPr>
          <p:cNvCxnSpPr>
            <a:cxnSpLocks/>
          </p:cNvCxnSpPr>
          <p:nvPr/>
        </p:nvCxnSpPr>
        <p:spPr>
          <a:xfrm>
            <a:off x="3200181" y="5392992"/>
            <a:ext cx="35626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ector recto de flecha 102">
            <a:extLst>
              <a:ext uri="{FF2B5EF4-FFF2-40B4-BE49-F238E27FC236}">
                <a16:creationId xmlns:a16="http://schemas.microsoft.com/office/drawing/2014/main" id="{7430BB7C-1F0C-41E1-B02A-72F46C0628AD}"/>
              </a:ext>
            </a:extLst>
          </p:cNvPr>
          <p:cNvCxnSpPr>
            <a:cxnSpLocks/>
          </p:cNvCxnSpPr>
          <p:nvPr/>
        </p:nvCxnSpPr>
        <p:spPr>
          <a:xfrm>
            <a:off x="3200181" y="3374023"/>
            <a:ext cx="35626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5F1EE0BC-6999-4AD8-B4C4-BD6E48AD0F14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7" name="Signo más 26">
            <a:extLst>
              <a:ext uri="{FF2B5EF4-FFF2-40B4-BE49-F238E27FC236}">
                <a16:creationId xmlns:a16="http://schemas.microsoft.com/office/drawing/2014/main" id="{53A19E85-0767-4574-BD65-B5DFCA7E0950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64BB82A-648C-4A1D-9A3D-C51B87E2EA9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E816B96C-DAED-4251-A2BA-0F279075A09E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361318844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Jefe Alianzas Estratégicas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30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27" name="Flecha: pentágono 26">
            <a:extLst>
              <a:ext uri="{FF2B5EF4-FFF2-40B4-BE49-F238E27FC236}">
                <a16:creationId xmlns:a16="http://schemas.microsoft.com/office/drawing/2014/main" id="{4F262E06-FFB6-436C-9B60-BE35CC3EC97D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8" name="Imagen 2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C82FBC57-230C-4580-BA75-560278F603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5" name="Rectángulo 24">
            <a:extLst>
              <a:ext uri="{FF2B5EF4-FFF2-40B4-BE49-F238E27FC236}">
                <a16:creationId xmlns:a16="http://schemas.microsoft.com/office/drawing/2014/main" id="{35CC4BBF-35BB-441E-A330-ABE6FE10B9B4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40" name="Marcador de texto 39">
            <a:extLst>
              <a:ext uri="{FF2B5EF4-FFF2-40B4-BE49-F238E27FC236}">
                <a16:creationId xmlns:a16="http://schemas.microsoft.com/office/drawing/2014/main" id="{AE1C749B-662B-4D60-8FD6-6A35ED11178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Jefe de Alianzas Estratégicas apoyará la identificación, estructuración y puesta en marcha de alianzas, y administrará la relación en el día a día con aliados clave</a:t>
            </a:r>
          </a:p>
          <a:p>
            <a:endParaRPr lang="es-CO"/>
          </a:p>
        </p:txBody>
      </p: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A6A6923-823C-4996-A41C-B1A21105689B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5C6A63C3-6298-498F-B95D-10854B0F14CC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1ECFD0CA-D6FE-4B06-9C9B-AA24C0675130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Jefe Alianzas Estratégicas</a:t>
            </a:r>
          </a:p>
        </p:txBody>
      </p:sp>
      <p:sp>
        <p:nvSpPr>
          <p:cNvPr id="58" name="Marcador de contenido 5">
            <a:extLst>
              <a:ext uri="{FF2B5EF4-FFF2-40B4-BE49-F238E27FC236}">
                <a16:creationId xmlns:a16="http://schemas.microsoft.com/office/drawing/2014/main" id="{A4B3FCD9-46D4-426D-BCEC-F0A29C93F56A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identificación, estructuración y puesta en marcha de alianzas estratégicas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relación en el día a día con aliados clave – rol Key </a:t>
            </a:r>
            <a:r>
              <a:rPr lang="es-ES" sz="1200" err="1">
                <a:latin typeface="+mn-lt"/>
                <a:cs typeface="Calibri"/>
              </a:rPr>
              <a:t>Account</a:t>
            </a:r>
            <a:r>
              <a:rPr lang="es-ES" sz="1200">
                <a:latin typeface="+mn-lt"/>
                <a:cs typeface="Calibri"/>
              </a:rPr>
              <a:t> Manager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identificación de oportunidades de alianzas – modelos nuevos de alianza y/o aliados nuevos para modelos existentes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estructuración del caso de negocio de alianzas, asegurando su viabilidad financiera, comercial y técnica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Articular equipos internos y del aliado en la puesta en marcha de la alianza y canalizar requerimientos comerciales, operativos, tecnológicos, entre otros,  en la operación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definición de estrategias de crecimiento en el aliado junto con los Gerentes de Producto y Mercadeo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integralmente la relación con aliados clave – Key </a:t>
            </a:r>
            <a:r>
              <a:rPr lang="es-ES" sz="1200" err="1">
                <a:latin typeface="+mn-lt"/>
                <a:cs typeface="Calibri"/>
              </a:rPr>
              <a:t>Account</a:t>
            </a:r>
            <a:r>
              <a:rPr lang="es-ES" sz="1200">
                <a:latin typeface="+mn-lt"/>
                <a:cs typeface="Calibri"/>
              </a:rPr>
              <a:t> Manager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60" name="Marcador de contenido 5">
            <a:extLst>
              <a:ext uri="{FF2B5EF4-FFF2-40B4-BE49-F238E27FC236}">
                <a16:creationId xmlns:a16="http://schemas.microsoft.com/office/drawing/2014/main" id="{C439BEAA-9E9B-4AEA-A057-C03ECC5F96A8}"/>
              </a:ext>
            </a:extLst>
          </p:cNvPr>
          <p:cNvSpPr txBox="1">
            <a:spLocks/>
          </p:cNvSpPr>
          <p:nvPr/>
        </p:nvSpPr>
        <p:spPr>
          <a:xfrm>
            <a:off x="3545164" y="5672544"/>
            <a:ext cx="4918780" cy="8283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8DFB2A9A-0374-461C-B381-53BA0777FA36}"/>
              </a:ext>
            </a:extLst>
          </p:cNvPr>
          <p:cNvSpPr txBox="1">
            <a:spLocks/>
          </p:cNvSpPr>
          <p:nvPr/>
        </p:nvSpPr>
        <p:spPr>
          <a:xfrm>
            <a:off x="8805415" y="1676046"/>
            <a:ext cx="144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Oportunidades de alianza y caso de negocio inicial</a:t>
            </a:r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0544883F-2C58-45B4-9B72-ABCA9963A743}"/>
              </a:ext>
            </a:extLst>
          </p:cNvPr>
          <p:cNvSpPr/>
          <p:nvPr/>
        </p:nvSpPr>
        <p:spPr>
          <a:xfrm>
            <a:off x="10514185" y="2741753"/>
            <a:ext cx="1010914" cy="71878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Alianzas y Créditos de Consumo</a:t>
            </a:r>
          </a:p>
        </p:txBody>
      </p:sp>
      <p:cxnSp>
        <p:nvCxnSpPr>
          <p:cNvPr id="63" name="Conector angular 32">
            <a:extLst>
              <a:ext uri="{FF2B5EF4-FFF2-40B4-BE49-F238E27FC236}">
                <a16:creationId xmlns:a16="http://schemas.microsoft.com/office/drawing/2014/main" id="{F2F543DB-DD67-4F54-8856-CCEDE6409342}"/>
              </a:ext>
            </a:extLst>
          </p:cNvPr>
          <p:cNvCxnSpPr>
            <a:cxnSpLocks/>
            <a:stCxn id="61" idx="3"/>
            <a:endCxn id="62" idx="0"/>
          </p:cNvCxnSpPr>
          <p:nvPr/>
        </p:nvCxnSpPr>
        <p:spPr>
          <a:xfrm>
            <a:off x="10245415" y="1918453"/>
            <a:ext cx="774227" cy="82330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3058FB16-C068-4C20-8844-41E44570521F}"/>
              </a:ext>
            </a:extLst>
          </p:cNvPr>
          <p:cNvSpPr txBox="1">
            <a:spLocks/>
          </p:cNvSpPr>
          <p:nvPr/>
        </p:nvSpPr>
        <p:spPr>
          <a:xfrm>
            <a:off x="8805415" y="3722219"/>
            <a:ext cx="1440000" cy="7282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exploración de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op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. de alianza</a:t>
            </a:r>
          </a:p>
        </p:txBody>
      </p:sp>
      <p:cxnSp>
        <p:nvCxnSpPr>
          <p:cNvPr id="69" name="Conector angular 37">
            <a:extLst>
              <a:ext uri="{FF2B5EF4-FFF2-40B4-BE49-F238E27FC236}">
                <a16:creationId xmlns:a16="http://schemas.microsoft.com/office/drawing/2014/main" id="{49C1B21A-38F6-4D6C-98ED-A04CCAB561D2}"/>
              </a:ext>
            </a:extLst>
          </p:cNvPr>
          <p:cNvCxnSpPr>
            <a:cxnSpLocks/>
            <a:stCxn id="62" idx="2"/>
            <a:endCxn id="64" idx="3"/>
          </p:cNvCxnSpPr>
          <p:nvPr/>
        </p:nvCxnSpPr>
        <p:spPr>
          <a:xfrm rot="5400000">
            <a:off x="10319625" y="3386329"/>
            <a:ext cx="625809" cy="7742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C64F5E95-8CFA-44E2-9D65-20B22D7317B4}"/>
              </a:ext>
            </a:extLst>
          </p:cNvPr>
          <p:cNvCxnSpPr>
            <a:cxnSpLocks/>
          </p:cNvCxnSpPr>
          <p:nvPr/>
        </p:nvCxnSpPr>
        <p:spPr>
          <a:xfrm flipH="1">
            <a:off x="8463943" y="4119042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2665E441-6EF6-4423-9FE3-4A71417417F6}"/>
              </a:ext>
            </a:extLst>
          </p:cNvPr>
          <p:cNvCxnSpPr>
            <a:cxnSpLocks/>
          </p:cNvCxnSpPr>
          <p:nvPr/>
        </p:nvCxnSpPr>
        <p:spPr>
          <a:xfrm>
            <a:off x="8463943" y="1918453"/>
            <a:ext cx="309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angular 23">
            <a:extLst>
              <a:ext uri="{FF2B5EF4-FFF2-40B4-BE49-F238E27FC236}">
                <a16:creationId xmlns:a16="http://schemas.microsoft.com/office/drawing/2014/main" id="{1E06E62C-9AC9-4B37-BAB2-FACD14096328}"/>
              </a:ext>
            </a:extLst>
          </p:cNvPr>
          <p:cNvCxnSpPr>
            <a:cxnSpLocks/>
            <a:stCxn id="82" idx="1"/>
            <a:endCxn id="81" idx="0"/>
          </p:cNvCxnSpPr>
          <p:nvPr/>
        </p:nvCxnSpPr>
        <p:spPr>
          <a:xfrm rot="10800000" flipV="1">
            <a:off x="1017769" y="1939069"/>
            <a:ext cx="692759" cy="15553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Marcador de contenido 5">
            <a:extLst>
              <a:ext uri="{FF2B5EF4-FFF2-40B4-BE49-F238E27FC236}">
                <a16:creationId xmlns:a16="http://schemas.microsoft.com/office/drawing/2014/main" id="{194A8DFF-D3DC-4357-92AC-378751256E3F}"/>
              </a:ext>
            </a:extLst>
          </p:cNvPr>
          <p:cNvSpPr txBox="1">
            <a:spLocks/>
          </p:cNvSpPr>
          <p:nvPr/>
        </p:nvSpPr>
        <p:spPr>
          <a:xfrm>
            <a:off x="1710527" y="2316261"/>
            <a:ext cx="1440000" cy="73127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definición estrategias de crecimiento en el aliado</a:t>
            </a:r>
          </a:p>
        </p:txBody>
      </p:sp>
      <p:cxnSp>
        <p:nvCxnSpPr>
          <p:cNvPr id="77" name="Conector angular 26">
            <a:extLst>
              <a:ext uri="{FF2B5EF4-FFF2-40B4-BE49-F238E27FC236}">
                <a16:creationId xmlns:a16="http://schemas.microsoft.com/office/drawing/2014/main" id="{628C5B1C-ABE8-458B-8E96-49ACC1288B94}"/>
              </a:ext>
            </a:extLst>
          </p:cNvPr>
          <p:cNvCxnSpPr>
            <a:cxnSpLocks/>
            <a:stCxn id="96" idx="2"/>
          </p:cNvCxnSpPr>
          <p:nvPr/>
        </p:nvCxnSpPr>
        <p:spPr>
          <a:xfrm rot="16200000" flipH="1">
            <a:off x="1287817" y="2539434"/>
            <a:ext cx="152662" cy="6927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A410C897-527D-41B2-A7DD-F7B5F69B513F}"/>
              </a:ext>
            </a:extLst>
          </p:cNvPr>
          <p:cNvCxnSpPr>
            <a:cxnSpLocks/>
          </p:cNvCxnSpPr>
          <p:nvPr/>
        </p:nvCxnSpPr>
        <p:spPr>
          <a:xfrm flipH="1">
            <a:off x="3176569" y="1939069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ángulo 80">
            <a:extLst>
              <a:ext uri="{FF2B5EF4-FFF2-40B4-BE49-F238E27FC236}">
                <a16:creationId xmlns:a16="http://schemas.microsoft.com/office/drawing/2014/main" id="{27BD7A39-F727-4DD2-AE77-6BC4E7342C00}"/>
              </a:ext>
            </a:extLst>
          </p:cNvPr>
          <p:cNvSpPr/>
          <p:nvPr/>
        </p:nvSpPr>
        <p:spPr>
          <a:xfrm>
            <a:off x="513768" y="2094607"/>
            <a:ext cx="1008000" cy="340937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Gerentes de producto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DFE8537A-546A-4766-B5A1-0D922F707218}"/>
              </a:ext>
            </a:extLst>
          </p:cNvPr>
          <p:cNvSpPr txBox="1">
            <a:spLocks/>
          </p:cNvSpPr>
          <p:nvPr/>
        </p:nvSpPr>
        <p:spPr>
          <a:xfrm>
            <a:off x="1710527" y="1744094"/>
            <a:ext cx="1440000" cy="38995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de aliados</a:t>
            </a:r>
          </a:p>
        </p:txBody>
      </p:sp>
      <p:sp>
        <p:nvSpPr>
          <p:cNvPr id="83" name="Marcador de contenido 5">
            <a:extLst>
              <a:ext uri="{FF2B5EF4-FFF2-40B4-BE49-F238E27FC236}">
                <a16:creationId xmlns:a16="http://schemas.microsoft.com/office/drawing/2014/main" id="{796D8A70-E767-4800-AD19-787E5A6B1546}"/>
              </a:ext>
            </a:extLst>
          </p:cNvPr>
          <p:cNvSpPr txBox="1">
            <a:spLocks/>
          </p:cNvSpPr>
          <p:nvPr/>
        </p:nvSpPr>
        <p:spPr>
          <a:xfrm>
            <a:off x="8805415" y="4512317"/>
            <a:ext cx="1440000" cy="38813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en aliados</a:t>
            </a:r>
          </a:p>
        </p:txBody>
      </p:sp>
      <p:sp>
        <p:nvSpPr>
          <p:cNvPr id="84" name="Marcador de contenido 5">
            <a:extLst>
              <a:ext uri="{FF2B5EF4-FFF2-40B4-BE49-F238E27FC236}">
                <a16:creationId xmlns:a16="http://schemas.microsoft.com/office/drawing/2014/main" id="{45EC75AE-EC16-4F19-929F-C4B194BB3480}"/>
              </a:ext>
            </a:extLst>
          </p:cNvPr>
          <p:cNvSpPr txBox="1">
            <a:spLocks/>
          </p:cNvSpPr>
          <p:nvPr/>
        </p:nvSpPr>
        <p:spPr>
          <a:xfrm>
            <a:off x="8805415" y="4964383"/>
            <a:ext cx="1440000" cy="53119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alianzas a perseguir priorizadas</a:t>
            </a:r>
          </a:p>
        </p:txBody>
      </p:sp>
      <p:cxnSp>
        <p:nvCxnSpPr>
          <p:cNvPr id="85" name="Conector angular 37">
            <a:extLst>
              <a:ext uri="{FF2B5EF4-FFF2-40B4-BE49-F238E27FC236}">
                <a16:creationId xmlns:a16="http://schemas.microsoft.com/office/drawing/2014/main" id="{52D9B8A1-26C0-486E-BA41-1ED8E0CDE5D6}"/>
              </a:ext>
            </a:extLst>
          </p:cNvPr>
          <p:cNvCxnSpPr>
            <a:cxnSpLocks/>
            <a:stCxn id="62" idx="2"/>
            <a:endCxn id="83" idx="3"/>
          </p:cNvCxnSpPr>
          <p:nvPr/>
        </p:nvCxnSpPr>
        <p:spPr>
          <a:xfrm rot="5400000">
            <a:off x="10009606" y="3696348"/>
            <a:ext cx="1245847" cy="7742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37">
            <a:extLst>
              <a:ext uri="{FF2B5EF4-FFF2-40B4-BE49-F238E27FC236}">
                <a16:creationId xmlns:a16="http://schemas.microsoft.com/office/drawing/2014/main" id="{51E98641-1FA8-4156-9C66-044AF2AEA21F}"/>
              </a:ext>
            </a:extLst>
          </p:cNvPr>
          <p:cNvCxnSpPr>
            <a:cxnSpLocks/>
            <a:stCxn id="62" idx="2"/>
            <a:endCxn id="84" idx="3"/>
          </p:cNvCxnSpPr>
          <p:nvPr/>
        </p:nvCxnSpPr>
        <p:spPr>
          <a:xfrm rot="5400000">
            <a:off x="9747807" y="3958147"/>
            <a:ext cx="1769444" cy="7742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ector recto de flecha 86">
            <a:extLst>
              <a:ext uri="{FF2B5EF4-FFF2-40B4-BE49-F238E27FC236}">
                <a16:creationId xmlns:a16="http://schemas.microsoft.com/office/drawing/2014/main" id="{6518A4E6-8934-4540-B2CC-A3C7F9602FF5}"/>
              </a:ext>
            </a:extLst>
          </p:cNvPr>
          <p:cNvCxnSpPr>
            <a:cxnSpLocks/>
          </p:cNvCxnSpPr>
          <p:nvPr/>
        </p:nvCxnSpPr>
        <p:spPr>
          <a:xfrm flipH="1">
            <a:off x="8463943" y="4705997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ector recto de flecha 87">
            <a:extLst>
              <a:ext uri="{FF2B5EF4-FFF2-40B4-BE49-F238E27FC236}">
                <a16:creationId xmlns:a16="http://schemas.microsoft.com/office/drawing/2014/main" id="{AE05CCA2-2418-4EF2-81AF-7199DEAA5F1D}"/>
              </a:ext>
            </a:extLst>
          </p:cNvPr>
          <p:cNvCxnSpPr>
            <a:cxnSpLocks/>
          </p:cNvCxnSpPr>
          <p:nvPr/>
        </p:nvCxnSpPr>
        <p:spPr>
          <a:xfrm flipH="1">
            <a:off x="8463943" y="5219751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Marcador de contenido 5">
            <a:extLst>
              <a:ext uri="{FF2B5EF4-FFF2-40B4-BE49-F238E27FC236}">
                <a16:creationId xmlns:a16="http://schemas.microsoft.com/office/drawing/2014/main" id="{CEC345EE-6402-444C-A23D-4D05F566D3B2}"/>
              </a:ext>
            </a:extLst>
          </p:cNvPr>
          <p:cNvSpPr txBox="1">
            <a:spLocks/>
          </p:cNvSpPr>
          <p:nvPr/>
        </p:nvSpPr>
        <p:spPr>
          <a:xfrm>
            <a:off x="8805415" y="2229770"/>
            <a:ext cx="144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de alianzas</a:t>
            </a:r>
          </a:p>
        </p:txBody>
      </p:sp>
      <p:sp>
        <p:nvSpPr>
          <p:cNvPr id="92" name="Marcador de contenido 5">
            <a:extLst>
              <a:ext uri="{FF2B5EF4-FFF2-40B4-BE49-F238E27FC236}">
                <a16:creationId xmlns:a16="http://schemas.microsoft.com/office/drawing/2014/main" id="{17A04507-D418-4294-89F1-E84BDE9F1036}"/>
              </a:ext>
            </a:extLst>
          </p:cNvPr>
          <p:cNvSpPr txBox="1">
            <a:spLocks/>
          </p:cNvSpPr>
          <p:nvPr/>
        </p:nvSpPr>
        <p:spPr>
          <a:xfrm>
            <a:off x="8805415" y="3303982"/>
            <a:ext cx="1440000" cy="35639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A36BAE5C-D2E1-4C81-88F1-31779141F983}"/>
              </a:ext>
            </a:extLst>
          </p:cNvPr>
          <p:cNvCxnSpPr>
            <a:cxnSpLocks/>
          </p:cNvCxnSpPr>
          <p:nvPr/>
        </p:nvCxnSpPr>
        <p:spPr>
          <a:xfrm>
            <a:off x="3176569" y="5575804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angular 32">
            <a:extLst>
              <a:ext uri="{FF2B5EF4-FFF2-40B4-BE49-F238E27FC236}">
                <a16:creationId xmlns:a16="http://schemas.microsoft.com/office/drawing/2014/main" id="{F22297FD-940F-4790-89E6-7AEC2C36C624}"/>
              </a:ext>
            </a:extLst>
          </p:cNvPr>
          <p:cNvCxnSpPr>
            <a:cxnSpLocks/>
            <a:stCxn id="90" idx="3"/>
            <a:endCxn id="62" idx="0"/>
          </p:cNvCxnSpPr>
          <p:nvPr/>
        </p:nvCxnSpPr>
        <p:spPr>
          <a:xfrm>
            <a:off x="10245415" y="2472177"/>
            <a:ext cx="774227" cy="26957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2F343940-EE6D-46C9-92AD-55B5B4649907}"/>
              </a:ext>
            </a:extLst>
          </p:cNvPr>
          <p:cNvCxnSpPr>
            <a:cxnSpLocks/>
          </p:cNvCxnSpPr>
          <p:nvPr/>
        </p:nvCxnSpPr>
        <p:spPr>
          <a:xfrm flipH="1">
            <a:off x="8463943" y="3466252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ángulo 95">
            <a:extLst>
              <a:ext uri="{FF2B5EF4-FFF2-40B4-BE49-F238E27FC236}">
                <a16:creationId xmlns:a16="http://schemas.microsoft.com/office/drawing/2014/main" id="{DB4D7EF9-0064-4589-A0BE-AB9FF310AA8B}"/>
              </a:ext>
            </a:extLst>
          </p:cNvPr>
          <p:cNvSpPr/>
          <p:nvPr/>
        </p:nvSpPr>
        <p:spPr>
          <a:xfrm>
            <a:off x="513768" y="2457819"/>
            <a:ext cx="1008000" cy="309133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Mercadeo</a:t>
            </a:r>
          </a:p>
        </p:txBody>
      </p:sp>
      <p:sp>
        <p:nvSpPr>
          <p:cNvPr id="97" name="Marcador de contenido 5">
            <a:extLst>
              <a:ext uri="{FF2B5EF4-FFF2-40B4-BE49-F238E27FC236}">
                <a16:creationId xmlns:a16="http://schemas.microsoft.com/office/drawing/2014/main" id="{99FE97EA-80A1-445A-8ECA-D8D87F121EEE}"/>
              </a:ext>
            </a:extLst>
          </p:cNvPr>
          <p:cNvSpPr txBox="1">
            <a:spLocks/>
          </p:cNvSpPr>
          <p:nvPr/>
        </p:nvSpPr>
        <p:spPr>
          <a:xfrm>
            <a:off x="1710527" y="4296592"/>
            <a:ext cx="1440000" cy="55434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nivel de servicio de la alianza</a:t>
            </a:r>
          </a:p>
        </p:txBody>
      </p:sp>
      <p:sp>
        <p:nvSpPr>
          <p:cNvPr id="98" name="Rectángulo 97">
            <a:extLst>
              <a:ext uri="{FF2B5EF4-FFF2-40B4-BE49-F238E27FC236}">
                <a16:creationId xmlns:a16="http://schemas.microsoft.com/office/drawing/2014/main" id="{6508F872-8FDF-4936-991D-1CB49DC9F151}"/>
              </a:ext>
            </a:extLst>
          </p:cNvPr>
          <p:cNvSpPr/>
          <p:nvPr/>
        </p:nvSpPr>
        <p:spPr>
          <a:xfrm>
            <a:off x="513768" y="4689857"/>
            <a:ext cx="1008000" cy="78566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 internas y de aliados</a:t>
            </a:r>
          </a:p>
        </p:txBody>
      </p:sp>
      <p:sp>
        <p:nvSpPr>
          <p:cNvPr id="99" name="Marcador de contenido 5">
            <a:extLst>
              <a:ext uri="{FF2B5EF4-FFF2-40B4-BE49-F238E27FC236}">
                <a16:creationId xmlns:a16="http://schemas.microsoft.com/office/drawing/2014/main" id="{67136CD1-053B-4AD4-BA3B-552B92450F6B}"/>
              </a:ext>
            </a:extLst>
          </p:cNvPr>
          <p:cNvSpPr txBox="1">
            <a:spLocks/>
          </p:cNvSpPr>
          <p:nvPr/>
        </p:nvSpPr>
        <p:spPr>
          <a:xfrm>
            <a:off x="1710527" y="5291418"/>
            <a:ext cx="1440000" cy="568773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Cumplimiento nivel de servicio de la alianza</a:t>
            </a:r>
          </a:p>
        </p:txBody>
      </p:sp>
      <p:cxnSp>
        <p:nvCxnSpPr>
          <p:cNvPr id="100" name="Conector angular 26">
            <a:extLst>
              <a:ext uri="{FF2B5EF4-FFF2-40B4-BE49-F238E27FC236}">
                <a16:creationId xmlns:a16="http://schemas.microsoft.com/office/drawing/2014/main" id="{41AA2942-83FD-43E6-A891-3C663AF2CF98}"/>
              </a:ext>
            </a:extLst>
          </p:cNvPr>
          <p:cNvCxnSpPr>
            <a:cxnSpLocks/>
            <a:stCxn id="98" idx="2"/>
            <a:endCxn id="99" idx="1"/>
          </p:cNvCxnSpPr>
          <p:nvPr/>
        </p:nvCxnSpPr>
        <p:spPr>
          <a:xfrm rot="16200000" flipH="1">
            <a:off x="1314004" y="5179281"/>
            <a:ext cx="100287" cy="6927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angular 23">
            <a:extLst>
              <a:ext uri="{FF2B5EF4-FFF2-40B4-BE49-F238E27FC236}">
                <a16:creationId xmlns:a16="http://schemas.microsoft.com/office/drawing/2014/main" id="{CE54DFDB-8F41-438F-BEAC-8D677E7B29D3}"/>
              </a:ext>
            </a:extLst>
          </p:cNvPr>
          <p:cNvCxnSpPr>
            <a:cxnSpLocks/>
            <a:stCxn id="97" idx="1"/>
            <a:endCxn id="98" idx="0"/>
          </p:cNvCxnSpPr>
          <p:nvPr/>
        </p:nvCxnSpPr>
        <p:spPr>
          <a:xfrm rot="10800000" flipV="1">
            <a:off x="1017769" y="4573765"/>
            <a:ext cx="692759" cy="1160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ector recto de flecha 101">
            <a:extLst>
              <a:ext uri="{FF2B5EF4-FFF2-40B4-BE49-F238E27FC236}">
                <a16:creationId xmlns:a16="http://schemas.microsoft.com/office/drawing/2014/main" id="{9EB51669-32D8-408E-97BB-3AB5753D6A87}"/>
              </a:ext>
            </a:extLst>
          </p:cNvPr>
          <p:cNvCxnSpPr>
            <a:cxnSpLocks/>
          </p:cNvCxnSpPr>
          <p:nvPr/>
        </p:nvCxnSpPr>
        <p:spPr>
          <a:xfrm flipH="1">
            <a:off x="3176569" y="4587375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recto de flecha 104">
            <a:extLst>
              <a:ext uri="{FF2B5EF4-FFF2-40B4-BE49-F238E27FC236}">
                <a16:creationId xmlns:a16="http://schemas.microsoft.com/office/drawing/2014/main" id="{80281190-1DE9-4F53-975C-8B4E350D61A1}"/>
              </a:ext>
            </a:extLst>
          </p:cNvPr>
          <p:cNvCxnSpPr>
            <a:cxnSpLocks/>
          </p:cNvCxnSpPr>
          <p:nvPr/>
        </p:nvCxnSpPr>
        <p:spPr>
          <a:xfrm>
            <a:off x="3176569" y="2695391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6" name="Conector recto de flecha 105">
            <a:extLst>
              <a:ext uri="{FF2B5EF4-FFF2-40B4-BE49-F238E27FC236}">
                <a16:creationId xmlns:a16="http://schemas.microsoft.com/office/drawing/2014/main" id="{BF7B9585-DF42-454B-B6A8-8D7EDAFF112B}"/>
              </a:ext>
            </a:extLst>
          </p:cNvPr>
          <p:cNvCxnSpPr>
            <a:cxnSpLocks/>
          </p:cNvCxnSpPr>
          <p:nvPr/>
        </p:nvCxnSpPr>
        <p:spPr>
          <a:xfrm>
            <a:off x="8463943" y="2469473"/>
            <a:ext cx="309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Rectángulo 107">
            <a:extLst>
              <a:ext uri="{FF2B5EF4-FFF2-40B4-BE49-F238E27FC236}">
                <a16:creationId xmlns:a16="http://schemas.microsoft.com/office/drawing/2014/main" id="{0B8A686E-A1FA-4FB5-9909-F3952C9B0BF7}"/>
              </a:ext>
            </a:extLst>
          </p:cNvPr>
          <p:cNvSpPr/>
          <p:nvPr/>
        </p:nvSpPr>
        <p:spPr>
          <a:xfrm>
            <a:off x="513768" y="3536527"/>
            <a:ext cx="1008000" cy="357813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Gerentes Regionales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EDF323D4-9311-4477-B7EF-F7BED28A966B}"/>
              </a:ext>
            </a:extLst>
          </p:cNvPr>
          <p:cNvSpPr txBox="1">
            <a:spLocks/>
          </p:cNvSpPr>
          <p:nvPr/>
        </p:nvSpPr>
        <p:spPr>
          <a:xfrm>
            <a:off x="1710527" y="3120747"/>
            <a:ext cx="1440000" cy="55434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la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admin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. de la relación con aliados</a:t>
            </a:r>
          </a:p>
        </p:txBody>
      </p:sp>
      <p:sp>
        <p:nvSpPr>
          <p:cNvPr id="111" name="Marcador de contenido 5">
            <a:extLst>
              <a:ext uri="{FF2B5EF4-FFF2-40B4-BE49-F238E27FC236}">
                <a16:creationId xmlns:a16="http://schemas.microsoft.com/office/drawing/2014/main" id="{69AF6182-15AD-4894-9679-C78C5BE5ABC1}"/>
              </a:ext>
            </a:extLst>
          </p:cNvPr>
          <p:cNvSpPr txBox="1">
            <a:spLocks/>
          </p:cNvSpPr>
          <p:nvPr/>
        </p:nvSpPr>
        <p:spPr>
          <a:xfrm>
            <a:off x="1710527" y="3734478"/>
            <a:ext cx="1440000" cy="504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Identificación de aliados clave en las regiones</a:t>
            </a:r>
          </a:p>
        </p:txBody>
      </p:sp>
      <p:cxnSp>
        <p:nvCxnSpPr>
          <p:cNvPr id="114" name="Conector angular 26">
            <a:extLst>
              <a:ext uri="{FF2B5EF4-FFF2-40B4-BE49-F238E27FC236}">
                <a16:creationId xmlns:a16="http://schemas.microsoft.com/office/drawing/2014/main" id="{0CB3C489-6C4A-4AEC-8EFA-486A6239367B}"/>
              </a:ext>
            </a:extLst>
          </p:cNvPr>
          <p:cNvCxnSpPr>
            <a:cxnSpLocks/>
            <a:stCxn id="108" idx="2"/>
            <a:endCxn id="111" idx="1"/>
          </p:cNvCxnSpPr>
          <p:nvPr/>
        </p:nvCxnSpPr>
        <p:spPr>
          <a:xfrm rot="16200000" flipH="1">
            <a:off x="1318078" y="3594029"/>
            <a:ext cx="92138" cy="6927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ector angular 23">
            <a:extLst>
              <a:ext uri="{FF2B5EF4-FFF2-40B4-BE49-F238E27FC236}">
                <a16:creationId xmlns:a16="http://schemas.microsoft.com/office/drawing/2014/main" id="{DB171D79-47BF-4005-98A4-470CE2E91B1E}"/>
              </a:ext>
            </a:extLst>
          </p:cNvPr>
          <p:cNvCxnSpPr>
            <a:cxnSpLocks/>
            <a:stCxn id="109" idx="1"/>
            <a:endCxn id="108" idx="0"/>
          </p:cNvCxnSpPr>
          <p:nvPr/>
        </p:nvCxnSpPr>
        <p:spPr>
          <a:xfrm rot="10800000" flipV="1">
            <a:off x="1017769" y="3397919"/>
            <a:ext cx="692759" cy="13860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ector recto de flecha 115">
            <a:extLst>
              <a:ext uri="{FF2B5EF4-FFF2-40B4-BE49-F238E27FC236}">
                <a16:creationId xmlns:a16="http://schemas.microsoft.com/office/drawing/2014/main" id="{2F0F807B-1AB0-498A-92B9-84A8BA56806B}"/>
              </a:ext>
            </a:extLst>
          </p:cNvPr>
          <p:cNvCxnSpPr>
            <a:cxnSpLocks/>
          </p:cNvCxnSpPr>
          <p:nvPr/>
        </p:nvCxnSpPr>
        <p:spPr>
          <a:xfrm flipH="1">
            <a:off x="3176569" y="3408552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ector recto de flecha 116">
            <a:extLst>
              <a:ext uri="{FF2B5EF4-FFF2-40B4-BE49-F238E27FC236}">
                <a16:creationId xmlns:a16="http://schemas.microsoft.com/office/drawing/2014/main" id="{13F9311B-EFF3-4497-AB62-8990F6E03FFB}"/>
              </a:ext>
            </a:extLst>
          </p:cNvPr>
          <p:cNvCxnSpPr>
            <a:cxnSpLocks/>
          </p:cNvCxnSpPr>
          <p:nvPr/>
        </p:nvCxnSpPr>
        <p:spPr>
          <a:xfrm>
            <a:off x="3176569" y="3993407"/>
            <a:ext cx="357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ector angular 32">
            <a:extLst>
              <a:ext uri="{FF2B5EF4-FFF2-40B4-BE49-F238E27FC236}">
                <a16:creationId xmlns:a16="http://schemas.microsoft.com/office/drawing/2014/main" id="{FEC803D2-AB39-4323-82C6-CDA8F50D71A1}"/>
              </a:ext>
            </a:extLst>
          </p:cNvPr>
          <p:cNvCxnSpPr>
            <a:cxnSpLocks/>
            <a:stCxn id="62" idx="2"/>
            <a:endCxn id="92" idx="3"/>
          </p:cNvCxnSpPr>
          <p:nvPr/>
        </p:nvCxnSpPr>
        <p:spPr>
          <a:xfrm rot="5400000">
            <a:off x="10621708" y="3084246"/>
            <a:ext cx="21642" cy="7742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1510686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de Mercadeo Digital y Tradicional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31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Mercadeo liderará el diseño de la estrategia de mercadeo para canales tradicionales y digitales, y gestionará la experiencia del cliente digital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400" b="1">
                <a:solidFill>
                  <a:prstClr val="white"/>
                </a:solidFill>
              </a:rPr>
              <a:t>Gerente de Mercadeo Digital y Tradicional</a:t>
            </a:r>
            <a:endParaRPr lang="es-CO" sz="1400" b="1">
              <a:solidFill>
                <a:prstClr val="white"/>
              </a:solidFill>
            </a:endParaRP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9142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 y ejecutar la estrategia de mercadeo para canales físicos y digitales, y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gestionar la experiencia del cliente digital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y gestión de la estrategia de </a:t>
            </a:r>
            <a:r>
              <a:rPr lang="es-ES" sz="1200" err="1">
                <a:latin typeface="+mn-lt"/>
                <a:cs typeface="Calibri"/>
              </a:rPr>
              <a:t>branding</a:t>
            </a:r>
            <a:r>
              <a:rPr lang="es-ES" sz="1200">
                <a:latin typeface="+mn-lt"/>
                <a:cs typeface="Calibri"/>
              </a:rPr>
              <a:t> en canales físicos y digitales con base al presupuesto aprobado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 y gestionar iniciativas de mercadeo para generar demanda y </a:t>
            </a:r>
            <a:r>
              <a:rPr lang="es-ES" sz="1200" err="1">
                <a:latin typeface="+mn-lt"/>
                <a:cs typeface="Calibri"/>
              </a:rPr>
              <a:t>max</a:t>
            </a:r>
            <a:r>
              <a:rPr lang="es-ES" sz="1200">
                <a:latin typeface="+mn-lt"/>
                <a:cs typeface="Calibri"/>
              </a:rPr>
              <a:t>. la rentabilidad de la relación com. con los clientes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y gestionar iniciativas que permitan mejorar la experiencia del cliente digital y el asesor comercial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definición de objetivos y metas de penetración del canal digital y monitorear sus resultados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Planificar y hacer seguimiento a la gestión de mercadeo para fortalecer el posicionamiento de las productos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y coordinar la creación de contenido digital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procesos de investigación de mercado y análisis de las estrategias de marketing digital y tradicional de la competencia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Soportar la toma de decisiones comerciales y de mercadeo en analítica comercial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Crecimiento neto de clientes; (2) Número de leads convertidos; (3) Cumplimiento volúmenes canal digital; (4) Top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of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mind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; (5) NPS</a:t>
            </a:r>
            <a:r>
              <a:rPr lang="es-ES" sz="1200" kern="0" baseline="30000">
                <a:latin typeface="+mn-lt"/>
                <a:cs typeface="Arial"/>
                <a:sym typeface="Arial"/>
                <a:rtl val="0"/>
              </a:rPr>
              <a:t>2</a:t>
            </a: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94782" y="1508819"/>
            <a:ext cx="1260000" cy="95579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gestión de mercadeo físico y digital y posicionamiento de marca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63103" y="2099436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Innovación y Producto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54782" y="1986715"/>
            <a:ext cx="812321" cy="1127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94782" y="2570530"/>
            <a:ext cx="1260000" cy="43998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85399" y="2308820"/>
            <a:ext cx="151088" cy="8123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5" y="3370754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986714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8478" y="2086497"/>
            <a:ext cx="812019" cy="1658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38425" y="2520323"/>
            <a:ext cx="1473656" cy="37736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95147" y="2265728"/>
            <a:ext cx="86608" cy="79994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2086497"/>
            <a:ext cx="31844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4477" y="2252387"/>
            <a:ext cx="1008000" cy="37001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Mercadeo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50496" y="1733855"/>
            <a:ext cx="1473656" cy="70528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mercadeo para canales físicos y digitales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CE762F9C-2F89-4D16-88C2-3289131F392D}"/>
              </a:ext>
            </a:extLst>
          </p:cNvPr>
          <p:cNvSpPr txBox="1">
            <a:spLocks/>
          </p:cNvSpPr>
          <p:nvPr/>
        </p:nvSpPr>
        <p:spPr>
          <a:xfrm>
            <a:off x="8794782" y="3040102"/>
            <a:ext cx="1260000" cy="63988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vol. de venta en canales digitales</a:t>
            </a: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A888BA6E-18D9-46A5-A537-15DA40A05FDE}"/>
              </a:ext>
            </a:extLst>
          </p:cNvPr>
          <p:cNvSpPr/>
          <p:nvPr/>
        </p:nvSpPr>
        <p:spPr>
          <a:xfrm>
            <a:off x="10363103" y="4871083"/>
            <a:ext cx="1008000" cy="326889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G. Regionales</a:t>
            </a:r>
          </a:p>
        </p:txBody>
      </p:sp>
      <p:cxnSp>
        <p:nvCxnSpPr>
          <p:cNvPr id="53" name="Conector angular 37">
            <a:extLst>
              <a:ext uri="{FF2B5EF4-FFF2-40B4-BE49-F238E27FC236}">
                <a16:creationId xmlns:a16="http://schemas.microsoft.com/office/drawing/2014/main" id="{0A65038B-E691-47F2-9032-761BF5ECBC67}"/>
              </a:ext>
            </a:extLst>
          </p:cNvPr>
          <p:cNvCxnSpPr>
            <a:cxnSpLocks/>
            <a:stCxn id="11" idx="2"/>
            <a:endCxn id="26" idx="3"/>
          </p:cNvCxnSpPr>
          <p:nvPr/>
        </p:nvCxnSpPr>
        <p:spPr>
          <a:xfrm rot="5400000">
            <a:off x="10100639" y="2593580"/>
            <a:ext cx="720608" cy="8123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BF08BD15-5EE2-4198-8B72-FE0FABF07368}"/>
              </a:ext>
            </a:extLst>
          </p:cNvPr>
          <p:cNvSpPr txBox="1">
            <a:spLocks/>
          </p:cNvSpPr>
          <p:nvPr/>
        </p:nvSpPr>
        <p:spPr>
          <a:xfrm>
            <a:off x="1750495" y="4881348"/>
            <a:ext cx="1473656" cy="261818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Oportunidades</a:t>
            </a:r>
          </a:p>
        </p:txBody>
      </p:sp>
      <p:sp>
        <p:nvSpPr>
          <p:cNvPr id="65" name="Marcador de contenido 5">
            <a:extLst>
              <a:ext uri="{FF2B5EF4-FFF2-40B4-BE49-F238E27FC236}">
                <a16:creationId xmlns:a16="http://schemas.microsoft.com/office/drawing/2014/main" id="{C84963EC-8AD5-4673-BB20-1A767E8244BA}"/>
              </a:ext>
            </a:extLst>
          </p:cNvPr>
          <p:cNvSpPr txBox="1">
            <a:spLocks/>
          </p:cNvSpPr>
          <p:nvPr/>
        </p:nvSpPr>
        <p:spPr>
          <a:xfrm>
            <a:off x="1750496" y="4114926"/>
            <a:ext cx="1473656" cy="374053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Requerimientos de analítica comercial</a:t>
            </a:r>
          </a:p>
        </p:txBody>
      </p:sp>
      <p:sp>
        <p:nvSpPr>
          <p:cNvPr id="81" name="Rectángulo 80">
            <a:extLst>
              <a:ext uri="{FF2B5EF4-FFF2-40B4-BE49-F238E27FC236}">
                <a16:creationId xmlns:a16="http://schemas.microsoft.com/office/drawing/2014/main" id="{20B9A1AE-F6CF-4985-8138-E659B8BEAE19}"/>
              </a:ext>
            </a:extLst>
          </p:cNvPr>
          <p:cNvSpPr/>
          <p:nvPr/>
        </p:nvSpPr>
        <p:spPr>
          <a:xfrm>
            <a:off x="434477" y="4413168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Jefe de Analítica Comercial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99C57F92-C6A6-4C62-85AF-0E489C4FF146}"/>
              </a:ext>
            </a:extLst>
          </p:cNvPr>
          <p:cNvSpPr txBox="1">
            <a:spLocks/>
          </p:cNvSpPr>
          <p:nvPr/>
        </p:nvSpPr>
        <p:spPr>
          <a:xfrm>
            <a:off x="8784652" y="5020570"/>
            <a:ext cx="1260001" cy="545594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Requerimiento de Servicio</a:t>
            </a:r>
          </a:p>
        </p:txBody>
      </p:sp>
      <p:sp>
        <p:nvSpPr>
          <p:cNvPr id="83" name="Marcador de contenido 5">
            <a:extLst>
              <a:ext uri="{FF2B5EF4-FFF2-40B4-BE49-F238E27FC236}">
                <a16:creationId xmlns:a16="http://schemas.microsoft.com/office/drawing/2014/main" id="{76ED3DE3-01AD-4954-81CF-A1E6D6987635}"/>
              </a:ext>
            </a:extLst>
          </p:cNvPr>
          <p:cNvSpPr txBox="1">
            <a:spLocks/>
          </p:cNvSpPr>
          <p:nvPr/>
        </p:nvSpPr>
        <p:spPr>
          <a:xfrm>
            <a:off x="8784653" y="4013128"/>
            <a:ext cx="1260001" cy="422621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Campañas de mercadeo – leads </a:t>
            </a:r>
          </a:p>
        </p:txBody>
      </p:sp>
      <p:cxnSp>
        <p:nvCxnSpPr>
          <p:cNvPr id="84" name="Conector angular 23">
            <a:extLst>
              <a:ext uri="{FF2B5EF4-FFF2-40B4-BE49-F238E27FC236}">
                <a16:creationId xmlns:a16="http://schemas.microsoft.com/office/drawing/2014/main" id="{4B1FE5E6-2BED-4E11-82A0-82F27A277DC3}"/>
              </a:ext>
            </a:extLst>
          </p:cNvPr>
          <p:cNvCxnSpPr>
            <a:cxnSpLocks/>
            <a:stCxn id="65" idx="1"/>
            <a:endCxn id="81" idx="0"/>
          </p:cNvCxnSpPr>
          <p:nvPr/>
        </p:nvCxnSpPr>
        <p:spPr>
          <a:xfrm rot="10800000" flipV="1">
            <a:off x="938478" y="4301952"/>
            <a:ext cx="812019" cy="11121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ector angular 23">
            <a:extLst>
              <a:ext uri="{FF2B5EF4-FFF2-40B4-BE49-F238E27FC236}">
                <a16:creationId xmlns:a16="http://schemas.microsoft.com/office/drawing/2014/main" id="{BA22D89D-CF2D-4469-8271-D7BA58BE3299}"/>
              </a:ext>
            </a:extLst>
          </p:cNvPr>
          <p:cNvCxnSpPr>
            <a:cxnSpLocks/>
            <a:stCxn id="81" idx="2"/>
            <a:endCxn id="64" idx="1"/>
          </p:cNvCxnSpPr>
          <p:nvPr/>
        </p:nvCxnSpPr>
        <p:spPr>
          <a:xfrm rot="16200000" flipH="1">
            <a:off x="1314942" y="4576703"/>
            <a:ext cx="59089" cy="81201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6C61594F-BF5C-436C-90B5-FDBAB1F30FDC}"/>
              </a:ext>
            </a:extLst>
          </p:cNvPr>
          <p:cNvCxnSpPr>
            <a:cxnSpLocks/>
          </p:cNvCxnSpPr>
          <p:nvPr/>
        </p:nvCxnSpPr>
        <p:spPr>
          <a:xfrm flipH="1">
            <a:off x="8476635" y="2822497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2C2FCFC3-5CD3-48A7-9D43-1D6D1167B732}"/>
              </a:ext>
            </a:extLst>
          </p:cNvPr>
          <p:cNvCxnSpPr>
            <a:cxnSpLocks/>
          </p:cNvCxnSpPr>
          <p:nvPr/>
        </p:nvCxnSpPr>
        <p:spPr>
          <a:xfrm flipH="1">
            <a:off x="3224152" y="4315424"/>
            <a:ext cx="31844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recto de flecha 100">
            <a:extLst>
              <a:ext uri="{FF2B5EF4-FFF2-40B4-BE49-F238E27FC236}">
                <a16:creationId xmlns:a16="http://schemas.microsoft.com/office/drawing/2014/main" id="{6B7892E1-EC9A-40A4-9416-979FBA1C3796}"/>
              </a:ext>
            </a:extLst>
          </p:cNvPr>
          <p:cNvCxnSpPr>
            <a:cxnSpLocks/>
            <a:stCxn id="64" idx="3"/>
          </p:cNvCxnSpPr>
          <p:nvPr/>
        </p:nvCxnSpPr>
        <p:spPr>
          <a:xfrm flipV="1">
            <a:off x="3224151" y="5010678"/>
            <a:ext cx="318447" cy="1579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recto de flecha 104">
            <a:extLst>
              <a:ext uri="{FF2B5EF4-FFF2-40B4-BE49-F238E27FC236}">
                <a16:creationId xmlns:a16="http://schemas.microsoft.com/office/drawing/2014/main" id="{88DB8AB6-7B4C-4C81-B247-349D9AF74DE1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2081" y="2709006"/>
            <a:ext cx="330518" cy="5896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ector recto de flecha 106">
            <a:extLst>
              <a:ext uri="{FF2B5EF4-FFF2-40B4-BE49-F238E27FC236}">
                <a16:creationId xmlns:a16="http://schemas.microsoft.com/office/drawing/2014/main" id="{8B441B7F-2DF5-4941-AA71-EC6254E6DB89}"/>
              </a:ext>
            </a:extLst>
          </p:cNvPr>
          <p:cNvCxnSpPr>
            <a:cxnSpLocks/>
          </p:cNvCxnSpPr>
          <p:nvPr/>
        </p:nvCxnSpPr>
        <p:spPr>
          <a:xfrm>
            <a:off x="8476636" y="4224438"/>
            <a:ext cx="309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ector recto de flecha 107">
            <a:extLst>
              <a:ext uri="{FF2B5EF4-FFF2-40B4-BE49-F238E27FC236}">
                <a16:creationId xmlns:a16="http://schemas.microsoft.com/office/drawing/2014/main" id="{A99243AA-CC7D-4F4E-8729-797F7232A3F4}"/>
              </a:ext>
            </a:extLst>
          </p:cNvPr>
          <p:cNvCxnSpPr>
            <a:cxnSpLocks/>
          </p:cNvCxnSpPr>
          <p:nvPr/>
        </p:nvCxnSpPr>
        <p:spPr>
          <a:xfrm flipH="1">
            <a:off x="8476635" y="5293367"/>
            <a:ext cx="309600" cy="675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ector angular 37">
            <a:extLst>
              <a:ext uri="{FF2B5EF4-FFF2-40B4-BE49-F238E27FC236}">
                <a16:creationId xmlns:a16="http://schemas.microsoft.com/office/drawing/2014/main" id="{EBF99A15-AB25-40A5-A9C1-EB26B531784D}"/>
              </a:ext>
            </a:extLst>
          </p:cNvPr>
          <p:cNvCxnSpPr>
            <a:cxnSpLocks/>
            <a:stCxn id="49" idx="2"/>
            <a:endCxn id="82" idx="3"/>
          </p:cNvCxnSpPr>
          <p:nvPr/>
        </p:nvCxnSpPr>
        <p:spPr>
          <a:xfrm rot="5400000">
            <a:off x="10408181" y="4834444"/>
            <a:ext cx="95395" cy="82245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ector angular 32">
            <a:extLst>
              <a:ext uri="{FF2B5EF4-FFF2-40B4-BE49-F238E27FC236}">
                <a16:creationId xmlns:a16="http://schemas.microsoft.com/office/drawing/2014/main" id="{44780A02-3567-4EC6-8D34-4201B32983A8}"/>
              </a:ext>
            </a:extLst>
          </p:cNvPr>
          <p:cNvCxnSpPr>
            <a:cxnSpLocks/>
            <a:stCxn id="83" idx="3"/>
            <a:endCxn id="80" idx="0"/>
          </p:cNvCxnSpPr>
          <p:nvPr/>
        </p:nvCxnSpPr>
        <p:spPr>
          <a:xfrm>
            <a:off x="10044654" y="4224439"/>
            <a:ext cx="822449" cy="2243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66E8ECE5-19E8-4739-9CE6-8F44BBC80020}"/>
              </a:ext>
            </a:extLst>
          </p:cNvPr>
          <p:cNvSpPr txBox="1">
            <a:spLocks/>
          </p:cNvSpPr>
          <p:nvPr/>
        </p:nvSpPr>
        <p:spPr>
          <a:xfrm>
            <a:off x="1750495" y="5186375"/>
            <a:ext cx="1473656" cy="289951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Targets de campañas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A2D5D598-5829-4C1F-BDEA-58FB1DF45DF9}"/>
              </a:ext>
            </a:extLst>
          </p:cNvPr>
          <p:cNvSpPr txBox="1">
            <a:spLocks/>
          </p:cNvSpPr>
          <p:nvPr/>
        </p:nvSpPr>
        <p:spPr>
          <a:xfrm>
            <a:off x="1750495" y="5524935"/>
            <a:ext cx="1473656" cy="289951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Benchmarking de competidores</a:t>
            </a:r>
          </a:p>
        </p:txBody>
      </p:sp>
      <p:cxnSp>
        <p:nvCxnSpPr>
          <p:cNvPr id="52" name="Conector angular 23">
            <a:extLst>
              <a:ext uri="{FF2B5EF4-FFF2-40B4-BE49-F238E27FC236}">
                <a16:creationId xmlns:a16="http://schemas.microsoft.com/office/drawing/2014/main" id="{83D90200-F156-4C7E-95B0-D50EEB54225C}"/>
              </a:ext>
            </a:extLst>
          </p:cNvPr>
          <p:cNvCxnSpPr>
            <a:cxnSpLocks/>
            <a:stCxn id="81" idx="2"/>
            <a:endCxn id="44" idx="1"/>
          </p:cNvCxnSpPr>
          <p:nvPr/>
        </p:nvCxnSpPr>
        <p:spPr>
          <a:xfrm rot="16200000" flipH="1">
            <a:off x="1155395" y="4736250"/>
            <a:ext cx="378183" cy="81201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angular 23">
            <a:extLst>
              <a:ext uri="{FF2B5EF4-FFF2-40B4-BE49-F238E27FC236}">
                <a16:creationId xmlns:a16="http://schemas.microsoft.com/office/drawing/2014/main" id="{B6E752C8-BC86-4D4A-85E7-DB5F72D2CA81}"/>
              </a:ext>
            </a:extLst>
          </p:cNvPr>
          <p:cNvCxnSpPr>
            <a:cxnSpLocks/>
            <a:stCxn id="81" idx="2"/>
            <a:endCxn id="48" idx="1"/>
          </p:cNvCxnSpPr>
          <p:nvPr/>
        </p:nvCxnSpPr>
        <p:spPr>
          <a:xfrm rot="16200000" flipH="1">
            <a:off x="986115" y="4905530"/>
            <a:ext cx="716743" cy="81201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ector recto de flecha 68">
            <a:extLst>
              <a:ext uri="{FF2B5EF4-FFF2-40B4-BE49-F238E27FC236}">
                <a16:creationId xmlns:a16="http://schemas.microsoft.com/office/drawing/2014/main" id="{AB7D03FB-34D8-4358-A91C-1BB3B7F45624}"/>
              </a:ext>
            </a:extLst>
          </p:cNvPr>
          <p:cNvCxnSpPr>
            <a:cxnSpLocks/>
          </p:cNvCxnSpPr>
          <p:nvPr/>
        </p:nvCxnSpPr>
        <p:spPr>
          <a:xfrm flipV="1">
            <a:off x="3224150" y="5331351"/>
            <a:ext cx="308018" cy="1147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E4F6B893-D8DE-4A23-8919-462FDF7E9178}"/>
              </a:ext>
            </a:extLst>
          </p:cNvPr>
          <p:cNvCxnSpPr>
            <a:cxnSpLocks/>
          </p:cNvCxnSpPr>
          <p:nvPr/>
        </p:nvCxnSpPr>
        <p:spPr>
          <a:xfrm>
            <a:off x="3224150" y="5600756"/>
            <a:ext cx="30801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ángulo 79">
            <a:extLst>
              <a:ext uri="{FF2B5EF4-FFF2-40B4-BE49-F238E27FC236}">
                <a16:creationId xmlns:a16="http://schemas.microsoft.com/office/drawing/2014/main" id="{4A641E93-F40B-46E0-9AEF-CD579C6743E3}"/>
              </a:ext>
            </a:extLst>
          </p:cNvPr>
          <p:cNvSpPr/>
          <p:nvPr/>
        </p:nvSpPr>
        <p:spPr>
          <a:xfrm>
            <a:off x="10363103" y="4448799"/>
            <a:ext cx="1008000" cy="326889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G. Producto</a:t>
            </a:r>
          </a:p>
        </p:txBody>
      </p:sp>
      <p:sp>
        <p:nvSpPr>
          <p:cNvPr id="57" name="Marcador de pie de página 2">
            <a:extLst>
              <a:ext uri="{FF2B5EF4-FFF2-40B4-BE49-F238E27FC236}">
                <a16:creationId xmlns:a16="http://schemas.microsoft.com/office/drawing/2014/main" id="{C065CC20-B671-431B-A0A9-D13270D949D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responsabilidades; (2) NPS Cliente externo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F835077E-DF77-4125-964D-F10A7EEA4CC9}"/>
              </a:ext>
            </a:extLst>
          </p:cNvPr>
          <p:cNvSpPr/>
          <p:nvPr/>
        </p:nvSpPr>
        <p:spPr>
          <a:xfrm>
            <a:off x="434477" y="3338916"/>
            <a:ext cx="1008000" cy="37001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Director de Comunica.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0E18E88D-3BCB-472C-B8DF-002E4818ACB8}"/>
              </a:ext>
            </a:extLst>
          </p:cNvPr>
          <p:cNvSpPr txBox="1">
            <a:spLocks/>
          </p:cNvSpPr>
          <p:nvPr/>
        </p:nvSpPr>
        <p:spPr>
          <a:xfrm>
            <a:off x="1738425" y="3013845"/>
            <a:ext cx="1473656" cy="377366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Resultados gestión de comunicaciones</a:t>
            </a:r>
          </a:p>
        </p:txBody>
      </p:sp>
      <p:sp>
        <p:nvSpPr>
          <p:cNvPr id="74" name="Marcador de contenido 5">
            <a:extLst>
              <a:ext uri="{FF2B5EF4-FFF2-40B4-BE49-F238E27FC236}">
                <a16:creationId xmlns:a16="http://schemas.microsoft.com/office/drawing/2014/main" id="{4A97F32C-5E8B-41E0-881C-12A6E3FE3991}"/>
              </a:ext>
            </a:extLst>
          </p:cNvPr>
          <p:cNvSpPr txBox="1">
            <a:spLocks/>
          </p:cNvSpPr>
          <p:nvPr/>
        </p:nvSpPr>
        <p:spPr>
          <a:xfrm>
            <a:off x="1750496" y="3527952"/>
            <a:ext cx="1473656" cy="374053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Manual de comunicaciones</a:t>
            </a:r>
          </a:p>
        </p:txBody>
      </p:sp>
      <p:cxnSp>
        <p:nvCxnSpPr>
          <p:cNvPr id="75" name="Conector angular 26">
            <a:extLst>
              <a:ext uri="{FF2B5EF4-FFF2-40B4-BE49-F238E27FC236}">
                <a16:creationId xmlns:a16="http://schemas.microsoft.com/office/drawing/2014/main" id="{4BC8BFDD-03B4-47BF-A4E9-D2F1CBC6160A}"/>
              </a:ext>
            </a:extLst>
          </p:cNvPr>
          <p:cNvCxnSpPr>
            <a:cxnSpLocks/>
          </p:cNvCxnSpPr>
          <p:nvPr/>
        </p:nvCxnSpPr>
        <p:spPr>
          <a:xfrm rot="16200000" flipH="1">
            <a:off x="1377017" y="3291652"/>
            <a:ext cx="65061" cy="94214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angular 23">
            <a:extLst>
              <a:ext uri="{FF2B5EF4-FFF2-40B4-BE49-F238E27FC236}">
                <a16:creationId xmlns:a16="http://schemas.microsoft.com/office/drawing/2014/main" id="{86CE6621-76ED-4639-9500-DF13A2B6286D}"/>
              </a:ext>
            </a:extLst>
          </p:cNvPr>
          <p:cNvCxnSpPr>
            <a:cxnSpLocks/>
            <a:stCxn id="72" idx="1"/>
            <a:endCxn id="71" idx="0"/>
          </p:cNvCxnSpPr>
          <p:nvPr/>
        </p:nvCxnSpPr>
        <p:spPr>
          <a:xfrm rot="10800000" flipV="1">
            <a:off x="938477" y="3202528"/>
            <a:ext cx="799948" cy="1363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D39B3A0C-9A8F-42DE-8AB9-E1343BB497F0}"/>
              </a:ext>
            </a:extLst>
          </p:cNvPr>
          <p:cNvCxnSpPr>
            <a:cxnSpLocks/>
          </p:cNvCxnSpPr>
          <p:nvPr/>
        </p:nvCxnSpPr>
        <p:spPr>
          <a:xfrm>
            <a:off x="3212080" y="3720823"/>
            <a:ext cx="33051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DF7EDF08-A1CA-4992-B03B-490B6BCED913}"/>
              </a:ext>
            </a:extLst>
          </p:cNvPr>
          <p:cNvCxnSpPr>
            <a:cxnSpLocks/>
          </p:cNvCxnSpPr>
          <p:nvPr/>
        </p:nvCxnSpPr>
        <p:spPr>
          <a:xfrm flipH="1">
            <a:off x="3224151" y="3227843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" name="Flecha: pentágono 2">
            <a:extLst>
              <a:ext uri="{FF2B5EF4-FFF2-40B4-BE49-F238E27FC236}">
                <a16:creationId xmlns:a16="http://schemas.microsoft.com/office/drawing/2014/main" id="{31769DC2-4AA6-4C60-8527-7C8984CF985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8" name="Imagen 2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A8BB1095-9A10-4C8C-919B-9C6880AA46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5" name="Rectángulo 24">
            <a:extLst>
              <a:ext uri="{FF2B5EF4-FFF2-40B4-BE49-F238E27FC236}">
                <a16:creationId xmlns:a16="http://schemas.microsoft.com/office/drawing/2014/main" id="{B82FB2EC-AD04-44E1-8BC5-1C03EFA08FCD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40BD887-6B1B-48C3-AA35-F552CD6A6E1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713C37E4-005D-4D72-A6B3-8717252C923F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121578004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Jefe Analítica Comercial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32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Liderar la generación de oportunidades comerciales para las áreas de negocio a través de la explotación de datos internos y externos, y garantizará su seguimiento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Jefe Analítica Comercial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41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generación de oportunidades comerciales a través de la explotación de datos internos y externos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seguimiento a las campañas comerciales permitiendo el la identificación oportunidades de mejora y generación de aprendizajes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  <a:endParaRPr lang="es-CO" sz="1200">
              <a:latin typeface="+mn-lt"/>
              <a:cs typeface="Calibri"/>
            </a:endParaRP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Liderar la identificación, diseño y desarrollo de modelos de datos que contribuyan a la generación de oportunidades comerciales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Gestionar y optimizar procesos de recolección, validación, minería y modelado de información, así como la visualización y comunicación de resultados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Examinar, interpretar, validar e informar los resultados de analítica al cliente interno – definición de mensajes clave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Hacer seguimiento a las campañas comerciales para identificar oportunidades de mejora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la recopilación de datos de inteligencia de negocios de los informes disponibles de la industria, información pública, informes de campo o fuentes compradas.</a:t>
            </a:r>
            <a:endParaRPr lang="es-CO" sz="1200">
              <a:latin typeface="+mn-lt"/>
              <a:cs typeface="Calibri"/>
            </a:endParaRP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6087165"/>
            <a:ext cx="4918780" cy="4818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84956" y="1481103"/>
            <a:ext cx="1539215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Generación de oportunidades comerciales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86663" y="1907139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Equipo de innovación y digitalización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324171" y="1723510"/>
            <a:ext cx="666492" cy="1836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60743" y="2830273"/>
            <a:ext cx="1563429" cy="9435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analítica comercial y de mercadeo – definición de la solución/problema 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34" idx="2"/>
            <a:endCxn id="13" idx="3"/>
          </p:cNvCxnSpPr>
          <p:nvPr/>
        </p:nvCxnSpPr>
        <p:spPr>
          <a:xfrm rot="5400000">
            <a:off x="10552409" y="2863802"/>
            <a:ext cx="210018" cy="6664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3337775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723510"/>
            <a:ext cx="28293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214199"/>
            <a:ext cx="770700" cy="183514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86108" y="5029278"/>
            <a:ext cx="1525254" cy="7603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analítica comercial y mercadeo – generación de oport. comerciales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901875" y="4625232"/>
            <a:ext cx="820117" cy="74835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2214200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4049349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Profesional Analítica Comercial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08458" y="2005775"/>
            <a:ext cx="1515694" cy="4168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DC90E217-1CC9-4A84-87CE-448FB85C87DD}"/>
              </a:ext>
            </a:extLst>
          </p:cNvPr>
          <p:cNvSpPr/>
          <p:nvPr/>
        </p:nvSpPr>
        <p:spPr>
          <a:xfrm>
            <a:off x="10486663" y="2552038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Equipo comercial y de servicio</a:t>
            </a:r>
          </a:p>
        </p:txBody>
      </p: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15173653-8FA7-4C9C-8946-333E404A489D}"/>
              </a:ext>
            </a:extLst>
          </p:cNvPr>
          <p:cNvCxnSpPr>
            <a:cxnSpLocks/>
          </p:cNvCxnSpPr>
          <p:nvPr/>
        </p:nvCxnSpPr>
        <p:spPr>
          <a:xfrm>
            <a:off x="3224151" y="5438083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Marcador de contenido 5">
            <a:extLst>
              <a:ext uri="{FF2B5EF4-FFF2-40B4-BE49-F238E27FC236}">
                <a16:creationId xmlns:a16="http://schemas.microsoft.com/office/drawing/2014/main" id="{E91099E3-9F83-4E4A-9D85-5FEEC4BA4966}"/>
              </a:ext>
            </a:extLst>
          </p:cNvPr>
          <p:cNvSpPr txBox="1">
            <a:spLocks/>
          </p:cNvSpPr>
          <p:nvPr/>
        </p:nvSpPr>
        <p:spPr>
          <a:xfrm>
            <a:off x="1708458" y="2504574"/>
            <a:ext cx="1515694" cy="50432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Definición del problema/solución a desarrollar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B449332E-3CE6-4F92-8CDC-C22DA5127479}"/>
              </a:ext>
            </a:extLst>
          </p:cNvPr>
          <p:cNvSpPr txBox="1">
            <a:spLocks/>
          </p:cNvSpPr>
          <p:nvPr/>
        </p:nvSpPr>
        <p:spPr>
          <a:xfrm>
            <a:off x="1708458" y="3071691"/>
            <a:ext cx="1515694" cy="4168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Conjunto de datos necesarios</a:t>
            </a:r>
          </a:p>
        </p:txBody>
      </p: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C1A0DF41-EBE4-42FC-8D9D-6C16591F2641}"/>
              </a:ext>
            </a:extLst>
          </p:cNvPr>
          <p:cNvSpPr txBox="1">
            <a:spLocks/>
          </p:cNvSpPr>
          <p:nvPr/>
        </p:nvSpPr>
        <p:spPr>
          <a:xfrm>
            <a:off x="1708456" y="3551337"/>
            <a:ext cx="1515696" cy="69177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el diseño,  estructuración y desarrollo del modelo de datos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0CA1D10A-E0F4-4F20-8A50-E0EF9E03BEFA}"/>
              </a:ext>
            </a:extLst>
          </p:cNvPr>
          <p:cNvSpPr txBox="1">
            <a:spLocks/>
          </p:cNvSpPr>
          <p:nvPr/>
        </p:nvSpPr>
        <p:spPr>
          <a:xfrm>
            <a:off x="1709050" y="4580451"/>
            <a:ext cx="1502312" cy="38620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Issues relevantes de la ejecución</a:t>
            </a:r>
          </a:p>
        </p:txBody>
      </p:sp>
      <p:cxnSp>
        <p:nvCxnSpPr>
          <p:cNvPr id="83" name="Conector angular 23">
            <a:extLst>
              <a:ext uri="{FF2B5EF4-FFF2-40B4-BE49-F238E27FC236}">
                <a16:creationId xmlns:a16="http://schemas.microsoft.com/office/drawing/2014/main" id="{A5DC2F77-4B52-43E2-A26D-FBE675DF1955}"/>
              </a:ext>
            </a:extLst>
          </p:cNvPr>
          <p:cNvCxnSpPr>
            <a:cxnSpLocks/>
            <a:stCxn id="71" idx="1"/>
            <a:endCxn id="22" idx="0"/>
          </p:cNvCxnSpPr>
          <p:nvPr/>
        </p:nvCxnSpPr>
        <p:spPr>
          <a:xfrm rot="10800000" flipV="1">
            <a:off x="937758" y="2756733"/>
            <a:ext cx="770700" cy="129261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23">
            <a:extLst>
              <a:ext uri="{FF2B5EF4-FFF2-40B4-BE49-F238E27FC236}">
                <a16:creationId xmlns:a16="http://schemas.microsoft.com/office/drawing/2014/main" id="{AF907989-7B24-4B19-883C-9967EF88EE18}"/>
              </a:ext>
            </a:extLst>
          </p:cNvPr>
          <p:cNvCxnSpPr>
            <a:cxnSpLocks/>
            <a:stCxn id="72" idx="1"/>
            <a:endCxn id="22" idx="0"/>
          </p:cNvCxnSpPr>
          <p:nvPr/>
        </p:nvCxnSpPr>
        <p:spPr>
          <a:xfrm rot="10800000" flipV="1">
            <a:off x="937758" y="3280115"/>
            <a:ext cx="770700" cy="76923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23">
            <a:extLst>
              <a:ext uri="{FF2B5EF4-FFF2-40B4-BE49-F238E27FC236}">
                <a16:creationId xmlns:a16="http://schemas.microsoft.com/office/drawing/2014/main" id="{FCC1939F-CE99-462C-B2E6-D5556A70E9FF}"/>
              </a:ext>
            </a:extLst>
          </p:cNvPr>
          <p:cNvCxnSpPr>
            <a:cxnSpLocks/>
            <a:stCxn id="73" idx="1"/>
            <a:endCxn id="22" idx="0"/>
          </p:cNvCxnSpPr>
          <p:nvPr/>
        </p:nvCxnSpPr>
        <p:spPr>
          <a:xfrm rot="10800000" flipV="1">
            <a:off x="937758" y="3897223"/>
            <a:ext cx="770698" cy="15212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angular 26">
            <a:extLst>
              <a:ext uri="{FF2B5EF4-FFF2-40B4-BE49-F238E27FC236}">
                <a16:creationId xmlns:a16="http://schemas.microsoft.com/office/drawing/2014/main" id="{2B54BE44-3215-4FDD-AAEE-71BB830653C9}"/>
              </a:ext>
            </a:extLst>
          </p:cNvPr>
          <p:cNvCxnSpPr>
            <a:cxnSpLocks/>
            <a:stCxn id="22" idx="2"/>
            <a:endCxn id="82" idx="1"/>
          </p:cNvCxnSpPr>
          <p:nvPr/>
        </p:nvCxnSpPr>
        <p:spPr>
          <a:xfrm rot="16200000" flipH="1">
            <a:off x="1231301" y="4295806"/>
            <a:ext cx="184207" cy="7712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A83FB73B-B12A-46A4-83AC-4E095E72C11C}"/>
              </a:ext>
            </a:extLst>
          </p:cNvPr>
          <p:cNvCxnSpPr>
            <a:cxnSpLocks/>
          </p:cNvCxnSpPr>
          <p:nvPr/>
        </p:nvCxnSpPr>
        <p:spPr>
          <a:xfrm flipH="1">
            <a:off x="3224151" y="2756733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recto de flecha 95">
            <a:extLst>
              <a:ext uri="{FF2B5EF4-FFF2-40B4-BE49-F238E27FC236}">
                <a16:creationId xmlns:a16="http://schemas.microsoft.com/office/drawing/2014/main" id="{F70FE8F3-5781-4648-AA58-241C9EF02D11}"/>
              </a:ext>
            </a:extLst>
          </p:cNvPr>
          <p:cNvCxnSpPr>
            <a:cxnSpLocks/>
          </p:cNvCxnSpPr>
          <p:nvPr/>
        </p:nvCxnSpPr>
        <p:spPr>
          <a:xfrm flipH="1">
            <a:off x="3224151" y="3270788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4889BAFF-20B9-4382-908E-E04EB1375227}"/>
              </a:ext>
            </a:extLst>
          </p:cNvPr>
          <p:cNvCxnSpPr>
            <a:cxnSpLocks/>
          </p:cNvCxnSpPr>
          <p:nvPr/>
        </p:nvCxnSpPr>
        <p:spPr>
          <a:xfrm flipH="1">
            <a:off x="3224151" y="3887601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BD678589-F2E5-4F21-A7E9-B1701A65FB74}"/>
              </a:ext>
            </a:extLst>
          </p:cNvPr>
          <p:cNvCxnSpPr>
            <a:cxnSpLocks/>
          </p:cNvCxnSpPr>
          <p:nvPr/>
        </p:nvCxnSpPr>
        <p:spPr>
          <a:xfrm>
            <a:off x="3224151" y="4772110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8C7FB9BF-56A3-49D4-818A-A35BE19E12E6}"/>
              </a:ext>
            </a:extLst>
          </p:cNvPr>
          <p:cNvSpPr/>
          <p:nvPr/>
        </p:nvSpPr>
        <p:spPr>
          <a:xfrm>
            <a:off x="10486663" y="4151502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Business Intelligence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4C42FE3A-88DF-47D4-BFB9-E278E98FC0C3}"/>
              </a:ext>
            </a:extLst>
          </p:cNvPr>
          <p:cNvSpPr/>
          <p:nvPr/>
        </p:nvSpPr>
        <p:spPr>
          <a:xfrm>
            <a:off x="10486663" y="4601679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Gestión de datos</a:t>
            </a:r>
          </a:p>
        </p:txBody>
      </p:sp>
      <p:sp>
        <p:nvSpPr>
          <p:cNvPr id="107" name="Marcador de contenido 5">
            <a:extLst>
              <a:ext uri="{FF2B5EF4-FFF2-40B4-BE49-F238E27FC236}">
                <a16:creationId xmlns:a16="http://schemas.microsoft.com/office/drawing/2014/main" id="{46271439-B550-43B8-8670-F673EE8340AC}"/>
              </a:ext>
            </a:extLst>
          </p:cNvPr>
          <p:cNvSpPr txBox="1">
            <a:spLocks/>
          </p:cNvSpPr>
          <p:nvPr/>
        </p:nvSpPr>
        <p:spPr>
          <a:xfrm>
            <a:off x="8760743" y="4908810"/>
            <a:ext cx="1563429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Información solicitada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7AC1A0C6-201D-4940-889A-84CDF82099A8}"/>
              </a:ext>
            </a:extLst>
          </p:cNvPr>
          <p:cNvSpPr txBox="1">
            <a:spLocks/>
          </p:cNvSpPr>
          <p:nvPr/>
        </p:nvSpPr>
        <p:spPr>
          <a:xfrm>
            <a:off x="8760743" y="3835094"/>
            <a:ext cx="1563429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información (RFI)</a:t>
            </a:r>
          </a:p>
        </p:txBody>
      </p:sp>
      <p:cxnSp>
        <p:nvCxnSpPr>
          <p:cNvPr id="110" name="Conector angular 37">
            <a:extLst>
              <a:ext uri="{FF2B5EF4-FFF2-40B4-BE49-F238E27FC236}">
                <a16:creationId xmlns:a16="http://schemas.microsoft.com/office/drawing/2014/main" id="{381F92E9-B1F8-4C52-BAEA-76790A827ACE}"/>
              </a:ext>
            </a:extLst>
          </p:cNvPr>
          <p:cNvCxnSpPr>
            <a:cxnSpLocks/>
            <a:stCxn id="105" idx="2"/>
            <a:endCxn id="107" idx="3"/>
          </p:cNvCxnSpPr>
          <p:nvPr/>
        </p:nvCxnSpPr>
        <p:spPr>
          <a:xfrm rot="5400000">
            <a:off x="10603117" y="4719793"/>
            <a:ext cx="108602" cy="6664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angular 32">
            <a:extLst>
              <a:ext uri="{FF2B5EF4-FFF2-40B4-BE49-F238E27FC236}">
                <a16:creationId xmlns:a16="http://schemas.microsoft.com/office/drawing/2014/main" id="{E36739A0-FEA5-4B08-9EF3-23FEA9E0A485}"/>
              </a:ext>
            </a:extLst>
          </p:cNvPr>
          <p:cNvCxnSpPr>
            <a:cxnSpLocks/>
            <a:stCxn id="109" idx="3"/>
            <a:endCxn id="104" idx="0"/>
          </p:cNvCxnSpPr>
          <p:nvPr/>
        </p:nvCxnSpPr>
        <p:spPr>
          <a:xfrm>
            <a:off x="10324172" y="4033623"/>
            <a:ext cx="666491" cy="11787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recto de flecha 119">
            <a:extLst>
              <a:ext uri="{FF2B5EF4-FFF2-40B4-BE49-F238E27FC236}">
                <a16:creationId xmlns:a16="http://schemas.microsoft.com/office/drawing/2014/main" id="{1E8CF92C-D81E-4B2A-BD4A-618AF1754CDD}"/>
              </a:ext>
            </a:extLst>
          </p:cNvPr>
          <p:cNvCxnSpPr>
            <a:cxnSpLocks/>
          </p:cNvCxnSpPr>
          <p:nvPr/>
        </p:nvCxnSpPr>
        <p:spPr>
          <a:xfrm flipH="1">
            <a:off x="8476636" y="5110642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ector recto de flecha 120">
            <a:extLst>
              <a:ext uri="{FF2B5EF4-FFF2-40B4-BE49-F238E27FC236}">
                <a16:creationId xmlns:a16="http://schemas.microsoft.com/office/drawing/2014/main" id="{510A633A-A599-45FB-8F38-C8B793FC7760}"/>
              </a:ext>
            </a:extLst>
          </p:cNvPr>
          <p:cNvCxnSpPr>
            <a:cxnSpLocks/>
          </p:cNvCxnSpPr>
          <p:nvPr/>
        </p:nvCxnSpPr>
        <p:spPr>
          <a:xfrm>
            <a:off x="8476636" y="4033623"/>
            <a:ext cx="28293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61BA2724-D94B-4A5C-B6A4-AA978B42FC60}"/>
              </a:ext>
            </a:extLst>
          </p:cNvPr>
          <p:cNvSpPr txBox="1">
            <a:spLocks/>
          </p:cNvSpPr>
          <p:nvPr/>
        </p:nvSpPr>
        <p:spPr>
          <a:xfrm>
            <a:off x="8759572" y="5354293"/>
            <a:ext cx="1563429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Acceso a reportes y bases de consulta</a:t>
            </a:r>
          </a:p>
        </p:txBody>
      </p:sp>
      <p:cxnSp>
        <p:nvCxnSpPr>
          <p:cNvPr id="58" name="Conector angular 37">
            <a:extLst>
              <a:ext uri="{FF2B5EF4-FFF2-40B4-BE49-F238E27FC236}">
                <a16:creationId xmlns:a16="http://schemas.microsoft.com/office/drawing/2014/main" id="{D21EEFA6-265B-4990-A154-0104AF446C4A}"/>
              </a:ext>
            </a:extLst>
          </p:cNvPr>
          <p:cNvCxnSpPr>
            <a:cxnSpLocks/>
            <a:stCxn id="105" idx="2"/>
            <a:endCxn id="33" idx="3"/>
          </p:cNvCxnSpPr>
          <p:nvPr/>
        </p:nvCxnSpPr>
        <p:spPr>
          <a:xfrm rot="5400000">
            <a:off x="10379790" y="4941948"/>
            <a:ext cx="554085" cy="6676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0A929340-826A-4B22-AAFE-0C153FB2211A}"/>
              </a:ext>
            </a:extLst>
          </p:cNvPr>
          <p:cNvCxnSpPr>
            <a:cxnSpLocks/>
          </p:cNvCxnSpPr>
          <p:nvPr/>
        </p:nvCxnSpPr>
        <p:spPr>
          <a:xfrm flipH="1">
            <a:off x="8463943" y="5534739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lecha: pentágono 36">
            <a:extLst>
              <a:ext uri="{FF2B5EF4-FFF2-40B4-BE49-F238E27FC236}">
                <a16:creationId xmlns:a16="http://schemas.microsoft.com/office/drawing/2014/main" id="{0ED4EF8D-DC4E-4F4F-B0BD-E0D40A6A769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38" name="Signo más 37">
            <a:extLst>
              <a:ext uri="{FF2B5EF4-FFF2-40B4-BE49-F238E27FC236}">
                <a16:creationId xmlns:a16="http://schemas.microsoft.com/office/drawing/2014/main" id="{EE4481FE-048B-4E34-A481-0A3BE1CB6332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8B8F840-A3B3-4FC8-B943-72A8C1E770C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0F3AFBE-5ADA-4190-A549-A0D7C01B01DA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410569875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Profesional Analítica Comercial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33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Profesional de Analítica Comercial desarrollará modelos de analítica que permitan soportar la toma de decisiones comerciales y de mercadeo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Profesional Analítica Comercial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40414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generación de oportunidades comerciales a través de la explotación de datos internos y externos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Hacer seguimiento campañas comerciales permitiendo la identificación oportunidades de mejora y generación de aprendizajes</a:t>
            </a:r>
            <a:endParaRPr lang="es-CO" sz="1200">
              <a:latin typeface="+mn-lt"/>
              <a:cs typeface="Calibri"/>
            </a:endParaRPr>
          </a:p>
          <a:p>
            <a:pPr marL="90487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  <a:endParaRPr lang="es-CO" sz="1200">
              <a:latin typeface="+mn-lt"/>
              <a:cs typeface="Calibri"/>
            </a:endParaRP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Apoyar el diseño y estructuración de modelos de datos que contribuyan a la generación de oportunidades comerciales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Recolectar y validar los conjuntos de datos necesario para desarrollar la solución y actualizar bases de datos – datos internos y externos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Implementar herramientas estadísticas para analizar conjuntos de datos, buscando identificar tendencias y patrones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Construir reportes que comuniquen de forma efectiva las tendencias, patrones y predicciones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Identificar oportunidades de mejora en la gestión de la información y comunicarla oportunamente al área encargada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Asegurar la documentación de los procedimientos de analítica facilitando su entendimiento y reproducción en el futuro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57180"/>
            <a:ext cx="4918780" cy="4910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71" idx="1"/>
          </p:cNvCxnSpPr>
          <p:nvPr/>
        </p:nvCxnSpPr>
        <p:spPr>
          <a:xfrm rot="16200000" flipH="1">
            <a:off x="955077" y="3442131"/>
            <a:ext cx="774370" cy="6876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94417" y="285879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Jefe de Analítica Comercial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86108" y="3422203"/>
            <a:ext cx="1538043" cy="4168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71" name="Marcador de contenido 5">
            <a:extLst>
              <a:ext uri="{FF2B5EF4-FFF2-40B4-BE49-F238E27FC236}">
                <a16:creationId xmlns:a16="http://schemas.microsoft.com/office/drawing/2014/main" id="{E91099E3-9F83-4E4A-9D85-5FEEC4BA4966}"/>
              </a:ext>
            </a:extLst>
          </p:cNvPr>
          <p:cNvSpPr txBox="1">
            <a:spLocks/>
          </p:cNvSpPr>
          <p:nvPr/>
        </p:nvSpPr>
        <p:spPr>
          <a:xfrm>
            <a:off x="1686108" y="3921002"/>
            <a:ext cx="1538043" cy="50432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Definición del problema/solución a desarrollar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B449332E-3CE6-4F92-8CDC-C22DA5127479}"/>
              </a:ext>
            </a:extLst>
          </p:cNvPr>
          <p:cNvSpPr txBox="1">
            <a:spLocks/>
          </p:cNvSpPr>
          <p:nvPr/>
        </p:nvSpPr>
        <p:spPr>
          <a:xfrm>
            <a:off x="1686108" y="4488119"/>
            <a:ext cx="1538043" cy="4168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Conjunto de datos necesarios</a:t>
            </a:r>
          </a:p>
        </p:txBody>
      </p: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C1A0DF41-EBE4-42FC-8D9D-6C16591F2641}"/>
              </a:ext>
            </a:extLst>
          </p:cNvPr>
          <p:cNvSpPr txBox="1">
            <a:spLocks/>
          </p:cNvSpPr>
          <p:nvPr/>
        </p:nvSpPr>
        <p:spPr>
          <a:xfrm>
            <a:off x="1686108" y="4967765"/>
            <a:ext cx="1538044" cy="69177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el diseño,  estructuración y desarrollo del modelo de datos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0CA1D10A-E0F4-4F20-8A50-E0EF9E03BEFA}"/>
              </a:ext>
            </a:extLst>
          </p:cNvPr>
          <p:cNvSpPr txBox="1">
            <a:spLocks/>
          </p:cNvSpPr>
          <p:nvPr/>
        </p:nvSpPr>
        <p:spPr>
          <a:xfrm>
            <a:off x="1686898" y="1864371"/>
            <a:ext cx="1524463" cy="38620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Issues relevantes de la ejecución</a:t>
            </a:r>
          </a:p>
        </p:txBody>
      </p:sp>
      <p:cxnSp>
        <p:nvCxnSpPr>
          <p:cNvPr id="92" name="Conector angular 26">
            <a:extLst>
              <a:ext uri="{FF2B5EF4-FFF2-40B4-BE49-F238E27FC236}">
                <a16:creationId xmlns:a16="http://schemas.microsoft.com/office/drawing/2014/main" id="{2B54BE44-3215-4FDD-AAEE-71BB830653C9}"/>
              </a:ext>
            </a:extLst>
          </p:cNvPr>
          <p:cNvCxnSpPr>
            <a:cxnSpLocks/>
            <a:stCxn id="22" idx="2"/>
            <a:endCxn id="23" idx="1"/>
          </p:cNvCxnSpPr>
          <p:nvPr/>
        </p:nvCxnSpPr>
        <p:spPr>
          <a:xfrm rot="16200000" flipH="1">
            <a:off x="1226344" y="3170864"/>
            <a:ext cx="231836" cy="6876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8C7FB9BF-56A3-49D4-818A-A35BE19E12E6}"/>
              </a:ext>
            </a:extLst>
          </p:cNvPr>
          <p:cNvSpPr/>
          <p:nvPr/>
        </p:nvSpPr>
        <p:spPr>
          <a:xfrm>
            <a:off x="10486663" y="3151493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Business Intelligence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4C42FE3A-88DF-47D4-BFB9-E278E98FC0C3}"/>
              </a:ext>
            </a:extLst>
          </p:cNvPr>
          <p:cNvSpPr/>
          <p:nvPr/>
        </p:nvSpPr>
        <p:spPr>
          <a:xfrm>
            <a:off x="10486663" y="3601670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Gestión de datos</a:t>
            </a:r>
          </a:p>
        </p:txBody>
      </p:sp>
      <p:sp>
        <p:nvSpPr>
          <p:cNvPr id="107" name="Marcador de contenido 5">
            <a:extLst>
              <a:ext uri="{FF2B5EF4-FFF2-40B4-BE49-F238E27FC236}">
                <a16:creationId xmlns:a16="http://schemas.microsoft.com/office/drawing/2014/main" id="{46271439-B550-43B8-8670-F673EE8340AC}"/>
              </a:ext>
            </a:extLst>
          </p:cNvPr>
          <p:cNvSpPr txBox="1">
            <a:spLocks/>
          </p:cNvSpPr>
          <p:nvPr/>
        </p:nvSpPr>
        <p:spPr>
          <a:xfrm>
            <a:off x="8858580" y="3987461"/>
            <a:ext cx="1465592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Información solicitada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7AC1A0C6-201D-4940-889A-84CDF82099A8}"/>
              </a:ext>
            </a:extLst>
          </p:cNvPr>
          <p:cNvSpPr txBox="1">
            <a:spLocks/>
          </p:cNvSpPr>
          <p:nvPr/>
        </p:nvSpPr>
        <p:spPr>
          <a:xfrm>
            <a:off x="8858580" y="2776093"/>
            <a:ext cx="1465592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información (RFI)</a:t>
            </a:r>
          </a:p>
        </p:txBody>
      </p:sp>
      <p:cxnSp>
        <p:nvCxnSpPr>
          <p:cNvPr id="110" name="Conector angular 37">
            <a:extLst>
              <a:ext uri="{FF2B5EF4-FFF2-40B4-BE49-F238E27FC236}">
                <a16:creationId xmlns:a16="http://schemas.microsoft.com/office/drawing/2014/main" id="{381F92E9-B1F8-4C52-BAEA-76790A827ACE}"/>
              </a:ext>
            </a:extLst>
          </p:cNvPr>
          <p:cNvCxnSpPr>
            <a:cxnSpLocks/>
            <a:stCxn id="105" idx="2"/>
            <a:endCxn id="107" idx="3"/>
          </p:cNvCxnSpPr>
          <p:nvPr/>
        </p:nvCxnSpPr>
        <p:spPr>
          <a:xfrm rot="5400000">
            <a:off x="10563787" y="3759114"/>
            <a:ext cx="187262" cy="6664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angular 32">
            <a:extLst>
              <a:ext uri="{FF2B5EF4-FFF2-40B4-BE49-F238E27FC236}">
                <a16:creationId xmlns:a16="http://schemas.microsoft.com/office/drawing/2014/main" id="{E36739A0-FEA5-4B08-9EF3-23FEA9E0A485}"/>
              </a:ext>
            </a:extLst>
          </p:cNvPr>
          <p:cNvCxnSpPr>
            <a:cxnSpLocks/>
            <a:stCxn id="109" idx="3"/>
            <a:endCxn id="104" idx="0"/>
          </p:cNvCxnSpPr>
          <p:nvPr/>
        </p:nvCxnSpPr>
        <p:spPr>
          <a:xfrm>
            <a:off x="10324172" y="2974622"/>
            <a:ext cx="666491" cy="17687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recto de flecha 119">
            <a:extLst>
              <a:ext uri="{FF2B5EF4-FFF2-40B4-BE49-F238E27FC236}">
                <a16:creationId xmlns:a16="http://schemas.microsoft.com/office/drawing/2014/main" id="{1E8CF92C-D81E-4B2A-BD4A-618AF1754CDD}"/>
              </a:ext>
            </a:extLst>
          </p:cNvPr>
          <p:cNvCxnSpPr>
            <a:cxnSpLocks/>
          </p:cNvCxnSpPr>
          <p:nvPr/>
        </p:nvCxnSpPr>
        <p:spPr>
          <a:xfrm flipH="1">
            <a:off x="8476635" y="4189293"/>
            <a:ext cx="3600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ector recto de flecha 120">
            <a:extLst>
              <a:ext uri="{FF2B5EF4-FFF2-40B4-BE49-F238E27FC236}">
                <a16:creationId xmlns:a16="http://schemas.microsoft.com/office/drawing/2014/main" id="{510A633A-A599-45FB-8F38-C8B793FC7760}"/>
              </a:ext>
            </a:extLst>
          </p:cNvPr>
          <p:cNvCxnSpPr>
            <a:cxnSpLocks/>
          </p:cNvCxnSpPr>
          <p:nvPr/>
        </p:nvCxnSpPr>
        <p:spPr>
          <a:xfrm>
            <a:off x="8476636" y="2974622"/>
            <a:ext cx="40464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angular 26">
            <a:extLst>
              <a:ext uri="{FF2B5EF4-FFF2-40B4-BE49-F238E27FC236}">
                <a16:creationId xmlns:a16="http://schemas.microsoft.com/office/drawing/2014/main" id="{889FBC0A-F8EF-44D8-8502-EB02E4FAED21}"/>
              </a:ext>
            </a:extLst>
          </p:cNvPr>
          <p:cNvCxnSpPr>
            <a:cxnSpLocks/>
            <a:stCxn id="22" idx="2"/>
            <a:endCxn id="72" idx="1"/>
          </p:cNvCxnSpPr>
          <p:nvPr/>
        </p:nvCxnSpPr>
        <p:spPr>
          <a:xfrm rot="16200000" flipH="1">
            <a:off x="693386" y="3703822"/>
            <a:ext cx="1297752" cy="6876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angular 26">
            <a:extLst>
              <a:ext uri="{FF2B5EF4-FFF2-40B4-BE49-F238E27FC236}">
                <a16:creationId xmlns:a16="http://schemas.microsoft.com/office/drawing/2014/main" id="{31967E39-52CE-4B16-8890-AA30FA2B09FF}"/>
              </a:ext>
            </a:extLst>
          </p:cNvPr>
          <p:cNvCxnSpPr>
            <a:cxnSpLocks/>
            <a:stCxn id="22" idx="2"/>
            <a:endCxn id="73" idx="1"/>
          </p:cNvCxnSpPr>
          <p:nvPr/>
        </p:nvCxnSpPr>
        <p:spPr>
          <a:xfrm rot="16200000" flipH="1">
            <a:off x="384832" y="4012376"/>
            <a:ext cx="1914860" cy="6876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angular 26">
            <a:extLst>
              <a:ext uri="{FF2B5EF4-FFF2-40B4-BE49-F238E27FC236}">
                <a16:creationId xmlns:a16="http://schemas.microsoft.com/office/drawing/2014/main" id="{828A1BE3-0AD0-4F85-9A55-B22C0524C0CB}"/>
              </a:ext>
            </a:extLst>
          </p:cNvPr>
          <p:cNvCxnSpPr>
            <a:cxnSpLocks/>
            <a:stCxn id="82" idx="1"/>
            <a:endCxn id="22" idx="0"/>
          </p:cNvCxnSpPr>
          <p:nvPr/>
        </p:nvCxnSpPr>
        <p:spPr>
          <a:xfrm rot="10800000" flipV="1">
            <a:off x="998418" y="2057476"/>
            <a:ext cx="688481" cy="8013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26">
            <a:extLst>
              <a:ext uri="{FF2B5EF4-FFF2-40B4-BE49-F238E27FC236}">
                <a16:creationId xmlns:a16="http://schemas.microsoft.com/office/drawing/2014/main" id="{004C7E23-CF0A-4EC3-8189-CEFBC17D0DE9}"/>
              </a:ext>
            </a:extLst>
          </p:cNvPr>
          <p:cNvCxnSpPr>
            <a:cxnSpLocks/>
            <a:stCxn id="13" idx="1"/>
            <a:endCxn id="22" idx="0"/>
          </p:cNvCxnSpPr>
          <p:nvPr/>
        </p:nvCxnSpPr>
        <p:spPr>
          <a:xfrm rot="10800000" flipV="1">
            <a:off x="998418" y="2703646"/>
            <a:ext cx="687691" cy="15514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2283E80A-A564-42E8-A130-64BE69A223BB}"/>
              </a:ext>
            </a:extLst>
          </p:cNvPr>
          <p:cNvCxnSpPr>
            <a:cxnSpLocks/>
          </p:cNvCxnSpPr>
          <p:nvPr/>
        </p:nvCxnSpPr>
        <p:spPr>
          <a:xfrm>
            <a:off x="3224151" y="3630628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recto de flecha 90">
            <a:extLst>
              <a:ext uri="{FF2B5EF4-FFF2-40B4-BE49-F238E27FC236}">
                <a16:creationId xmlns:a16="http://schemas.microsoft.com/office/drawing/2014/main" id="{A70A90E8-9C45-4C24-AC48-0E52E6129BF5}"/>
              </a:ext>
            </a:extLst>
          </p:cNvPr>
          <p:cNvCxnSpPr>
            <a:cxnSpLocks/>
          </p:cNvCxnSpPr>
          <p:nvPr/>
        </p:nvCxnSpPr>
        <p:spPr>
          <a:xfrm>
            <a:off x="3224151" y="4188926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FAE755FE-3E27-4981-B64B-279921A88C5D}"/>
              </a:ext>
            </a:extLst>
          </p:cNvPr>
          <p:cNvCxnSpPr>
            <a:cxnSpLocks/>
          </p:cNvCxnSpPr>
          <p:nvPr/>
        </p:nvCxnSpPr>
        <p:spPr>
          <a:xfrm>
            <a:off x="3224151" y="4696544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1611A5F4-1231-4764-A8CF-FA889BFD4132}"/>
              </a:ext>
            </a:extLst>
          </p:cNvPr>
          <p:cNvCxnSpPr>
            <a:cxnSpLocks/>
          </p:cNvCxnSpPr>
          <p:nvPr/>
        </p:nvCxnSpPr>
        <p:spPr>
          <a:xfrm>
            <a:off x="3224151" y="5313651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0A8BF272-4BB5-441C-A1CE-A5CC9A9921CD}"/>
              </a:ext>
            </a:extLst>
          </p:cNvPr>
          <p:cNvCxnSpPr>
            <a:cxnSpLocks/>
          </p:cNvCxnSpPr>
          <p:nvPr/>
        </p:nvCxnSpPr>
        <p:spPr>
          <a:xfrm flipH="1">
            <a:off x="3211361" y="2711959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D7038C19-BABF-4269-8AEC-9AB44B6F4765}"/>
              </a:ext>
            </a:extLst>
          </p:cNvPr>
          <p:cNvCxnSpPr>
            <a:cxnSpLocks/>
          </p:cNvCxnSpPr>
          <p:nvPr/>
        </p:nvCxnSpPr>
        <p:spPr>
          <a:xfrm flipH="1">
            <a:off x="3211361" y="2086325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B35A6E78-34DA-4937-8C51-2496B88FF0FB}"/>
              </a:ext>
            </a:extLst>
          </p:cNvPr>
          <p:cNvSpPr txBox="1">
            <a:spLocks/>
          </p:cNvSpPr>
          <p:nvPr/>
        </p:nvSpPr>
        <p:spPr>
          <a:xfrm>
            <a:off x="8853010" y="4430465"/>
            <a:ext cx="1465592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Acceso a reportes y bases de consulta</a:t>
            </a:r>
          </a:p>
        </p:txBody>
      </p:sp>
      <p:cxnSp>
        <p:nvCxnSpPr>
          <p:cNvPr id="42" name="Conector angular 37">
            <a:extLst>
              <a:ext uri="{FF2B5EF4-FFF2-40B4-BE49-F238E27FC236}">
                <a16:creationId xmlns:a16="http://schemas.microsoft.com/office/drawing/2014/main" id="{3F5A3CAB-2119-46AA-A9F2-7048611265BB}"/>
              </a:ext>
            </a:extLst>
          </p:cNvPr>
          <p:cNvCxnSpPr>
            <a:cxnSpLocks/>
            <a:stCxn id="105" idx="2"/>
            <a:endCxn id="41" idx="3"/>
          </p:cNvCxnSpPr>
          <p:nvPr/>
        </p:nvCxnSpPr>
        <p:spPr>
          <a:xfrm rot="5400000">
            <a:off x="10339500" y="3977831"/>
            <a:ext cx="630266" cy="6720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E03EF7B0-FA0A-4AB8-9350-B2F6A07368D1}"/>
              </a:ext>
            </a:extLst>
          </p:cNvPr>
          <p:cNvCxnSpPr>
            <a:cxnSpLocks/>
          </p:cNvCxnSpPr>
          <p:nvPr/>
        </p:nvCxnSpPr>
        <p:spPr>
          <a:xfrm flipH="1">
            <a:off x="8476635" y="4610911"/>
            <a:ext cx="3600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lecha: pentágono 16">
            <a:extLst>
              <a:ext uri="{FF2B5EF4-FFF2-40B4-BE49-F238E27FC236}">
                <a16:creationId xmlns:a16="http://schemas.microsoft.com/office/drawing/2014/main" id="{56F15989-3DE7-4228-A709-550C416BA8E5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0" name="Signo más 19">
            <a:extLst>
              <a:ext uri="{FF2B5EF4-FFF2-40B4-BE49-F238E27FC236}">
                <a16:creationId xmlns:a16="http://schemas.microsoft.com/office/drawing/2014/main" id="{6E02D476-B0CD-4DF4-B634-0F4B7EFE41C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DFCCC339-3141-410C-ABBD-B28F9C0F9986}"/>
              </a:ext>
            </a:extLst>
          </p:cNvPr>
          <p:cNvSpPr txBox="1">
            <a:spLocks/>
          </p:cNvSpPr>
          <p:nvPr/>
        </p:nvSpPr>
        <p:spPr>
          <a:xfrm>
            <a:off x="1686108" y="2323458"/>
            <a:ext cx="1525254" cy="7603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analítica comercial y mercadeo – generación de oport. comerciales</a:t>
            </a:r>
          </a:p>
        </p:txBody>
      </p: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C4EC1A5-719E-4050-97D7-ADDC16A2105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E4D48EA3-D16F-4B51-8A20-7A2E8C2D2B70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26781850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Comercial y de Servicio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34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VP Comercial gestionará el desempeño integral de los productos, el talento comercial y asegurará un nivel de servicio al cliente adecuado y eficiente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Comercial y de Servicio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ejecutar y hacer seguimiento a la estrategia comercial con el fin de garantizar el cumplimiento de las metas comerciales de la organización </a:t>
            </a:r>
            <a:endParaRPr lang="es-ES" sz="1200">
              <a:solidFill>
                <a:schemeClr val="accent1"/>
              </a:solidFill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Liderar la optimización de procesos de atención al cliente, asegurando la retención y satisfacción de los clientes</a:t>
            </a:r>
            <a:endParaRPr lang="es-CO" sz="1200" b="1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Planificar, diseñar y ejecutar planes integrales de desarrollo del canal tradicional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Brindar direccionamiento estratégico a los gerentes de producto para lograr las metas comerciales del canal tradicional y el cumplimiento de la gestión integral del cliente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Hacer seguimiento al cumplimiento de metas de colocación, </a:t>
            </a:r>
            <a:r>
              <a:rPr lang="es-ES" sz="1200" err="1">
                <a:latin typeface="+mn-lt"/>
                <a:cs typeface="Calibri"/>
              </a:rPr>
              <a:t>originación</a:t>
            </a:r>
            <a:r>
              <a:rPr lang="es-ES" sz="1200">
                <a:latin typeface="+mn-lt"/>
                <a:cs typeface="Calibri"/>
              </a:rPr>
              <a:t> y captación de los diferentes productos, así como su rentabilidad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Controlar la efectivad comercial de la FFVV de aliados y liderar la implementación de iniciativas que permitan mejorar su rendimiento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Liderar la optimización de procesos de atención al cliente, asegurando la retención de clientes y la percepción de servicio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57170"/>
            <a:ext cx="4918780" cy="96803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captación y colocación en el canal tradicional y digital (ponderación baja); (2) Contribución de las regiones; (3) Rotación de clientes; (4) Cumplimiento volúmenes digitales (baja ponderación); (5) NPS del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59572" y="1496782"/>
            <a:ext cx="1746427" cy="49816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ventas y rentabilidad del canal trad. por producto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639202" y="2440792"/>
            <a:ext cx="1080000" cy="40776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100" err="1"/>
              <a:t>Presidente</a:t>
            </a:r>
            <a:endParaRPr lang="en-US" sz="1100"/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505999" y="1745864"/>
            <a:ext cx="673203" cy="6949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59572" y="2854830"/>
            <a:ext cx="1746427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estrat. 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771966" y="2582594"/>
            <a:ext cx="141270" cy="67320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745864"/>
            <a:ext cx="2700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759572" y="2051615"/>
            <a:ext cx="1746427" cy="4077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Informe de desempeño general de SAC</a:t>
            </a:r>
          </a:p>
        </p:txBody>
      </p:sp>
      <p:cxnSp>
        <p:nvCxnSpPr>
          <p:cNvPr id="42" name="Conector recto de flecha 41">
            <a:extLst>
              <a:ext uri="{FF2B5EF4-FFF2-40B4-BE49-F238E27FC236}">
                <a16:creationId xmlns:a16="http://schemas.microsoft.com/office/drawing/2014/main" id="{C3610688-815F-4211-9822-6BDDC86764DC}"/>
              </a:ext>
            </a:extLst>
          </p:cNvPr>
          <p:cNvCxnSpPr>
            <a:cxnSpLocks/>
          </p:cNvCxnSpPr>
          <p:nvPr/>
        </p:nvCxnSpPr>
        <p:spPr>
          <a:xfrm>
            <a:off x="8476636" y="2234545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Marcador de contenido 5">
            <a:extLst>
              <a:ext uri="{FF2B5EF4-FFF2-40B4-BE49-F238E27FC236}">
                <a16:creationId xmlns:a16="http://schemas.microsoft.com/office/drawing/2014/main" id="{B2820626-3292-479B-B42C-DEFBBA74994F}"/>
              </a:ext>
            </a:extLst>
          </p:cNvPr>
          <p:cNvSpPr txBox="1">
            <a:spLocks/>
          </p:cNvSpPr>
          <p:nvPr/>
        </p:nvSpPr>
        <p:spPr>
          <a:xfrm>
            <a:off x="8759572" y="3177431"/>
            <a:ext cx="1746427" cy="3864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resultados por producto</a:t>
            </a:r>
          </a:p>
        </p:txBody>
      </p:sp>
      <p:cxnSp>
        <p:nvCxnSpPr>
          <p:cNvPr id="51" name="Conector angular 37">
            <a:extLst>
              <a:ext uri="{FF2B5EF4-FFF2-40B4-BE49-F238E27FC236}">
                <a16:creationId xmlns:a16="http://schemas.microsoft.com/office/drawing/2014/main" id="{21EA827E-4A74-462F-ABE3-B4886F7C8991}"/>
              </a:ext>
            </a:extLst>
          </p:cNvPr>
          <p:cNvCxnSpPr>
            <a:cxnSpLocks/>
            <a:stCxn id="11" idx="2"/>
            <a:endCxn id="32" idx="3"/>
          </p:cNvCxnSpPr>
          <p:nvPr/>
        </p:nvCxnSpPr>
        <p:spPr>
          <a:xfrm rot="5400000">
            <a:off x="10581564" y="2772996"/>
            <a:ext cx="522075" cy="67320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ector angular 37">
            <a:extLst>
              <a:ext uri="{FF2B5EF4-FFF2-40B4-BE49-F238E27FC236}">
                <a16:creationId xmlns:a16="http://schemas.microsoft.com/office/drawing/2014/main" id="{B299AEF3-0C29-455F-BE68-4D786D2FFF57}"/>
              </a:ext>
            </a:extLst>
          </p:cNvPr>
          <p:cNvCxnSpPr>
            <a:cxnSpLocks/>
            <a:stCxn id="11" idx="2"/>
            <a:endCxn id="32" idx="3"/>
          </p:cNvCxnSpPr>
          <p:nvPr/>
        </p:nvCxnSpPr>
        <p:spPr>
          <a:xfrm rot="5400000">
            <a:off x="10581564" y="2772996"/>
            <a:ext cx="522075" cy="67320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recto de flecha 55">
            <a:extLst>
              <a:ext uri="{FF2B5EF4-FFF2-40B4-BE49-F238E27FC236}">
                <a16:creationId xmlns:a16="http://schemas.microsoft.com/office/drawing/2014/main" id="{F12B52F0-03CF-4ABB-9745-2BB377616223}"/>
              </a:ext>
            </a:extLst>
          </p:cNvPr>
          <p:cNvCxnSpPr>
            <a:cxnSpLocks/>
          </p:cNvCxnSpPr>
          <p:nvPr/>
        </p:nvCxnSpPr>
        <p:spPr>
          <a:xfrm flipH="1">
            <a:off x="8476636" y="2989830"/>
            <a:ext cx="282934" cy="964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3C9EEAA4-D75F-4509-8359-FCD817273A25}"/>
              </a:ext>
            </a:extLst>
          </p:cNvPr>
          <p:cNvCxnSpPr>
            <a:cxnSpLocks/>
          </p:cNvCxnSpPr>
          <p:nvPr/>
        </p:nvCxnSpPr>
        <p:spPr>
          <a:xfrm flipH="1">
            <a:off x="8476636" y="3370635"/>
            <a:ext cx="2700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Marcador de contenido 5">
            <a:extLst>
              <a:ext uri="{FF2B5EF4-FFF2-40B4-BE49-F238E27FC236}">
                <a16:creationId xmlns:a16="http://schemas.microsoft.com/office/drawing/2014/main" id="{EC6AA1D6-1CED-4CFC-A3A3-DC53F69E88AD}"/>
              </a:ext>
            </a:extLst>
          </p:cNvPr>
          <p:cNvSpPr txBox="1">
            <a:spLocks/>
          </p:cNvSpPr>
          <p:nvPr/>
        </p:nvSpPr>
        <p:spPr>
          <a:xfrm>
            <a:off x="1639845" y="3351678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del producto</a:t>
            </a:r>
          </a:p>
        </p:txBody>
      </p:sp>
      <p:sp>
        <p:nvSpPr>
          <p:cNvPr id="85" name="Marcador de contenido 5">
            <a:extLst>
              <a:ext uri="{FF2B5EF4-FFF2-40B4-BE49-F238E27FC236}">
                <a16:creationId xmlns:a16="http://schemas.microsoft.com/office/drawing/2014/main" id="{B0E69442-5E1D-4474-81E2-FBC65758047C}"/>
              </a:ext>
            </a:extLst>
          </p:cNvPr>
          <p:cNvSpPr txBox="1">
            <a:spLocks/>
          </p:cNvSpPr>
          <p:nvPr/>
        </p:nvSpPr>
        <p:spPr>
          <a:xfrm>
            <a:off x="1639845" y="1691826"/>
            <a:ext cx="1584000" cy="48481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del producto aprobada</a:t>
            </a:r>
          </a:p>
        </p:txBody>
      </p:sp>
      <p:sp>
        <p:nvSpPr>
          <p:cNvPr id="89" name="Marcador de contenido 5">
            <a:extLst>
              <a:ext uri="{FF2B5EF4-FFF2-40B4-BE49-F238E27FC236}">
                <a16:creationId xmlns:a16="http://schemas.microsoft.com/office/drawing/2014/main" id="{DDA02F76-EE92-4721-AE35-C6D37FFC8B02}"/>
              </a:ext>
            </a:extLst>
          </p:cNvPr>
          <p:cNvSpPr txBox="1">
            <a:spLocks/>
          </p:cNvSpPr>
          <p:nvPr/>
        </p:nvSpPr>
        <p:spPr>
          <a:xfrm>
            <a:off x="1639845" y="2230636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90" name="Marcador de contenido 5">
            <a:extLst>
              <a:ext uri="{FF2B5EF4-FFF2-40B4-BE49-F238E27FC236}">
                <a16:creationId xmlns:a16="http://schemas.microsoft.com/office/drawing/2014/main" id="{477DA657-1238-4DBF-8870-17B50408FFAC}"/>
              </a:ext>
            </a:extLst>
          </p:cNvPr>
          <p:cNvSpPr txBox="1">
            <a:spLocks/>
          </p:cNvSpPr>
          <p:nvPr/>
        </p:nvSpPr>
        <p:spPr>
          <a:xfrm>
            <a:off x="1639845" y="3681656"/>
            <a:ext cx="1584000" cy="50328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ejecu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 y ajustes propuestos a la estrategia por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prod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</a:t>
            </a:r>
          </a:p>
        </p:txBody>
      </p:sp>
      <p:sp>
        <p:nvSpPr>
          <p:cNvPr id="98" name="Rectángulo 97">
            <a:extLst>
              <a:ext uri="{FF2B5EF4-FFF2-40B4-BE49-F238E27FC236}">
                <a16:creationId xmlns:a16="http://schemas.microsoft.com/office/drawing/2014/main" id="{493A556A-75F6-46F4-A68F-457AA8D4BF08}"/>
              </a:ext>
            </a:extLst>
          </p:cNvPr>
          <p:cNvSpPr/>
          <p:nvPr/>
        </p:nvSpPr>
        <p:spPr>
          <a:xfrm>
            <a:off x="368724" y="2519749"/>
            <a:ext cx="1083641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G. Producto</a:t>
            </a:r>
          </a:p>
        </p:txBody>
      </p:sp>
      <p:sp>
        <p:nvSpPr>
          <p:cNvPr id="100" name="Marcador de contenido 5">
            <a:extLst>
              <a:ext uri="{FF2B5EF4-FFF2-40B4-BE49-F238E27FC236}">
                <a16:creationId xmlns:a16="http://schemas.microsoft.com/office/drawing/2014/main" id="{086F17C3-EA05-449B-BBF8-9CF792EBC75F}"/>
              </a:ext>
            </a:extLst>
          </p:cNvPr>
          <p:cNvSpPr txBox="1">
            <a:spLocks/>
          </p:cNvSpPr>
          <p:nvPr/>
        </p:nvSpPr>
        <p:spPr>
          <a:xfrm>
            <a:off x="1619696" y="2649182"/>
            <a:ext cx="1584000" cy="6471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Propuesta nuevos productos bajo la línea de negocio del producto a cargo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20" name="Conector angular 37">
            <a:extLst>
              <a:ext uri="{FF2B5EF4-FFF2-40B4-BE49-F238E27FC236}">
                <a16:creationId xmlns:a16="http://schemas.microsoft.com/office/drawing/2014/main" id="{6F782B07-6BE2-4E7E-A58C-57C3FC0971B2}"/>
              </a:ext>
            </a:extLst>
          </p:cNvPr>
          <p:cNvCxnSpPr>
            <a:cxnSpLocks/>
            <a:stCxn id="85" idx="1"/>
            <a:endCxn id="98" idx="0"/>
          </p:cNvCxnSpPr>
          <p:nvPr/>
        </p:nvCxnSpPr>
        <p:spPr>
          <a:xfrm rot="10800000" flipV="1">
            <a:off x="910545" y="1934233"/>
            <a:ext cx="729300" cy="5855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Conector angular 37">
            <a:extLst>
              <a:ext uri="{FF2B5EF4-FFF2-40B4-BE49-F238E27FC236}">
                <a16:creationId xmlns:a16="http://schemas.microsoft.com/office/drawing/2014/main" id="{DAED8E2C-2F44-46EA-A005-4BFB8B6EE4C7}"/>
              </a:ext>
            </a:extLst>
          </p:cNvPr>
          <p:cNvCxnSpPr>
            <a:cxnSpLocks/>
            <a:stCxn id="89" idx="1"/>
            <a:endCxn id="98" idx="0"/>
          </p:cNvCxnSpPr>
          <p:nvPr/>
        </p:nvCxnSpPr>
        <p:spPr>
          <a:xfrm rot="10800000" flipV="1">
            <a:off x="910545" y="2365635"/>
            <a:ext cx="729300" cy="1541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Conector angular 37">
            <a:extLst>
              <a:ext uri="{FF2B5EF4-FFF2-40B4-BE49-F238E27FC236}">
                <a16:creationId xmlns:a16="http://schemas.microsoft.com/office/drawing/2014/main" id="{6956C8C6-F9AB-4BE8-BBE3-7EC872B36344}"/>
              </a:ext>
            </a:extLst>
          </p:cNvPr>
          <p:cNvCxnSpPr>
            <a:cxnSpLocks/>
            <a:stCxn id="98" idx="2"/>
            <a:endCxn id="100" idx="1"/>
          </p:cNvCxnSpPr>
          <p:nvPr/>
        </p:nvCxnSpPr>
        <p:spPr>
          <a:xfrm rot="16200000" flipH="1">
            <a:off x="1221172" y="2574246"/>
            <a:ext cx="87896" cy="70915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ector angular 37">
            <a:extLst>
              <a:ext uri="{FF2B5EF4-FFF2-40B4-BE49-F238E27FC236}">
                <a16:creationId xmlns:a16="http://schemas.microsoft.com/office/drawing/2014/main" id="{59A01EC7-AAB5-48B0-904D-E810204DE7EE}"/>
              </a:ext>
            </a:extLst>
          </p:cNvPr>
          <p:cNvCxnSpPr>
            <a:cxnSpLocks/>
            <a:stCxn id="98" idx="2"/>
            <a:endCxn id="83" idx="1"/>
          </p:cNvCxnSpPr>
          <p:nvPr/>
        </p:nvCxnSpPr>
        <p:spPr>
          <a:xfrm rot="16200000" flipH="1">
            <a:off x="974293" y="2821126"/>
            <a:ext cx="601804" cy="72930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ector angular 37">
            <a:extLst>
              <a:ext uri="{FF2B5EF4-FFF2-40B4-BE49-F238E27FC236}">
                <a16:creationId xmlns:a16="http://schemas.microsoft.com/office/drawing/2014/main" id="{1E069503-1451-407E-9BB1-77B1DF600755}"/>
              </a:ext>
            </a:extLst>
          </p:cNvPr>
          <p:cNvCxnSpPr>
            <a:cxnSpLocks/>
            <a:stCxn id="98" idx="2"/>
            <a:endCxn id="90" idx="1"/>
          </p:cNvCxnSpPr>
          <p:nvPr/>
        </p:nvCxnSpPr>
        <p:spPr>
          <a:xfrm rot="16200000" flipH="1">
            <a:off x="750983" y="3044436"/>
            <a:ext cx="1048424" cy="72930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9" name="Marcador de contenido 5">
            <a:extLst>
              <a:ext uri="{FF2B5EF4-FFF2-40B4-BE49-F238E27FC236}">
                <a16:creationId xmlns:a16="http://schemas.microsoft.com/office/drawing/2014/main" id="{20AB6E79-6D4D-41EA-8EDA-2FF4AD703C85}"/>
              </a:ext>
            </a:extLst>
          </p:cNvPr>
          <p:cNvSpPr txBox="1">
            <a:spLocks/>
          </p:cNvSpPr>
          <p:nvPr/>
        </p:nvSpPr>
        <p:spPr>
          <a:xfrm>
            <a:off x="8759572" y="5190911"/>
            <a:ext cx="1746427" cy="51931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colocación y originación en el canal trad.</a:t>
            </a:r>
          </a:p>
        </p:txBody>
      </p:sp>
      <p:sp>
        <p:nvSpPr>
          <p:cNvPr id="140" name="Rectángulo 139">
            <a:extLst>
              <a:ext uri="{FF2B5EF4-FFF2-40B4-BE49-F238E27FC236}">
                <a16:creationId xmlns:a16="http://schemas.microsoft.com/office/drawing/2014/main" id="{B763881F-B25B-417A-A973-362B32174D81}"/>
              </a:ext>
            </a:extLst>
          </p:cNvPr>
          <p:cNvSpPr/>
          <p:nvPr/>
        </p:nvSpPr>
        <p:spPr>
          <a:xfrm>
            <a:off x="10667825" y="4946411"/>
            <a:ext cx="1080000" cy="414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Gerentes Regionales</a:t>
            </a:r>
          </a:p>
        </p:txBody>
      </p:sp>
      <p:sp>
        <p:nvSpPr>
          <p:cNvPr id="142" name="Marcador de contenido 5">
            <a:extLst>
              <a:ext uri="{FF2B5EF4-FFF2-40B4-BE49-F238E27FC236}">
                <a16:creationId xmlns:a16="http://schemas.microsoft.com/office/drawing/2014/main" id="{084C4D3D-6199-4261-B2F1-99140DF574BF}"/>
              </a:ext>
            </a:extLst>
          </p:cNvPr>
          <p:cNvSpPr txBox="1">
            <a:spLocks/>
          </p:cNvSpPr>
          <p:nvPr/>
        </p:nvSpPr>
        <p:spPr>
          <a:xfrm>
            <a:off x="8759572" y="4423984"/>
            <a:ext cx="1746427" cy="597628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colocación y originación en el canal trad.</a:t>
            </a:r>
          </a:p>
        </p:txBody>
      </p:sp>
      <p:sp>
        <p:nvSpPr>
          <p:cNvPr id="147" name="Marcador de contenido 5">
            <a:extLst>
              <a:ext uri="{FF2B5EF4-FFF2-40B4-BE49-F238E27FC236}">
                <a16:creationId xmlns:a16="http://schemas.microsoft.com/office/drawing/2014/main" id="{BB9939E6-E963-46D4-A0C3-30C1952B993D}"/>
              </a:ext>
            </a:extLst>
          </p:cNvPr>
          <p:cNvSpPr txBox="1">
            <a:spLocks/>
          </p:cNvSpPr>
          <p:nvPr/>
        </p:nvSpPr>
        <p:spPr>
          <a:xfrm>
            <a:off x="8759572" y="4094816"/>
            <a:ext cx="1746427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154" name="Marcador de contenido 5">
            <a:extLst>
              <a:ext uri="{FF2B5EF4-FFF2-40B4-BE49-F238E27FC236}">
                <a16:creationId xmlns:a16="http://schemas.microsoft.com/office/drawing/2014/main" id="{52A6D490-49DE-44A0-A485-F2C5BF38B0D1}"/>
              </a:ext>
            </a:extLst>
          </p:cNvPr>
          <p:cNvSpPr txBox="1">
            <a:spLocks/>
          </p:cNvSpPr>
          <p:nvPr/>
        </p:nvSpPr>
        <p:spPr>
          <a:xfrm>
            <a:off x="8759572" y="3774981"/>
            <a:ext cx="1746427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97" name="Conector angular 37">
            <a:extLst>
              <a:ext uri="{FF2B5EF4-FFF2-40B4-BE49-F238E27FC236}">
                <a16:creationId xmlns:a16="http://schemas.microsoft.com/office/drawing/2014/main" id="{57986F8E-92F5-464A-9E77-A1B69A54257B}"/>
              </a:ext>
            </a:extLst>
          </p:cNvPr>
          <p:cNvCxnSpPr>
            <a:cxnSpLocks/>
            <a:stCxn id="140" idx="2"/>
            <a:endCxn id="139" idx="3"/>
          </p:cNvCxnSpPr>
          <p:nvPr/>
        </p:nvCxnSpPr>
        <p:spPr>
          <a:xfrm rot="5400000">
            <a:off x="10811834" y="5054576"/>
            <a:ext cx="90157" cy="70182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0" name="Conector angular 37">
            <a:extLst>
              <a:ext uri="{FF2B5EF4-FFF2-40B4-BE49-F238E27FC236}">
                <a16:creationId xmlns:a16="http://schemas.microsoft.com/office/drawing/2014/main" id="{FC8ADB25-F2D9-4595-A6C9-94768A1CD11F}"/>
              </a:ext>
            </a:extLst>
          </p:cNvPr>
          <p:cNvCxnSpPr>
            <a:cxnSpLocks/>
            <a:stCxn id="154" idx="3"/>
            <a:endCxn id="140" idx="0"/>
          </p:cNvCxnSpPr>
          <p:nvPr/>
        </p:nvCxnSpPr>
        <p:spPr>
          <a:xfrm>
            <a:off x="10505999" y="3909981"/>
            <a:ext cx="701826" cy="103643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ector angular 37">
            <a:extLst>
              <a:ext uri="{FF2B5EF4-FFF2-40B4-BE49-F238E27FC236}">
                <a16:creationId xmlns:a16="http://schemas.microsoft.com/office/drawing/2014/main" id="{9607C070-CF0B-4C95-9A2C-D43D4B2D7DAE}"/>
              </a:ext>
            </a:extLst>
          </p:cNvPr>
          <p:cNvCxnSpPr>
            <a:cxnSpLocks/>
            <a:stCxn id="147" idx="3"/>
            <a:endCxn id="140" idx="0"/>
          </p:cNvCxnSpPr>
          <p:nvPr/>
        </p:nvCxnSpPr>
        <p:spPr>
          <a:xfrm>
            <a:off x="10505999" y="4229816"/>
            <a:ext cx="701826" cy="7165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6" name="Conector angular 37">
            <a:extLst>
              <a:ext uri="{FF2B5EF4-FFF2-40B4-BE49-F238E27FC236}">
                <a16:creationId xmlns:a16="http://schemas.microsoft.com/office/drawing/2014/main" id="{A49EB375-4663-40CB-A4A5-7CF6AAC57BAC}"/>
              </a:ext>
            </a:extLst>
          </p:cNvPr>
          <p:cNvCxnSpPr>
            <a:cxnSpLocks/>
            <a:stCxn id="142" idx="3"/>
            <a:endCxn id="140" idx="0"/>
          </p:cNvCxnSpPr>
          <p:nvPr/>
        </p:nvCxnSpPr>
        <p:spPr>
          <a:xfrm>
            <a:off x="10505999" y="4722798"/>
            <a:ext cx="701826" cy="2236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0" name="Conector recto de flecha 209">
            <a:extLst>
              <a:ext uri="{FF2B5EF4-FFF2-40B4-BE49-F238E27FC236}">
                <a16:creationId xmlns:a16="http://schemas.microsoft.com/office/drawing/2014/main" id="{FA344D26-35A6-4C56-9678-7192705CC945}"/>
              </a:ext>
            </a:extLst>
          </p:cNvPr>
          <p:cNvCxnSpPr>
            <a:cxnSpLocks/>
          </p:cNvCxnSpPr>
          <p:nvPr/>
        </p:nvCxnSpPr>
        <p:spPr>
          <a:xfrm flipH="1">
            <a:off x="8476636" y="5452079"/>
            <a:ext cx="27004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1" name="Conector recto de flecha 210">
            <a:extLst>
              <a:ext uri="{FF2B5EF4-FFF2-40B4-BE49-F238E27FC236}">
                <a16:creationId xmlns:a16="http://schemas.microsoft.com/office/drawing/2014/main" id="{1026C4AD-38B4-44F7-B647-D21931EEE145}"/>
              </a:ext>
            </a:extLst>
          </p:cNvPr>
          <p:cNvCxnSpPr>
            <a:cxnSpLocks/>
          </p:cNvCxnSpPr>
          <p:nvPr/>
        </p:nvCxnSpPr>
        <p:spPr>
          <a:xfrm>
            <a:off x="8476636" y="3909981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2" name="Conector recto de flecha 211">
            <a:extLst>
              <a:ext uri="{FF2B5EF4-FFF2-40B4-BE49-F238E27FC236}">
                <a16:creationId xmlns:a16="http://schemas.microsoft.com/office/drawing/2014/main" id="{6B74B936-2DD5-49F4-B1C7-087968EF5368}"/>
              </a:ext>
            </a:extLst>
          </p:cNvPr>
          <p:cNvCxnSpPr>
            <a:cxnSpLocks/>
          </p:cNvCxnSpPr>
          <p:nvPr/>
        </p:nvCxnSpPr>
        <p:spPr>
          <a:xfrm>
            <a:off x="8476636" y="4229816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3" name="Conector recto de flecha 212">
            <a:extLst>
              <a:ext uri="{FF2B5EF4-FFF2-40B4-BE49-F238E27FC236}">
                <a16:creationId xmlns:a16="http://schemas.microsoft.com/office/drawing/2014/main" id="{68A7A269-5AC4-4DE9-87E3-7806166173E8}"/>
              </a:ext>
            </a:extLst>
          </p:cNvPr>
          <p:cNvCxnSpPr>
            <a:cxnSpLocks/>
          </p:cNvCxnSpPr>
          <p:nvPr/>
        </p:nvCxnSpPr>
        <p:spPr>
          <a:xfrm>
            <a:off x="8476636" y="4722798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Marcador de contenido 5">
            <a:extLst>
              <a:ext uri="{FF2B5EF4-FFF2-40B4-BE49-F238E27FC236}">
                <a16:creationId xmlns:a16="http://schemas.microsoft.com/office/drawing/2014/main" id="{133FD1F4-F012-4144-8911-6B60216941EC}"/>
              </a:ext>
            </a:extLst>
          </p:cNvPr>
          <p:cNvSpPr txBox="1">
            <a:spLocks/>
          </p:cNvSpPr>
          <p:nvPr/>
        </p:nvSpPr>
        <p:spPr>
          <a:xfrm>
            <a:off x="1635606" y="5344457"/>
            <a:ext cx="1584000" cy="36512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sp>
        <p:nvSpPr>
          <p:cNvPr id="215" name="Rectángulo 214">
            <a:extLst>
              <a:ext uri="{FF2B5EF4-FFF2-40B4-BE49-F238E27FC236}">
                <a16:creationId xmlns:a16="http://schemas.microsoft.com/office/drawing/2014/main" id="{AB8E5819-CE5F-4D37-A37C-B721F3E6BF4E}"/>
              </a:ext>
            </a:extLst>
          </p:cNvPr>
          <p:cNvSpPr/>
          <p:nvPr/>
        </p:nvSpPr>
        <p:spPr>
          <a:xfrm>
            <a:off x="373363" y="4978002"/>
            <a:ext cx="1079001" cy="3651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Servicio al Cliente</a:t>
            </a:r>
          </a:p>
        </p:txBody>
      </p:sp>
      <p:sp>
        <p:nvSpPr>
          <p:cNvPr id="217" name="Marcador de contenido 5">
            <a:extLst>
              <a:ext uri="{FF2B5EF4-FFF2-40B4-BE49-F238E27FC236}">
                <a16:creationId xmlns:a16="http://schemas.microsoft.com/office/drawing/2014/main" id="{C65624C2-9EF6-4B34-BCF9-D1AE3A9A70DC}"/>
              </a:ext>
            </a:extLst>
          </p:cNvPr>
          <p:cNvSpPr txBox="1">
            <a:spLocks/>
          </p:cNvSpPr>
          <p:nvPr/>
        </p:nvSpPr>
        <p:spPr>
          <a:xfrm>
            <a:off x="1619696" y="4272246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218" name="Conector angular 37">
            <a:extLst>
              <a:ext uri="{FF2B5EF4-FFF2-40B4-BE49-F238E27FC236}">
                <a16:creationId xmlns:a16="http://schemas.microsoft.com/office/drawing/2014/main" id="{9CA3FDE6-C351-4664-8F94-639D9B54A2B8}"/>
              </a:ext>
            </a:extLst>
          </p:cNvPr>
          <p:cNvCxnSpPr>
            <a:cxnSpLocks/>
            <a:stCxn id="215" idx="2"/>
            <a:endCxn id="214" idx="1"/>
          </p:cNvCxnSpPr>
          <p:nvPr/>
        </p:nvCxnSpPr>
        <p:spPr>
          <a:xfrm rot="16200000" flipH="1">
            <a:off x="1182289" y="5073702"/>
            <a:ext cx="183893" cy="72274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1" name="Marcador de contenido 5">
            <a:extLst>
              <a:ext uri="{FF2B5EF4-FFF2-40B4-BE49-F238E27FC236}">
                <a16:creationId xmlns:a16="http://schemas.microsoft.com/office/drawing/2014/main" id="{5CE6CB66-1CCD-4203-893A-7E112CE90879}"/>
              </a:ext>
            </a:extLst>
          </p:cNvPr>
          <p:cNvSpPr txBox="1">
            <a:spLocks/>
          </p:cNvSpPr>
          <p:nvPr/>
        </p:nvSpPr>
        <p:spPr>
          <a:xfrm>
            <a:off x="1619696" y="4598434"/>
            <a:ext cx="1584000" cy="439988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calidad y nivel de servicio</a:t>
            </a:r>
          </a:p>
        </p:txBody>
      </p:sp>
      <p:cxnSp>
        <p:nvCxnSpPr>
          <p:cNvPr id="246" name="Conector recto de flecha 245">
            <a:extLst>
              <a:ext uri="{FF2B5EF4-FFF2-40B4-BE49-F238E27FC236}">
                <a16:creationId xmlns:a16="http://schemas.microsoft.com/office/drawing/2014/main" id="{134B3576-EE7E-42F0-B1E3-42061F383703}"/>
              </a:ext>
            </a:extLst>
          </p:cNvPr>
          <p:cNvCxnSpPr>
            <a:cxnSpLocks/>
          </p:cNvCxnSpPr>
          <p:nvPr/>
        </p:nvCxnSpPr>
        <p:spPr>
          <a:xfrm>
            <a:off x="3219606" y="3486678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8" name="Conector recto de flecha 247">
            <a:extLst>
              <a:ext uri="{FF2B5EF4-FFF2-40B4-BE49-F238E27FC236}">
                <a16:creationId xmlns:a16="http://schemas.microsoft.com/office/drawing/2014/main" id="{C087C812-6075-4E1D-938B-B447712DEB5F}"/>
              </a:ext>
            </a:extLst>
          </p:cNvPr>
          <p:cNvCxnSpPr>
            <a:cxnSpLocks/>
          </p:cNvCxnSpPr>
          <p:nvPr/>
        </p:nvCxnSpPr>
        <p:spPr>
          <a:xfrm>
            <a:off x="3219606" y="3954309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0" name="Conector recto de flecha 249">
            <a:extLst>
              <a:ext uri="{FF2B5EF4-FFF2-40B4-BE49-F238E27FC236}">
                <a16:creationId xmlns:a16="http://schemas.microsoft.com/office/drawing/2014/main" id="{9ECB000D-A406-4DBA-B3ED-A45C991FE2CC}"/>
              </a:ext>
            </a:extLst>
          </p:cNvPr>
          <p:cNvCxnSpPr>
            <a:cxnSpLocks/>
          </p:cNvCxnSpPr>
          <p:nvPr/>
        </p:nvCxnSpPr>
        <p:spPr>
          <a:xfrm>
            <a:off x="3219606" y="5527020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3" name="Conector recto de flecha 252">
            <a:extLst>
              <a:ext uri="{FF2B5EF4-FFF2-40B4-BE49-F238E27FC236}">
                <a16:creationId xmlns:a16="http://schemas.microsoft.com/office/drawing/2014/main" id="{9FAB232D-94CC-4036-B06D-75E9AAFCF5A0}"/>
              </a:ext>
            </a:extLst>
          </p:cNvPr>
          <p:cNvCxnSpPr>
            <a:cxnSpLocks/>
          </p:cNvCxnSpPr>
          <p:nvPr/>
        </p:nvCxnSpPr>
        <p:spPr>
          <a:xfrm flipH="1">
            <a:off x="3219606" y="2365635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4" name="Conector recto de flecha 253">
            <a:extLst>
              <a:ext uri="{FF2B5EF4-FFF2-40B4-BE49-F238E27FC236}">
                <a16:creationId xmlns:a16="http://schemas.microsoft.com/office/drawing/2014/main" id="{CEC3F7FC-B042-46A0-97AF-90F1A7241751}"/>
              </a:ext>
            </a:extLst>
          </p:cNvPr>
          <p:cNvCxnSpPr>
            <a:cxnSpLocks/>
          </p:cNvCxnSpPr>
          <p:nvPr/>
        </p:nvCxnSpPr>
        <p:spPr>
          <a:xfrm flipH="1">
            <a:off x="3219606" y="1947304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5" name="Conector recto de flecha 254">
            <a:extLst>
              <a:ext uri="{FF2B5EF4-FFF2-40B4-BE49-F238E27FC236}">
                <a16:creationId xmlns:a16="http://schemas.microsoft.com/office/drawing/2014/main" id="{E0059B02-68DD-42D1-B14F-76D45F740AF8}"/>
              </a:ext>
            </a:extLst>
          </p:cNvPr>
          <p:cNvCxnSpPr>
            <a:cxnSpLocks/>
          </p:cNvCxnSpPr>
          <p:nvPr/>
        </p:nvCxnSpPr>
        <p:spPr>
          <a:xfrm flipH="1">
            <a:off x="3219606" y="4440628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Marcador de pie de página 2">
            <a:extLst>
              <a:ext uri="{FF2B5EF4-FFF2-40B4-BE49-F238E27FC236}">
                <a16:creationId xmlns:a16="http://schemas.microsoft.com/office/drawing/2014/main" id="{FE380FCE-2AB1-420F-AF6D-A7DD1746B49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</a:t>
            </a:r>
            <a:br>
              <a:rPr lang="es-ES_tradnl"/>
            </a:br>
            <a:r>
              <a:rPr lang="es-ES_tradnl"/>
              <a:t>y/o responsabilidades; Fuente: Análisis Oval</a:t>
            </a:r>
          </a:p>
        </p:txBody>
      </p:sp>
      <p:cxnSp>
        <p:nvCxnSpPr>
          <p:cNvPr id="66" name="Conector angular 32">
            <a:extLst>
              <a:ext uri="{FF2B5EF4-FFF2-40B4-BE49-F238E27FC236}">
                <a16:creationId xmlns:a16="http://schemas.microsoft.com/office/drawing/2014/main" id="{BA5D3837-D438-4815-9C03-042D229F880F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505999" y="2255499"/>
            <a:ext cx="673203" cy="18529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recto de flecha 95">
            <a:extLst>
              <a:ext uri="{FF2B5EF4-FFF2-40B4-BE49-F238E27FC236}">
                <a16:creationId xmlns:a16="http://schemas.microsoft.com/office/drawing/2014/main" id="{10870C82-1CF5-41FB-940F-C559F99D02C1}"/>
              </a:ext>
            </a:extLst>
          </p:cNvPr>
          <p:cNvCxnSpPr>
            <a:cxnSpLocks/>
          </p:cNvCxnSpPr>
          <p:nvPr/>
        </p:nvCxnSpPr>
        <p:spPr>
          <a:xfrm>
            <a:off x="3219606" y="2957848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F40C7E73-580E-4640-863C-23C25D7EDCA6}"/>
              </a:ext>
            </a:extLst>
          </p:cNvPr>
          <p:cNvCxnSpPr>
            <a:cxnSpLocks/>
          </p:cNvCxnSpPr>
          <p:nvPr/>
        </p:nvCxnSpPr>
        <p:spPr>
          <a:xfrm flipH="1">
            <a:off x="3219606" y="4845648"/>
            <a:ext cx="32555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angular 37">
            <a:extLst>
              <a:ext uri="{FF2B5EF4-FFF2-40B4-BE49-F238E27FC236}">
                <a16:creationId xmlns:a16="http://schemas.microsoft.com/office/drawing/2014/main" id="{9D42F74C-3C26-44FE-94E1-E27785C07405}"/>
              </a:ext>
            </a:extLst>
          </p:cNvPr>
          <p:cNvCxnSpPr>
            <a:cxnSpLocks/>
            <a:stCxn id="217" idx="1"/>
            <a:endCxn id="215" idx="0"/>
          </p:cNvCxnSpPr>
          <p:nvPr/>
        </p:nvCxnSpPr>
        <p:spPr>
          <a:xfrm rot="10800000" flipV="1">
            <a:off x="912864" y="4407246"/>
            <a:ext cx="706832" cy="57075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6" name="Flecha: pentágono 225">
            <a:extLst>
              <a:ext uri="{FF2B5EF4-FFF2-40B4-BE49-F238E27FC236}">
                <a16:creationId xmlns:a16="http://schemas.microsoft.com/office/drawing/2014/main" id="{0961F5E6-6A10-4BCD-AAFD-F5BDEB538CA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27" name="Imagen 22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F0A1ED46-EAE4-4A6D-876E-1B03678A0A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65F4FC6F-6ADF-42ED-8BD9-90996E28E3B4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cxnSp>
        <p:nvCxnSpPr>
          <p:cNvPr id="74" name="Conector angular 37">
            <a:extLst>
              <a:ext uri="{FF2B5EF4-FFF2-40B4-BE49-F238E27FC236}">
                <a16:creationId xmlns:a16="http://schemas.microsoft.com/office/drawing/2014/main" id="{467086F2-5611-4203-9A5A-E9B98BB5CB9A}"/>
              </a:ext>
            </a:extLst>
          </p:cNvPr>
          <p:cNvCxnSpPr>
            <a:cxnSpLocks/>
            <a:stCxn id="221" idx="1"/>
            <a:endCxn id="215" idx="0"/>
          </p:cNvCxnSpPr>
          <p:nvPr/>
        </p:nvCxnSpPr>
        <p:spPr>
          <a:xfrm rot="10800000" flipV="1">
            <a:off x="912864" y="4818428"/>
            <a:ext cx="706832" cy="15957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8493BC97-42E5-4202-8961-E290BD07662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D6D26E18-0021-4901-85B2-F637293AD2D6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75059911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Libranza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35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Libranza liderará la gestión de la experiencia al cliente desde la mirada integral del producto y desde la gestión de la oferta de valor e impulsará su digitalización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482231" y="1493442"/>
            <a:ext cx="5161959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Libranza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482231" y="1868859"/>
            <a:ext cx="5161959" cy="39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ejecutar y hacer seguimiento a la estrategia del producto Libranzas con el fin de garantizar el cumplimiento de las metas comerciales y la mirada integral del producto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Impulsar y asumir el rol de sponsor de iniciativas de digitalización del producto de Libranza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estrategia de desarrollo, crecimiento y posicionamiento en el mercado del producto de Libranza, que permita incrementar su </a:t>
            </a:r>
            <a:r>
              <a:rPr lang="es-ES" sz="1200" err="1">
                <a:latin typeface="+mn-lt"/>
                <a:cs typeface="Calibri"/>
              </a:rPr>
              <a:t>rentab</a:t>
            </a:r>
            <a:r>
              <a:rPr lang="es-ES" sz="1200">
                <a:latin typeface="+mn-lt"/>
                <a:cs typeface="Calibri"/>
              </a:rPr>
              <a:t>. y </a:t>
            </a:r>
            <a:r>
              <a:rPr lang="es-ES" sz="1200" err="1">
                <a:latin typeface="+mn-lt"/>
                <a:cs typeface="Calibri"/>
              </a:rPr>
              <a:t>comp.</a:t>
            </a:r>
            <a:r>
              <a:rPr lang="es-ES" sz="1200">
                <a:latin typeface="+mn-lt"/>
                <a:cs typeface="Calibri"/>
              </a:rPr>
              <a:t> en todos los canales y zonas de cobertura de la </a:t>
            </a:r>
            <a:r>
              <a:rPr lang="es-ES" sz="1200" err="1">
                <a:latin typeface="+mn-lt"/>
                <a:cs typeface="Calibri"/>
              </a:rPr>
              <a:t>org</a:t>
            </a:r>
            <a:r>
              <a:rPr lang="es-ES" sz="1200">
                <a:latin typeface="+mn-lt"/>
                <a:cs typeface="Calibri"/>
              </a:rPr>
              <a:t>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Impulsar y asumir el rol de sponsor de iniciativas de digitalización del producto de Libranza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engranaje entre actores relevantes que participan en la gestión integral del producto – p.ej. Mercadeo, TI, </a:t>
            </a:r>
            <a:r>
              <a:rPr lang="es-ES" sz="1200" err="1">
                <a:latin typeface="+mn-lt"/>
                <a:cs typeface="Calibri"/>
              </a:rPr>
              <a:t>Op</a:t>
            </a:r>
            <a:r>
              <a:rPr lang="es-ES" sz="1200">
                <a:latin typeface="+mn-lt"/>
                <a:cs typeface="Calibri"/>
              </a:rPr>
              <a:t>, Riesgos, …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Responder por el </a:t>
            </a:r>
            <a:r>
              <a:rPr lang="es-ES" sz="1200" err="1">
                <a:latin typeface="+mn-lt"/>
                <a:cs typeface="Calibri"/>
              </a:rPr>
              <a:t>PyG</a:t>
            </a:r>
            <a:r>
              <a:rPr lang="es-ES" sz="1200">
                <a:latin typeface="+mn-lt"/>
                <a:cs typeface="Calibri"/>
              </a:rPr>
              <a:t> del producto de Libranza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 y desarrollo de nuevos productos bajo la línea de negocio de Libranza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Explorar oportunidades de alianzas o nuevas relaciones con terceros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Participar en conjunto con el área de riesgo, en la definición y ajuste de los niveles de riesgo, y garantizar su cumplimiento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497949" y="5921876"/>
            <a:ext cx="5130523" cy="8212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venta del producto – canal digital y tradicional; (2) Rentabilidad del producto; (3) Cumplimiento del plan de digitalización de Libranza; (4) NPS Cliente externo</a:t>
            </a:r>
          </a:p>
        </p:txBody>
      </p: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28901" y="1904186"/>
            <a:ext cx="643157" cy="24631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72057" y="2540536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53584" y="2257062"/>
            <a:ext cx="193789" cy="64315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24900" y="2150504"/>
            <a:ext cx="1008000" cy="331243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Libranza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572057" y="1644964"/>
            <a:ext cx="1584000" cy="51844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 y de gestión</a:t>
            </a:r>
          </a:p>
        </p:txBody>
      </p:sp>
      <p:sp>
        <p:nvSpPr>
          <p:cNvPr id="80" name="Rectángulo 79">
            <a:extLst>
              <a:ext uri="{FF2B5EF4-FFF2-40B4-BE49-F238E27FC236}">
                <a16:creationId xmlns:a16="http://schemas.microsoft.com/office/drawing/2014/main" id="{1FBF8B8F-5053-4E1D-BE86-9E5465ED22D6}"/>
              </a:ext>
            </a:extLst>
          </p:cNvPr>
          <p:cNvSpPr/>
          <p:nvPr/>
        </p:nvSpPr>
        <p:spPr>
          <a:xfrm>
            <a:off x="424900" y="4028606"/>
            <a:ext cx="1008000" cy="54650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desarrollo de proy. de digit.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96373941-F0BD-4DAC-9DB8-68FB69A6C3E0}"/>
              </a:ext>
            </a:extLst>
          </p:cNvPr>
          <p:cNvSpPr txBox="1">
            <a:spLocks/>
          </p:cNvSpPr>
          <p:nvPr/>
        </p:nvSpPr>
        <p:spPr>
          <a:xfrm>
            <a:off x="1572057" y="2867994"/>
            <a:ext cx="1584000" cy="27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Sponsor del proyecto</a:t>
            </a:r>
          </a:p>
        </p:txBody>
      </p:sp>
      <p:sp>
        <p:nvSpPr>
          <p:cNvPr id="83" name="Marcador de contenido 5">
            <a:extLst>
              <a:ext uri="{FF2B5EF4-FFF2-40B4-BE49-F238E27FC236}">
                <a16:creationId xmlns:a16="http://schemas.microsoft.com/office/drawing/2014/main" id="{4FF9EB81-8B41-491A-828E-4085BFDAC25A}"/>
              </a:ext>
            </a:extLst>
          </p:cNvPr>
          <p:cNvSpPr txBox="1">
            <a:spLocks/>
          </p:cNvSpPr>
          <p:nvPr/>
        </p:nvSpPr>
        <p:spPr>
          <a:xfrm>
            <a:off x="1572057" y="3188529"/>
            <a:ext cx="1584000" cy="461591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Conocimiento del mercado y producto</a:t>
            </a:r>
          </a:p>
        </p:txBody>
      </p:sp>
      <p:sp>
        <p:nvSpPr>
          <p:cNvPr id="84" name="Marcador de contenido 5">
            <a:extLst>
              <a:ext uri="{FF2B5EF4-FFF2-40B4-BE49-F238E27FC236}">
                <a16:creationId xmlns:a16="http://schemas.microsoft.com/office/drawing/2014/main" id="{30623CFE-2B8F-4C68-A730-5270D481C1F8}"/>
              </a:ext>
            </a:extLst>
          </p:cNvPr>
          <p:cNvSpPr txBox="1">
            <a:spLocks/>
          </p:cNvSpPr>
          <p:nvPr/>
        </p:nvSpPr>
        <p:spPr>
          <a:xfrm>
            <a:off x="1572057" y="5030640"/>
            <a:ext cx="1584000" cy="36512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86" name="Conector angular 26">
            <a:extLst>
              <a:ext uri="{FF2B5EF4-FFF2-40B4-BE49-F238E27FC236}">
                <a16:creationId xmlns:a16="http://schemas.microsoft.com/office/drawing/2014/main" id="{A6B7241A-E840-4DCE-891F-BFDF2DC733FF}"/>
              </a:ext>
            </a:extLst>
          </p:cNvPr>
          <p:cNvCxnSpPr>
            <a:cxnSpLocks/>
            <a:stCxn id="82" idx="1"/>
            <a:endCxn id="80" idx="0"/>
          </p:cNvCxnSpPr>
          <p:nvPr/>
        </p:nvCxnSpPr>
        <p:spPr>
          <a:xfrm rot="10800000" flipV="1">
            <a:off x="928901" y="3002994"/>
            <a:ext cx="643157" cy="102561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26">
            <a:extLst>
              <a:ext uri="{FF2B5EF4-FFF2-40B4-BE49-F238E27FC236}">
                <a16:creationId xmlns:a16="http://schemas.microsoft.com/office/drawing/2014/main" id="{01ED2A92-5B70-46E6-8D3D-ECD00B1E6DC4}"/>
              </a:ext>
            </a:extLst>
          </p:cNvPr>
          <p:cNvCxnSpPr>
            <a:cxnSpLocks/>
            <a:stCxn id="83" idx="1"/>
            <a:endCxn id="80" idx="0"/>
          </p:cNvCxnSpPr>
          <p:nvPr/>
        </p:nvCxnSpPr>
        <p:spPr>
          <a:xfrm rot="10800000" flipV="1">
            <a:off x="928901" y="3419324"/>
            <a:ext cx="643157" cy="6092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angular 26">
            <a:extLst>
              <a:ext uri="{FF2B5EF4-FFF2-40B4-BE49-F238E27FC236}">
                <a16:creationId xmlns:a16="http://schemas.microsoft.com/office/drawing/2014/main" id="{8547550D-427F-4063-8ACB-5F775CFD1454}"/>
              </a:ext>
            </a:extLst>
          </p:cNvPr>
          <p:cNvCxnSpPr>
            <a:cxnSpLocks/>
            <a:stCxn id="31" idx="2"/>
            <a:endCxn id="84" idx="1"/>
          </p:cNvCxnSpPr>
          <p:nvPr/>
        </p:nvCxnSpPr>
        <p:spPr>
          <a:xfrm rot="16200000" flipH="1">
            <a:off x="1154665" y="4795810"/>
            <a:ext cx="183769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Conector recto de flecha 116">
            <a:extLst>
              <a:ext uri="{FF2B5EF4-FFF2-40B4-BE49-F238E27FC236}">
                <a16:creationId xmlns:a16="http://schemas.microsoft.com/office/drawing/2014/main" id="{5DD9D7CF-F38A-4F64-B5F7-152FD7A4EA07}"/>
              </a:ext>
            </a:extLst>
          </p:cNvPr>
          <p:cNvCxnSpPr>
            <a:cxnSpLocks/>
          </p:cNvCxnSpPr>
          <p:nvPr/>
        </p:nvCxnSpPr>
        <p:spPr>
          <a:xfrm>
            <a:off x="3171776" y="521320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ector recto de flecha 117">
            <a:extLst>
              <a:ext uri="{FF2B5EF4-FFF2-40B4-BE49-F238E27FC236}">
                <a16:creationId xmlns:a16="http://schemas.microsoft.com/office/drawing/2014/main" id="{6E4ED59B-9199-4BB5-8495-E36699B5ED51}"/>
              </a:ext>
            </a:extLst>
          </p:cNvPr>
          <p:cNvCxnSpPr>
            <a:cxnSpLocks/>
          </p:cNvCxnSpPr>
          <p:nvPr/>
        </p:nvCxnSpPr>
        <p:spPr>
          <a:xfrm>
            <a:off x="3171776" y="2675536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ector recto de flecha 118">
            <a:extLst>
              <a:ext uri="{FF2B5EF4-FFF2-40B4-BE49-F238E27FC236}">
                <a16:creationId xmlns:a16="http://schemas.microsoft.com/office/drawing/2014/main" id="{C786356E-6885-4D46-BA91-7E6BA89D5C11}"/>
              </a:ext>
            </a:extLst>
          </p:cNvPr>
          <p:cNvCxnSpPr>
            <a:cxnSpLocks/>
          </p:cNvCxnSpPr>
          <p:nvPr/>
        </p:nvCxnSpPr>
        <p:spPr>
          <a:xfrm flipH="1">
            <a:off x="3156057" y="193232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ector recto de flecha 120">
            <a:extLst>
              <a:ext uri="{FF2B5EF4-FFF2-40B4-BE49-F238E27FC236}">
                <a16:creationId xmlns:a16="http://schemas.microsoft.com/office/drawing/2014/main" id="{67CB817C-EBAB-4A98-A614-972FE5F780F1}"/>
              </a:ext>
            </a:extLst>
          </p:cNvPr>
          <p:cNvCxnSpPr>
            <a:cxnSpLocks/>
          </p:cNvCxnSpPr>
          <p:nvPr/>
        </p:nvCxnSpPr>
        <p:spPr>
          <a:xfrm flipH="1">
            <a:off x="3156057" y="3002993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ector recto de flecha 121">
            <a:extLst>
              <a:ext uri="{FF2B5EF4-FFF2-40B4-BE49-F238E27FC236}">
                <a16:creationId xmlns:a16="http://schemas.microsoft.com/office/drawing/2014/main" id="{BA8BDB93-3FDF-4112-A4BB-2AC77E5E11A1}"/>
              </a:ext>
            </a:extLst>
          </p:cNvPr>
          <p:cNvCxnSpPr>
            <a:cxnSpLocks/>
          </p:cNvCxnSpPr>
          <p:nvPr/>
        </p:nvCxnSpPr>
        <p:spPr>
          <a:xfrm flipH="1">
            <a:off x="3156057" y="3419324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Marcador de pie de página 2">
            <a:extLst>
              <a:ext uri="{FF2B5EF4-FFF2-40B4-BE49-F238E27FC236}">
                <a16:creationId xmlns:a16="http://schemas.microsoft.com/office/drawing/2014/main" id="{664634EC-92E1-40D5-BE51-FE6CE748073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</a:t>
            </a:r>
            <a:br>
              <a:rPr lang="es-ES_tradnl"/>
            </a:br>
            <a:r>
              <a:rPr lang="es-ES_tradnl"/>
              <a:t>y/o responsabilidades; Fuente: Análisis Oval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C7A22213-D8A4-4C9F-AC27-74107089EF74}"/>
              </a:ext>
            </a:extLst>
          </p:cNvPr>
          <p:cNvSpPr txBox="1">
            <a:spLocks/>
          </p:cNvSpPr>
          <p:nvPr/>
        </p:nvSpPr>
        <p:spPr>
          <a:xfrm>
            <a:off x="1572057" y="5432946"/>
            <a:ext cx="1584000" cy="52651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 de entendimiento del producto y el mercado</a:t>
            </a:r>
          </a:p>
        </p:txBody>
      </p: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577E69F0-3847-47A3-80B5-3C7E209BA6A5}"/>
              </a:ext>
            </a:extLst>
          </p:cNvPr>
          <p:cNvCxnSpPr>
            <a:cxnSpLocks/>
          </p:cNvCxnSpPr>
          <p:nvPr/>
        </p:nvCxnSpPr>
        <p:spPr>
          <a:xfrm>
            <a:off x="3174950" y="5675155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Rectángulo 30">
            <a:extLst>
              <a:ext uri="{FF2B5EF4-FFF2-40B4-BE49-F238E27FC236}">
                <a16:creationId xmlns:a16="http://schemas.microsoft.com/office/drawing/2014/main" id="{410AC10C-4213-469C-94A7-AF729A50706C}"/>
              </a:ext>
            </a:extLst>
          </p:cNvPr>
          <p:cNvSpPr/>
          <p:nvPr/>
        </p:nvSpPr>
        <p:spPr>
          <a:xfrm>
            <a:off x="417041" y="4621540"/>
            <a:ext cx="1008000" cy="407894"/>
          </a:xfrm>
          <a:prstGeom prst="rect">
            <a:avLst/>
          </a:prstGeom>
          <a:solidFill>
            <a:schemeClr val="accent1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Coord. Diseño UI/UX</a:t>
            </a:r>
          </a:p>
        </p:txBody>
      </p:sp>
      <p:cxnSp>
        <p:nvCxnSpPr>
          <p:cNvPr id="76" name="Conector angular 26">
            <a:extLst>
              <a:ext uri="{FF2B5EF4-FFF2-40B4-BE49-F238E27FC236}">
                <a16:creationId xmlns:a16="http://schemas.microsoft.com/office/drawing/2014/main" id="{523C28AF-2099-4B50-AEA1-B5E3C543B737}"/>
              </a:ext>
            </a:extLst>
          </p:cNvPr>
          <p:cNvCxnSpPr>
            <a:cxnSpLocks/>
            <a:stCxn id="31" idx="2"/>
            <a:endCxn id="26" idx="1"/>
          </p:cNvCxnSpPr>
          <p:nvPr/>
        </p:nvCxnSpPr>
        <p:spPr>
          <a:xfrm rot="16200000" flipH="1">
            <a:off x="913166" y="5037309"/>
            <a:ext cx="666767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Marcador de contenido 5">
            <a:extLst>
              <a:ext uri="{FF2B5EF4-FFF2-40B4-BE49-F238E27FC236}">
                <a16:creationId xmlns:a16="http://schemas.microsoft.com/office/drawing/2014/main" id="{DE4000A0-7004-4E23-9009-4B0A9002A0A8}"/>
              </a:ext>
            </a:extLst>
          </p:cNvPr>
          <p:cNvSpPr txBox="1">
            <a:spLocks/>
          </p:cNvSpPr>
          <p:nvPr/>
        </p:nvSpPr>
        <p:spPr>
          <a:xfrm>
            <a:off x="1572057" y="3715012"/>
            <a:ext cx="1584000" cy="40425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Recomendaciones y solicitudes de ajuste</a:t>
            </a:r>
          </a:p>
        </p:txBody>
      </p:sp>
      <p:cxnSp>
        <p:nvCxnSpPr>
          <p:cNvPr id="90" name="Conector angular 26">
            <a:extLst>
              <a:ext uri="{FF2B5EF4-FFF2-40B4-BE49-F238E27FC236}">
                <a16:creationId xmlns:a16="http://schemas.microsoft.com/office/drawing/2014/main" id="{3B12BD14-6489-470E-9198-F004AE3BCF66}"/>
              </a:ext>
            </a:extLst>
          </p:cNvPr>
          <p:cNvCxnSpPr>
            <a:cxnSpLocks/>
            <a:stCxn id="81" idx="1"/>
            <a:endCxn id="80" idx="0"/>
          </p:cNvCxnSpPr>
          <p:nvPr/>
        </p:nvCxnSpPr>
        <p:spPr>
          <a:xfrm rot="10800000" flipV="1">
            <a:off x="928901" y="3917140"/>
            <a:ext cx="643157" cy="11146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EA6628CE-7CAD-43BA-800E-C1847AC47789}"/>
              </a:ext>
            </a:extLst>
          </p:cNvPr>
          <p:cNvCxnSpPr>
            <a:cxnSpLocks/>
          </p:cNvCxnSpPr>
          <p:nvPr/>
        </p:nvCxnSpPr>
        <p:spPr>
          <a:xfrm flipH="1">
            <a:off x="3156057" y="3927622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Flecha: pentágono 32">
            <a:extLst>
              <a:ext uri="{FF2B5EF4-FFF2-40B4-BE49-F238E27FC236}">
                <a16:creationId xmlns:a16="http://schemas.microsoft.com/office/drawing/2014/main" id="{847F7074-C9A8-4086-B746-76C4BCE56414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34" name="Imagen 33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4C0799B-B31A-4A3C-BD6F-6D801E28E9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5E2F1CCA-192B-467D-BCCC-D50864208E98}"/>
              </a:ext>
            </a:extLst>
          </p:cNvPr>
          <p:cNvSpPr txBox="1">
            <a:spLocks/>
          </p:cNvSpPr>
          <p:nvPr/>
        </p:nvSpPr>
        <p:spPr>
          <a:xfrm>
            <a:off x="8970363" y="1414292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del producto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F946F602-5352-4CC7-AC28-D93391E1ACAE}"/>
              </a:ext>
            </a:extLst>
          </p:cNvPr>
          <p:cNvSpPr/>
          <p:nvPr/>
        </p:nvSpPr>
        <p:spPr>
          <a:xfrm>
            <a:off x="10837216" y="2502480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</a:t>
            </a:r>
            <a:r>
              <a:rPr lang="es-CO" sz="1100" err="1"/>
              <a:t>Comerc</a:t>
            </a:r>
            <a:r>
              <a:rPr lang="es-CO" sz="1100"/>
              <a:t>. y de Servicio</a:t>
            </a:r>
          </a:p>
        </p:txBody>
      </p:sp>
      <p:cxnSp>
        <p:nvCxnSpPr>
          <p:cNvPr id="71" name="Conector angular 32">
            <a:extLst>
              <a:ext uri="{FF2B5EF4-FFF2-40B4-BE49-F238E27FC236}">
                <a16:creationId xmlns:a16="http://schemas.microsoft.com/office/drawing/2014/main" id="{5E1B5D92-DB79-4518-83BA-E652D1ADDDB9}"/>
              </a:ext>
            </a:extLst>
          </p:cNvPr>
          <p:cNvCxnSpPr>
            <a:cxnSpLocks/>
            <a:stCxn id="69" idx="3"/>
            <a:endCxn id="70" idx="0"/>
          </p:cNvCxnSpPr>
          <p:nvPr/>
        </p:nvCxnSpPr>
        <p:spPr>
          <a:xfrm>
            <a:off x="10554363" y="1549292"/>
            <a:ext cx="786853" cy="9531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72E13656-94CC-45BB-AAF5-9FD7C28A8ADC}"/>
              </a:ext>
            </a:extLst>
          </p:cNvPr>
          <p:cNvSpPr txBox="1">
            <a:spLocks/>
          </p:cNvSpPr>
          <p:nvPr/>
        </p:nvSpPr>
        <p:spPr>
          <a:xfrm>
            <a:off x="8970363" y="2811919"/>
            <a:ext cx="1584000" cy="32395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del Producto Aprobada</a:t>
            </a:r>
          </a:p>
        </p:txBody>
      </p:sp>
      <p:cxnSp>
        <p:nvCxnSpPr>
          <p:cNvPr id="73" name="Conector angular 37">
            <a:extLst>
              <a:ext uri="{FF2B5EF4-FFF2-40B4-BE49-F238E27FC236}">
                <a16:creationId xmlns:a16="http://schemas.microsoft.com/office/drawing/2014/main" id="{EDF08228-D6DE-410E-8B88-007F7E967E4E}"/>
              </a:ext>
            </a:extLst>
          </p:cNvPr>
          <p:cNvCxnSpPr>
            <a:cxnSpLocks/>
            <a:stCxn id="70" idx="2"/>
            <a:endCxn id="72" idx="3"/>
          </p:cNvCxnSpPr>
          <p:nvPr/>
        </p:nvCxnSpPr>
        <p:spPr>
          <a:xfrm rot="5400000">
            <a:off x="10894643" y="2527325"/>
            <a:ext cx="106295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9EEA00A0-1FE9-4716-BFE8-97DA32E56810}"/>
              </a:ext>
            </a:extLst>
          </p:cNvPr>
          <p:cNvCxnSpPr>
            <a:cxnSpLocks/>
          </p:cNvCxnSpPr>
          <p:nvPr/>
        </p:nvCxnSpPr>
        <p:spPr>
          <a:xfrm>
            <a:off x="8628472" y="1549292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Marcador de contenido 5">
            <a:extLst>
              <a:ext uri="{FF2B5EF4-FFF2-40B4-BE49-F238E27FC236}">
                <a16:creationId xmlns:a16="http://schemas.microsoft.com/office/drawing/2014/main" id="{878D2D6F-7C95-428A-88D9-027BCDF7C11B}"/>
              </a:ext>
            </a:extLst>
          </p:cNvPr>
          <p:cNvSpPr txBox="1">
            <a:spLocks/>
          </p:cNvSpPr>
          <p:nvPr/>
        </p:nvSpPr>
        <p:spPr>
          <a:xfrm>
            <a:off x="8970363" y="2155574"/>
            <a:ext cx="1584000" cy="53563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Propuesta nuevos productos bajo la línea de negocio de Libranza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8A7034F4-2661-436A-9FD5-9D1D2B5A6266}"/>
              </a:ext>
            </a:extLst>
          </p:cNvPr>
          <p:cNvSpPr txBox="1">
            <a:spLocks/>
          </p:cNvSpPr>
          <p:nvPr/>
        </p:nvSpPr>
        <p:spPr>
          <a:xfrm>
            <a:off x="8970363" y="3208028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78" name="Marcador de contenido 5">
            <a:extLst>
              <a:ext uri="{FF2B5EF4-FFF2-40B4-BE49-F238E27FC236}">
                <a16:creationId xmlns:a16="http://schemas.microsoft.com/office/drawing/2014/main" id="{D10D5390-4E26-4F9D-88B4-2FDE53877554}"/>
              </a:ext>
            </a:extLst>
          </p:cNvPr>
          <p:cNvSpPr txBox="1">
            <a:spLocks/>
          </p:cNvSpPr>
          <p:nvPr/>
        </p:nvSpPr>
        <p:spPr>
          <a:xfrm>
            <a:off x="8970363" y="1744271"/>
            <a:ext cx="1584000" cy="3586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79" name="Conector angular 37">
            <a:extLst>
              <a:ext uri="{FF2B5EF4-FFF2-40B4-BE49-F238E27FC236}">
                <a16:creationId xmlns:a16="http://schemas.microsoft.com/office/drawing/2014/main" id="{F60C21EB-79A7-4F64-BA10-65C306B46A54}"/>
              </a:ext>
            </a:extLst>
          </p:cNvPr>
          <p:cNvCxnSpPr>
            <a:cxnSpLocks/>
            <a:stCxn id="70" idx="2"/>
            <a:endCxn id="77" idx="3"/>
          </p:cNvCxnSpPr>
          <p:nvPr/>
        </p:nvCxnSpPr>
        <p:spPr>
          <a:xfrm rot="5400000">
            <a:off x="10710078" y="2711890"/>
            <a:ext cx="475424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ángulo 84">
            <a:extLst>
              <a:ext uri="{FF2B5EF4-FFF2-40B4-BE49-F238E27FC236}">
                <a16:creationId xmlns:a16="http://schemas.microsoft.com/office/drawing/2014/main" id="{55BBDC87-31BE-4F76-999C-42EBE6E96798}"/>
              </a:ext>
            </a:extLst>
          </p:cNvPr>
          <p:cNvSpPr/>
          <p:nvPr/>
        </p:nvSpPr>
        <p:spPr>
          <a:xfrm>
            <a:off x="10837216" y="4838013"/>
            <a:ext cx="1008000" cy="73284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Actores que participan en en la gestión integral del p.</a:t>
            </a:r>
          </a:p>
        </p:txBody>
      </p:sp>
      <p:sp>
        <p:nvSpPr>
          <p:cNvPr id="87" name="Marcador de contenido 5">
            <a:extLst>
              <a:ext uri="{FF2B5EF4-FFF2-40B4-BE49-F238E27FC236}">
                <a16:creationId xmlns:a16="http://schemas.microsoft.com/office/drawing/2014/main" id="{348FF5E4-C745-40C3-9A61-F5D1D1994FE4}"/>
              </a:ext>
            </a:extLst>
          </p:cNvPr>
          <p:cNvSpPr txBox="1">
            <a:spLocks/>
          </p:cNvSpPr>
          <p:nvPr/>
        </p:nvSpPr>
        <p:spPr>
          <a:xfrm>
            <a:off x="8970363" y="4557258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88" name="Conector angular 37">
            <a:extLst>
              <a:ext uri="{FF2B5EF4-FFF2-40B4-BE49-F238E27FC236}">
                <a16:creationId xmlns:a16="http://schemas.microsoft.com/office/drawing/2014/main" id="{6BC12180-930F-4107-AA9D-033311B94C11}"/>
              </a:ext>
            </a:extLst>
          </p:cNvPr>
          <p:cNvCxnSpPr>
            <a:cxnSpLocks/>
            <a:stCxn id="85" idx="2"/>
            <a:endCxn id="123" idx="3"/>
          </p:cNvCxnSpPr>
          <p:nvPr/>
        </p:nvCxnSpPr>
        <p:spPr>
          <a:xfrm rot="5400000">
            <a:off x="10925001" y="5200220"/>
            <a:ext cx="45578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angular 37">
            <a:extLst>
              <a:ext uri="{FF2B5EF4-FFF2-40B4-BE49-F238E27FC236}">
                <a16:creationId xmlns:a16="http://schemas.microsoft.com/office/drawing/2014/main" id="{BC3C7344-F509-4D05-877F-798A0B357D24}"/>
              </a:ext>
            </a:extLst>
          </p:cNvPr>
          <p:cNvCxnSpPr>
            <a:cxnSpLocks/>
            <a:stCxn id="87" idx="3"/>
            <a:endCxn id="85" idx="0"/>
          </p:cNvCxnSpPr>
          <p:nvPr/>
        </p:nvCxnSpPr>
        <p:spPr>
          <a:xfrm>
            <a:off x="10554363" y="4728132"/>
            <a:ext cx="786853" cy="1098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recto de flecha 91">
            <a:extLst>
              <a:ext uri="{FF2B5EF4-FFF2-40B4-BE49-F238E27FC236}">
                <a16:creationId xmlns:a16="http://schemas.microsoft.com/office/drawing/2014/main" id="{CEC2E5BC-AAC3-468E-BC3A-B0EE60EEB250}"/>
              </a:ext>
            </a:extLst>
          </p:cNvPr>
          <p:cNvCxnSpPr>
            <a:cxnSpLocks/>
          </p:cNvCxnSpPr>
          <p:nvPr/>
        </p:nvCxnSpPr>
        <p:spPr>
          <a:xfrm>
            <a:off x="8628472" y="1905188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92B5F37C-E288-4ACF-8E25-E19A483CBA03}"/>
              </a:ext>
            </a:extLst>
          </p:cNvPr>
          <p:cNvCxnSpPr>
            <a:cxnSpLocks/>
          </p:cNvCxnSpPr>
          <p:nvPr/>
        </p:nvCxnSpPr>
        <p:spPr>
          <a:xfrm>
            <a:off x="8628472" y="2340371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recto de flecha 95">
            <a:extLst>
              <a:ext uri="{FF2B5EF4-FFF2-40B4-BE49-F238E27FC236}">
                <a16:creationId xmlns:a16="http://schemas.microsoft.com/office/drawing/2014/main" id="{D5E02ADD-8495-4AEE-A2B5-E28734A8045F}"/>
              </a:ext>
            </a:extLst>
          </p:cNvPr>
          <p:cNvCxnSpPr>
            <a:cxnSpLocks/>
          </p:cNvCxnSpPr>
          <p:nvPr/>
        </p:nvCxnSpPr>
        <p:spPr>
          <a:xfrm>
            <a:off x="8628472" y="4676031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99874486-156F-4579-B001-435F2CE05CEF}"/>
              </a:ext>
            </a:extLst>
          </p:cNvPr>
          <p:cNvCxnSpPr>
            <a:cxnSpLocks/>
          </p:cNvCxnSpPr>
          <p:nvPr/>
        </p:nvCxnSpPr>
        <p:spPr>
          <a:xfrm flipH="1">
            <a:off x="8628472" y="2973898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3A94033C-CC37-4F92-AB84-A5027602D9E0}"/>
              </a:ext>
            </a:extLst>
          </p:cNvPr>
          <p:cNvCxnSpPr>
            <a:cxnSpLocks/>
          </p:cNvCxnSpPr>
          <p:nvPr/>
        </p:nvCxnSpPr>
        <p:spPr>
          <a:xfrm flipH="1">
            <a:off x="8628472" y="3343028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FA24F575-ABAE-4B3E-9E1D-509ECA699385}"/>
              </a:ext>
            </a:extLst>
          </p:cNvPr>
          <p:cNvCxnSpPr>
            <a:cxnSpLocks/>
          </p:cNvCxnSpPr>
          <p:nvPr/>
        </p:nvCxnSpPr>
        <p:spPr>
          <a:xfrm flipH="1">
            <a:off x="8628472" y="5645921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angular 32">
            <a:extLst>
              <a:ext uri="{FF2B5EF4-FFF2-40B4-BE49-F238E27FC236}">
                <a16:creationId xmlns:a16="http://schemas.microsoft.com/office/drawing/2014/main" id="{F6817CA8-23AD-4708-B8F3-2DD6153D197E}"/>
              </a:ext>
            </a:extLst>
          </p:cNvPr>
          <p:cNvCxnSpPr>
            <a:cxnSpLocks/>
            <a:stCxn id="78" idx="3"/>
            <a:endCxn id="70" idx="0"/>
          </p:cNvCxnSpPr>
          <p:nvPr/>
        </p:nvCxnSpPr>
        <p:spPr>
          <a:xfrm>
            <a:off x="10554363" y="1923585"/>
            <a:ext cx="786853" cy="5788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ector angular 32">
            <a:extLst>
              <a:ext uri="{FF2B5EF4-FFF2-40B4-BE49-F238E27FC236}">
                <a16:creationId xmlns:a16="http://schemas.microsoft.com/office/drawing/2014/main" id="{A10F0A26-AFF4-4E3B-845B-800079476FD1}"/>
              </a:ext>
            </a:extLst>
          </p:cNvPr>
          <p:cNvCxnSpPr>
            <a:cxnSpLocks/>
            <a:stCxn id="75" idx="3"/>
            <a:endCxn id="70" idx="0"/>
          </p:cNvCxnSpPr>
          <p:nvPr/>
        </p:nvCxnSpPr>
        <p:spPr>
          <a:xfrm>
            <a:off x="10554363" y="2423393"/>
            <a:ext cx="786853" cy="7908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Rectángulo 102">
            <a:extLst>
              <a:ext uri="{FF2B5EF4-FFF2-40B4-BE49-F238E27FC236}">
                <a16:creationId xmlns:a16="http://schemas.microsoft.com/office/drawing/2014/main" id="{7FA8289F-B907-466D-AEDC-6F1C9B31230C}"/>
              </a:ext>
            </a:extLst>
          </p:cNvPr>
          <p:cNvSpPr/>
          <p:nvPr/>
        </p:nvSpPr>
        <p:spPr>
          <a:xfrm>
            <a:off x="10837216" y="3890687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J. Gestión de Convenios</a:t>
            </a:r>
          </a:p>
        </p:txBody>
      </p:sp>
      <p:sp>
        <p:nvSpPr>
          <p:cNvPr id="104" name="Marcador de contenido 5">
            <a:extLst>
              <a:ext uri="{FF2B5EF4-FFF2-40B4-BE49-F238E27FC236}">
                <a16:creationId xmlns:a16="http://schemas.microsoft.com/office/drawing/2014/main" id="{9B0F1320-C8F5-4110-A9CB-D1543A63A0CA}"/>
              </a:ext>
            </a:extLst>
          </p:cNvPr>
          <p:cNvSpPr txBox="1">
            <a:spLocks/>
          </p:cNvSpPr>
          <p:nvPr/>
        </p:nvSpPr>
        <p:spPr>
          <a:xfrm>
            <a:off x="8970363" y="4180640"/>
            <a:ext cx="1584000" cy="33463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105" name="Marcador de contenido 5">
            <a:extLst>
              <a:ext uri="{FF2B5EF4-FFF2-40B4-BE49-F238E27FC236}">
                <a16:creationId xmlns:a16="http://schemas.microsoft.com/office/drawing/2014/main" id="{9B0706D7-6740-42F7-B7C1-0F2FF4675CD2}"/>
              </a:ext>
            </a:extLst>
          </p:cNvPr>
          <p:cNvSpPr txBox="1">
            <a:spLocks/>
          </p:cNvSpPr>
          <p:nvPr/>
        </p:nvSpPr>
        <p:spPr>
          <a:xfrm>
            <a:off x="8970363" y="3553834"/>
            <a:ext cx="1584000" cy="47075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para la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admin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. operativa de convenios </a:t>
            </a:r>
          </a:p>
        </p:txBody>
      </p:sp>
      <p:cxnSp>
        <p:nvCxnSpPr>
          <p:cNvPr id="109" name="Conector angular 37">
            <a:extLst>
              <a:ext uri="{FF2B5EF4-FFF2-40B4-BE49-F238E27FC236}">
                <a16:creationId xmlns:a16="http://schemas.microsoft.com/office/drawing/2014/main" id="{74EE4E76-8217-4C45-AC8B-3B9539B5B56B}"/>
              </a:ext>
            </a:extLst>
          </p:cNvPr>
          <p:cNvCxnSpPr>
            <a:cxnSpLocks/>
            <a:stCxn id="103" idx="2"/>
            <a:endCxn id="104" idx="3"/>
          </p:cNvCxnSpPr>
          <p:nvPr/>
        </p:nvCxnSpPr>
        <p:spPr>
          <a:xfrm rot="5400000">
            <a:off x="10901716" y="3908459"/>
            <a:ext cx="92148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0" name="Conector angular 37">
            <a:extLst>
              <a:ext uri="{FF2B5EF4-FFF2-40B4-BE49-F238E27FC236}">
                <a16:creationId xmlns:a16="http://schemas.microsoft.com/office/drawing/2014/main" id="{74264118-9B51-4D20-8E3F-CE12DE8BFC49}"/>
              </a:ext>
            </a:extLst>
          </p:cNvPr>
          <p:cNvCxnSpPr>
            <a:cxnSpLocks/>
            <a:stCxn id="105" idx="3"/>
            <a:endCxn id="103" idx="0"/>
          </p:cNvCxnSpPr>
          <p:nvPr/>
        </p:nvCxnSpPr>
        <p:spPr>
          <a:xfrm>
            <a:off x="10554363" y="3789209"/>
            <a:ext cx="786853" cy="10147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3" name="Conector recto de flecha 112">
            <a:extLst>
              <a:ext uri="{FF2B5EF4-FFF2-40B4-BE49-F238E27FC236}">
                <a16:creationId xmlns:a16="http://schemas.microsoft.com/office/drawing/2014/main" id="{5E11C006-4B9B-45A7-9FFA-BC6CC4FA105B}"/>
              </a:ext>
            </a:extLst>
          </p:cNvPr>
          <p:cNvCxnSpPr>
            <a:cxnSpLocks/>
          </p:cNvCxnSpPr>
          <p:nvPr/>
        </p:nvCxnSpPr>
        <p:spPr>
          <a:xfrm flipH="1">
            <a:off x="8628472" y="4353279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Marcador de contenido 5">
            <a:extLst>
              <a:ext uri="{FF2B5EF4-FFF2-40B4-BE49-F238E27FC236}">
                <a16:creationId xmlns:a16="http://schemas.microsoft.com/office/drawing/2014/main" id="{11981E3D-EA9B-4673-A6A2-E3EC3B231308}"/>
              </a:ext>
            </a:extLst>
          </p:cNvPr>
          <p:cNvSpPr txBox="1">
            <a:spLocks/>
          </p:cNvSpPr>
          <p:nvPr/>
        </p:nvSpPr>
        <p:spPr>
          <a:xfrm>
            <a:off x="8970363" y="5445561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134" name="Conector recto de flecha 133">
            <a:extLst>
              <a:ext uri="{FF2B5EF4-FFF2-40B4-BE49-F238E27FC236}">
                <a16:creationId xmlns:a16="http://schemas.microsoft.com/office/drawing/2014/main" id="{DD1998A5-DD58-4609-9B15-CFA1D5B6AA29}"/>
              </a:ext>
            </a:extLst>
          </p:cNvPr>
          <p:cNvCxnSpPr>
            <a:cxnSpLocks/>
          </p:cNvCxnSpPr>
          <p:nvPr/>
        </p:nvCxnSpPr>
        <p:spPr>
          <a:xfrm>
            <a:off x="8628472" y="3789209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Bocadillo: rectángulo con esquinas redondeadas 134">
            <a:extLst>
              <a:ext uri="{FF2B5EF4-FFF2-40B4-BE49-F238E27FC236}">
                <a16:creationId xmlns:a16="http://schemas.microsoft.com/office/drawing/2014/main" id="{A0302D7C-2F12-428E-A3C3-95FD69BC885C}"/>
              </a:ext>
            </a:extLst>
          </p:cNvPr>
          <p:cNvSpPr/>
          <p:nvPr/>
        </p:nvSpPr>
        <p:spPr>
          <a:xfrm>
            <a:off x="10506000" y="5764408"/>
            <a:ext cx="1583994" cy="569815"/>
          </a:xfrm>
          <a:prstGeom prst="wedgeRoundRectCallout">
            <a:avLst>
              <a:gd name="adj1" fmla="val 21149"/>
              <a:gd name="adj2" fmla="val -8003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G. Mercadeo, G. Regionales, VP de TI, G. de Operaciones, G. de Riesgos, G. Cobranza</a:t>
            </a: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D23D48E-16E6-40CD-A614-5776580D30C7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652ECC3-1A26-4DA4-B014-7E5C47C3C85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8E9E050B-2CCF-41CC-B745-A4D8FCC768B5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1213426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Jefe de Gestión de Convenios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36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Jefe de Gestión de Convenios apoyará </a:t>
            </a:r>
            <a:r>
              <a:rPr lang="es-CO" sz="2000">
                <a:latin typeface="+mn-lt"/>
                <a:cs typeface="Calibri"/>
              </a:rPr>
              <a:t>la gestión integral de las relación con las pagadurías actuales y la revisión y aprobación de nuevos convenios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Jefe de Gestión de Convenios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4844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Apoyar la gestión integral y mantenimiento de las relaciones con las pagadurías actuales así como la identificación y desarrollo de nuevos convenios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Hacer seguimiento al estado de las pagadurías – Apoyar a la Gerente de libranzas en el desarrollo de propuestas, estrategias y planes de acción para el crecimiento de convenios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oportunidades de convenios con alto potencial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revisión y aprobación de nuevos convenios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Desbloquear y gestionar inconvenientes que se presentan con las pagadurías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oportuna actualización de las novedades de las libranzas asegurando que sea la misma entre las pagadurías y BCF/CV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la identificación de iniciativas que permitan una interacción más fluida entre los 3 actores involucrados en el proceso de la libranza (BCF/CV, Pagaduría y beneficiario) – interoperabilidad, auditabilidad, flujo de información adecuado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Por definir </a:t>
            </a:r>
          </a:p>
        </p:txBody>
      </p: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997671"/>
            <a:ext cx="883936" cy="29094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745069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Inconvenientes presentados con las pagadurías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20728" y="3370766"/>
            <a:ext cx="364130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165227" y="2997671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288611"/>
            <a:ext cx="1008000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Operaciones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21694" y="2704057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Novedades de estados de las pagadurías</a:t>
            </a:r>
          </a:p>
        </p:txBody>
      </p:sp>
      <p:sp>
        <p:nvSpPr>
          <p:cNvPr id="4" name="Flecha: pentágono 3">
            <a:extLst>
              <a:ext uri="{FF2B5EF4-FFF2-40B4-BE49-F238E27FC236}">
                <a16:creationId xmlns:a16="http://schemas.microsoft.com/office/drawing/2014/main" id="{606767C1-0947-48CD-829D-E32C45B3B63D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0" name="Signo más 19">
            <a:extLst>
              <a:ext uri="{FF2B5EF4-FFF2-40B4-BE49-F238E27FC236}">
                <a16:creationId xmlns:a16="http://schemas.microsoft.com/office/drawing/2014/main" id="{287E9A44-1159-4C98-B5C5-3BB9874A5940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3AA83D1D-B111-46AB-B2ED-A43644B55110}"/>
              </a:ext>
            </a:extLst>
          </p:cNvPr>
          <p:cNvSpPr/>
          <p:nvPr/>
        </p:nvSpPr>
        <p:spPr>
          <a:xfrm>
            <a:off x="10710734" y="3195627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Libranzas</a:t>
            </a:r>
          </a:p>
        </p:txBody>
      </p:sp>
      <p:sp>
        <p:nvSpPr>
          <p:cNvPr id="29" name="Marcador de contenido 5">
            <a:extLst>
              <a:ext uri="{FF2B5EF4-FFF2-40B4-BE49-F238E27FC236}">
                <a16:creationId xmlns:a16="http://schemas.microsoft.com/office/drawing/2014/main" id="{80296D54-CC5B-4E90-9EA7-07AAA8501DFE}"/>
              </a:ext>
            </a:extLst>
          </p:cNvPr>
          <p:cNvSpPr txBox="1">
            <a:spLocks/>
          </p:cNvSpPr>
          <p:nvPr/>
        </p:nvSpPr>
        <p:spPr>
          <a:xfrm>
            <a:off x="8843881" y="2536738"/>
            <a:ext cx="1584000" cy="33463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30" name="Marcador de contenido 5">
            <a:extLst>
              <a:ext uri="{FF2B5EF4-FFF2-40B4-BE49-F238E27FC236}">
                <a16:creationId xmlns:a16="http://schemas.microsoft.com/office/drawing/2014/main" id="{1B71CA9B-041E-404A-8081-118A17C18248}"/>
              </a:ext>
            </a:extLst>
          </p:cNvPr>
          <p:cNvSpPr txBox="1">
            <a:spLocks/>
          </p:cNvSpPr>
          <p:nvPr/>
        </p:nvSpPr>
        <p:spPr>
          <a:xfrm>
            <a:off x="8843881" y="3734263"/>
            <a:ext cx="1584000" cy="47075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para la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admin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. operativa de convenios </a:t>
            </a:r>
          </a:p>
        </p:txBody>
      </p:sp>
      <p:cxnSp>
        <p:nvCxnSpPr>
          <p:cNvPr id="34" name="Conector recto de flecha 33">
            <a:extLst>
              <a:ext uri="{FF2B5EF4-FFF2-40B4-BE49-F238E27FC236}">
                <a16:creationId xmlns:a16="http://schemas.microsoft.com/office/drawing/2014/main" id="{D1133D3C-C2CE-4835-BFC5-32F9BCCD4C44}"/>
              </a:ext>
            </a:extLst>
          </p:cNvPr>
          <p:cNvCxnSpPr>
            <a:cxnSpLocks/>
          </p:cNvCxnSpPr>
          <p:nvPr/>
        </p:nvCxnSpPr>
        <p:spPr>
          <a:xfrm flipH="1">
            <a:off x="8501990" y="3949097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de flecha 34">
            <a:extLst>
              <a:ext uri="{FF2B5EF4-FFF2-40B4-BE49-F238E27FC236}">
                <a16:creationId xmlns:a16="http://schemas.microsoft.com/office/drawing/2014/main" id="{638A5E85-E9BD-45F0-B0E3-F8842C3E0E9E}"/>
              </a:ext>
            </a:extLst>
          </p:cNvPr>
          <p:cNvCxnSpPr>
            <a:cxnSpLocks/>
          </p:cNvCxnSpPr>
          <p:nvPr/>
        </p:nvCxnSpPr>
        <p:spPr>
          <a:xfrm>
            <a:off x="8501990" y="269979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ctor angular 37">
            <a:extLst>
              <a:ext uri="{FF2B5EF4-FFF2-40B4-BE49-F238E27FC236}">
                <a16:creationId xmlns:a16="http://schemas.microsoft.com/office/drawing/2014/main" id="{866465D3-66AA-4260-8718-FF592F10F366}"/>
              </a:ext>
            </a:extLst>
          </p:cNvPr>
          <p:cNvCxnSpPr>
            <a:cxnSpLocks/>
            <a:stCxn id="28" idx="2"/>
            <a:endCxn id="30" idx="3"/>
          </p:cNvCxnSpPr>
          <p:nvPr/>
        </p:nvCxnSpPr>
        <p:spPr>
          <a:xfrm rot="5400000">
            <a:off x="10616865" y="3371768"/>
            <a:ext cx="408887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angular 37">
            <a:extLst>
              <a:ext uri="{FF2B5EF4-FFF2-40B4-BE49-F238E27FC236}">
                <a16:creationId xmlns:a16="http://schemas.microsoft.com/office/drawing/2014/main" id="{8D4EEFD1-2093-4CB2-BEFA-BAF1C2E088C0}"/>
              </a:ext>
            </a:extLst>
          </p:cNvPr>
          <p:cNvCxnSpPr>
            <a:cxnSpLocks/>
            <a:stCxn id="29" idx="3"/>
            <a:endCxn id="28" idx="0"/>
          </p:cNvCxnSpPr>
          <p:nvPr/>
        </p:nvCxnSpPr>
        <p:spPr>
          <a:xfrm>
            <a:off x="10427881" y="2704057"/>
            <a:ext cx="786853" cy="4915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recto de flecha 62">
            <a:extLst>
              <a:ext uri="{FF2B5EF4-FFF2-40B4-BE49-F238E27FC236}">
                <a16:creationId xmlns:a16="http://schemas.microsoft.com/office/drawing/2014/main" id="{58515CF7-F262-4466-BFA1-DBB8E73AE2DB}"/>
              </a:ext>
            </a:extLst>
          </p:cNvPr>
          <p:cNvCxnSpPr>
            <a:cxnSpLocks/>
          </p:cNvCxnSpPr>
          <p:nvPr/>
        </p:nvCxnSpPr>
        <p:spPr>
          <a:xfrm>
            <a:off x="3211361" y="4017866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341A9BA-1F70-4367-B06C-83674E81D749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029678CC-943C-4C06-B7EE-851F8661B6BD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02131525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Microcrédito y PyME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37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Micro y PyME liderará la gestión de la experiencia al cliente desde la mirada integral del producto y desde la gestión de la oferta de valor e impulsará su digitalización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482231" y="1493442"/>
            <a:ext cx="5161959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Microcrédito y PyME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482231" y="1868861"/>
            <a:ext cx="5161959" cy="38754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ejecutar y hacer seguimiento a la estrategia de Microcrédito y </a:t>
            </a:r>
            <a:r>
              <a:rPr lang="es-ES" sz="1200" err="1">
                <a:latin typeface="+mn-lt"/>
                <a:cs typeface="Calibri"/>
              </a:rPr>
              <a:t>PyME</a:t>
            </a:r>
            <a:r>
              <a:rPr lang="es-ES" sz="1200">
                <a:latin typeface="+mn-lt"/>
                <a:cs typeface="Calibri"/>
              </a:rPr>
              <a:t> con el fin de garantizar el cumplimiento de las metas comerciales y la mirada integral del producto</a:t>
            </a:r>
            <a:endParaRPr lang="es-ES" sz="1200">
              <a:solidFill>
                <a:schemeClr val="accent1"/>
              </a:solidFill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Impulsar y asumir el rol de sponsor de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proy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 de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digit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. de Micro y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PyME</a:t>
            </a:r>
            <a:endParaRPr lang="es-ES" sz="1200">
              <a:solidFill>
                <a:schemeClr val="accent1"/>
              </a:solidFill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estrategia de desarrollo, crecimiento y posicionamiento en el mercado del producto , que permita incrementar su </a:t>
            </a:r>
            <a:r>
              <a:rPr lang="es-ES" sz="1200" err="1">
                <a:latin typeface="+mn-lt"/>
                <a:cs typeface="Calibri"/>
              </a:rPr>
              <a:t>rentab</a:t>
            </a:r>
            <a:r>
              <a:rPr lang="es-ES" sz="1200">
                <a:latin typeface="+mn-lt"/>
                <a:cs typeface="Calibri"/>
              </a:rPr>
              <a:t>. y competitividad en todos los canales y zonas de cobertura de la </a:t>
            </a:r>
            <a:r>
              <a:rPr lang="es-ES" sz="1200" err="1">
                <a:latin typeface="+mn-lt"/>
                <a:cs typeface="Calibri"/>
              </a:rPr>
              <a:t>org</a:t>
            </a:r>
            <a:r>
              <a:rPr lang="es-ES" sz="1200">
                <a:latin typeface="+mn-lt"/>
                <a:cs typeface="Calibri"/>
              </a:rPr>
              <a:t>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Impulsar y asumir el rol de sponsor de iniciativas de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digit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. del producto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engranaje entre actores relevantes que participan en la gestión integral del producto – p.ej. Mercadeo, TI, </a:t>
            </a:r>
            <a:r>
              <a:rPr lang="es-ES" sz="1200" err="1">
                <a:latin typeface="+mn-lt"/>
                <a:cs typeface="Calibri"/>
              </a:rPr>
              <a:t>Op</a:t>
            </a:r>
            <a:r>
              <a:rPr lang="es-ES" sz="1200">
                <a:latin typeface="+mn-lt"/>
                <a:cs typeface="Calibri"/>
              </a:rPr>
              <a:t>, Riesgos, …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Responder por el </a:t>
            </a:r>
            <a:r>
              <a:rPr lang="es-ES" sz="1200" err="1">
                <a:latin typeface="+mn-lt"/>
                <a:cs typeface="Calibri"/>
              </a:rPr>
              <a:t>PyG</a:t>
            </a:r>
            <a:r>
              <a:rPr lang="es-ES" sz="1200">
                <a:latin typeface="+mn-lt"/>
                <a:cs typeface="Calibri"/>
              </a:rPr>
              <a:t> del producto de Micro y </a:t>
            </a:r>
            <a:r>
              <a:rPr lang="es-ES" sz="1200" err="1">
                <a:latin typeface="+mn-lt"/>
                <a:cs typeface="Calibri"/>
              </a:rPr>
              <a:t>PyME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 y des. de nuevos productos bajo la línea de negocio de Micro y </a:t>
            </a:r>
            <a:r>
              <a:rPr lang="es-ES" sz="1200" err="1">
                <a:latin typeface="+mn-lt"/>
                <a:cs typeface="Calibri"/>
              </a:rPr>
              <a:t>PyME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Explorar oportunidades de alianzas o nuevas relaciones con terceros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Participar en conjunto con el área de riesgo, en la definición y ajuste de los niveles de riesgo, y garantizar su cumplimiento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Gestionar FFVV de Micro y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PyMe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y asegurar su efectividad comercial</a:t>
            </a:r>
          </a:p>
        </p:txBody>
      </p: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28901" y="1928531"/>
            <a:ext cx="643157" cy="1412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72057" y="2634486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69698" y="2367127"/>
            <a:ext cx="161560" cy="64315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24900" y="2069771"/>
            <a:ext cx="1008000" cy="53815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Micro y PyME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572057" y="1749638"/>
            <a:ext cx="1584000" cy="35778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18" name="Conector recto de flecha 117">
            <a:extLst>
              <a:ext uri="{FF2B5EF4-FFF2-40B4-BE49-F238E27FC236}">
                <a16:creationId xmlns:a16="http://schemas.microsoft.com/office/drawing/2014/main" id="{6E4ED59B-9199-4BB5-8495-E36699B5ED51}"/>
              </a:ext>
            </a:extLst>
          </p:cNvPr>
          <p:cNvCxnSpPr>
            <a:cxnSpLocks/>
          </p:cNvCxnSpPr>
          <p:nvPr/>
        </p:nvCxnSpPr>
        <p:spPr>
          <a:xfrm>
            <a:off x="3171776" y="2769486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ector recto de flecha 118">
            <a:extLst>
              <a:ext uri="{FF2B5EF4-FFF2-40B4-BE49-F238E27FC236}">
                <a16:creationId xmlns:a16="http://schemas.microsoft.com/office/drawing/2014/main" id="{C786356E-6885-4D46-BA91-7E6BA89D5C11}"/>
              </a:ext>
            </a:extLst>
          </p:cNvPr>
          <p:cNvCxnSpPr>
            <a:cxnSpLocks/>
          </p:cNvCxnSpPr>
          <p:nvPr/>
        </p:nvCxnSpPr>
        <p:spPr>
          <a:xfrm flipH="1">
            <a:off x="3156057" y="1903958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Marcador de pie de página 2">
            <a:extLst>
              <a:ext uri="{FF2B5EF4-FFF2-40B4-BE49-F238E27FC236}">
                <a16:creationId xmlns:a16="http://schemas.microsoft.com/office/drawing/2014/main" id="{D3463320-E86F-476D-9C69-DE9F2D72177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</a:t>
            </a:r>
            <a:br>
              <a:rPr lang="es-ES_tradnl"/>
            </a:br>
            <a:r>
              <a:rPr lang="es-ES_tradnl"/>
              <a:t>y/o responsabilidades; Fuente: Análisis Oval</a:t>
            </a:r>
          </a:p>
        </p:txBody>
      </p:sp>
      <p:sp>
        <p:nvSpPr>
          <p:cNvPr id="4" name="Marcador de contenido 5">
            <a:extLst>
              <a:ext uri="{FF2B5EF4-FFF2-40B4-BE49-F238E27FC236}">
                <a16:creationId xmlns:a16="http://schemas.microsoft.com/office/drawing/2014/main" id="{D2FC3D43-4BF2-4EDC-85F8-AB91418972FC}"/>
              </a:ext>
            </a:extLst>
          </p:cNvPr>
          <p:cNvSpPr txBox="1">
            <a:spLocks/>
          </p:cNvSpPr>
          <p:nvPr/>
        </p:nvSpPr>
        <p:spPr>
          <a:xfrm>
            <a:off x="3497949" y="5819766"/>
            <a:ext cx="5130523" cy="8212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venta del producto – canal digital y tradicional; (2) Rentabilidad del producto; (3) Cumplimiento del plan de digitalización de Microcrédito y Pyme; (4) NPS Cliente externo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DE6E82C7-B401-444C-B1CF-41E8332A7593}"/>
              </a:ext>
            </a:extLst>
          </p:cNvPr>
          <p:cNvSpPr/>
          <p:nvPr/>
        </p:nvSpPr>
        <p:spPr>
          <a:xfrm>
            <a:off x="417041" y="4134931"/>
            <a:ext cx="1008000" cy="54650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desarrollo de </a:t>
            </a:r>
            <a:r>
              <a:rPr lang="es-CO" sz="1100" err="1">
                <a:solidFill>
                  <a:prstClr val="white"/>
                </a:solidFill>
              </a:rPr>
              <a:t>proy</a:t>
            </a:r>
            <a:r>
              <a:rPr lang="es-CO" sz="1100">
                <a:solidFill>
                  <a:prstClr val="white"/>
                </a:solidFill>
              </a:rPr>
              <a:t>. de </a:t>
            </a:r>
            <a:r>
              <a:rPr lang="es-CO" sz="1100" err="1">
                <a:solidFill>
                  <a:prstClr val="white"/>
                </a:solidFill>
              </a:rPr>
              <a:t>digit</a:t>
            </a:r>
            <a:r>
              <a:rPr lang="es-CO" sz="110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14922866-C07F-43DC-A0C2-AA6F5784C5A3}"/>
              </a:ext>
            </a:extLst>
          </p:cNvPr>
          <p:cNvSpPr txBox="1">
            <a:spLocks/>
          </p:cNvSpPr>
          <p:nvPr/>
        </p:nvSpPr>
        <p:spPr>
          <a:xfrm>
            <a:off x="1572057" y="3006218"/>
            <a:ext cx="1584000" cy="27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Sponsor del proyecto</a:t>
            </a:r>
          </a:p>
        </p:txBody>
      </p:sp>
      <p:sp>
        <p:nvSpPr>
          <p:cNvPr id="110" name="Marcador de contenido 5">
            <a:extLst>
              <a:ext uri="{FF2B5EF4-FFF2-40B4-BE49-F238E27FC236}">
                <a16:creationId xmlns:a16="http://schemas.microsoft.com/office/drawing/2014/main" id="{3306DED5-9E05-463C-B358-2E7C5B050F56}"/>
              </a:ext>
            </a:extLst>
          </p:cNvPr>
          <p:cNvSpPr txBox="1">
            <a:spLocks/>
          </p:cNvSpPr>
          <p:nvPr/>
        </p:nvSpPr>
        <p:spPr>
          <a:xfrm>
            <a:off x="1572057" y="3326753"/>
            <a:ext cx="1584000" cy="461591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Conocimiento del mercado y producto</a:t>
            </a:r>
          </a:p>
        </p:txBody>
      </p:sp>
      <p:sp>
        <p:nvSpPr>
          <p:cNvPr id="112" name="Marcador de contenido 5">
            <a:extLst>
              <a:ext uri="{FF2B5EF4-FFF2-40B4-BE49-F238E27FC236}">
                <a16:creationId xmlns:a16="http://schemas.microsoft.com/office/drawing/2014/main" id="{ADDCA28D-6D8A-4584-87ED-AC3FAC93EBF6}"/>
              </a:ext>
            </a:extLst>
          </p:cNvPr>
          <p:cNvSpPr txBox="1">
            <a:spLocks/>
          </p:cNvSpPr>
          <p:nvPr/>
        </p:nvSpPr>
        <p:spPr>
          <a:xfrm>
            <a:off x="1572057" y="5020006"/>
            <a:ext cx="1584000" cy="36512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13" name="Conector angular 26">
            <a:extLst>
              <a:ext uri="{FF2B5EF4-FFF2-40B4-BE49-F238E27FC236}">
                <a16:creationId xmlns:a16="http://schemas.microsoft.com/office/drawing/2014/main" id="{0197CD18-0AC1-4ED5-9616-8608DA787B78}"/>
              </a:ext>
            </a:extLst>
          </p:cNvPr>
          <p:cNvCxnSpPr>
            <a:cxnSpLocks/>
            <a:stCxn id="109" idx="1"/>
            <a:endCxn id="105" idx="0"/>
          </p:cNvCxnSpPr>
          <p:nvPr/>
        </p:nvCxnSpPr>
        <p:spPr>
          <a:xfrm rot="10800000" flipV="1">
            <a:off x="921041" y="3141217"/>
            <a:ext cx="651016" cy="9937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angular 26">
            <a:extLst>
              <a:ext uri="{FF2B5EF4-FFF2-40B4-BE49-F238E27FC236}">
                <a16:creationId xmlns:a16="http://schemas.microsoft.com/office/drawing/2014/main" id="{3C7D741D-9BE5-4217-8A3B-273E71D05985}"/>
              </a:ext>
            </a:extLst>
          </p:cNvPr>
          <p:cNvCxnSpPr>
            <a:cxnSpLocks/>
            <a:stCxn id="110" idx="1"/>
            <a:endCxn id="105" idx="0"/>
          </p:cNvCxnSpPr>
          <p:nvPr/>
        </p:nvCxnSpPr>
        <p:spPr>
          <a:xfrm rot="10800000" flipV="1">
            <a:off x="921041" y="3557549"/>
            <a:ext cx="651016" cy="57738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8" name="Conector angular 26">
            <a:extLst>
              <a:ext uri="{FF2B5EF4-FFF2-40B4-BE49-F238E27FC236}">
                <a16:creationId xmlns:a16="http://schemas.microsoft.com/office/drawing/2014/main" id="{16A356F2-805F-4E49-8538-EFC3AA92B001}"/>
              </a:ext>
            </a:extLst>
          </p:cNvPr>
          <p:cNvCxnSpPr>
            <a:cxnSpLocks/>
            <a:stCxn id="135" idx="2"/>
            <a:endCxn id="112" idx="1"/>
          </p:cNvCxnSpPr>
          <p:nvPr/>
        </p:nvCxnSpPr>
        <p:spPr>
          <a:xfrm rot="16200000" flipH="1">
            <a:off x="1213144" y="4843656"/>
            <a:ext cx="66810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9" name="Conector recto de flecha 128">
            <a:extLst>
              <a:ext uri="{FF2B5EF4-FFF2-40B4-BE49-F238E27FC236}">
                <a16:creationId xmlns:a16="http://schemas.microsoft.com/office/drawing/2014/main" id="{F4A4B84D-6EDD-4F78-87D6-ECA3B6E3829B}"/>
              </a:ext>
            </a:extLst>
          </p:cNvPr>
          <p:cNvCxnSpPr>
            <a:cxnSpLocks/>
          </p:cNvCxnSpPr>
          <p:nvPr/>
        </p:nvCxnSpPr>
        <p:spPr>
          <a:xfrm>
            <a:off x="3171776" y="5202569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ector recto de flecha 130">
            <a:extLst>
              <a:ext uri="{FF2B5EF4-FFF2-40B4-BE49-F238E27FC236}">
                <a16:creationId xmlns:a16="http://schemas.microsoft.com/office/drawing/2014/main" id="{795C7334-1615-4B96-99F5-5E6F0C58C770}"/>
              </a:ext>
            </a:extLst>
          </p:cNvPr>
          <p:cNvCxnSpPr>
            <a:cxnSpLocks/>
          </p:cNvCxnSpPr>
          <p:nvPr/>
        </p:nvCxnSpPr>
        <p:spPr>
          <a:xfrm flipH="1">
            <a:off x="3156057" y="3141217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2" name="Conector recto de flecha 131">
            <a:extLst>
              <a:ext uri="{FF2B5EF4-FFF2-40B4-BE49-F238E27FC236}">
                <a16:creationId xmlns:a16="http://schemas.microsoft.com/office/drawing/2014/main" id="{21C6C1BC-5BC2-4F74-8037-D9EDF0372AB5}"/>
              </a:ext>
            </a:extLst>
          </p:cNvPr>
          <p:cNvCxnSpPr>
            <a:cxnSpLocks/>
          </p:cNvCxnSpPr>
          <p:nvPr/>
        </p:nvCxnSpPr>
        <p:spPr>
          <a:xfrm flipH="1">
            <a:off x="3156057" y="3557548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3" name="Marcador de contenido 5">
            <a:extLst>
              <a:ext uri="{FF2B5EF4-FFF2-40B4-BE49-F238E27FC236}">
                <a16:creationId xmlns:a16="http://schemas.microsoft.com/office/drawing/2014/main" id="{F97BBDAA-95AF-47A8-9F86-03514973A5A4}"/>
              </a:ext>
            </a:extLst>
          </p:cNvPr>
          <p:cNvSpPr txBox="1">
            <a:spLocks/>
          </p:cNvSpPr>
          <p:nvPr/>
        </p:nvSpPr>
        <p:spPr>
          <a:xfrm>
            <a:off x="1572057" y="5422312"/>
            <a:ext cx="1584000" cy="52651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 de entendimiento del producto y el mercado</a:t>
            </a:r>
          </a:p>
        </p:txBody>
      </p:sp>
      <p:cxnSp>
        <p:nvCxnSpPr>
          <p:cNvPr id="134" name="Conector recto de flecha 133">
            <a:extLst>
              <a:ext uri="{FF2B5EF4-FFF2-40B4-BE49-F238E27FC236}">
                <a16:creationId xmlns:a16="http://schemas.microsoft.com/office/drawing/2014/main" id="{E030E926-5658-4CA6-9FE4-CAB95AC328B0}"/>
              </a:ext>
            </a:extLst>
          </p:cNvPr>
          <p:cNvCxnSpPr>
            <a:cxnSpLocks/>
          </p:cNvCxnSpPr>
          <p:nvPr/>
        </p:nvCxnSpPr>
        <p:spPr>
          <a:xfrm>
            <a:off x="3174950" y="5664521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Rectángulo 134">
            <a:extLst>
              <a:ext uri="{FF2B5EF4-FFF2-40B4-BE49-F238E27FC236}">
                <a16:creationId xmlns:a16="http://schemas.microsoft.com/office/drawing/2014/main" id="{87FB6CAA-D8BF-43C9-BB8E-CF3C0C9D83D0}"/>
              </a:ext>
            </a:extLst>
          </p:cNvPr>
          <p:cNvSpPr/>
          <p:nvPr/>
        </p:nvSpPr>
        <p:spPr>
          <a:xfrm>
            <a:off x="417041" y="4727865"/>
            <a:ext cx="1008000" cy="407894"/>
          </a:xfrm>
          <a:prstGeom prst="rect">
            <a:avLst/>
          </a:prstGeom>
          <a:solidFill>
            <a:schemeClr val="accent1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Coord. Diseño UI/UX</a:t>
            </a:r>
          </a:p>
        </p:txBody>
      </p:sp>
      <p:cxnSp>
        <p:nvCxnSpPr>
          <p:cNvPr id="136" name="Conector angular 26">
            <a:extLst>
              <a:ext uri="{FF2B5EF4-FFF2-40B4-BE49-F238E27FC236}">
                <a16:creationId xmlns:a16="http://schemas.microsoft.com/office/drawing/2014/main" id="{E52B2F9E-0EE9-491F-8D5E-97179F710026}"/>
              </a:ext>
            </a:extLst>
          </p:cNvPr>
          <p:cNvCxnSpPr>
            <a:cxnSpLocks/>
            <a:stCxn id="135" idx="2"/>
            <a:endCxn id="133" idx="1"/>
          </p:cNvCxnSpPr>
          <p:nvPr/>
        </p:nvCxnSpPr>
        <p:spPr>
          <a:xfrm rot="16200000" flipH="1">
            <a:off x="971645" y="5085155"/>
            <a:ext cx="549808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Marcador de contenido 5">
            <a:extLst>
              <a:ext uri="{FF2B5EF4-FFF2-40B4-BE49-F238E27FC236}">
                <a16:creationId xmlns:a16="http://schemas.microsoft.com/office/drawing/2014/main" id="{133A9A16-DF29-4601-BAA7-555109946741}"/>
              </a:ext>
            </a:extLst>
          </p:cNvPr>
          <p:cNvSpPr txBox="1">
            <a:spLocks/>
          </p:cNvSpPr>
          <p:nvPr/>
        </p:nvSpPr>
        <p:spPr>
          <a:xfrm>
            <a:off x="1572057" y="3831970"/>
            <a:ext cx="1584000" cy="40425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Recomendaciones y solicitudes de ajuste</a:t>
            </a:r>
          </a:p>
        </p:txBody>
      </p:sp>
      <p:cxnSp>
        <p:nvCxnSpPr>
          <p:cNvPr id="138" name="Conector angular 26">
            <a:extLst>
              <a:ext uri="{FF2B5EF4-FFF2-40B4-BE49-F238E27FC236}">
                <a16:creationId xmlns:a16="http://schemas.microsoft.com/office/drawing/2014/main" id="{C53C2E7C-C368-4EA4-8F88-AF3FA55AF1F0}"/>
              </a:ext>
            </a:extLst>
          </p:cNvPr>
          <p:cNvCxnSpPr>
            <a:cxnSpLocks/>
            <a:stCxn id="137" idx="1"/>
            <a:endCxn id="105" idx="0"/>
          </p:cNvCxnSpPr>
          <p:nvPr/>
        </p:nvCxnSpPr>
        <p:spPr>
          <a:xfrm rot="10800000" flipV="1">
            <a:off x="921041" y="4034097"/>
            <a:ext cx="651016" cy="10083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ector recto de flecha 138">
            <a:extLst>
              <a:ext uri="{FF2B5EF4-FFF2-40B4-BE49-F238E27FC236}">
                <a16:creationId xmlns:a16="http://schemas.microsoft.com/office/drawing/2014/main" id="{66B3D911-3C97-4DE1-A536-3F425BF39356}"/>
              </a:ext>
            </a:extLst>
          </p:cNvPr>
          <p:cNvCxnSpPr>
            <a:cxnSpLocks/>
          </p:cNvCxnSpPr>
          <p:nvPr/>
        </p:nvCxnSpPr>
        <p:spPr>
          <a:xfrm flipH="1">
            <a:off x="3156057" y="406584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CE5227B1-AB5C-435D-85D0-77335B292954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7" name="Imagen 2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089F75F-98DE-4A90-AC49-29E7814CC9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62" name="Marcador de contenido 5">
            <a:extLst>
              <a:ext uri="{FF2B5EF4-FFF2-40B4-BE49-F238E27FC236}">
                <a16:creationId xmlns:a16="http://schemas.microsoft.com/office/drawing/2014/main" id="{7F8D0E83-8FAE-470C-9124-2E23E1214222}"/>
              </a:ext>
            </a:extLst>
          </p:cNvPr>
          <p:cNvSpPr txBox="1">
            <a:spLocks/>
          </p:cNvSpPr>
          <p:nvPr/>
        </p:nvSpPr>
        <p:spPr>
          <a:xfrm>
            <a:off x="8970363" y="1368347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del producto</a:t>
            </a:r>
          </a:p>
        </p:txBody>
      </p:sp>
      <p:sp>
        <p:nvSpPr>
          <p:cNvPr id="64" name="Rectángulo 63">
            <a:extLst>
              <a:ext uri="{FF2B5EF4-FFF2-40B4-BE49-F238E27FC236}">
                <a16:creationId xmlns:a16="http://schemas.microsoft.com/office/drawing/2014/main" id="{65E981E0-BCF5-4C8C-85B2-0AF1F3294014}"/>
              </a:ext>
            </a:extLst>
          </p:cNvPr>
          <p:cNvSpPr/>
          <p:nvPr/>
        </p:nvSpPr>
        <p:spPr>
          <a:xfrm>
            <a:off x="10837216" y="2534495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</a:t>
            </a:r>
            <a:r>
              <a:rPr lang="es-CO" sz="1100" err="1"/>
              <a:t>Comerc</a:t>
            </a:r>
            <a:r>
              <a:rPr lang="es-CO" sz="1100"/>
              <a:t>. y de Servicio</a:t>
            </a:r>
          </a:p>
        </p:txBody>
      </p:sp>
      <p:cxnSp>
        <p:nvCxnSpPr>
          <p:cNvPr id="65" name="Conector angular 32">
            <a:extLst>
              <a:ext uri="{FF2B5EF4-FFF2-40B4-BE49-F238E27FC236}">
                <a16:creationId xmlns:a16="http://schemas.microsoft.com/office/drawing/2014/main" id="{F71997A6-59A1-4A6E-B294-955BBFC0ED8E}"/>
              </a:ext>
            </a:extLst>
          </p:cNvPr>
          <p:cNvCxnSpPr>
            <a:cxnSpLocks/>
            <a:stCxn id="62" idx="3"/>
            <a:endCxn id="64" idx="0"/>
          </p:cNvCxnSpPr>
          <p:nvPr/>
        </p:nvCxnSpPr>
        <p:spPr>
          <a:xfrm>
            <a:off x="10554363" y="1503347"/>
            <a:ext cx="786853" cy="103114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360BEC09-9D8C-41AC-88BD-3C9D297F2C13}"/>
              </a:ext>
            </a:extLst>
          </p:cNvPr>
          <p:cNvSpPr txBox="1">
            <a:spLocks/>
          </p:cNvSpPr>
          <p:nvPr/>
        </p:nvSpPr>
        <p:spPr>
          <a:xfrm>
            <a:off x="8970363" y="2859424"/>
            <a:ext cx="1584000" cy="38479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del producto aprobada</a:t>
            </a:r>
          </a:p>
        </p:txBody>
      </p:sp>
      <p:cxnSp>
        <p:nvCxnSpPr>
          <p:cNvPr id="67" name="Conector angular 37">
            <a:extLst>
              <a:ext uri="{FF2B5EF4-FFF2-40B4-BE49-F238E27FC236}">
                <a16:creationId xmlns:a16="http://schemas.microsoft.com/office/drawing/2014/main" id="{593A9C0D-B43B-45A6-9F68-AED09DC39BBC}"/>
              </a:ext>
            </a:extLst>
          </p:cNvPr>
          <p:cNvCxnSpPr>
            <a:cxnSpLocks/>
            <a:stCxn id="64" idx="2"/>
            <a:endCxn id="66" idx="3"/>
          </p:cNvCxnSpPr>
          <p:nvPr/>
        </p:nvCxnSpPr>
        <p:spPr>
          <a:xfrm rot="5400000">
            <a:off x="10871688" y="2582295"/>
            <a:ext cx="152204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recto de flecha 67">
            <a:extLst>
              <a:ext uri="{FF2B5EF4-FFF2-40B4-BE49-F238E27FC236}">
                <a16:creationId xmlns:a16="http://schemas.microsoft.com/office/drawing/2014/main" id="{02873603-1396-4913-851E-D44B77524675}"/>
              </a:ext>
            </a:extLst>
          </p:cNvPr>
          <p:cNvCxnSpPr>
            <a:cxnSpLocks/>
            <a:endCxn id="62" idx="1"/>
          </p:cNvCxnSpPr>
          <p:nvPr/>
        </p:nvCxnSpPr>
        <p:spPr>
          <a:xfrm>
            <a:off x="8644190" y="1503347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CBA2EBDE-9338-4A8E-8C5F-0F6A438BEECD}"/>
              </a:ext>
            </a:extLst>
          </p:cNvPr>
          <p:cNvSpPr txBox="1">
            <a:spLocks/>
          </p:cNvSpPr>
          <p:nvPr/>
        </p:nvSpPr>
        <p:spPr>
          <a:xfrm>
            <a:off x="8970363" y="1984944"/>
            <a:ext cx="1584000" cy="66911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Propuesta nuevos productos bajo la línea de negocio de Micro y PyME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70" name="Marcador de contenido 5">
            <a:extLst>
              <a:ext uri="{FF2B5EF4-FFF2-40B4-BE49-F238E27FC236}">
                <a16:creationId xmlns:a16="http://schemas.microsoft.com/office/drawing/2014/main" id="{F94606B1-FF53-4024-B699-DE3395266F95}"/>
              </a:ext>
            </a:extLst>
          </p:cNvPr>
          <p:cNvSpPr txBox="1">
            <a:spLocks/>
          </p:cNvSpPr>
          <p:nvPr/>
        </p:nvSpPr>
        <p:spPr>
          <a:xfrm>
            <a:off x="8970363" y="3358007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71" name="Marcador de contenido 5">
            <a:extLst>
              <a:ext uri="{FF2B5EF4-FFF2-40B4-BE49-F238E27FC236}">
                <a16:creationId xmlns:a16="http://schemas.microsoft.com/office/drawing/2014/main" id="{2A79A42B-8750-42F5-8C66-CDD7926C423E}"/>
              </a:ext>
            </a:extLst>
          </p:cNvPr>
          <p:cNvSpPr txBox="1">
            <a:spLocks/>
          </p:cNvSpPr>
          <p:nvPr/>
        </p:nvSpPr>
        <p:spPr>
          <a:xfrm>
            <a:off x="8970363" y="1672261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ejecu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</a:t>
            </a:r>
          </a:p>
        </p:txBody>
      </p:sp>
      <p:cxnSp>
        <p:nvCxnSpPr>
          <p:cNvPr id="72" name="Conector angular 37">
            <a:extLst>
              <a:ext uri="{FF2B5EF4-FFF2-40B4-BE49-F238E27FC236}">
                <a16:creationId xmlns:a16="http://schemas.microsoft.com/office/drawing/2014/main" id="{EA63EE23-A41C-47D1-BC7E-4CE78A92B2AD}"/>
              </a:ext>
            </a:extLst>
          </p:cNvPr>
          <p:cNvCxnSpPr>
            <a:cxnSpLocks/>
            <a:stCxn id="64" idx="2"/>
            <a:endCxn id="70" idx="3"/>
          </p:cNvCxnSpPr>
          <p:nvPr/>
        </p:nvCxnSpPr>
        <p:spPr>
          <a:xfrm rot="5400000">
            <a:off x="10651096" y="2802887"/>
            <a:ext cx="593388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Rectángulo 72">
            <a:extLst>
              <a:ext uri="{FF2B5EF4-FFF2-40B4-BE49-F238E27FC236}">
                <a16:creationId xmlns:a16="http://schemas.microsoft.com/office/drawing/2014/main" id="{5723C35F-7F44-40E6-8C1B-EA88A8A79A56}"/>
              </a:ext>
            </a:extLst>
          </p:cNvPr>
          <p:cNvSpPr/>
          <p:nvPr/>
        </p:nvSpPr>
        <p:spPr>
          <a:xfrm>
            <a:off x="10837216" y="3918860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FFVV Micro y </a:t>
            </a:r>
            <a:r>
              <a:rPr lang="es-CO" sz="1100" err="1"/>
              <a:t>PyME</a:t>
            </a:r>
            <a:endParaRPr lang="es-CO" sz="1100"/>
          </a:p>
        </p:txBody>
      </p:sp>
      <p:sp>
        <p:nvSpPr>
          <p:cNvPr id="74" name="Marcador de contenido 5">
            <a:extLst>
              <a:ext uri="{FF2B5EF4-FFF2-40B4-BE49-F238E27FC236}">
                <a16:creationId xmlns:a16="http://schemas.microsoft.com/office/drawing/2014/main" id="{9F5CA3AC-29AF-4B8A-8C6C-5FF781EBD8B8}"/>
              </a:ext>
            </a:extLst>
          </p:cNvPr>
          <p:cNvSpPr txBox="1">
            <a:spLocks/>
          </p:cNvSpPr>
          <p:nvPr/>
        </p:nvSpPr>
        <p:spPr>
          <a:xfrm>
            <a:off x="8970363" y="3687567"/>
            <a:ext cx="1584000" cy="25204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75" name="Marcador de contenido 5">
            <a:extLst>
              <a:ext uri="{FF2B5EF4-FFF2-40B4-BE49-F238E27FC236}">
                <a16:creationId xmlns:a16="http://schemas.microsoft.com/office/drawing/2014/main" id="{4B34386E-1FEB-4701-B3BA-74575E4949DD}"/>
              </a:ext>
            </a:extLst>
          </p:cNvPr>
          <p:cNvSpPr txBox="1">
            <a:spLocks/>
          </p:cNvSpPr>
          <p:nvPr/>
        </p:nvSpPr>
        <p:spPr>
          <a:xfrm>
            <a:off x="8970363" y="4230585"/>
            <a:ext cx="1584000" cy="30356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76" name="Conector angular 37">
            <a:extLst>
              <a:ext uri="{FF2B5EF4-FFF2-40B4-BE49-F238E27FC236}">
                <a16:creationId xmlns:a16="http://schemas.microsoft.com/office/drawing/2014/main" id="{920F5B6E-ADF1-43CE-BBEB-1764F1AD23EB}"/>
              </a:ext>
            </a:extLst>
          </p:cNvPr>
          <p:cNvCxnSpPr>
            <a:cxnSpLocks/>
            <a:stCxn id="73" idx="2"/>
            <a:endCxn id="75" idx="3"/>
          </p:cNvCxnSpPr>
          <p:nvPr/>
        </p:nvCxnSpPr>
        <p:spPr>
          <a:xfrm rot="5400000">
            <a:off x="10898598" y="3939750"/>
            <a:ext cx="98384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angular 37">
            <a:extLst>
              <a:ext uri="{FF2B5EF4-FFF2-40B4-BE49-F238E27FC236}">
                <a16:creationId xmlns:a16="http://schemas.microsoft.com/office/drawing/2014/main" id="{5FB85990-50E7-435B-8A9E-76BE21156670}"/>
              </a:ext>
            </a:extLst>
          </p:cNvPr>
          <p:cNvCxnSpPr>
            <a:cxnSpLocks/>
            <a:stCxn id="74" idx="3"/>
            <a:endCxn id="73" idx="0"/>
          </p:cNvCxnSpPr>
          <p:nvPr/>
        </p:nvCxnSpPr>
        <p:spPr>
          <a:xfrm>
            <a:off x="10554363" y="3813590"/>
            <a:ext cx="786853" cy="1052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FD75E899-42B1-4A60-9479-27D241248B7A}"/>
              </a:ext>
            </a:extLst>
          </p:cNvPr>
          <p:cNvCxnSpPr>
            <a:cxnSpLocks/>
          </p:cNvCxnSpPr>
          <p:nvPr/>
        </p:nvCxnSpPr>
        <p:spPr>
          <a:xfrm>
            <a:off x="8644190" y="1803682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recto de flecha 78">
            <a:extLst>
              <a:ext uri="{FF2B5EF4-FFF2-40B4-BE49-F238E27FC236}">
                <a16:creationId xmlns:a16="http://schemas.microsoft.com/office/drawing/2014/main" id="{4280B5CB-C428-4008-BB04-01016ECE88BE}"/>
              </a:ext>
            </a:extLst>
          </p:cNvPr>
          <p:cNvCxnSpPr>
            <a:cxnSpLocks/>
          </p:cNvCxnSpPr>
          <p:nvPr/>
        </p:nvCxnSpPr>
        <p:spPr>
          <a:xfrm>
            <a:off x="8644190" y="228128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3161E949-A749-422B-B0AB-CA433B9B477A}"/>
              </a:ext>
            </a:extLst>
          </p:cNvPr>
          <p:cNvCxnSpPr>
            <a:cxnSpLocks/>
          </p:cNvCxnSpPr>
          <p:nvPr/>
        </p:nvCxnSpPr>
        <p:spPr>
          <a:xfrm>
            <a:off x="8644190" y="381359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ector recto de flecha 80">
            <a:extLst>
              <a:ext uri="{FF2B5EF4-FFF2-40B4-BE49-F238E27FC236}">
                <a16:creationId xmlns:a16="http://schemas.microsoft.com/office/drawing/2014/main" id="{1FB06EE5-1EFE-4FAB-941F-AD820E14D51F}"/>
              </a:ext>
            </a:extLst>
          </p:cNvPr>
          <p:cNvCxnSpPr>
            <a:cxnSpLocks/>
          </p:cNvCxnSpPr>
          <p:nvPr/>
        </p:nvCxnSpPr>
        <p:spPr>
          <a:xfrm flipH="1">
            <a:off x="8628472" y="3189422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ector recto de flecha 81">
            <a:extLst>
              <a:ext uri="{FF2B5EF4-FFF2-40B4-BE49-F238E27FC236}">
                <a16:creationId xmlns:a16="http://schemas.microsoft.com/office/drawing/2014/main" id="{74C9DCFB-B928-43A4-B40C-B77D019D49B4}"/>
              </a:ext>
            </a:extLst>
          </p:cNvPr>
          <p:cNvCxnSpPr>
            <a:cxnSpLocks/>
          </p:cNvCxnSpPr>
          <p:nvPr/>
        </p:nvCxnSpPr>
        <p:spPr>
          <a:xfrm flipH="1">
            <a:off x="8628472" y="3503174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recto de flecha 82">
            <a:extLst>
              <a:ext uri="{FF2B5EF4-FFF2-40B4-BE49-F238E27FC236}">
                <a16:creationId xmlns:a16="http://schemas.microsoft.com/office/drawing/2014/main" id="{5FAEA72D-1E64-491B-BC97-545174CE5ACB}"/>
              </a:ext>
            </a:extLst>
          </p:cNvPr>
          <p:cNvCxnSpPr>
            <a:cxnSpLocks/>
          </p:cNvCxnSpPr>
          <p:nvPr/>
        </p:nvCxnSpPr>
        <p:spPr>
          <a:xfrm flipH="1">
            <a:off x="8628472" y="4382369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ector angular 32">
            <a:extLst>
              <a:ext uri="{FF2B5EF4-FFF2-40B4-BE49-F238E27FC236}">
                <a16:creationId xmlns:a16="http://schemas.microsoft.com/office/drawing/2014/main" id="{0595D3FA-A1EC-41DA-A61D-267B75E12F79}"/>
              </a:ext>
            </a:extLst>
          </p:cNvPr>
          <p:cNvCxnSpPr>
            <a:cxnSpLocks/>
            <a:stCxn id="71" idx="3"/>
            <a:endCxn id="64" idx="0"/>
          </p:cNvCxnSpPr>
          <p:nvPr/>
        </p:nvCxnSpPr>
        <p:spPr>
          <a:xfrm>
            <a:off x="10554363" y="1807261"/>
            <a:ext cx="786853" cy="72723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angular 32">
            <a:extLst>
              <a:ext uri="{FF2B5EF4-FFF2-40B4-BE49-F238E27FC236}">
                <a16:creationId xmlns:a16="http://schemas.microsoft.com/office/drawing/2014/main" id="{3E7CD636-49A9-4B9D-ABBE-B762DD4B1A23}"/>
              </a:ext>
            </a:extLst>
          </p:cNvPr>
          <p:cNvCxnSpPr>
            <a:cxnSpLocks/>
            <a:stCxn id="69" idx="3"/>
            <a:endCxn id="64" idx="0"/>
          </p:cNvCxnSpPr>
          <p:nvPr/>
        </p:nvCxnSpPr>
        <p:spPr>
          <a:xfrm>
            <a:off x="10554363" y="2319504"/>
            <a:ext cx="786853" cy="2149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Rectángulo 85">
            <a:extLst>
              <a:ext uri="{FF2B5EF4-FFF2-40B4-BE49-F238E27FC236}">
                <a16:creationId xmlns:a16="http://schemas.microsoft.com/office/drawing/2014/main" id="{59637638-9067-45EF-86C4-B3D58D3A2F88}"/>
              </a:ext>
            </a:extLst>
          </p:cNvPr>
          <p:cNvSpPr/>
          <p:nvPr/>
        </p:nvSpPr>
        <p:spPr>
          <a:xfrm>
            <a:off x="10837216" y="4890195"/>
            <a:ext cx="1008000" cy="73284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Actores que participan en en la gestión integral del p.</a:t>
            </a:r>
          </a:p>
        </p:txBody>
      </p:sp>
      <p:sp>
        <p:nvSpPr>
          <p:cNvPr id="87" name="Marcador de contenido 5">
            <a:extLst>
              <a:ext uri="{FF2B5EF4-FFF2-40B4-BE49-F238E27FC236}">
                <a16:creationId xmlns:a16="http://schemas.microsoft.com/office/drawing/2014/main" id="{09AED188-8E0F-49AD-A369-8F397DCD3D47}"/>
              </a:ext>
            </a:extLst>
          </p:cNvPr>
          <p:cNvSpPr txBox="1">
            <a:spLocks/>
          </p:cNvSpPr>
          <p:nvPr/>
        </p:nvSpPr>
        <p:spPr>
          <a:xfrm>
            <a:off x="8970363" y="4609440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88" name="Conector angular 37">
            <a:extLst>
              <a:ext uri="{FF2B5EF4-FFF2-40B4-BE49-F238E27FC236}">
                <a16:creationId xmlns:a16="http://schemas.microsoft.com/office/drawing/2014/main" id="{6AD414D8-2C7A-4A97-B413-04F1307D979C}"/>
              </a:ext>
            </a:extLst>
          </p:cNvPr>
          <p:cNvCxnSpPr>
            <a:cxnSpLocks/>
            <a:stCxn id="86" idx="2"/>
            <a:endCxn id="92" idx="3"/>
          </p:cNvCxnSpPr>
          <p:nvPr/>
        </p:nvCxnSpPr>
        <p:spPr>
          <a:xfrm rot="5400000">
            <a:off x="10925001" y="5252402"/>
            <a:ext cx="45578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37">
            <a:extLst>
              <a:ext uri="{FF2B5EF4-FFF2-40B4-BE49-F238E27FC236}">
                <a16:creationId xmlns:a16="http://schemas.microsoft.com/office/drawing/2014/main" id="{E1826A0B-7C9D-43B5-B01A-AE87AAD1DAD6}"/>
              </a:ext>
            </a:extLst>
          </p:cNvPr>
          <p:cNvCxnSpPr>
            <a:cxnSpLocks/>
            <a:stCxn id="87" idx="3"/>
            <a:endCxn id="86" idx="0"/>
          </p:cNvCxnSpPr>
          <p:nvPr/>
        </p:nvCxnSpPr>
        <p:spPr>
          <a:xfrm>
            <a:off x="10554363" y="4780314"/>
            <a:ext cx="786853" cy="1098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BB4A59C8-72C7-4D94-879F-889F174B910B}"/>
              </a:ext>
            </a:extLst>
          </p:cNvPr>
          <p:cNvCxnSpPr>
            <a:cxnSpLocks/>
          </p:cNvCxnSpPr>
          <p:nvPr/>
        </p:nvCxnSpPr>
        <p:spPr>
          <a:xfrm>
            <a:off x="8628472" y="472821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recto de flecha 90">
            <a:extLst>
              <a:ext uri="{FF2B5EF4-FFF2-40B4-BE49-F238E27FC236}">
                <a16:creationId xmlns:a16="http://schemas.microsoft.com/office/drawing/2014/main" id="{2B3B819D-1D2F-4804-82D4-176A74BFC13C}"/>
              </a:ext>
            </a:extLst>
          </p:cNvPr>
          <p:cNvCxnSpPr>
            <a:cxnSpLocks/>
          </p:cNvCxnSpPr>
          <p:nvPr/>
        </p:nvCxnSpPr>
        <p:spPr>
          <a:xfrm flipH="1">
            <a:off x="8628472" y="5698103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Marcador de contenido 5">
            <a:extLst>
              <a:ext uri="{FF2B5EF4-FFF2-40B4-BE49-F238E27FC236}">
                <a16:creationId xmlns:a16="http://schemas.microsoft.com/office/drawing/2014/main" id="{8719AD9D-9139-4A38-8B81-BFBAB0B5D963}"/>
              </a:ext>
            </a:extLst>
          </p:cNvPr>
          <p:cNvSpPr txBox="1">
            <a:spLocks/>
          </p:cNvSpPr>
          <p:nvPr/>
        </p:nvSpPr>
        <p:spPr>
          <a:xfrm>
            <a:off x="8970363" y="5497743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sp>
        <p:nvSpPr>
          <p:cNvPr id="93" name="Bocadillo: rectángulo con esquinas redondeadas 92">
            <a:extLst>
              <a:ext uri="{FF2B5EF4-FFF2-40B4-BE49-F238E27FC236}">
                <a16:creationId xmlns:a16="http://schemas.microsoft.com/office/drawing/2014/main" id="{67FCB2B6-9BDB-42F0-8C02-B690A9802774}"/>
              </a:ext>
            </a:extLst>
          </p:cNvPr>
          <p:cNvSpPr/>
          <p:nvPr/>
        </p:nvSpPr>
        <p:spPr>
          <a:xfrm>
            <a:off x="10506000" y="5792750"/>
            <a:ext cx="1583994" cy="569815"/>
          </a:xfrm>
          <a:prstGeom prst="wedgeRoundRectCallout">
            <a:avLst>
              <a:gd name="adj1" fmla="val 21149"/>
              <a:gd name="adj2" fmla="val -8003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G. Mercadeo, G. Regionales, VP de TI, G. de Operaciones, G. de Riesgos, G. Cobranza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9229133F-ABDF-474D-A4CD-4E297F02698F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4CCC9B4-8487-4650-AF46-6979D9A09D2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3859077F-FCD6-4809-A2FF-93AF6D0071AC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90860600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9" name="Conector angular 32">
            <a:extLst>
              <a:ext uri="{FF2B5EF4-FFF2-40B4-BE49-F238E27FC236}">
                <a16:creationId xmlns:a16="http://schemas.microsoft.com/office/drawing/2014/main" id="{6ED076B3-3EF4-42CE-B980-A5F39D75353A}"/>
              </a:ext>
            </a:extLst>
          </p:cNvPr>
          <p:cNvCxnSpPr>
            <a:cxnSpLocks/>
            <a:stCxn id="168" idx="3"/>
            <a:endCxn id="64" idx="2"/>
          </p:cNvCxnSpPr>
          <p:nvPr/>
        </p:nvCxnSpPr>
        <p:spPr>
          <a:xfrm>
            <a:off x="10604653" y="5275267"/>
            <a:ext cx="695498" cy="438721"/>
          </a:xfrm>
          <a:prstGeom prst="bentConnector4">
            <a:avLst>
              <a:gd name="adj1" fmla="val 10815"/>
              <a:gd name="adj2" fmla="val -58799"/>
            </a:avLst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Alianzas y Créditos de Consumo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38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Productos de Consumo liderará la gestión de la experiencia al cliente desde la mirada integral del producto y desde la gestión de la oferta de valor e impulsará su digitalización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482231" y="1493442"/>
            <a:ext cx="5161959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Alianzas y Créditos de Consumo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482231" y="1868860"/>
            <a:ext cx="5161959" cy="39231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+mn-lt"/>
                <a:cs typeface="Calibri"/>
              </a:rPr>
              <a:t>Definir, ejecutar y hacer seguimiento a la estrategia de productos asociados a Créditos de Consumo</a:t>
            </a:r>
            <a:r>
              <a:rPr lang="es-ES" sz="1100" baseline="30000">
                <a:latin typeface="+mn-lt"/>
                <a:cs typeface="Calibri"/>
              </a:rPr>
              <a:t>1</a:t>
            </a:r>
            <a:r>
              <a:rPr lang="es-ES" sz="1100">
                <a:latin typeface="+mn-lt"/>
                <a:cs typeface="Calibri"/>
              </a:rPr>
              <a:t> con el fin de garantizar el cumplimiento de las metas comerciales – asumir el rol de sponsor de iniciativas de digitalización del producto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+mn-lt"/>
                <a:cs typeface="Calibri"/>
              </a:rPr>
              <a:t>Apoyar la identificación, estructuración y puesta en marcha de alianzas estratégicas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+mn-lt"/>
                <a:cs typeface="Calibri"/>
              </a:rPr>
              <a:t>Liderar la estrategia de desarrollo, crecimiento y posicionamiento en el mercado del producto, que permita incrementar su rentabilidad y competitividad en todos los canales y zonas de cobertura de la </a:t>
            </a:r>
            <a:r>
              <a:rPr lang="es-ES" sz="1100" err="1">
                <a:latin typeface="+mn-lt"/>
                <a:cs typeface="Calibri"/>
              </a:rPr>
              <a:t>org</a:t>
            </a:r>
            <a:r>
              <a:rPr lang="es-ES" sz="1100">
                <a:latin typeface="+mn-lt"/>
                <a:cs typeface="Calibri"/>
              </a:rPr>
              <a:t>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+mn-lt"/>
                <a:cs typeface="Calibri"/>
              </a:rPr>
              <a:t>Impulsar y asumir el rol de sponsor de iniciativas de </a:t>
            </a:r>
            <a:r>
              <a:rPr lang="es-ES" sz="1100" err="1">
                <a:solidFill>
                  <a:schemeClr val="accent1"/>
                </a:solidFill>
                <a:latin typeface="+mn-lt"/>
                <a:cs typeface="Calibri"/>
              </a:rPr>
              <a:t>digit</a:t>
            </a:r>
            <a:r>
              <a:rPr lang="es-ES" sz="1100">
                <a:solidFill>
                  <a:schemeClr val="accent1"/>
                </a:solidFill>
                <a:latin typeface="+mn-lt"/>
                <a:cs typeface="Calibri"/>
              </a:rPr>
              <a:t>. del producto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+mn-lt"/>
                <a:cs typeface="Calibri"/>
              </a:rPr>
              <a:t>Asegurar el engranaje entre actores relevantes que participan en la gestión integral del producto – p.ej. Mercadeo, TI, </a:t>
            </a:r>
            <a:r>
              <a:rPr lang="es-ES" sz="1100" err="1">
                <a:latin typeface="+mn-lt"/>
                <a:cs typeface="Calibri"/>
              </a:rPr>
              <a:t>Op</a:t>
            </a:r>
            <a:r>
              <a:rPr lang="es-ES" sz="1100">
                <a:latin typeface="+mn-lt"/>
                <a:cs typeface="Calibri"/>
              </a:rPr>
              <a:t>, Riesgos, …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+mn-lt"/>
                <a:cs typeface="Calibri"/>
              </a:rPr>
              <a:t>Responder por el </a:t>
            </a:r>
            <a:r>
              <a:rPr lang="es-ES" sz="1100" err="1">
                <a:latin typeface="+mn-lt"/>
                <a:cs typeface="Calibri"/>
              </a:rPr>
              <a:t>PyG</a:t>
            </a:r>
            <a:r>
              <a:rPr lang="es-ES" sz="1100">
                <a:latin typeface="+mn-lt"/>
                <a:cs typeface="Calibri"/>
              </a:rPr>
              <a:t> de productos de Créditos de Consumo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+mn-lt"/>
                <a:cs typeface="Calibri"/>
              </a:rPr>
              <a:t>Liderar el diseño y des. de nuevos productos bajo la línea de negocio de Créditos de Consumo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Apoyar la identificación de oportunidades de alianzas – modelos nuevos de alianza y/o aliados nuevos para modelos existentes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Definir e impulsar estrategias de crecimiento en el aliado junto con los Gerentes de Producto y Mercadeo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970363" y="1403548"/>
            <a:ext cx="1584000" cy="2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del producto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755086" y="2707506"/>
            <a:ext cx="109013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Innovación y Digitalización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554363" y="1511548"/>
            <a:ext cx="745788" cy="119595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70363" y="3288230"/>
            <a:ext cx="1584000" cy="29996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del producto aprobada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744466" y="2882527"/>
            <a:ext cx="365582" cy="7457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628472" y="1511548"/>
            <a:ext cx="34189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8986082" y="5647340"/>
            <a:ext cx="1618571" cy="216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64" idx="2"/>
            <a:endCxn id="18" idx="3"/>
          </p:cNvCxnSpPr>
          <p:nvPr/>
        </p:nvCxnSpPr>
        <p:spPr>
          <a:xfrm rot="5400000">
            <a:off x="10931726" y="5386915"/>
            <a:ext cx="41352" cy="6954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8970359" y="4663709"/>
            <a:ext cx="1634293" cy="216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25" name="Marcador de contenido 5">
            <a:extLst>
              <a:ext uri="{FF2B5EF4-FFF2-40B4-BE49-F238E27FC236}">
                <a16:creationId xmlns:a16="http://schemas.microsoft.com/office/drawing/2014/main" id="{EAA8D77D-9D44-4AFA-AE0E-B011545ED95B}"/>
              </a:ext>
            </a:extLst>
          </p:cNvPr>
          <p:cNvSpPr txBox="1">
            <a:spLocks/>
          </p:cNvSpPr>
          <p:nvPr/>
        </p:nvSpPr>
        <p:spPr>
          <a:xfrm>
            <a:off x="8970363" y="1908938"/>
            <a:ext cx="1584000" cy="4986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Propuesta nuevos productos bajo la línea de negocio Créditos C.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08A014D0-0C47-40A2-A924-7920B465FF3C}"/>
              </a:ext>
            </a:extLst>
          </p:cNvPr>
          <p:cNvSpPr txBox="1">
            <a:spLocks/>
          </p:cNvSpPr>
          <p:nvPr/>
        </p:nvSpPr>
        <p:spPr>
          <a:xfrm>
            <a:off x="8970363" y="3030546"/>
            <a:ext cx="1584000" cy="2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26955B80-8499-4C71-9EA5-61F680E3A9F3}"/>
              </a:ext>
            </a:extLst>
          </p:cNvPr>
          <p:cNvSpPr txBox="1">
            <a:spLocks/>
          </p:cNvSpPr>
          <p:nvPr/>
        </p:nvSpPr>
        <p:spPr>
          <a:xfrm>
            <a:off x="8970363" y="1656243"/>
            <a:ext cx="1584000" cy="2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ejecu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</a:t>
            </a:r>
          </a:p>
        </p:txBody>
      </p:sp>
      <p:cxnSp>
        <p:nvCxnSpPr>
          <p:cNvPr id="42" name="Conector angular 37">
            <a:extLst>
              <a:ext uri="{FF2B5EF4-FFF2-40B4-BE49-F238E27FC236}">
                <a16:creationId xmlns:a16="http://schemas.microsoft.com/office/drawing/2014/main" id="{95038F1B-F6B4-4616-9384-EBD9F67661D1}"/>
              </a:ext>
            </a:extLst>
          </p:cNvPr>
          <p:cNvCxnSpPr>
            <a:cxnSpLocks/>
            <a:stCxn id="11" idx="2"/>
            <a:endCxn id="38" idx="3"/>
          </p:cNvCxnSpPr>
          <p:nvPr/>
        </p:nvCxnSpPr>
        <p:spPr>
          <a:xfrm rot="5400000">
            <a:off x="10894299" y="2732694"/>
            <a:ext cx="65916" cy="7457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recto de flecha 113">
            <a:extLst>
              <a:ext uri="{FF2B5EF4-FFF2-40B4-BE49-F238E27FC236}">
                <a16:creationId xmlns:a16="http://schemas.microsoft.com/office/drawing/2014/main" id="{AED41826-40D6-4876-919A-451FD5217B93}"/>
              </a:ext>
            </a:extLst>
          </p:cNvPr>
          <p:cNvCxnSpPr>
            <a:cxnSpLocks/>
          </p:cNvCxnSpPr>
          <p:nvPr/>
        </p:nvCxnSpPr>
        <p:spPr>
          <a:xfrm>
            <a:off x="8644190" y="176424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ector recto de flecha 114">
            <a:extLst>
              <a:ext uri="{FF2B5EF4-FFF2-40B4-BE49-F238E27FC236}">
                <a16:creationId xmlns:a16="http://schemas.microsoft.com/office/drawing/2014/main" id="{477423F3-BEE7-4731-8D23-EE2ED83EB408}"/>
              </a:ext>
            </a:extLst>
          </p:cNvPr>
          <p:cNvCxnSpPr>
            <a:cxnSpLocks/>
          </p:cNvCxnSpPr>
          <p:nvPr/>
        </p:nvCxnSpPr>
        <p:spPr>
          <a:xfrm>
            <a:off x="8644190" y="2145739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ector recto de flecha 123">
            <a:extLst>
              <a:ext uri="{FF2B5EF4-FFF2-40B4-BE49-F238E27FC236}">
                <a16:creationId xmlns:a16="http://schemas.microsoft.com/office/drawing/2014/main" id="{5E2062B1-EBEB-45D3-B321-5534F1546FDC}"/>
              </a:ext>
            </a:extLst>
          </p:cNvPr>
          <p:cNvCxnSpPr>
            <a:cxnSpLocks/>
          </p:cNvCxnSpPr>
          <p:nvPr/>
        </p:nvCxnSpPr>
        <p:spPr>
          <a:xfrm flipH="1">
            <a:off x="8628472" y="313854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ector recto de flecha 124">
            <a:extLst>
              <a:ext uri="{FF2B5EF4-FFF2-40B4-BE49-F238E27FC236}">
                <a16:creationId xmlns:a16="http://schemas.microsoft.com/office/drawing/2014/main" id="{848A7FF2-0CC4-4048-A285-93754B932DF7}"/>
              </a:ext>
            </a:extLst>
          </p:cNvPr>
          <p:cNvCxnSpPr>
            <a:cxnSpLocks/>
          </p:cNvCxnSpPr>
          <p:nvPr/>
        </p:nvCxnSpPr>
        <p:spPr>
          <a:xfrm flipH="1">
            <a:off x="8628472" y="3438211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ector angular 32">
            <a:extLst>
              <a:ext uri="{FF2B5EF4-FFF2-40B4-BE49-F238E27FC236}">
                <a16:creationId xmlns:a16="http://schemas.microsoft.com/office/drawing/2014/main" id="{D43ECC11-6FDB-4BE4-8D4C-8C600D07AF9C}"/>
              </a:ext>
            </a:extLst>
          </p:cNvPr>
          <p:cNvCxnSpPr>
            <a:cxnSpLocks/>
            <a:stCxn id="41" idx="3"/>
            <a:endCxn id="11" idx="0"/>
          </p:cNvCxnSpPr>
          <p:nvPr/>
        </p:nvCxnSpPr>
        <p:spPr>
          <a:xfrm>
            <a:off x="10554363" y="1764243"/>
            <a:ext cx="745788" cy="94326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ector angular 32">
            <a:extLst>
              <a:ext uri="{FF2B5EF4-FFF2-40B4-BE49-F238E27FC236}">
                <a16:creationId xmlns:a16="http://schemas.microsoft.com/office/drawing/2014/main" id="{5F61246C-8B00-4FDE-951A-F1EC0851CCD4}"/>
              </a:ext>
            </a:extLst>
          </p:cNvPr>
          <p:cNvCxnSpPr>
            <a:cxnSpLocks/>
            <a:stCxn id="25" idx="3"/>
            <a:endCxn id="11" idx="0"/>
          </p:cNvCxnSpPr>
          <p:nvPr/>
        </p:nvCxnSpPr>
        <p:spPr>
          <a:xfrm>
            <a:off x="10554363" y="2158284"/>
            <a:ext cx="745788" cy="5492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Marcador de pie de página 2">
            <a:extLst>
              <a:ext uri="{FF2B5EF4-FFF2-40B4-BE49-F238E27FC236}">
                <a16:creationId xmlns:a16="http://schemas.microsoft.com/office/drawing/2014/main" id="{F4316804-A79E-4CE1-905B-14C5265C40E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</a:t>
            </a:r>
            <a:r>
              <a:rPr lang="es-ES" sz="900">
                <a:latin typeface="+mn-lt"/>
                <a:cs typeface="Calibri"/>
              </a:rPr>
              <a:t>T. de Crédito, </a:t>
            </a:r>
            <a:r>
              <a:rPr lang="es-ES" sz="900" err="1">
                <a:latin typeface="+mn-lt"/>
                <a:cs typeface="Calibri"/>
              </a:rPr>
              <a:t>Credipoliza</a:t>
            </a:r>
            <a:r>
              <a:rPr lang="es-ES" sz="900">
                <a:latin typeface="+mn-lt"/>
                <a:cs typeface="Calibri"/>
              </a:rPr>
              <a:t>, A. de Consumo </a:t>
            </a:r>
            <a:endParaRPr lang="es-ES_tradnl"/>
          </a:p>
        </p:txBody>
      </p:sp>
      <p:sp>
        <p:nvSpPr>
          <p:cNvPr id="3" name="Marcador de contenido 5">
            <a:extLst>
              <a:ext uri="{FF2B5EF4-FFF2-40B4-BE49-F238E27FC236}">
                <a16:creationId xmlns:a16="http://schemas.microsoft.com/office/drawing/2014/main" id="{57ABAB70-4AFC-42F4-84D0-21F429BF40E6}"/>
              </a:ext>
            </a:extLst>
          </p:cNvPr>
          <p:cNvSpPr txBox="1">
            <a:spLocks/>
          </p:cNvSpPr>
          <p:nvPr/>
        </p:nvSpPr>
        <p:spPr>
          <a:xfrm>
            <a:off x="3467402" y="5852283"/>
            <a:ext cx="5176788" cy="8212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 kern="0">
                <a:latin typeface="+mn-lt"/>
                <a:cs typeface="Arial"/>
                <a:sym typeface="Arial"/>
                <a:rtl val="0"/>
              </a:rPr>
              <a:t>(1) Cumplimiento volúmenes de venta del producto – canal digital y tradicional; (2) Rentabilidad del producto; (3) Cumplimiento volúmenes de venta en aliados; (4) Contribución alianzas; (5) NPS Cliente externo</a:t>
            </a:r>
          </a:p>
        </p:txBody>
      </p:sp>
      <p:sp>
        <p:nvSpPr>
          <p:cNvPr id="64" name="Rectángulo 63">
            <a:extLst>
              <a:ext uri="{FF2B5EF4-FFF2-40B4-BE49-F238E27FC236}">
                <a16:creationId xmlns:a16="http://schemas.microsoft.com/office/drawing/2014/main" id="{E3080E18-381C-493A-8DED-FACD901E05A6}"/>
              </a:ext>
            </a:extLst>
          </p:cNvPr>
          <p:cNvSpPr/>
          <p:nvPr/>
        </p:nvSpPr>
        <p:spPr>
          <a:xfrm>
            <a:off x="10755086" y="5209398"/>
            <a:ext cx="1090130" cy="50459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Alianzas y  Créditos C.</a:t>
            </a:r>
          </a:p>
        </p:txBody>
      </p:sp>
      <p:sp>
        <p:nvSpPr>
          <p:cNvPr id="105" name="Marcador de contenido 5">
            <a:extLst>
              <a:ext uri="{FF2B5EF4-FFF2-40B4-BE49-F238E27FC236}">
                <a16:creationId xmlns:a16="http://schemas.microsoft.com/office/drawing/2014/main" id="{F2A64509-41C5-43C8-9CCA-578BEE21B6A9}"/>
              </a:ext>
            </a:extLst>
          </p:cNvPr>
          <p:cNvSpPr txBox="1">
            <a:spLocks/>
          </p:cNvSpPr>
          <p:nvPr/>
        </p:nvSpPr>
        <p:spPr>
          <a:xfrm>
            <a:off x="8970359" y="4915488"/>
            <a:ext cx="1634294" cy="216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cxnSp>
        <p:nvCxnSpPr>
          <p:cNvPr id="87" name="Conector angular 32">
            <a:extLst>
              <a:ext uri="{FF2B5EF4-FFF2-40B4-BE49-F238E27FC236}">
                <a16:creationId xmlns:a16="http://schemas.microsoft.com/office/drawing/2014/main" id="{141C55D7-054B-4A46-9EE2-7D91E6407B1B}"/>
              </a:ext>
            </a:extLst>
          </p:cNvPr>
          <p:cNvCxnSpPr>
            <a:cxnSpLocks/>
            <a:stCxn id="105" idx="3"/>
            <a:endCxn id="64" idx="0"/>
          </p:cNvCxnSpPr>
          <p:nvPr/>
        </p:nvCxnSpPr>
        <p:spPr>
          <a:xfrm>
            <a:off x="10604653" y="5023488"/>
            <a:ext cx="695498" cy="1859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ector angular 32">
            <a:extLst>
              <a:ext uri="{FF2B5EF4-FFF2-40B4-BE49-F238E27FC236}">
                <a16:creationId xmlns:a16="http://schemas.microsoft.com/office/drawing/2014/main" id="{11F79CBB-6030-485F-81B9-26EBE0524721}"/>
              </a:ext>
            </a:extLst>
          </p:cNvPr>
          <p:cNvCxnSpPr>
            <a:cxnSpLocks/>
            <a:stCxn id="23" idx="3"/>
            <a:endCxn id="64" idx="0"/>
          </p:cNvCxnSpPr>
          <p:nvPr/>
        </p:nvCxnSpPr>
        <p:spPr>
          <a:xfrm>
            <a:off x="10604652" y="4771709"/>
            <a:ext cx="695499" cy="43768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ector recto de flecha 115">
            <a:extLst>
              <a:ext uri="{FF2B5EF4-FFF2-40B4-BE49-F238E27FC236}">
                <a16:creationId xmlns:a16="http://schemas.microsoft.com/office/drawing/2014/main" id="{251CF2DD-1953-41CD-8ABD-E1AFF111FD61}"/>
              </a:ext>
            </a:extLst>
          </p:cNvPr>
          <p:cNvCxnSpPr>
            <a:cxnSpLocks/>
            <a:stCxn id="18" idx="1"/>
          </p:cNvCxnSpPr>
          <p:nvPr/>
        </p:nvCxnSpPr>
        <p:spPr>
          <a:xfrm flipH="1" flipV="1">
            <a:off x="8644190" y="5749709"/>
            <a:ext cx="341892" cy="563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lecha: pentágono 19">
            <a:extLst>
              <a:ext uri="{FF2B5EF4-FFF2-40B4-BE49-F238E27FC236}">
                <a16:creationId xmlns:a16="http://schemas.microsoft.com/office/drawing/2014/main" id="{4BF9B8B9-7E48-404C-8571-FCE29217D0BA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1" name="Imagen 20" descr="Imagen que contiene dibujo&#10;&#10;Descripción generada automáticamente">
            <a:extLst>
              <a:ext uri="{FF2B5EF4-FFF2-40B4-BE49-F238E27FC236}">
                <a16:creationId xmlns:a16="http://schemas.microsoft.com/office/drawing/2014/main" id="{88E54447-0E9F-48F4-A632-6F48E2A402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60" name="Rectángulo 59">
            <a:extLst>
              <a:ext uri="{FF2B5EF4-FFF2-40B4-BE49-F238E27FC236}">
                <a16:creationId xmlns:a16="http://schemas.microsoft.com/office/drawing/2014/main" id="{BF8B8669-36AC-4FA8-B025-7F84A19AD0C6}"/>
              </a:ext>
            </a:extLst>
          </p:cNvPr>
          <p:cNvSpPr/>
          <p:nvPr/>
        </p:nvSpPr>
        <p:spPr>
          <a:xfrm>
            <a:off x="417041" y="2728857"/>
            <a:ext cx="1008000" cy="54650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desarrollo de </a:t>
            </a:r>
            <a:r>
              <a:rPr lang="es-CO" sz="1100" err="1">
                <a:solidFill>
                  <a:prstClr val="white"/>
                </a:solidFill>
              </a:rPr>
              <a:t>proy</a:t>
            </a:r>
            <a:r>
              <a:rPr lang="es-CO" sz="1100">
                <a:solidFill>
                  <a:prstClr val="white"/>
                </a:solidFill>
              </a:rPr>
              <a:t>. de </a:t>
            </a:r>
            <a:r>
              <a:rPr lang="es-CO" sz="1100" err="1">
                <a:solidFill>
                  <a:prstClr val="white"/>
                </a:solidFill>
              </a:rPr>
              <a:t>digit</a:t>
            </a:r>
            <a:r>
              <a:rPr lang="es-CO" sz="110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BBBC3E31-5D42-4918-9728-0B674603CEE0}"/>
              </a:ext>
            </a:extLst>
          </p:cNvPr>
          <p:cNvSpPr txBox="1">
            <a:spLocks/>
          </p:cNvSpPr>
          <p:nvPr/>
        </p:nvSpPr>
        <p:spPr>
          <a:xfrm>
            <a:off x="1572057" y="1672406"/>
            <a:ext cx="1584000" cy="27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Sponsor del proyecto</a:t>
            </a:r>
          </a:p>
        </p:txBody>
      </p:sp>
      <p:sp>
        <p:nvSpPr>
          <p:cNvPr id="65" name="Marcador de contenido 5">
            <a:extLst>
              <a:ext uri="{FF2B5EF4-FFF2-40B4-BE49-F238E27FC236}">
                <a16:creationId xmlns:a16="http://schemas.microsoft.com/office/drawing/2014/main" id="{D619CAD5-64C8-4AEF-B3AC-8EA1DF11C0BA}"/>
              </a:ext>
            </a:extLst>
          </p:cNvPr>
          <p:cNvSpPr txBox="1">
            <a:spLocks/>
          </p:cNvSpPr>
          <p:nvPr/>
        </p:nvSpPr>
        <p:spPr>
          <a:xfrm>
            <a:off x="1572057" y="1992941"/>
            <a:ext cx="1584000" cy="38378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Conocimiento del mercado y producto</a:t>
            </a:r>
          </a:p>
        </p:txBody>
      </p: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2871F2B1-DD58-4C0B-B12D-E7F2E06C6B8D}"/>
              </a:ext>
            </a:extLst>
          </p:cNvPr>
          <p:cNvSpPr txBox="1">
            <a:spLocks/>
          </p:cNvSpPr>
          <p:nvPr/>
        </p:nvSpPr>
        <p:spPr>
          <a:xfrm>
            <a:off x="1572057" y="3614351"/>
            <a:ext cx="1584000" cy="36512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67" name="Conector angular 26">
            <a:extLst>
              <a:ext uri="{FF2B5EF4-FFF2-40B4-BE49-F238E27FC236}">
                <a16:creationId xmlns:a16="http://schemas.microsoft.com/office/drawing/2014/main" id="{555C8875-EC9A-46C3-870C-6C36375A29A0}"/>
              </a:ext>
            </a:extLst>
          </p:cNvPr>
          <p:cNvCxnSpPr>
            <a:cxnSpLocks/>
            <a:stCxn id="61" idx="1"/>
            <a:endCxn id="60" idx="0"/>
          </p:cNvCxnSpPr>
          <p:nvPr/>
        </p:nvCxnSpPr>
        <p:spPr>
          <a:xfrm rot="10800000" flipV="1">
            <a:off x="921041" y="1807405"/>
            <a:ext cx="651016" cy="92145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angular 26">
            <a:extLst>
              <a:ext uri="{FF2B5EF4-FFF2-40B4-BE49-F238E27FC236}">
                <a16:creationId xmlns:a16="http://schemas.microsoft.com/office/drawing/2014/main" id="{787C0AD5-5D64-418D-81DC-8BB5AD8AE152}"/>
              </a:ext>
            </a:extLst>
          </p:cNvPr>
          <p:cNvCxnSpPr>
            <a:cxnSpLocks/>
            <a:stCxn id="65" idx="1"/>
            <a:endCxn id="60" idx="0"/>
          </p:cNvCxnSpPr>
          <p:nvPr/>
        </p:nvCxnSpPr>
        <p:spPr>
          <a:xfrm rot="10800000" flipV="1">
            <a:off x="921041" y="2184835"/>
            <a:ext cx="651016" cy="5440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ector angular 26">
            <a:extLst>
              <a:ext uri="{FF2B5EF4-FFF2-40B4-BE49-F238E27FC236}">
                <a16:creationId xmlns:a16="http://schemas.microsoft.com/office/drawing/2014/main" id="{0997BEA6-F628-4979-A422-843FE5AD4DB9}"/>
              </a:ext>
            </a:extLst>
          </p:cNvPr>
          <p:cNvCxnSpPr>
            <a:cxnSpLocks/>
            <a:stCxn id="75" idx="2"/>
            <a:endCxn id="66" idx="1"/>
          </p:cNvCxnSpPr>
          <p:nvPr/>
        </p:nvCxnSpPr>
        <p:spPr>
          <a:xfrm rot="16200000" flipH="1">
            <a:off x="1212935" y="3437791"/>
            <a:ext cx="67229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F99BE7A0-C859-485D-9234-5C2A09D0D331}"/>
              </a:ext>
            </a:extLst>
          </p:cNvPr>
          <p:cNvCxnSpPr>
            <a:cxnSpLocks/>
          </p:cNvCxnSpPr>
          <p:nvPr/>
        </p:nvCxnSpPr>
        <p:spPr>
          <a:xfrm>
            <a:off x="3171776" y="3796914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12783F54-9CD5-401E-B60A-329BF5F5E9C9}"/>
              </a:ext>
            </a:extLst>
          </p:cNvPr>
          <p:cNvCxnSpPr>
            <a:cxnSpLocks/>
          </p:cNvCxnSpPr>
          <p:nvPr/>
        </p:nvCxnSpPr>
        <p:spPr>
          <a:xfrm flipH="1">
            <a:off x="3156057" y="1807405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de flecha 71">
            <a:extLst>
              <a:ext uri="{FF2B5EF4-FFF2-40B4-BE49-F238E27FC236}">
                <a16:creationId xmlns:a16="http://schemas.microsoft.com/office/drawing/2014/main" id="{2D59461B-FB91-4BEA-AE21-C64C52178DCA}"/>
              </a:ext>
            </a:extLst>
          </p:cNvPr>
          <p:cNvCxnSpPr>
            <a:cxnSpLocks/>
            <a:endCxn id="65" idx="3"/>
          </p:cNvCxnSpPr>
          <p:nvPr/>
        </p:nvCxnSpPr>
        <p:spPr>
          <a:xfrm flipH="1">
            <a:off x="3156057" y="2184834"/>
            <a:ext cx="31134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E40A5816-5274-465F-8D54-EE6C9B7BAAD3}"/>
              </a:ext>
            </a:extLst>
          </p:cNvPr>
          <p:cNvSpPr txBox="1">
            <a:spLocks/>
          </p:cNvSpPr>
          <p:nvPr/>
        </p:nvSpPr>
        <p:spPr>
          <a:xfrm>
            <a:off x="1572057" y="4016657"/>
            <a:ext cx="1584000" cy="52651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 de entendimiento del producto y el mercado</a:t>
            </a:r>
          </a:p>
        </p:txBody>
      </p: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7BA2B753-D7F2-45EF-B32A-024A8E38243F}"/>
              </a:ext>
            </a:extLst>
          </p:cNvPr>
          <p:cNvCxnSpPr>
            <a:cxnSpLocks/>
          </p:cNvCxnSpPr>
          <p:nvPr/>
        </p:nvCxnSpPr>
        <p:spPr>
          <a:xfrm>
            <a:off x="3174950" y="4258866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Rectángulo 74">
            <a:extLst>
              <a:ext uri="{FF2B5EF4-FFF2-40B4-BE49-F238E27FC236}">
                <a16:creationId xmlns:a16="http://schemas.microsoft.com/office/drawing/2014/main" id="{B49535E0-4F4A-4E6A-8822-A7EDADC400AE}"/>
              </a:ext>
            </a:extLst>
          </p:cNvPr>
          <p:cNvSpPr/>
          <p:nvPr/>
        </p:nvSpPr>
        <p:spPr>
          <a:xfrm>
            <a:off x="417041" y="3321791"/>
            <a:ext cx="1008000" cy="407894"/>
          </a:xfrm>
          <a:prstGeom prst="rect">
            <a:avLst/>
          </a:prstGeom>
          <a:solidFill>
            <a:schemeClr val="accent1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Coord. Diseño UI/UX</a:t>
            </a:r>
          </a:p>
        </p:txBody>
      </p:sp>
      <p:cxnSp>
        <p:nvCxnSpPr>
          <p:cNvPr id="76" name="Conector angular 26">
            <a:extLst>
              <a:ext uri="{FF2B5EF4-FFF2-40B4-BE49-F238E27FC236}">
                <a16:creationId xmlns:a16="http://schemas.microsoft.com/office/drawing/2014/main" id="{53C9B5A7-01A1-4CCA-902F-EF6819B93DAD}"/>
              </a:ext>
            </a:extLst>
          </p:cNvPr>
          <p:cNvCxnSpPr>
            <a:cxnSpLocks/>
            <a:stCxn id="75" idx="2"/>
            <a:endCxn id="73" idx="1"/>
          </p:cNvCxnSpPr>
          <p:nvPr/>
        </p:nvCxnSpPr>
        <p:spPr>
          <a:xfrm rot="16200000" flipH="1">
            <a:off x="971436" y="3679290"/>
            <a:ext cx="550227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34DCFE06-4D3F-4615-816C-3B5A5687F139}"/>
              </a:ext>
            </a:extLst>
          </p:cNvPr>
          <p:cNvSpPr txBox="1">
            <a:spLocks/>
          </p:cNvSpPr>
          <p:nvPr/>
        </p:nvSpPr>
        <p:spPr>
          <a:xfrm>
            <a:off x="1572057" y="2424716"/>
            <a:ext cx="1584000" cy="40425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Recomendaciones y solicitudes de ajuste</a:t>
            </a:r>
          </a:p>
        </p:txBody>
      </p:sp>
      <p:cxnSp>
        <p:nvCxnSpPr>
          <p:cNvPr id="78" name="Conector angular 26">
            <a:extLst>
              <a:ext uri="{FF2B5EF4-FFF2-40B4-BE49-F238E27FC236}">
                <a16:creationId xmlns:a16="http://schemas.microsoft.com/office/drawing/2014/main" id="{28B01E0D-4ECD-4D2A-A2BD-31815E50997C}"/>
              </a:ext>
            </a:extLst>
          </p:cNvPr>
          <p:cNvCxnSpPr>
            <a:cxnSpLocks/>
            <a:stCxn id="77" idx="1"/>
            <a:endCxn id="60" idx="0"/>
          </p:cNvCxnSpPr>
          <p:nvPr/>
        </p:nvCxnSpPr>
        <p:spPr>
          <a:xfrm rot="10800000" flipV="1">
            <a:off x="921041" y="2626843"/>
            <a:ext cx="651016" cy="1020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recto de flecha 78">
            <a:extLst>
              <a:ext uri="{FF2B5EF4-FFF2-40B4-BE49-F238E27FC236}">
                <a16:creationId xmlns:a16="http://schemas.microsoft.com/office/drawing/2014/main" id="{3FC59E38-029E-48B6-ABE7-A4DD2B5D44CC}"/>
              </a:ext>
            </a:extLst>
          </p:cNvPr>
          <p:cNvCxnSpPr>
            <a:cxnSpLocks/>
          </p:cNvCxnSpPr>
          <p:nvPr/>
        </p:nvCxnSpPr>
        <p:spPr>
          <a:xfrm flipH="1">
            <a:off x="3156057" y="263732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ángulo 79">
            <a:extLst>
              <a:ext uri="{FF2B5EF4-FFF2-40B4-BE49-F238E27FC236}">
                <a16:creationId xmlns:a16="http://schemas.microsoft.com/office/drawing/2014/main" id="{4D5781DB-2618-4708-ACBD-2AD0F90B4020}"/>
              </a:ext>
            </a:extLst>
          </p:cNvPr>
          <p:cNvSpPr/>
          <p:nvPr/>
        </p:nvSpPr>
        <p:spPr>
          <a:xfrm>
            <a:off x="382905" y="4950557"/>
            <a:ext cx="1008000" cy="73284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Actores que participan en </a:t>
            </a:r>
            <a:r>
              <a:rPr lang="es-CO" sz="1100" err="1"/>
              <a:t>en</a:t>
            </a:r>
            <a:r>
              <a:rPr lang="es-CO" sz="1100"/>
              <a:t> la gestión integral del p.</a:t>
            </a:r>
          </a:p>
        </p:txBody>
      </p:sp>
      <p:sp>
        <p:nvSpPr>
          <p:cNvPr id="81" name="Marcador de contenido 5">
            <a:extLst>
              <a:ext uri="{FF2B5EF4-FFF2-40B4-BE49-F238E27FC236}">
                <a16:creationId xmlns:a16="http://schemas.microsoft.com/office/drawing/2014/main" id="{CC7016C6-78E7-4168-9EAD-6CAAE9F6533D}"/>
              </a:ext>
            </a:extLst>
          </p:cNvPr>
          <p:cNvSpPr txBox="1">
            <a:spLocks/>
          </p:cNvSpPr>
          <p:nvPr/>
        </p:nvSpPr>
        <p:spPr>
          <a:xfrm>
            <a:off x="1572057" y="4662785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82" name="Conector angular 37">
            <a:extLst>
              <a:ext uri="{FF2B5EF4-FFF2-40B4-BE49-F238E27FC236}">
                <a16:creationId xmlns:a16="http://schemas.microsoft.com/office/drawing/2014/main" id="{319C9886-C85C-422F-93CF-AFF4D0CF7526}"/>
              </a:ext>
            </a:extLst>
          </p:cNvPr>
          <p:cNvCxnSpPr>
            <a:cxnSpLocks/>
            <a:stCxn id="80" idx="2"/>
            <a:endCxn id="84" idx="1"/>
          </p:cNvCxnSpPr>
          <p:nvPr/>
        </p:nvCxnSpPr>
        <p:spPr>
          <a:xfrm rot="16200000" flipH="1">
            <a:off x="1187605" y="5382701"/>
            <a:ext cx="83752" cy="68515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angular 37">
            <a:extLst>
              <a:ext uri="{FF2B5EF4-FFF2-40B4-BE49-F238E27FC236}">
                <a16:creationId xmlns:a16="http://schemas.microsoft.com/office/drawing/2014/main" id="{1461F1A7-043B-45A8-A54D-9B5A47CB3DFC}"/>
              </a:ext>
            </a:extLst>
          </p:cNvPr>
          <p:cNvCxnSpPr>
            <a:cxnSpLocks/>
            <a:stCxn id="81" idx="1"/>
            <a:endCxn id="80" idx="0"/>
          </p:cNvCxnSpPr>
          <p:nvPr/>
        </p:nvCxnSpPr>
        <p:spPr>
          <a:xfrm rot="10800000" flipV="1">
            <a:off x="886905" y="4833659"/>
            <a:ext cx="685152" cy="1168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Marcador de contenido 5">
            <a:extLst>
              <a:ext uri="{FF2B5EF4-FFF2-40B4-BE49-F238E27FC236}">
                <a16:creationId xmlns:a16="http://schemas.microsoft.com/office/drawing/2014/main" id="{D3421F4F-5A97-4EB6-BA9E-3231C3C8CC2F}"/>
              </a:ext>
            </a:extLst>
          </p:cNvPr>
          <p:cNvSpPr txBox="1">
            <a:spLocks/>
          </p:cNvSpPr>
          <p:nvPr/>
        </p:nvSpPr>
        <p:spPr>
          <a:xfrm>
            <a:off x="1572057" y="5596279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5E0D0CDE-28A8-453A-BB68-70694B39BCCB}"/>
              </a:ext>
            </a:extLst>
          </p:cNvPr>
          <p:cNvCxnSpPr>
            <a:cxnSpLocks/>
          </p:cNvCxnSpPr>
          <p:nvPr/>
        </p:nvCxnSpPr>
        <p:spPr>
          <a:xfrm>
            <a:off x="3171776" y="565851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E594AB7F-BA3F-43BB-B895-4ED77461F04C}"/>
              </a:ext>
            </a:extLst>
          </p:cNvPr>
          <p:cNvCxnSpPr>
            <a:cxnSpLocks/>
          </p:cNvCxnSpPr>
          <p:nvPr/>
        </p:nvCxnSpPr>
        <p:spPr>
          <a:xfrm flipH="1">
            <a:off x="3156057" y="4814418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Bocadillo: rectángulo con esquinas redondeadas 88">
            <a:extLst>
              <a:ext uri="{FF2B5EF4-FFF2-40B4-BE49-F238E27FC236}">
                <a16:creationId xmlns:a16="http://schemas.microsoft.com/office/drawing/2014/main" id="{2780ECB6-F8D8-4400-A23E-2D132A8799E0}"/>
              </a:ext>
            </a:extLst>
          </p:cNvPr>
          <p:cNvSpPr/>
          <p:nvPr/>
        </p:nvSpPr>
        <p:spPr>
          <a:xfrm>
            <a:off x="276684" y="5791963"/>
            <a:ext cx="1583994" cy="569815"/>
          </a:xfrm>
          <a:prstGeom prst="wedgeRoundRectCallout">
            <a:avLst>
              <a:gd name="adj1" fmla="val -21472"/>
              <a:gd name="adj2" fmla="val -7853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G. Mercadeo, G. Regionales, VP de TI, G. de Operaciones, G. de Riesgos, G. Cobranza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232977B0-64CB-4278-87C1-6A78F8A89B23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B861276E-AFA5-4869-B37A-CD3ED0AC488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8C5D2034-64EE-435B-8B92-075389B51F2E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43" name="Marcador de contenido 5">
            <a:extLst>
              <a:ext uri="{FF2B5EF4-FFF2-40B4-BE49-F238E27FC236}">
                <a16:creationId xmlns:a16="http://schemas.microsoft.com/office/drawing/2014/main" id="{AB07BD76-D5DE-4848-A3B8-47B32125C9F0}"/>
              </a:ext>
            </a:extLst>
          </p:cNvPr>
          <p:cNvSpPr txBox="1">
            <a:spLocks/>
          </p:cNvSpPr>
          <p:nvPr/>
        </p:nvSpPr>
        <p:spPr>
          <a:xfrm>
            <a:off x="8970362" y="2444325"/>
            <a:ext cx="1583999" cy="32329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 err="1">
                <a:solidFill>
                  <a:schemeClr val="tx1"/>
                </a:solidFill>
                <a:latin typeface="+mn-lt"/>
              </a:rPr>
              <a:t>Oport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 de alianza y caso de negocio inicial</a:t>
            </a:r>
          </a:p>
        </p:txBody>
      </p:sp>
      <p:sp>
        <p:nvSpPr>
          <p:cNvPr id="57" name="Marcador de contenido 5">
            <a:extLst>
              <a:ext uri="{FF2B5EF4-FFF2-40B4-BE49-F238E27FC236}">
                <a16:creationId xmlns:a16="http://schemas.microsoft.com/office/drawing/2014/main" id="{DB6B392D-F3DF-451C-A99B-145102D9278F}"/>
              </a:ext>
            </a:extLst>
          </p:cNvPr>
          <p:cNvSpPr txBox="1">
            <a:spLocks/>
          </p:cNvSpPr>
          <p:nvPr/>
        </p:nvSpPr>
        <p:spPr>
          <a:xfrm>
            <a:off x="8970360" y="4272308"/>
            <a:ext cx="1583999" cy="32127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exploración de oport.. de alianza</a:t>
            </a:r>
          </a:p>
        </p:txBody>
      </p:sp>
      <p:sp>
        <p:nvSpPr>
          <p:cNvPr id="58" name="Marcador de contenido 5">
            <a:extLst>
              <a:ext uri="{FF2B5EF4-FFF2-40B4-BE49-F238E27FC236}">
                <a16:creationId xmlns:a16="http://schemas.microsoft.com/office/drawing/2014/main" id="{199E491D-1F64-45A4-A586-B3D6952AB1D1}"/>
              </a:ext>
            </a:extLst>
          </p:cNvPr>
          <p:cNvSpPr txBox="1">
            <a:spLocks/>
          </p:cNvSpPr>
          <p:nvPr/>
        </p:nvSpPr>
        <p:spPr>
          <a:xfrm>
            <a:off x="8970360" y="4019585"/>
            <a:ext cx="1583999" cy="2110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en aliados</a:t>
            </a:r>
          </a:p>
        </p:txBody>
      </p:sp>
      <p:sp>
        <p:nvSpPr>
          <p:cNvPr id="59" name="Marcador de contenido 5">
            <a:extLst>
              <a:ext uri="{FF2B5EF4-FFF2-40B4-BE49-F238E27FC236}">
                <a16:creationId xmlns:a16="http://schemas.microsoft.com/office/drawing/2014/main" id="{11D35606-CCA8-436E-A89B-0EDDA6C43950}"/>
              </a:ext>
            </a:extLst>
          </p:cNvPr>
          <p:cNvSpPr txBox="1">
            <a:spLocks/>
          </p:cNvSpPr>
          <p:nvPr/>
        </p:nvSpPr>
        <p:spPr>
          <a:xfrm>
            <a:off x="8970361" y="3629877"/>
            <a:ext cx="1583999" cy="3480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alianzas a perseguir priorizadas</a:t>
            </a:r>
          </a:p>
        </p:txBody>
      </p:sp>
      <p:cxnSp>
        <p:nvCxnSpPr>
          <p:cNvPr id="117" name="Conector angular 32">
            <a:extLst>
              <a:ext uri="{FF2B5EF4-FFF2-40B4-BE49-F238E27FC236}">
                <a16:creationId xmlns:a16="http://schemas.microsoft.com/office/drawing/2014/main" id="{6574644E-C443-4534-9193-D790DF9DF1F2}"/>
              </a:ext>
            </a:extLst>
          </p:cNvPr>
          <p:cNvCxnSpPr>
            <a:cxnSpLocks/>
            <a:stCxn id="43" idx="3"/>
            <a:endCxn id="11" idx="0"/>
          </p:cNvCxnSpPr>
          <p:nvPr/>
        </p:nvCxnSpPr>
        <p:spPr>
          <a:xfrm>
            <a:off x="10554361" y="2605973"/>
            <a:ext cx="745790" cy="10153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Conector angular 37">
            <a:extLst>
              <a:ext uri="{FF2B5EF4-FFF2-40B4-BE49-F238E27FC236}">
                <a16:creationId xmlns:a16="http://schemas.microsoft.com/office/drawing/2014/main" id="{58CF557E-B646-4C9E-9605-1DE8753251F7}"/>
              </a:ext>
            </a:extLst>
          </p:cNvPr>
          <p:cNvCxnSpPr>
            <a:cxnSpLocks/>
            <a:stCxn id="11" idx="2"/>
            <a:endCxn id="59" idx="3"/>
          </p:cNvCxnSpPr>
          <p:nvPr/>
        </p:nvCxnSpPr>
        <p:spPr>
          <a:xfrm rot="5400000">
            <a:off x="10561627" y="3065364"/>
            <a:ext cx="731259" cy="7457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Conector angular 37">
            <a:extLst>
              <a:ext uri="{FF2B5EF4-FFF2-40B4-BE49-F238E27FC236}">
                <a16:creationId xmlns:a16="http://schemas.microsoft.com/office/drawing/2014/main" id="{C4175367-A16D-48AF-8E9F-33D6175815E7}"/>
              </a:ext>
            </a:extLst>
          </p:cNvPr>
          <p:cNvCxnSpPr>
            <a:cxnSpLocks/>
            <a:stCxn id="11" idx="2"/>
            <a:endCxn id="58" idx="3"/>
          </p:cNvCxnSpPr>
          <p:nvPr/>
        </p:nvCxnSpPr>
        <p:spPr>
          <a:xfrm rot="5400000">
            <a:off x="10401018" y="3225971"/>
            <a:ext cx="1052475" cy="7457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ector angular 37">
            <a:extLst>
              <a:ext uri="{FF2B5EF4-FFF2-40B4-BE49-F238E27FC236}">
                <a16:creationId xmlns:a16="http://schemas.microsoft.com/office/drawing/2014/main" id="{9153D245-F758-4BAD-A802-0731149CAF6E}"/>
              </a:ext>
            </a:extLst>
          </p:cNvPr>
          <p:cNvCxnSpPr>
            <a:cxnSpLocks/>
            <a:stCxn id="11" idx="2"/>
            <a:endCxn id="57" idx="3"/>
          </p:cNvCxnSpPr>
          <p:nvPr/>
        </p:nvCxnSpPr>
        <p:spPr>
          <a:xfrm rot="5400000">
            <a:off x="10247097" y="3379892"/>
            <a:ext cx="1360317" cy="7457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ector recto de flecha 138">
            <a:extLst>
              <a:ext uri="{FF2B5EF4-FFF2-40B4-BE49-F238E27FC236}">
                <a16:creationId xmlns:a16="http://schemas.microsoft.com/office/drawing/2014/main" id="{E43182FD-5D69-4877-8F7E-EA5BF2F701F5}"/>
              </a:ext>
            </a:extLst>
          </p:cNvPr>
          <p:cNvCxnSpPr>
            <a:cxnSpLocks/>
          </p:cNvCxnSpPr>
          <p:nvPr/>
        </p:nvCxnSpPr>
        <p:spPr>
          <a:xfrm flipH="1">
            <a:off x="8628472" y="3826884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ector recto de flecha 139">
            <a:extLst>
              <a:ext uri="{FF2B5EF4-FFF2-40B4-BE49-F238E27FC236}">
                <a16:creationId xmlns:a16="http://schemas.microsoft.com/office/drawing/2014/main" id="{07C6D109-22AD-4760-BB2D-000B15EF9543}"/>
              </a:ext>
            </a:extLst>
          </p:cNvPr>
          <p:cNvCxnSpPr>
            <a:cxnSpLocks/>
          </p:cNvCxnSpPr>
          <p:nvPr/>
        </p:nvCxnSpPr>
        <p:spPr>
          <a:xfrm flipH="1">
            <a:off x="8628472" y="4125105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1" name="Conector recto de flecha 140">
            <a:extLst>
              <a:ext uri="{FF2B5EF4-FFF2-40B4-BE49-F238E27FC236}">
                <a16:creationId xmlns:a16="http://schemas.microsoft.com/office/drawing/2014/main" id="{90E2B893-319F-4E88-956D-186DA68C44A0}"/>
              </a:ext>
            </a:extLst>
          </p:cNvPr>
          <p:cNvCxnSpPr>
            <a:cxnSpLocks/>
          </p:cNvCxnSpPr>
          <p:nvPr/>
        </p:nvCxnSpPr>
        <p:spPr>
          <a:xfrm flipH="1">
            <a:off x="8628472" y="443294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Conector recto de flecha 141">
            <a:extLst>
              <a:ext uri="{FF2B5EF4-FFF2-40B4-BE49-F238E27FC236}">
                <a16:creationId xmlns:a16="http://schemas.microsoft.com/office/drawing/2014/main" id="{E4DE1B14-007C-44DA-A768-8A3FB96237DD}"/>
              </a:ext>
            </a:extLst>
          </p:cNvPr>
          <p:cNvCxnSpPr>
            <a:cxnSpLocks/>
          </p:cNvCxnSpPr>
          <p:nvPr/>
        </p:nvCxnSpPr>
        <p:spPr>
          <a:xfrm>
            <a:off x="8644190" y="261669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8" name="Marcador de contenido 5">
            <a:extLst>
              <a:ext uri="{FF2B5EF4-FFF2-40B4-BE49-F238E27FC236}">
                <a16:creationId xmlns:a16="http://schemas.microsoft.com/office/drawing/2014/main" id="{830239E7-38D5-4602-B0ED-78C1070588DA}"/>
              </a:ext>
            </a:extLst>
          </p:cNvPr>
          <p:cNvSpPr txBox="1">
            <a:spLocks/>
          </p:cNvSpPr>
          <p:nvPr/>
        </p:nvSpPr>
        <p:spPr>
          <a:xfrm>
            <a:off x="8970359" y="5167267"/>
            <a:ext cx="1634294" cy="216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en Aliados</a:t>
            </a:r>
          </a:p>
        </p:txBody>
      </p:sp>
      <p:cxnSp>
        <p:nvCxnSpPr>
          <p:cNvPr id="173" name="Conector recto de flecha 172">
            <a:extLst>
              <a:ext uri="{FF2B5EF4-FFF2-40B4-BE49-F238E27FC236}">
                <a16:creationId xmlns:a16="http://schemas.microsoft.com/office/drawing/2014/main" id="{912BA393-97FE-4488-BEAE-7F466954C98A}"/>
              </a:ext>
            </a:extLst>
          </p:cNvPr>
          <p:cNvCxnSpPr>
            <a:cxnSpLocks/>
          </p:cNvCxnSpPr>
          <p:nvPr/>
        </p:nvCxnSpPr>
        <p:spPr>
          <a:xfrm>
            <a:off x="8644190" y="4771709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ector recto de flecha 173">
            <a:extLst>
              <a:ext uri="{FF2B5EF4-FFF2-40B4-BE49-F238E27FC236}">
                <a16:creationId xmlns:a16="http://schemas.microsoft.com/office/drawing/2014/main" id="{34CC236E-7E46-425C-B4FC-3E3556D68178}"/>
              </a:ext>
            </a:extLst>
          </p:cNvPr>
          <p:cNvCxnSpPr>
            <a:cxnSpLocks/>
          </p:cNvCxnSpPr>
          <p:nvPr/>
        </p:nvCxnSpPr>
        <p:spPr>
          <a:xfrm>
            <a:off x="8644190" y="5023488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5" name="Conector recto de flecha 174">
            <a:extLst>
              <a:ext uri="{FF2B5EF4-FFF2-40B4-BE49-F238E27FC236}">
                <a16:creationId xmlns:a16="http://schemas.microsoft.com/office/drawing/2014/main" id="{8182853D-63FC-47CB-9A9A-C77094EB4FF4}"/>
              </a:ext>
            </a:extLst>
          </p:cNvPr>
          <p:cNvCxnSpPr>
            <a:cxnSpLocks/>
          </p:cNvCxnSpPr>
          <p:nvPr/>
        </p:nvCxnSpPr>
        <p:spPr>
          <a:xfrm>
            <a:off x="8644190" y="5283135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9" name="Bocadillo: rectángulo con esquinas redondeadas 228">
            <a:extLst>
              <a:ext uri="{FF2B5EF4-FFF2-40B4-BE49-F238E27FC236}">
                <a16:creationId xmlns:a16="http://schemas.microsoft.com/office/drawing/2014/main" id="{CB477E84-236B-4BCE-B789-2AB61895834B}"/>
              </a:ext>
            </a:extLst>
          </p:cNvPr>
          <p:cNvSpPr/>
          <p:nvPr/>
        </p:nvSpPr>
        <p:spPr>
          <a:xfrm>
            <a:off x="10243436" y="3667431"/>
            <a:ext cx="1706294" cy="569815"/>
          </a:xfrm>
          <a:prstGeom prst="wedgeRoundRectCallout">
            <a:avLst>
              <a:gd name="adj1" fmla="val -45968"/>
              <a:gd name="adj2" fmla="val 71770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En el caso de alianzas estratégicas de gran relevancia se involucrará directamente a Presidencia</a:t>
            </a:r>
          </a:p>
        </p:txBody>
      </p:sp>
    </p:spTree>
    <p:extLst>
      <p:ext uri="{BB962C8B-B14F-4D97-AF65-F5344CB8AC3E}">
        <p14:creationId xmlns:p14="http://schemas.microsoft.com/office/powerpoint/2010/main" val="356535063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Captación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39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Captación liderará la gestión del la experiencia al cliente desde la mirada integral del producto y desde la gestión de la oferta de valor e impulsará su digitalización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482231" y="1493442"/>
            <a:ext cx="5161959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Captación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482231" y="1868860"/>
            <a:ext cx="5161959" cy="382179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ejecutar y hacer seguimiento a la estrategia del producto Captación con el fin de garantizar el cumplimiento de las metas comerciales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Impulsar y asumir el rol de sponsor de iniciativas de digitalización del producto de Captación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estrategia de desarrollo, crecimiento y posicionamiento en el mercado del producto de Captación, que permita incrementar su </a:t>
            </a:r>
            <a:r>
              <a:rPr lang="es-ES" sz="1200" err="1">
                <a:latin typeface="+mn-lt"/>
                <a:cs typeface="Calibri"/>
              </a:rPr>
              <a:t>rentab</a:t>
            </a:r>
            <a:r>
              <a:rPr lang="es-ES" sz="1200">
                <a:latin typeface="+mn-lt"/>
                <a:cs typeface="Calibri"/>
              </a:rPr>
              <a:t>. y </a:t>
            </a:r>
            <a:r>
              <a:rPr lang="es-ES" sz="1200" err="1">
                <a:latin typeface="+mn-lt"/>
                <a:cs typeface="Calibri"/>
              </a:rPr>
              <a:t>comp.</a:t>
            </a:r>
            <a:r>
              <a:rPr lang="es-ES" sz="1200">
                <a:latin typeface="+mn-lt"/>
                <a:cs typeface="Calibri"/>
              </a:rPr>
              <a:t> en todos los canales y zonas de cobertura de la </a:t>
            </a:r>
            <a:r>
              <a:rPr lang="es-ES" sz="1200" err="1">
                <a:latin typeface="+mn-lt"/>
                <a:cs typeface="Calibri"/>
              </a:rPr>
              <a:t>org</a:t>
            </a:r>
            <a:r>
              <a:rPr lang="es-ES" sz="1200">
                <a:latin typeface="+mn-lt"/>
                <a:cs typeface="Calibri"/>
              </a:rPr>
              <a:t>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Impulsar y asumir el rol de sponsor de iniciativas de digitalización del producto de Captación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engranaje entre actores relevantes que participan en la gestión integral del producto – p.ej. Mercadeo, TI, </a:t>
            </a:r>
            <a:r>
              <a:rPr lang="es-ES" sz="1200" err="1">
                <a:latin typeface="+mn-lt"/>
                <a:cs typeface="Calibri"/>
              </a:rPr>
              <a:t>Op</a:t>
            </a:r>
            <a:r>
              <a:rPr lang="es-ES" sz="1200">
                <a:latin typeface="+mn-lt"/>
                <a:cs typeface="Calibri"/>
              </a:rPr>
              <a:t>, Riesgos, …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Responder por el </a:t>
            </a:r>
            <a:r>
              <a:rPr lang="es-ES" sz="1200" err="1">
                <a:latin typeface="+mn-lt"/>
                <a:cs typeface="Calibri"/>
              </a:rPr>
              <a:t>PyG</a:t>
            </a:r>
            <a:r>
              <a:rPr lang="es-ES" sz="1200">
                <a:latin typeface="+mn-lt"/>
                <a:cs typeface="Calibri"/>
              </a:rPr>
              <a:t> del producto de Captación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 y desarrollo de nuevos productos bajo la línea de negocio de Captación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Explorar oportunidades de alianzas o nuevas relaciones con terceros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Participar en conjunto con el área de riesgo, en la definición y ajuste de los niveles de riesgo, y garantizar su cumplimiento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970363" y="1840260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del producto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837216" y="3153661"/>
            <a:ext cx="1008000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Comerc. y de Servicio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554363" y="1975260"/>
            <a:ext cx="786853" cy="117840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70363" y="3536298"/>
            <a:ext cx="1584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del producto aprobada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817830" y="3255319"/>
            <a:ext cx="259920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644190" y="197526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28901" y="1819118"/>
            <a:ext cx="643157" cy="21045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72057" y="2359083"/>
            <a:ext cx="1584000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83843" y="2105869"/>
            <a:ext cx="133270" cy="64315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24900" y="2029570"/>
            <a:ext cx="1008000" cy="331243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Captación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572057" y="1656277"/>
            <a:ext cx="1584000" cy="32568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sp>
        <p:nvSpPr>
          <p:cNvPr id="25" name="Marcador de contenido 5">
            <a:extLst>
              <a:ext uri="{FF2B5EF4-FFF2-40B4-BE49-F238E27FC236}">
                <a16:creationId xmlns:a16="http://schemas.microsoft.com/office/drawing/2014/main" id="{EAA8D77D-9D44-4AFA-AE0E-B011545ED95B}"/>
              </a:ext>
            </a:extLst>
          </p:cNvPr>
          <p:cNvSpPr txBox="1">
            <a:spLocks/>
          </p:cNvSpPr>
          <p:nvPr/>
        </p:nvSpPr>
        <p:spPr>
          <a:xfrm>
            <a:off x="8970363" y="2506485"/>
            <a:ext cx="1584000" cy="64717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Propuesta nuevos productos bajo la línea de negocio de Captación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08A014D0-0C47-40A2-A924-7920B465FF3C}"/>
              </a:ext>
            </a:extLst>
          </p:cNvPr>
          <p:cNvSpPr txBox="1">
            <a:spLocks/>
          </p:cNvSpPr>
          <p:nvPr/>
        </p:nvSpPr>
        <p:spPr>
          <a:xfrm>
            <a:off x="8970363" y="4075108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estratég.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26955B80-8499-4C71-9EA5-61F680E3A9F3}"/>
              </a:ext>
            </a:extLst>
          </p:cNvPr>
          <p:cNvSpPr txBox="1">
            <a:spLocks/>
          </p:cNvSpPr>
          <p:nvPr/>
        </p:nvSpPr>
        <p:spPr>
          <a:xfrm>
            <a:off x="8970363" y="2170239"/>
            <a:ext cx="1584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ejecu.</a:t>
            </a:r>
          </a:p>
        </p:txBody>
      </p:sp>
      <p:cxnSp>
        <p:nvCxnSpPr>
          <p:cNvPr id="42" name="Conector angular 37">
            <a:extLst>
              <a:ext uri="{FF2B5EF4-FFF2-40B4-BE49-F238E27FC236}">
                <a16:creationId xmlns:a16="http://schemas.microsoft.com/office/drawing/2014/main" id="{95038F1B-F6B4-4616-9384-EBD9F67661D1}"/>
              </a:ext>
            </a:extLst>
          </p:cNvPr>
          <p:cNvCxnSpPr>
            <a:cxnSpLocks/>
            <a:stCxn id="11" idx="2"/>
            <a:endCxn id="38" idx="3"/>
          </p:cNvCxnSpPr>
          <p:nvPr/>
        </p:nvCxnSpPr>
        <p:spPr>
          <a:xfrm rot="5400000">
            <a:off x="10602129" y="3471020"/>
            <a:ext cx="691323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recto de flecha 113">
            <a:extLst>
              <a:ext uri="{FF2B5EF4-FFF2-40B4-BE49-F238E27FC236}">
                <a16:creationId xmlns:a16="http://schemas.microsoft.com/office/drawing/2014/main" id="{AED41826-40D6-4876-919A-451FD5217B93}"/>
              </a:ext>
            </a:extLst>
          </p:cNvPr>
          <p:cNvCxnSpPr>
            <a:cxnSpLocks/>
          </p:cNvCxnSpPr>
          <p:nvPr/>
        </p:nvCxnSpPr>
        <p:spPr>
          <a:xfrm>
            <a:off x="8644190" y="230166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5" name="Conector recto de flecha 114">
            <a:extLst>
              <a:ext uri="{FF2B5EF4-FFF2-40B4-BE49-F238E27FC236}">
                <a16:creationId xmlns:a16="http://schemas.microsoft.com/office/drawing/2014/main" id="{477423F3-BEE7-4731-8D23-EE2ED83EB408}"/>
              </a:ext>
            </a:extLst>
          </p:cNvPr>
          <p:cNvCxnSpPr>
            <a:cxnSpLocks/>
          </p:cNvCxnSpPr>
          <p:nvPr/>
        </p:nvCxnSpPr>
        <p:spPr>
          <a:xfrm>
            <a:off x="8644190" y="2802820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Conector recto de flecha 117">
            <a:extLst>
              <a:ext uri="{FF2B5EF4-FFF2-40B4-BE49-F238E27FC236}">
                <a16:creationId xmlns:a16="http://schemas.microsoft.com/office/drawing/2014/main" id="{6E4ED59B-9199-4BB5-8495-E36699B5ED51}"/>
              </a:ext>
            </a:extLst>
          </p:cNvPr>
          <p:cNvCxnSpPr>
            <a:cxnSpLocks/>
          </p:cNvCxnSpPr>
          <p:nvPr/>
        </p:nvCxnSpPr>
        <p:spPr>
          <a:xfrm>
            <a:off x="3171776" y="2494083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ector recto de flecha 118">
            <a:extLst>
              <a:ext uri="{FF2B5EF4-FFF2-40B4-BE49-F238E27FC236}">
                <a16:creationId xmlns:a16="http://schemas.microsoft.com/office/drawing/2014/main" id="{C786356E-6885-4D46-BA91-7E6BA89D5C11}"/>
              </a:ext>
            </a:extLst>
          </p:cNvPr>
          <p:cNvCxnSpPr>
            <a:cxnSpLocks/>
          </p:cNvCxnSpPr>
          <p:nvPr/>
        </p:nvCxnSpPr>
        <p:spPr>
          <a:xfrm flipH="1">
            <a:off x="3156057" y="1810597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Conector recto de flecha 123">
            <a:extLst>
              <a:ext uri="{FF2B5EF4-FFF2-40B4-BE49-F238E27FC236}">
                <a16:creationId xmlns:a16="http://schemas.microsoft.com/office/drawing/2014/main" id="{5E2062B1-EBEB-45D3-B321-5534F1546FDC}"/>
              </a:ext>
            </a:extLst>
          </p:cNvPr>
          <p:cNvCxnSpPr>
            <a:cxnSpLocks/>
          </p:cNvCxnSpPr>
          <p:nvPr/>
        </p:nvCxnSpPr>
        <p:spPr>
          <a:xfrm flipH="1">
            <a:off x="8628472" y="3778706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ector recto de flecha 124">
            <a:extLst>
              <a:ext uri="{FF2B5EF4-FFF2-40B4-BE49-F238E27FC236}">
                <a16:creationId xmlns:a16="http://schemas.microsoft.com/office/drawing/2014/main" id="{848A7FF2-0CC4-4048-A285-93754B932DF7}"/>
              </a:ext>
            </a:extLst>
          </p:cNvPr>
          <p:cNvCxnSpPr>
            <a:cxnSpLocks/>
          </p:cNvCxnSpPr>
          <p:nvPr/>
        </p:nvCxnSpPr>
        <p:spPr>
          <a:xfrm flipH="1">
            <a:off x="8628472" y="4220275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7" name="Conector angular 32">
            <a:extLst>
              <a:ext uri="{FF2B5EF4-FFF2-40B4-BE49-F238E27FC236}">
                <a16:creationId xmlns:a16="http://schemas.microsoft.com/office/drawing/2014/main" id="{D43ECC11-6FDB-4BE4-8D4C-8C600D07AF9C}"/>
              </a:ext>
            </a:extLst>
          </p:cNvPr>
          <p:cNvCxnSpPr>
            <a:cxnSpLocks/>
            <a:stCxn id="41" idx="3"/>
            <a:endCxn id="11" idx="0"/>
          </p:cNvCxnSpPr>
          <p:nvPr/>
        </p:nvCxnSpPr>
        <p:spPr>
          <a:xfrm>
            <a:off x="10554363" y="2305239"/>
            <a:ext cx="786853" cy="8484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0" name="Conector angular 32">
            <a:extLst>
              <a:ext uri="{FF2B5EF4-FFF2-40B4-BE49-F238E27FC236}">
                <a16:creationId xmlns:a16="http://schemas.microsoft.com/office/drawing/2014/main" id="{5F61246C-8B00-4FDE-951A-F1EC0851CCD4}"/>
              </a:ext>
            </a:extLst>
          </p:cNvPr>
          <p:cNvCxnSpPr>
            <a:cxnSpLocks/>
            <a:stCxn id="25" idx="3"/>
            <a:endCxn id="11" idx="0"/>
          </p:cNvCxnSpPr>
          <p:nvPr/>
        </p:nvCxnSpPr>
        <p:spPr>
          <a:xfrm>
            <a:off x="10554363" y="2830073"/>
            <a:ext cx="786853" cy="3235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Marcador de contenido 5">
            <a:extLst>
              <a:ext uri="{FF2B5EF4-FFF2-40B4-BE49-F238E27FC236}">
                <a16:creationId xmlns:a16="http://schemas.microsoft.com/office/drawing/2014/main" id="{8813C35D-23B6-4F0E-A6BF-75AEB2E14B06}"/>
              </a:ext>
            </a:extLst>
          </p:cNvPr>
          <p:cNvSpPr txBox="1">
            <a:spLocks/>
          </p:cNvSpPr>
          <p:nvPr/>
        </p:nvSpPr>
        <p:spPr>
          <a:xfrm>
            <a:off x="3497949" y="5741331"/>
            <a:ext cx="5130523" cy="8212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venta del producto – canal digital y tradicional; (2) Rentabilidad del producto; (3) Cumplimiento del plan de digitalización de Microcrédito y Pyme; (4) NPS Cliente externo</a:t>
            </a:r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38063760-C86B-418D-894E-21379D4B1360}"/>
              </a:ext>
            </a:extLst>
          </p:cNvPr>
          <p:cNvSpPr/>
          <p:nvPr/>
        </p:nvSpPr>
        <p:spPr>
          <a:xfrm>
            <a:off x="424900" y="3996707"/>
            <a:ext cx="1008000" cy="54650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Células de desarrollo de proy. de digit.</a:t>
            </a:r>
          </a:p>
        </p:txBody>
      </p:sp>
      <p:sp>
        <p:nvSpPr>
          <p:cNvPr id="60" name="Marcador de contenido 5">
            <a:extLst>
              <a:ext uri="{FF2B5EF4-FFF2-40B4-BE49-F238E27FC236}">
                <a16:creationId xmlns:a16="http://schemas.microsoft.com/office/drawing/2014/main" id="{35DC7334-4D31-42A2-8ACB-693FF73B05E2}"/>
              </a:ext>
            </a:extLst>
          </p:cNvPr>
          <p:cNvSpPr txBox="1">
            <a:spLocks/>
          </p:cNvSpPr>
          <p:nvPr/>
        </p:nvSpPr>
        <p:spPr>
          <a:xfrm>
            <a:off x="1572057" y="2836095"/>
            <a:ext cx="1584000" cy="27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Sponsor del proyecto</a:t>
            </a:r>
          </a:p>
        </p:txBody>
      </p: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68A21844-4868-478B-B85E-F08F86F68F55}"/>
              </a:ext>
            </a:extLst>
          </p:cNvPr>
          <p:cNvSpPr txBox="1">
            <a:spLocks/>
          </p:cNvSpPr>
          <p:nvPr/>
        </p:nvSpPr>
        <p:spPr>
          <a:xfrm>
            <a:off x="1572057" y="3156630"/>
            <a:ext cx="1584000" cy="461591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Conocimiento del mercado y producto</a:t>
            </a:r>
          </a:p>
        </p:txBody>
      </p:sp>
      <p:sp>
        <p:nvSpPr>
          <p:cNvPr id="62" name="Marcador de contenido 5">
            <a:extLst>
              <a:ext uri="{FF2B5EF4-FFF2-40B4-BE49-F238E27FC236}">
                <a16:creationId xmlns:a16="http://schemas.microsoft.com/office/drawing/2014/main" id="{7C5808FD-8665-43AA-A3B2-37B272DC4BF8}"/>
              </a:ext>
            </a:extLst>
          </p:cNvPr>
          <p:cNvSpPr txBox="1">
            <a:spLocks/>
          </p:cNvSpPr>
          <p:nvPr/>
        </p:nvSpPr>
        <p:spPr>
          <a:xfrm>
            <a:off x="1572057" y="4998741"/>
            <a:ext cx="1584000" cy="36512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63" name="Conector angular 26">
            <a:extLst>
              <a:ext uri="{FF2B5EF4-FFF2-40B4-BE49-F238E27FC236}">
                <a16:creationId xmlns:a16="http://schemas.microsoft.com/office/drawing/2014/main" id="{FD099DB5-A1E6-450F-A876-E3E9333C9A2E}"/>
              </a:ext>
            </a:extLst>
          </p:cNvPr>
          <p:cNvCxnSpPr>
            <a:cxnSpLocks/>
            <a:stCxn id="60" idx="1"/>
            <a:endCxn id="59" idx="0"/>
          </p:cNvCxnSpPr>
          <p:nvPr/>
        </p:nvCxnSpPr>
        <p:spPr>
          <a:xfrm rot="10800000" flipV="1">
            <a:off x="928901" y="2971095"/>
            <a:ext cx="643157" cy="102561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angular 26">
            <a:extLst>
              <a:ext uri="{FF2B5EF4-FFF2-40B4-BE49-F238E27FC236}">
                <a16:creationId xmlns:a16="http://schemas.microsoft.com/office/drawing/2014/main" id="{1ADBECE4-4C9D-49F8-89F8-577D11494060}"/>
              </a:ext>
            </a:extLst>
          </p:cNvPr>
          <p:cNvCxnSpPr>
            <a:cxnSpLocks/>
            <a:stCxn id="61" idx="1"/>
            <a:endCxn id="59" idx="0"/>
          </p:cNvCxnSpPr>
          <p:nvPr/>
        </p:nvCxnSpPr>
        <p:spPr>
          <a:xfrm rot="10800000" flipV="1">
            <a:off x="928901" y="3387425"/>
            <a:ext cx="643157" cy="6092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angular 26">
            <a:extLst>
              <a:ext uri="{FF2B5EF4-FFF2-40B4-BE49-F238E27FC236}">
                <a16:creationId xmlns:a16="http://schemas.microsoft.com/office/drawing/2014/main" id="{F760BF76-E61B-4680-B551-FCB932B805FF}"/>
              </a:ext>
            </a:extLst>
          </p:cNvPr>
          <p:cNvCxnSpPr>
            <a:cxnSpLocks/>
            <a:stCxn id="71" idx="2"/>
            <a:endCxn id="62" idx="1"/>
          </p:cNvCxnSpPr>
          <p:nvPr/>
        </p:nvCxnSpPr>
        <p:spPr>
          <a:xfrm rot="16200000" flipH="1">
            <a:off x="1154665" y="4763911"/>
            <a:ext cx="183769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recto de flecha 65">
            <a:extLst>
              <a:ext uri="{FF2B5EF4-FFF2-40B4-BE49-F238E27FC236}">
                <a16:creationId xmlns:a16="http://schemas.microsoft.com/office/drawing/2014/main" id="{E2021849-33AA-4B01-AF26-6300B551862E}"/>
              </a:ext>
            </a:extLst>
          </p:cNvPr>
          <p:cNvCxnSpPr>
            <a:cxnSpLocks/>
          </p:cNvCxnSpPr>
          <p:nvPr/>
        </p:nvCxnSpPr>
        <p:spPr>
          <a:xfrm>
            <a:off x="3171776" y="5181304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ector recto de flecha 66">
            <a:extLst>
              <a:ext uri="{FF2B5EF4-FFF2-40B4-BE49-F238E27FC236}">
                <a16:creationId xmlns:a16="http://schemas.microsoft.com/office/drawing/2014/main" id="{5A714211-B904-4B7C-919C-B9294B2581E5}"/>
              </a:ext>
            </a:extLst>
          </p:cNvPr>
          <p:cNvCxnSpPr>
            <a:cxnSpLocks/>
          </p:cNvCxnSpPr>
          <p:nvPr/>
        </p:nvCxnSpPr>
        <p:spPr>
          <a:xfrm flipH="1">
            <a:off x="3156057" y="2971094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recto de flecha 67">
            <a:extLst>
              <a:ext uri="{FF2B5EF4-FFF2-40B4-BE49-F238E27FC236}">
                <a16:creationId xmlns:a16="http://schemas.microsoft.com/office/drawing/2014/main" id="{8EF99FD6-6198-4F7E-BB91-80434FB8EEE4}"/>
              </a:ext>
            </a:extLst>
          </p:cNvPr>
          <p:cNvCxnSpPr>
            <a:cxnSpLocks/>
          </p:cNvCxnSpPr>
          <p:nvPr/>
        </p:nvCxnSpPr>
        <p:spPr>
          <a:xfrm flipH="1">
            <a:off x="3156057" y="3387425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E6253E93-4FED-4E8D-A8F5-F4559B6A5E99}"/>
              </a:ext>
            </a:extLst>
          </p:cNvPr>
          <p:cNvSpPr txBox="1">
            <a:spLocks/>
          </p:cNvSpPr>
          <p:nvPr/>
        </p:nvSpPr>
        <p:spPr>
          <a:xfrm>
            <a:off x="1572057" y="5401047"/>
            <a:ext cx="1584000" cy="52651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 de entendimiento del producto y el mercado</a:t>
            </a:r>
          </a:p>
        </p:txBody>
      </p: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296DB0CA-3EC0-4319-AB9F-4C595A8E9086}"/>
              </a:ext>
            </a:extLst>
          </p:cNvPr>
          <p:cNvCxnSpPr>
            <a:cxnSpLocks/>
          </p:cNvCxnSpPr>
          <p:nvPr/>
        </p:nvCxnSpPr>
        <p:spPr>
          <a:xfrm>
            <a:off x="3174950" y="5643256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ángulo 70">
            <a:extLst>
              <a:ext uri="{FF2B5EF4-FFF2-40B4-BE49-F238E27FC236}">
                <a16:creationId xmlns:a16="http://schemas.microsoft.com/office/drawing/2014/main" id="{F7965F0A-2655-4E20-806E-9B6B9FB39801}"/>
              </a:ext>
            </a:extLst>
          </p:cNvPr>
          <p:cNvSpPr/>
          <p:nvPr/>
        </p:nvSpPr>
        <p:spPr>
          <a:xfrm>
            <a:off x="417041" y="4589641"/>
            <a:ext cx="1008000" cy="407894"/>
          </a:xfrm>
          <a:prstGeom prst="rect">
            <a:avLst/>
          </a:prstGeom>
          <a:solidFill>
            <a:schemeClr val="accent1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Coord. Diseño UI/UX</a:t>
            </a:r>
          </a:p>
        </p:txBody>
      </p:sp>
      <p:cxnSp>
        <p:nvCxnSpPr>
          <p:cNvPr id="72" name="Conector angular 26">
            <a:extLst>
              <a:ext uri="{FF2B5EF4-FFF2-40B4-BE49-F238E27FC236}">
                <a16:creationId xmlns:a16="http://schemas.microsoft.com/office/drawing/2014/main" id="{AF055892-B474-4544-AA8F-855A4AED994D}"/>
              </a:ext>
            </a:extLst>
          </p:cNvPr>
          <p:cNvCxnSpPr>
            <a:cxnSpLocks/>
            <a:stCxn id="71" idx="2"/>
            <a:endCxn id="69" idx="1"/>
          </p:cNvCxnSpPr>
          <p:nvPr/>
        </p:nvCxnSpPr>
        <p:spPr>
          <a:xfrm rot="16200000" flipH="1">
            <a:off x="913166" y="5005410"/>
            <a:ext cx="666767" cy="6510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E0832D70-DB33-4B35-9C91-C3DF92D67668}"/>
              </a:ext>
            </a:extLst>
          </p:cNvPr>
          <p:cNvSpPr txBox="1">
            <a:spLocks/>
          </p:cNvSpPr>
          <p:nvPr/>
        </p:nvSpPr>
        <p:spPr>
          <a:xfrm>
            <a:off x="1572057" y="3683113"/>
            <a:ext cx="1584000" cy="40425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Recomendaciones y solicitudes de ajuste</a:t>
            </a:r>
          </a:p>
        </p:txBody>
      </p:sp>
      <p:cxnSp>
        <p:nvCxnSpPr>
          <p:cNvPr id="74" name="Conector angular 26">
            <a:extLst>
              <a:ext uri="{FF2B5EF4-FFF2-40B4-BE49-F238E27FC236}">
                <a16:creationId xmlns:a16="http://schemas.microsoft.com/office/drawing/2014/main" id="{C6595F28-3455-49F0-A399-67384BF1E94C}"/>
              </a:ext>
            </a:extLst>
          </p:cNvPr>
          <p:cNvCxnSpPr>
            <a:cxnSpLocks/>
            <a:stCxn id="73" idx="1"/>
            <a:endCxn id="59" idx="0"/>
          </p:cNvCxnSpPr>
          <p:nvPr/>
        </p:nvCxnSpPr>
        <p:spPr>
          <a:xfrm rot="10800000" flipV="1">
            <a:off x="928901" y="3885241"/>
            <a:ext cx="643157" cy="11146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C3A26700-B3E2-4D6C-9DA6-50F70228F1BD}"/>
              </a:ext>
            </a:extLst>
          </p:cNvPr>
          <p:cNvCxnSpPr>
            <a:cxnSpLocks/>
          </p:cNvCxnSpPr>
          <p:nvPr/>
        </p:nvCxnSpPr>
        <p:spPr>
          <a:xfrm flipH="1">
            <a:off x="3156057" y="3895723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F3A6F235-8C6B-4D2B-BDD5-96C93F3449D7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27" name="Signo más 26">
            <a:extLst>
              <a:ext uri="{FF2B5EF4-FFF2-40B4-BE49-F238E27FC236}">
                <a16:creationId xmlns:a16="http://schemas.microsoft.com/office/drawing/2014/main" id="{5FDD218A-38E6-46D7-9A25-A41C6C90FA9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6" name="Rectángulo 75">
            <a:extLst>
              <a:ext uri="{FF2B5EF4-FFF2-40B4-BE49-F238E27FC236}">
                <a16:creationId xmlns:a16="http://schemas.microsoft.com/office/drawing/2014/main" id="{0B2A3243-E061-4DF0-8610-892764C1625C}"/>
              </a:ext>
            </a:extLst>
          </p:cNvPr>
          <p:cNvSpPr/>
          <p:nvPr/>
        </p:nvSpPr>
        <p:spPr>
          <a:xfrm>
            <a:off x="10837216" y="4785731"/>
            <a:ext cx="1008000" cy="73284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Actores que participan en en la gestión integral del p.</a:t>
            </a:r>
          </a:p>
        </p:txBody>
      </p: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0F5DA3C8-B426-447B-9F74-60FA574FFD7D}"/>
              </a:ext>
            </a:extLst>
          </p:cNvPr>
          <p:cNvSpPr txBox="1">
            <a:spLocks/>
          </p:cNvSpPr>
          <p:nvPr/>
        </p:nvSpPr>
        <p:spPr>
          <a:xfrm>
            <a:off x="8970363" y="4504976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cxnSp>
        <p:nvCxnSpPr>
          <p:cNvPr id="78" name="Conector angular 37">
            <a:extLst>
              <a:ext uri="{FF2B5EF4-FFF2-40B4-BE49-F238E27FC236}">
                <a16:creationId xmlns:a16="http://schemas.microsoft.com/office/drawing/2014/main" id="{F5C1F025-BA4E-47A6-8A71-73F51D1F133B}"/>
              </a:ext>
            </a:extLst>
          </p:cNvPr>
          <p:cNvCxnSpPr>
            <a:cxnSpLocks/>
            <a:stCxn id="76" idx="2"/>
            <a:endCxn id="82" idx="3"/>
          </p:cNvCxnSpPr>
          <p:nvPr/>
        </p:nvCxnSpPr>
        <p:spPr>
          <a:xfrm rot="5400000">
            <a:off x="10925001" y="5147938"/>
            <a:ext cx="45578" cy="78685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37">
            <a:extLst>
              <a:ext uri="{FF2B5EF4-FFF2-40B4-BE49-F238E27FC236}">
                <a16:creationId xmlns:a16="http://schemas.microsoft.com/office/drawing/2014/main" id="{DDB658FF-2DA1-4458-B1C9-F0BB9F07574C}"/>
              </a:ext>
            </a:extLst>
          </p:cNvPr>
          <p:cNvCxnSpPr>
            <a:cxnSpLocks/>
            <a:stCxn id="77" idx="3"/>
            <a:endCxn id="76" idx="0"/>
          </p:cNvCxnSpPr>
          <p:nvPr/>
        </p:nvCxnSpPr>
        <p:spPr>
          <a:xfrm>
            <a:off x="10554363" y="4675850"/>
            <a:ext cx="786853" cy="1098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D8B23E7F-B976-4F68-A9A5-FB8B7A362D9A}"/>
              </a:ext>
            </a:extLst>
          </p:cNvPr>
          <p:cNvCxnSpPr>
            <a:cxnSpLocks/>
          </p:cNvCxnSpPr>
          <p:nvPr/>
        </p:nvCxnSpPr>
        <p:spPr>
          <a:xfrm>
            <a:off x="8628472" y="4623749"/>
            <a:ext cx="32617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ector recto de flecha 80">
            <a:extLst>
              <a:ext uri="{FF2B5EF4-FFF2-40B4-BE49-F238E27FC236}">
                <a16:creationId xmlns:a16="http://schemas.microsoft.com/office/drawing/2014/main" id="{BF1C86C1-F546-4675-AAE3-25D920EC630C}"/>
              </a:ext>
            </a:extLst>
          </p:cNvPr>
          <p:cNvCxnSpPr>
            <a:cxnSpLocks/>
          </p:cNvCxnSpPr>
          <p:nvPr/>
        </p:nvCxnSpPr>
        <p:spPr>
          <a:xfrm flipH="1">
            <a:off x="8628472" y="5593639"/>
            <a:ext cx="31134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7C17F1EF-5214-4297-AA0F-4A9E87291380}"/>
              </a:ext>
            </a:extLst>
          </p:cNvPr>
          <p:cNvSpPr txBox="1">
            <a:spLocks/>
          </p:cNvSpPr>
          <p:nvPr/>
        </p:nvSpPr>
        <p:spPr>
          <a:xfrm>
            <a:off x="8970363" y="5393279"/>
            <a:ext cx="1584000" cy="3417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sp>
        <p:nvSpPr>
          <p:cNvPr id="83" name="Bocadillo: rectángulo con esquinas redondeadas 82">
            <a:extLst>
              <a:ext uri="{FF2B5EF4-FFF2-40B4-BE49-F238E27FC236}">
                <a16:creationId xmlns:a16="http://schemas.microsoft.com/office/drawing/2014/main" id="{E8850ED3-74D3-45F8-BCC0-4D5572F881DD}"/>
              </a:ext>
            </a:extLst>
          </p:cNvPr>
          <p:cNvSpPr/>
          <p:nvPr/>
        </p:nvSpPr>
        <p:spPr>
          <a:xfrm>
            <a:off x="10506000" y="5715408"/>
            <a:ext cx="1583994" cy="569815"/>
          </a:xfrm>
          <a:prstGeom prst="wedgeRoundRectCallout">
            <a:avLst>
              <a:gd name="adj1" fmla="val 21149"/>
              <a:gd name="adj2" fmla="val -8003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G. Mercadeo, G. Regionales, VP de TI, G. de Operaciones, G. de Riesgos, G. Cobranza</a:t>
            </a:r>
          </a:p>
        </p:txBody>
      </p: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E90D573-8A1B-4D0A-8BE0-9AF4F7A9F19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958980AC-FA66-4CDF-B370-255AEED8B23C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23934756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de Fuerzas Captadoras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40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Ger. de Fuerzas Captadoras gestionará las FFVV internas y externas de captación, apoyará el diseño de la estrategia comercial del producto en el canal tradicional y liderará su implem. y ajustes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Fuerzas Captadoras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105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diseño de la estrategia del canal tradicional del producto Captación con el fin de garantizar el cumplimiento de las metas comerciales del producto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FFVV internas y externas de captación</a:t>
            </a:r>
            <a:endParaRPr lang="es-ES" sz="1200" b="1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diseño de la estrategia comercial del canal tradicional del producto captación y liderar su implementación y ajustes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Desarrollar y controlar el presupuesto de ingresos y gasto de la gestión comercial del producto de captación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estimados de ventas y asignar cuotas mensuales a las fuerzas de ventas internas y externas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capacitación, entrenamiento y supervisión el equipo de ventas de captación interno y externo, ejerciendo labores de formación, persuasión y motivación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Controlar la efectividad de fuerzas de ventas de captación internas y externas - elaborar y realizar el seguimiento de los presupuestos de ventas por asesor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55879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captación canal tradicional y digital; (2) Productividad FFVV internas y externas; (3) NPS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70681" y="1788744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Captación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70509" y="305465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Comercial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30681" y="1959744"/>
            <a:ext cx="743828" cy="109491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70681" y="4449108"/>
            <a:ext cx="1260000" cy="57007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captación en el canal tradicional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9932849" y="3792487"/>
            <a:ext cx="1139493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66633" y="4734148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66633" y="1951526"/>
            <a:ext cx="404048" cy="821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45910" y="2426642"/>
            <a:ext cx="834708" cy="16377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752912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46202" y="4404082"/>
            <a:ext cx="421335" cy="82191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426643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41910" y="4064374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Directores de Oficina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247088"/>
            <a:ext cx="1343533" cy="35911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870681" y="2223542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Ejecución del presupuesto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4637F020-CF77-4270-BFE1-2193CBD6F28D}"/>
              </a:ext>
            </a:extLst>
          </p:cNvPr>
          <p:cNvSpPr txBox="1">
            <a:spLocks/>
          </p:cNvSpPr>
          <p:nvPr/>
        </p:nvSpPr>
        <p:spPr>
          <a:xfrm>
            <a:off x="8870681" y="4004103"/>
            <a:ext cx="1260000" cy="39305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967B3BB6-EA6E-4F21-B1FA-8D02ABFB4242}"/>
              </a:ext>
            </a:extLst>
          </p:cNvPr>
          <p:cNvSpPr txBox="1">
            <a:spLocks/>
          </p:cNvSpPr>
          <p:nvPr/>
        </p:nvSpPr>
        <p:spPr>
          <a:xfrm>
            <a:off x="8870681" y="2647032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Requerimientos de HC adicional</a:t>
            </a:r>
          </a:p>
        </p:txBody>
      </p:sp>
      <p:sp>
        <p:nvSpPr>
          <p:cNvPr id="56" name="Marcador de contenido 5">
            <a:extLst>
              <a:ext uri="{FF2B5EF4-FFF2-40B4-BE49-F238E27FC236}">
                <a16:creationId xmlns:a16="http://schemas.microsoft.com/office/drawing/2014/main" id="{15A23D2C-033D-43FE-88ED-4ABE594AFED6}"/>
              </a:ext>
            </a:extLst>
          </p:cNvPr>
          <p:cNvSpPr txBox="1">
            <a:spLocks/>
          </p:cNvSpPr>
          <p:nvPr/>
        </p:nvSpPr>
        <p:spPr>
          <a:xfrm>
            <a:off x="8870681" y="5070522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Aprobación HC adicional</a:t>
            </a:r>
          </a:p>
        </p:txBody>
      </p: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9CE512AF-8B6F-445C-9398-4EBBD0C7C5E8}"/>
              </a:ext>
            </a:extLst>
          </p:cNvPr>
          <p:cNvCxnSpPr>
            <a:cxnSpLocks/>
          </p:cNvCxnSpPr>
          <p:nvPr/>
        </p:nvCxnSpPr>
        <p:spPr>
          <a:xfrm flipH="1">
            <a:off x="8466633" y="5238240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CFDED5AE-3583-46BA-B6E7-7053CAC4825A}"/>
              </a:ext>
            </a:extLst>
          </p:cNvPr>
          <p:cNvCxnSpPr>
            <a:cxnSpLocks/>
          </p:cNvCxnSpPr>
          <p:nvPr/>
        </p:nvCxnSpPr>
        <p:spPr>
          <a:xfrm flipH="1">
            <a:off x="8466633" y="4170498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recto de flecha 62">
            <a:extLst>
              <a:ext uri="{FF2B5EF4-FFF2-40B4-BE49-F238E27FC236}">
                <a16:creationId xmlns:a16="http://schemas.microsoft.com/office/drawing/2014/main" id="{3B8565CF-1E0B-44DE-ACF0-10B5151FC795}"/>
              </a:ext>
            </a:extLst>
          </p:cNvPr>
          <p:cNvCxnSpPr>
            <a:cxnSpLocks/>
          </p:cNvCxnSpPr>
          <p:nvPr/>
        </p:nvCxnSpPr>
        <p:spPr>
          <a:xfrm>
            <a:off x="8466633" y="2390878"/>
            <a:ext cx="404048" cy="821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9742B018-93AD-4A55-AC57-7C4CBF9B58F8}"/>
              </a:ext>
            </a:extLst>
          </p:cNvPr>
          <p:cNvCxnSpPr>
            <a:cxnSpLocks/>
          </p:cNvCxnSpPr>
          <p:nvPr/>
        </p:nvCxnSpPr>
        <p:spPr>
          <a:xfrm>
            <a:off x="8466633" y="2788380"/>
            <a:ext cx="404048" cy="821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5D4DC3F5-62DD-4EFC-8D0D-F7F96C92A87D}"/>
              </a:ext>
            </a:extLst>
          </p:cNvPr>
          <p:cNvSpPr txBox="1">
            <a:spLocks/>
          </p:cNvSpPr>
          <p:nvPr/>
        </p:nvSpPr>
        <p:spPr>
          <a:xfrm>
            <a:off x="1880618" y="1832115"/>
            <a:ext cx="1343533" cy="35911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79" name="Marcador de contenido 5">
            <a:extLst>
              <a:ext uri="{FF2B5EF4-FFF2-40B4-BE49-F238E27FC236}">
                <a16:creationId xmlns:a16="http://schemas.microsoft.com/office/drawing/2014/main" id="{306BEDA1-06E9-419B-B9CF-D307A90724CE}"/>
              </a:ext>
            </a:extLst>
          </p:cNvPr>
          <p:cNvSpPr txBox="1">
            <a:spLocks/>
          </p:cNvSpPr>
          <p:nvPr/>
        </p:nvSpPr>
        <p:spPr>
          <a:xfrm>
            <a:off x="8870681" y="3675498"/>
            <a:ext cx="1260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80" name="Conector angular 37">
            <a:extLst>
              <a:ext uri="{FF2B5EF4-FFF2-40B4-BE49-F238E27FC236}">
                <a16:creationId xmlns:a16="http://schemas.microsoft.com/office/drawing/2014/main" id="{B432042E-24BF-4452-A3A7-FE8BB489D82B}"/>
              </a:ext>
            </a:extLst>
          </p:cNvPr>
          <p:cNvCxnSpPr>
            <a:cxnSpLocks/>
            <a:stCxn id="11" idx="2"/>
            <a:endCxn id="79" idx="3"/>
          </p:cNvCxnSpPr>
          <p:nvPr/>
        </p:nvCxnSpPr>
        <p:spPr>
          <a:xfrm rot="5400000">
            <a:off x="10394674" y="3330662"/>
            <a:ext cx="215843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angular 37">
            <a:extLst>
              <a:ext uri="{FF2B5EF4-FFF2-40B4-BE49-F238E27FC236}">
                <a16:creationId xmlns:a16="http://schemas.microsoft.com/office/drawing/2014/main" id="{DFC1E00A-D785-401E-A9E5-58EA5801B5EE}"/>
              </a:ext>
            </a:extLst>
          </p:cNvPr>
          <p:cNvCxnSpPr>
            <a:cxnSpLocks/>
            <a:stCxn id="11" idx="2"/>
            <a:endCxn id="26" idx="3"/>
          </p:cNvCxnSpPr>
          <p:nvPr/>
        </p:nvCxnSpPr>
        <p:spPr>
          <a:xfrm rot="5400000">
            <a:off x="10199607" y="3525729"/>
            <a:ext cx="605977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37">
            <a:extLst>
              <a:ext uri="{FF2B5EF4-FFF2-40B4-BE49-F238E27FC236}">
                <a16:creationId xmlns:a16="http://schemas.microsoft.com/office/drawing/2014/main" id="{40772607-5FBB-4421-8645-970632A1220B}"/>
              </a:ext>
            </a:extLst>
          </p:cNvPr>
          <p:cNvCxnSpPr>
            <a:cxnSpLocks/>
            <a:stCxn id="11" idx="2"/>
            <a:endCxn id="56" idx="3"/>
          </p:cNvCxnSpPr>
          <p:nvPr/>
        </p:nvCxnSpPr>
        <p:spPr>
          <a:xfrm rot="5400000">
            <a:off x="9679162" y="4046174"/>
            <a:ext cx="1646867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32">
            <a:extLst>
              <a:ext uri="{FF2B5EF4-FFF2-40B4-BE49-F238E27FC236}">
                <a16:creationId xmlns:a16="http://schemas.microsoft.com/office/drawing/2014/main" id="{ACB9F3E6-825F-4F62-8398-9B3506DD09B2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130681" y="2394542"/>
            <a:ext cx="743828" cy="6601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angular 32">
            <a:extLst>
              <a:ext uri="{FF2B5EF4-FFF2-40B4-BE49-F238E27FC236}">
                <a16:creationId xmlns:a16="http://schemas.microsoft.com/office/drawing/2014/main" id="{4EC9FDC3-DAE8-4D00-86A7-B676F60A6B7F}"/>
              </a:ext>
            </a:extLst>
          </p:cNvPr>
          <p:cNvCxnSpPr>
            <a:cxnSpLocks/>
            <a:stCxn id="44" idx="3"/>
            <a:endCxn id="11" idx="0"/>
          </p:cNvCxnSpPr>
          <p:nvPr/>
        </p:nvCxnSpPr>
        <p:spPr>
          <a:xfrm>
            <a:off x="10130681" y="2818032"/>
            <a:ext cx="743828" cy="23662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Marcador de contenido 5">
            <a:extLst>
              <a:ext uri="{FF2B5EF4-FFF2-40B4-BE49-F238E27FC236}">
                <a16:creationId xmlns:a16="http://schemas.microsoft.com/office/drawing/2014/main" id="{1070A5C4-E474-4262-8118-D93C8CFEAED0}"/>
              </a:ext>
            </a:extLst>
          </p:cNvPr>
          <p:cNvSpPr txBox="1">
            <a:spLocks/>
          </p:cNvSpPr>
          <p:nvPr/>
        </p:nvSpPr>
        <p:spPr>
          <a:xfrm>
            <a:off x="1880618" y="2670552"/>
            <a:ext cx="1343533" cy="7367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capacitación y entrenamiento de FFVV</a:t>
            </a:r>
          </a:p>
        </p:txBody>
      </p:sp>
      <p:sp>
        <p:nvSpPr>
          <p:cNvPr id="98" name="Marcador de contenido 5">
            <a:extLst>
              <a:ext uri="{FF2B5EF4-FFF2-40B4-BE49-F238E27FC236}">
                <a16:creationId xmlns:a16="http://schemas.microsoft.com/office/drawing/2014/main" id="{F8D8E245-8A65-4BFC-A33A-58E956184A91}"/>
              </a:ext>
            </a:extLst>
          </p:cNvPr>
          <p:cNvSpPr txBox="1">
            <a:spLocks/>
          </p:cNvSpPr>
          <p:nvPr/>
        </p:nvSpPr>
        <p:spPr>
          <a:xfrm>
            <a:off x="1880618" y="3462372"/>
            <a:ext cx="1343533" cy="35911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captación en el canal trad.</a:t>
            </a:r>
          </a:p>
        </p:txBody>
      </p:sp>
      <p:cxnSp>
        <p:nvCxnSpPr>
          <p:cNvPr id="101" name="Conector recto de flecha 100">
            <a:extLst>
              <a:ext uri="{FF2B5EF4-FFF2-40B4-BE49-F238E27FC236}">
                <a16:creationId xmlns:a16="http://schemas.microsoft.com/office/drawing/2014/main" id="{E7F78CC9-FEF3-4363-8A53-6E8A18BBB481}"/>
              </a:ext>
            </a:extLst>
          </p:cNvPr>
          <p:cNvCxnSpPr>
            <a:cxnSpLocks/>
          </p:cNvCxnSpPr>
          <p:nvPr/>
        </p:nvCxnSpPr>
        <p:spPr>
          <a:xfrm flipH="1">
            <a:off x="3224151" y="3635042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ector recto de flecha 101">
            <a:extLst>
              <a:ext uri="{FF2B5EF4-FFF2-40B4-BE49-F238E27FC236}">
                <a16:creationId xmlns:a16="http://schemas.microsoft.com/office/drawing/2014/main" id="{528A6B42-2039-4A82-8F28-009B1A2C0D25}"/>
              </a:ext>
            </a:extLst>
          </p:cNvPr>
          <p:cNvCxnSpPr>
            <a:cxnSpLocks/>
          </p:cNvCxnSpPr>
          <p:nvPr/>
        </p:nvCxnSpPr>
        <p:spPr>
          <a:xfrm flipH="1">
            <a:off x="3224151" y="2006565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ector recto de flecha 102">
            <a:extLst>
              <a:ext uri="{FF2B5EF4-FFF2-40B4-BE49-F238E27FC236}">
                <a16:creationId xmlns:a16="http://schemas.microsoft.com/office/drawing/2014/main" id="{11D3D681-681C-4844-BEB5-E96971E4C45A}"/>
              </a:ext>
            </a:extLst>
          </p:cNvPr>
          <p:cNvCxnSpPr>
            <a:cxnSpLocks/>
          </p:cNvCxnSpPr>
          <p:nvPr/>
        </p:nvCxnSpPr>
        <p:spPr>
          <a:xfrm flipH="1">
            <a:off x="3224151" y="3119652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ector recto de flecha 103">
            <a:extLst>
              <a:ext uri="{FF2B5EF4-FFF2-40B4-BE49-F238E27FC236}">
                <a16:creationId xmlns:a16="http://schemas.microsoft.com/office/drawing/2014/main" id="{4D17DAAA-6E36-4F4D-ACC5-D044AB171F7B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5025709"/>
            <a:ext cx="32101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Conector angular 23">
            <a:extLst>
              <a:ext uri="{FF2B5EF4-FFF2-40B4-BE49-F238E27FC236}">
                <a16:creationId xmlns:a16="http://schemas.microsoft.com/office/drawing/2014/main" id="{21B000A9-8451-418A-B46D-D95E5F4D4C7B}"/>
              </a:ext>
            </a:extLst>
          </p:cNvPr>
          <p:cNvCxnSpPr>
            <a:cxnSpLocks/>
            <a:stCxn id="98" idx="1"/>
            <a:endCxn id="22" idx="0"/>
          </p:cNvCxnSpPr>
          <p:nvPr/>
        </p:nvCxnSpPr>
        <p:spPr>
          <a:xfrm rot="10800000" flipV="1">
            <a:off x="1045910" y="3641926"/>
            <a:ext cx="834708" cy="42244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Conector angular 23">
            <a:extLst>
              <a:ext uri="{FF2B5EF4-FFF2-40B4-BE49-F238E27FC236}">
                <a16:creationId xmlns:a16="http://schemas.microsoft.com/office/drawing/2014/main" id="{D851AE11-ACA4-47B5-8941-635B8D271337}"/>
              </a:ext>
            </a:extLst>
          </p:cNvPr>
          <p:cNvCxnSpPr>
            <a:cxnSpLocks/>
            <a:stCxn id="77" idx="1"/>
            <a:endCxn id="22" idx="0"/>
          </p:cNvCxnSpPr>
          <p:nvPr/>
        </p:nvCxnSpPr>
        <p:spPr>
          <a:xfrm rot="10800000" flipV="1">
            <a:off x="1045910" y="2011670"/>
            <a:ext cx="834708" cy="205270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Conector angular 23">
            <a:extLst>
              <a:ext uri="{FF2B5EF4-FFF2-40B4-BE49-F238E27FC236}">
                <a16:creationId xmlns:a16="http://schemas.microsoft.com/office/drawing/2014/main" id="{FC54663B-3123-4792-9BA8-6F538E1D6C77}"/>
              </a:ext>
            </a:extLst>
          </p:cNvPr>
          <p:cNvCxnSpPr>
            <a:cxnSpLocks/>
            <a:stCxn id="96" idx="1"/>
            <a:endCxn id="22" idx="0"/>
          </p:cNvCxnSpPr>
          <p:nvPr/>
        </p:nvCxnSpPr>
        <p:spPr>
          <a:xfrm rot="10800000" flipV="1">
            <a:off x="1045910" y="3038914"/>
            <a:ext cx="834708" cy="10254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Marcador de pie de página 2">
            <a:extLst>
              <a:ext uri="{FF2B5EF4-FFF2-40B4-BE49-F238E27FC236}">
                <a16:creationId xmlns:a16="http://schemas.microsoft.com/office/drawing/2014/main" id="{B979635A-4E6C-4BB4-96DB-1500DFB8678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6D25C3AE-98A3-44BE-A79C-48D86BB65868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8" name="Imagen 2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8CA03B3-6AD8-4727-8DF4-42B9EB99F7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97B97DB7-EAB4-4086-B71B-C564A2CDC263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ACEBE72-4477-4AFD-9358-9954AD7372A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AEC10AE1-868B-45CD-A33F-27D5D3AD6D95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59277824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Gerentes Regionales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41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Los G. Regionales gestionarán las FFVV propias y de aliados, apoyarán el diseño de la estrategia comercial del producto en el canal trad. y liderarán su implem. y ajustes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5197260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Gerentes Regionales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5197260" cy="37566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diseño de la estrategia del canal tradicional y liderar su implementación y ajustes en la región correspondiente con el fin de garantizar el cumplimiento de las metas comerciales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FFVV fuerzas de ventas propias y de aliados para los productos Libranzas, Tarjeta de Crédito y Credipoliza</a:t>
            </a:r>
            <a:r>
              <a:rPr lang="es-ES" sz="1200" baseline="30000">
                <a:latin typeface="+mn-lt"/>
                <a:cs typeface="Calibri"/>
              </a:rPr>
              <a:t>2</a:t>
            </a:r>
            <a:endParaRPr lang="es-ES" sz="1200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el diseño de la estrategia comercial del canal tradicional y liderar su implementación y ajustes en la región correspondiente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Desarrollar y controlar el presupuesto de ingresos y gasto de la gestión comercial en la región correspondiente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estimados de ventas y asignar cuotas mensuales a las fuerzas de ventas propias y de aliados de la región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capacitación, entrenamiento y </a:t>
            </a:r>
            <a:r>
              <a:rPr lang="es-ES" sz="1200" err="1">
                <a:latin typeface="+mn-lt"/>
                <a:cs typeface="Calibri"/>
              </a:rPr>
              <a:t>superv</a:t>
            </a:r>
            <a:r>
              <a:rPr lang="es-ES" sz="1200">
                <a:latin typeface="+mn-lt"/>
                <a:cs typeface="Calibri"/>
              </a:rPr>
              <a:t>. de las FFVV propias y de aliados, ejerciendo labores de formación, persuasión y motivación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Controlar la efectividad comercial de fuerzas de ventas propias y de aliados - elaborar y realizar el seguimiento de los presupuestos de ventas por asesor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Administrar relación con aliados regionales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3" y="5658074"/>
            <a:ext cx="5197259" cy="77275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venta por producto; (2) Productividad FFVV por asesor; (3) Contribución de la regional; (4) Rotación de planta de la regional; (5) NPS Regional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9159262" y="1641928"/>
            <a:ext cx="1260000" cy="69121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colocación y originación en el canal trad.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659090" y="3257056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Comercial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419262" y="1987537"/>
            <a:ext cx="743828" cy="126951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9159262" y="4668467"/>
            <a:ext cx="1260000" cy="68812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colocación y originación en el canal trad.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183440" y="4032878"/>
            <a:ext cx="1215472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755214" y="5012528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755214" y="1987537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68" idx="1"/>
            <a:endCxn id="22" idx="0"/>
          </p:cNvCxnSpPr>
          <p:nvPr/>
        </p:nvCxnSpPr>
        <p:spPr>
          <a:xfrm rot="10800000" flipV="1">
            <a:off x="978970" y="1919581"/>
            <a:ext cx="743829" cy="154108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22798" y="3842990"/>
            <a:ext cx="1488564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93325" y="3686314"/>
            <a:ext cx="115116" cy="7438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74969" y="346067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Gerentes de Zona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9159262" y="2425943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Ejecución del presupuesto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4637F020-CF77-4270-BFE1-2193CBD6F28D}"/>
              </a:ext>
            </a:extLst>
          </p:cNvPr>
          <p:cNvSpPr txBox="1">
            <a:spLocks/>
          </p:cNvSpPr>
          <p:nvPr/>
        </p:nvSpPr>
        <p:spPr>
          <a:xfrm>
            <a:off x="9159262" y="4206504"/>
            <a:ext cx="1260000" cy="39305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967B3BB6-EA6E-4F21-B1FA-8D02ABFB4242}"/>
              </a:ext>
            </a:extLst>
          </p:cNvPr>
          <p:cNvSpPr txBox="1">
            <a:spLocks/>
          </p:cNvSpPr>
          <p:nvPr/>
        </p:nvSpPr>
        <p:spPr>
          <a:xfrm>
            <a:off x="9159262" y="2849433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Requerimientos de HC adicional</a:t>
            </a:r>
          </a:p>
        </p:txBody>
      </p:sp>
      <p:sp>
        <p:nvSpPr>
          <p:cNvPr id="56" name="Marcador de contenido 5">
            <a:extLst>
              <a:ext uri="{FF2B5EF4-FFF2-40B4-BE49-F238E27FC236}">
                <a16:creationId xmlns:a16="http://schemas.microsoft.com/office/drawing/2014/main" id="{15A23D2C-033D-43FE-88ED-4ABE594AFED6}"/>
              </a:ext>
            </a:extLst>
          </p:cNvPr>
          <p:cNvSpPr txBox="1">
            <a:spLocks/>
          </p:cNvSpPr>
          <p:nvPr/>
        </p:nvSpPr>
        <p:spPr>
          <a:xfrm>
            <a:off x="9159262" y="5407923"/>
            <a:ext cx="1260000" cy="34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Aprobación HC adicional</a:t>
            </a:r>
          </a:p>
        </p:txBody>
      </p: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9CE512AF-8B6F-445C-9398-4EBBD0C7C5E8}"/>
              </a:ext>
            </a:extLst>
          </p:cNvPr>
          <p:cNvCxnSpPr>
            <a:cxnSpLocks/>
          </p:cNvCxnSpPr>
          <p:nvPr/>
        </p:nvCxnSpPr>
        <p:spPr>
          <a:xfrm flipH="1">
            <a:off x="8755214" y="5575641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CFDED5AE-3583-46BA-B6E7-7053CAC4825A}"/>
              </a:ext>
            </a:extLst>
          </p:cNvPr>
          <p:cNvCxnSpPr>
            <a:cxnSpLocks/>
          </p:cNvCxnSpPr>
          <p:nvPr/>
        </p:nvCxnSpPr>
        <p:spPr>
          <a:xfrm flipH="1">
            <a:off x="8755214" y="4403033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recto de flecha 62">
            <a:extLst>
              <a:ext uri="{FF2B5EF4-FFF2-40B4-BE49-F238E27FC236}">
                <a16:creationId xmlns:a16="http://schemas.microsoft.com/office/drawing/2014/main" id="{3B8565CF-1E0B-44DE-ACF0-10B5151FC795}"/>
              </a:ext>
            </a:extLst>
          </p:cNvPr>
          <p:cNvCxnSpPr>
            <a:cxnSpLocks/>
          </p:cNvCxnSpPr>
          <p:nvPr/>
        </p:nvCxnSpPr>
        <p:spPr>
          <a:xfrm>
            <a:off x="8755214" y="2593279"/>
            <a:ext cx="404048" cy="821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9742B018-93AD-4A55-AC57-7C4CBF9B58F8}"/>
              </a:ext>
            </a:extLst>
          </p:cNvPr>
          <p:cNvCxnSpPr>
            <a:cxnSpLocks/>
          </p:cNvCxnSpPr>
          <p:nvPr/>
        </p:nvCxnSpPr>
        <p:spPr>
          <a:xfrm>
            <a:off x="8755214" y="2990781"/>
            <a:ext cx="404048" cy="8218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Marcador de contenido 5">
            <a:extLst>
              <a:ext uri="{FF2B5EF4-FFF2-40B4-BE49-F238E27FC236}">
                <a16:creationId xmlns:a16="http://schemas.microsoft.com/office/drawing/2014/main" id="{306BEDA1-06E9-419B-B9CF-D307A90724CE}"/>
              </a:ext>
            </a:extLst>
          </p:cNvPr>
          <p:cNvSpPr txBox="1">
            <a:spLocks/>
          </p:cNvSpPr>
          <p:nvPr/>
        </p:nvSpPr>
        <p:spPr>
          <a:xfrm>
            <a:off x="9159262" y="3877899"/>
            <a:ext cx="1260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80" name="Conector angular 37">
            <a:extLst>
              <a:ext uri="{FF2B5EF4-FFF2-40B4-BE49-F238E27FC236}">
                <a16:creationId xmlns:a16="http://schemas.microsoft.com/office/drawing/2014/main" id="{B432042E-24BF-4452-A3A7-FE8BB489D82B}"/>
              </a:ext>
            </a:extLst>
          </p:cNvPr>
          <p:cNvCxnSpPr>
            <a:cxnSpLocks/>
            <a:stCxn id="11" idx="2"/>
            <a:endCxn id="79" idx="3"/>
          </p:cNvCxnSpPr>
          <p:nvPr/>
        </p:nvCxnSpPr>
        <p:spPr>
          <a:xfrm rot="5400000">
            <a:off x="10683255" y="3533063"/>
            <a:ext cx="215843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angular 37">
            <a:extLst>
              <a:ext uri="{FF2B5EF4-FFF2-40B4-BE49-F238E27FC236}">
                <a16:creationId xmlns:a16="http://schemas.microsoft.com/office/drawing/2014/main" id="{DFC1E00A-D785-401E-A9E5-58EA5801B5EE}"/>
              </a:ext>
            </a:extLst>
          </p:cNvPr>
          <p:cNvCxnSpPr>
            <a:cxnSpLocks/>
            <a:stCxn id="11" idx="2"/>
            <a:endCxn id="26" idx="3"/>
          </p:cNvCxnSpPr>
          <p:nvPr/>
        </p:nvCxnSpPr>
        <p:spPr>
          <a:xfrm rot="5400000">
            <a:off x="10488188" y="3728130"/>
            <a:ext cx="605977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37">
            <a:extLst>
              <a:ext uri="{FF2B5EF4-FFF2-40B4-BE49-F238E27FC236}">
                <a16:creationId xmlns:a16="http://schemas.microsoft.com/office/drawing/2014/main" id="{40772607-5FBB-4421-8645-970632A1220B}"/>
              </a:ext>
            </a:extLst>
          </p:cNvPr>
          <p:cNvCxnSpPr>
            <a:cxnSpLocks/>
            <a:stCxn id="11" idx="2"/>
            <a:endCxn id="56" idx="3"/>
          </p:cNvCxnSpPr>
          <p:nvPr/>
        </p:nvCxnSpPr>
        <p:spPr>
          <a:xfrm rot="5400000">
            <a:off x="9900243" y="4316075"/>
            <a:ext cx="1781867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32">
            <a:extLst>
              <a:ext uri="{FF2B5EF4-FFF2-40B4-BE49-F238E27FC236}">
                <a16:creationId xmlns:a16="http://schemas.microsoft.com/office/drawing/2014/main" id="{ACB9F3E6-825F-4F62-8398-9B3506DD09B2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419262" y="2596943"/>
            <a:ext cx="743828" cy="6601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angular 32">
            <a:extLst>
              <a:ext uri="{FF2B5EF4-FFF2-40B4-BE49-F238E27FC236}">
                <a16:creationId xmlns:a16="http://schemas.microsoft.com/office/drawing/2014/main" id="{4EC9FDC3-DAE8-4D00-86A7-B676F60A6B7F}"/>
              </a:ext>
            </a:extLst>
          </p:cNvPr>
          <p:cNvCxnSpPr>
            <a:cxnSpLocks/>
            <a:stCxn id="44" idx="3"/>
            <a:endCxn id="11" idx="0"/>
          </p:cNvCxnSpPr>
          <p:nvPr/>
        </p:nvCxnSpPr>
        <p:spPr>
          <a:xfrm>
            <a:off x="10419262" y="3020433"/>
            <a:ext cx="743828" cy="23662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" name="Conector recto de flecha 103">
            <a:extLst>
              <a:ext uri="{FF2B5EF4-FFF2-40B4-BE49-F238E27FC236}">
                <a16:creationId xmlns:a16="http://schemas.microsoft.com/office/drawing/2014/main" id="{4D17DAAA-6E36-4F4D-ACC5-D044AB171F7B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2" y="4115787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ED32685B-EB34-4AEF-8E63-92EC92FB03DA}"/>
              </a:ext>
            </a:extLst>
          </p:cNvPr>
          <p:cNvCxnSpPr>
            <a:cxnSpLocks/>
          </p:cNvCxnSpPr>
          <p:nvPr/>
        </p:nvCxnSpPr>
        <p:spPr>
          <a:xfrm flipH="1">
            <a:off x="8755214" y="4012899"/>
            <a:ext cx="40404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recto de flecha 65">
            <a:extLst>
              <a:ext uri="{FF2B5EF4-FFF2-40B4-BE49-F238E27FC236}">
                <a16:creationId xmlns:a16="http://schemas.microsoft.com/office/drawing/2014/main" id="{CB08D939-03DA-47FA-B5B8-0A0A9730F6FD}"/>
              </a:ext>
            </a:extLst>
          </p:cNvPr>
          <p:cNvCxnSpPr>
            <a:cxnSpLocks/>
            <a:endCxn id="67" idx="3"/>
          </p:cNvCxnSpPr>
          <p:nvPr/>
        </p:nvCxnSpPr>
        <p:spPr>
          <a:xfrm flipH="1">
            <a:off x="3224152" y="2245188"/>
            <a:ext cx="27579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Marcador de contenido 5">
            <a:extLst>
              <a:ext uri="{FF2B5EF4-FFF2-40B4-BE49-F238E27FC236}">
                <a16:creationId xmlns:a16="http://schemas.microsoft.com/office/drawing/2014/main" id="{4C7FF6FB-6DCA-4AC6-9FFD-6252210CE053}"/>
              </a:ext>
            </a:extLst>
          </p:cNvPr>
          <p:cNvSpPr txBox="1">
            <a:spLocks/>
          </p:cNvSpPr>
          <p:nvPr/>
        </p:nvSpPr>
        <p:spPr>
          <a:xfrm>
            <a:off x="1722798" y="2095496"/>
            <a:ext cx="1501354" cy="29938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Comercial</a:t>
            </a:r>
          </a:p>
        </p:txBody>
      </p:sp>
      <p:sp>
        <p:nvSpPr>
          <p:cNvPr id="68" name="Marcador de contenido 5">
            <a:extLst>
              <a:ext uri="{FF2B5EF4-FFF2-40B4-BE49-F238E27FC236}">
                <a16:creationId xmlns:a16="http://schemas.microsoft.com/office/drawing/2014/main" id="{283CE9D1-18C9-4302-8E47-515BCF2D6FA6}"/>
              </a:ext>
            </a:extLst>
          </p:cNvPr>
          <p:cNvSpPr txBox="1">
            <a:spLocks/>
          </p:cNvSpPr>
          <p:nvPr/>
        </p:nvSpPr>
        <p:spPr>
          <a:xfrm>
            <a:off x="1722798" y="1779637"/>
            <a:ext cx="1501354" cy="27988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46495F33-E980-41E5-9C47-1C967483D4EE}"/>
              </a:ext>
            </a:extLst>
          </p:cNvPr>
          <p:cNvSpPr txBox="1">
            <a:spLocks/>
          </p:cNvSpPr>
          <p:nvPr/>
        </p:nvSpPr>
        <p:spPr>
          <a:xfrm>
            <a:off x="1722798" y="2418594"/>
            <a:ext cx="1501354" cy="46443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capacitación y entre. de FFVV</a:t>
            </a:r>
          </a:p>
        </p:txBody>
      </p:sp>
      <p:sp>
        <p:nvSpPr>
          <p:cNvPr id="70" name="Marcador de contenido 5">
            <a:extLst>
              <a:ext uri="{FF2B5EF4-FFF2-40B4-BE49-F238E27FC236}">
                <a16:creationId xmlns:a16="http://schemas.microsoft.com/office/drawing/2014/main" id="{1DC52F88-63E9-4CD2-ADC2-3BF632784C19}"/>
              </a:ext>
            </a:extLst>
          </p:cNvPr>
          <p:cNvSpPr txBox="1">
            <a:spLocks/>
          </p:cNvSpPr>
          <p:nvPr/>
        </p:nvSpPr>
        <p:spPr>
          <a:xfrm>
            <a:off x="1722798" y="2922772"/>
            <a:ext cx="1501354" cy="73612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colocación y originación en el canal trad.</a:t>
            </a:r>
          </a:p>
        </p:txBody>
      </p: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45466649-CE88-4E2D-854C-59EEE60FE67C}"/>
              </a:ext>
            </a:extLst>
          </p:cNvPr>
          <p:cNvCxnSpPr>
            <a:cxnSpLocks/>
          </p:cNvCxnSpPr>
          <p:nvPr/>
        </p:nvCxnSpPr>
        <p:spPr>
          <a:xfrm flipH="1">
            <a:off x="3224151" y="3263868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de flecha 71">
            <a:extLst>
              <a:ext uri="{FF2B5EF4-FFF2-40B4-BE49-F238E27FC236}">
                <a16:creationId xmlns:a16="http://schemas.microsoft.com/office/drawing/2014/main" id="{A46CB269-0EAF-4F88-AC80-645728E786EB}"/>
              </a:ext>
            </a:extLst>
          </p:cNvPr>
          <p:cNvCxnSpPr>
            <a:cxnSpLocks/>
          </p:cNvCxnSpPr>
          <p:nvPr/>
        </p:nvCxnSpPr>
        <p:spPr>
          <a:xfrm flipH="1">
            <a:off x="3224151" y="1954087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78248EB3-757A-4936-86F2-1450EF083802}"/>
              </a:ext>
            </a:extLst>
          </p:cNvPr>
          <p:cNvCxnSpPr>
            <a:cxnSpLocks/>
          </p:cNvCxnSpPr>
          <p:nvPr/>
        </p:nvCxnSpPr>
        <p:spPr>
          <a:xfrm flipH="1">
            <a:off x="3224151" y="2662073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angular 23">
            <a:extLst>
              <a:ext uri="{FF2B5EF4-FFF2-40B4-BE49-F238E27FC236}">
                <a16:creationId xmlns:a16="http://schemas.microsoft.com/office/drawing/2014/main" id="{7CFCB963-DBEE-439E-8AD1-0E66B4B02072}"/>
              </a:ext>
            </a:extLst>
          </p:cNvPr>
          <p:cNvCxnSpPr>
            <a:cxnSpLocks/>
            <a:stCxn id="67" idx="1"/>
            <a:endCxn id="22" idx="0"/>
          </p:cNvCxnSpPr>
          <p:nvPr/>
        </p:nvCxnSpPr>
        <p:spPr>
          <a:xfrm rot="10800000" flipV="1">
            <a:off x="978970" y="2245187"/>
            <a:ext cx="743829" cy="12154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angular 23">
            <a:extLst>
              <a:ext uri="{FF2B5EF4-FFF2-40B4-BE49-F238E27FC236}">
                <a16:creationId xmlns:a16="http://schemas.microsoft.com/office/drawing/2014/main" id="{D87C66F1-11D6-4896-976A-FB73451BB3B2}"/>
              </a:ext>
            </a:extLst>
          </p:cNvPr>
          <p:cNvCxnSpPr>
            <a:cxnSpLocks/>
            <a:stCxn id="69" idx="1"/>
            <a:endCxn id="22" idx="0"/>
          </p:cNvCxnSpPr>
          <p:nvPr/>
        </p:nvCxnSpPr>
        <p:spPr>
          <a:xfrm rot="10800000" flipV="1">
            <a:off x="978970" y="2650809"/>
            <a:ext cx="743829" cy="8098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angular 23">
            <a:extLst>
              <a:ext uri="{FF2B5EF4-FFF2-40B4-BE49-F238E27FC236}">
                <a16:creationId xmlns:a16="http://schemas.microsoft.com/office/drawing/2014/main" id="{2B41B323-D08E-4D83-A35F-B014C1F8091D}"/>
              </a:ext>
            </a:extLst>
          </p:cNvPr>
          <p:cNvCxnSpPr>
            <a:cxnSpLocks/>
            <a:stCxn id="70" idx="1"/>
            <a:endCxn id="22" idx="0"/>
          </p:cNvCxnSpPr>
          <p:nvPr/>
        </p:nvCxnSpPr>
        <p:spPr>
          <a:xfrm rot="10800000" flipV="1">
            <a:off x="978970" y="3290833"/>
            <a:ext cx="743829" cy="16983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Marcador de pie de página 2">
            <a:extLst>
              <a:ext uri="{FF2B5EF4-FFF2-40B4-BE49-F238E27FC236}">
                <a16:creationId xmlns:a16="http://schemas.microsoft.com/office/drawing/2014/main" id="{9F62F41A-D32E-4B93-AA2F-E4A34569F30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</a:t>
            </a:r>
            <a:br>
              <a:rPr lang="es-ES_tradnl"/>
            </a:br>
            <a:r>
              <a:rPr lang="es-ES_tradnl"/>
              <a:t>responsabilidades; (2) Gerentes regionales solo gestionan el portafolio de Libranza, Tarjeta de Crédito y Credipoliza; Fuente: Análisis Oval</a:t>
            </a:r>
          </a:p>
        </p:txBody>
      </p:sp>
      <p:sp>
        <p:nvSpPr>
          <p:cNvPr id="84" name="Rectángulo 83">
            <a:extLst>
              <a:ext uri="{FF2B5EF4-FFF2-40B4-BE49-F238E27FC236}">
                <a16:creationId xmlns:a16="http://schemas.microsoft.com/office/drawing/2014/main" id="{38C0DCA9-097D-4443-94ED-19699FA54C0F}"/>
              </a:ext>
            </a:extLst>
          </p:cNvPr>
          <p:cNvSpPr/>
          <p:nvPr/>
        </p:nvSpPr>
        <p:spPr>
          <a:xfrm>
            <a:off x="474969" y="4944429"/>
            <a:ext cx="1008000" cy="403938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Gerentes de producto</a:t>
            </a:r>
          </a:p>
        </p:txBody>
      </p:sp>
      <p:sp>
        <p:nvSpPr>
          <p:cNvPr id="87" name="Marcador de contenido 5">
            <a:extLst>
              <a:ext uri="{FF2B5EF4-FFF2-40B4-BE49-F238E27FC236}">
                <a16:creationId xmlns:a16="http://schemas.microsoft.com/office/drawing/2014/main" id="{32FC64A6-DC1B-4E6D-A22C-B3959F056416}"/>
              </a:ext>
            </a:extLst>
          </p:cNvPr>
          <p:cNvSpPr txBox="1">
            <a:spLocks/>
          </p:cNvSpPr>
          <p:nvPr/>
        </p:nvSpPr>
        <p:spPr>
          <a:xfrm>
            <a:off x="1722798" y="5235585"/>
            <a:ext cx="1488564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canal tradicional del producto</a:t>
            </a:r>
          </a:p>
        </p:txBody>
      </p:sp>
      <p:sp>
        <p:nvSpPr>
          <p:cNvPr id="88" name="Marcador de contenido 5">
            <a:extLst>
              <a:ext uri="{FF2B5EF4-FFF2-40B4-BE49-F238E27FC236}">
                <a16:creationId xmlns:a16="http://schemas.microsoft.com/office/drawing/2014/main" id="{EA8A9EA7-5478-492B-A87F-9DFF76DEE21D}"/>
              </a:ext>
            </a:extLst>
          </p:cNvPr>
          <p:cNvSpPr txBox="1">
            <a:spLocks/>
          </p:cNvSpPr>
          <p:nvPr/>
        </p:nvSpPr>
        <p:spPr>
          <a:xfrm>
            <a:off x="1722798" y="4479013"/>
            <a:ext cx="1488564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A27FC517-C23A-498C-8DCB-F42102AFD081}"/>
              </a:ext>
            </a:extLst>
          </p:cNvPr>
          <p:cNvCxnSpPr>
            <a:cxnSpLocks/>
          </p:cNvCxnSpPr>
          <p:nvPr/>
        </p:nvCxnSpPr>
        <p:spPr>
          <a:xfrm flipH="1">
            <a:off x="3224151" y="4719874"/>
            <a:ext cx="27579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recto de flecha 90">
            <a:extLst>
              <a:ext uri="{FF2B5EF4-FFF2-40B4-BE49-F238E27FC236}">
                <a16:creationId xmlns:a16="http://schemas.microsoft.com/office/drawing/2014/main" id="{743746E9-EC8C-40B2-83D9-2434E4498EB5}"/>
              </a:ext>
            </a:extLst>
          </p:cNvPr>
          <p:cNvCxnSpPr>
            <a:cxnSpLocks/>
          </p:cNvCxnSpPr>
          <p:nvPr/>
        </p:nvCxnSpPr>
        <p:spPr>
          <a:xfrm>
            <a:off x="3211362" y="5503617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angular 26">
            <a:extLst>
              <a:ext uri="{FF2B5EF4-FFF2-40B4-BE49-F238E27FC236}">
                <a16:creationId xmlns:a16="http://schemas.microsoft.com/office/drawing/2014/main" id="{B34600A9-277A-42BA-A9C9-F6274D6FEC8E}"/>
              </a:ext>
            </a:extLst>
          </p:cNvPr>
          <p:cNvCxnSpPr>
            <a:cxnSpLocks/>
            <a:stCxn id="88" idx="1"/>
            <a:endCxn id="84" idx="0"/>
          </p:cNvCxnSpPr>
          <p:nvPr/>
        </p:nvCxnSpPr>
        <p:spPr>
          <a:xfrm rot="10800000" flipV="1">
            <a:off x="978970" y="4751809"/>
            <a:ext cx="743829" cy="19261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angular 26">
            <a:extLst>
              <a:ext uri="{FF2B5EF4-FFF2-40B4-BE49-F238E27FC236}">
                <a16:creationId xmlns:a16="http://schemas.microsoft.com/office/drawing/2014/main" id="{C090013D-6A29-48E0-A80F-B132854FDB8E}"/>
              </a:ext>
            </a:extLst>
          </p:cNvPr>
          <p:cNvCxnSpPr>
            <a:cxnSpLocks/>
            <a:stCxn id="84" idx="2"/>
            <a:endCxn id="87" idx="1"/>
          </p:cNvCxnSpPr>
          <p:nvPr/>
        </p:nvCxnSpPr>
        <p:spPr>
          <a:xfrm rot="16200000" flipH="1">
            <a:off x="1270876" y="5056459"/>
            <a:ext cx="160015" cy="7438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Flecha: pentágono 22">
            <a:extLst>
              <a:ext uri="{FF2B5EF4-FFF2-40B4-BE49-F238E27FC236}">
                <a16:creationId xmlns:a16="http://schemas.microsoft.com/office/drawing/2014/main" id="{E3E5AC6F-CD19-425F-AC07-700E6218136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5" name="Imagen 2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EB528172-B9AB-42F6-91C4-4D5D26B516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4" name="Rectángulo 23">
            <a:extLst>
              <a:ext uri="{FF2B5EF4-FFF2-40B4-BE49-F238E27FC236}">
                <a16:creationId xmlns:a16="http://schemas.microsoft.com/office/drawing/2014/main" id="{1A8A059A-7BE8-40B7-8E32-8DBC8F9149B5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7B3D1F2-790A-425E-8BE8-B6E692BDDC0E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8BDD77A7-5BD9-4953-8AC0-58ED4B2F8CCA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84699662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26000" y="1075660"/>
            <a:ext cx="11340000" cy="288000"/>
          </a:xfrm>
        </p:spPr>
        <p:txBody>
          <a:bodyPr/>
          <a:lstStyle/>
          <a:p>
            <a:r>
              <a:rPr lang="es-CO"/>
              <a:t>Roles e interacciones clave – Director Servicio al Cliente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42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Servicio al Cliente liderará la optimización de procesos de atención al cliente, asegurando la retención de clientes y la percepción de servicio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Servicio al Cliente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3" y="1853116"/>
            <a:ext cx="4918780" cy="329586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optimización de procesos de atención al cliente, asegurando la retención de clientes y la percepción de servicio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Establecer al interior de la entidad una cultura de atención y servicio al cliente externo e interno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Resolución de </a:t>
            </a:r>
            <a:r>
              <a:rPr lang="es-ES" sz="1200" err="1">
                <a:latin typeface="+mn-lt"/>
                <a:cs typeface="Calibri"/>
              </a:rPr>
              <a:t>PQR´s</a:t>
            </a:r>
            <a:r>
              <a:rPr lang="es-ES" sz="1200">
                <a:latin typeface="+mn-lt"/>
                <a:cs typeface="Calibri"/>
              </a:rPr>
              <a:t> de los clientes en canales tradicionales y en redes bajo los parámetros y promesa de valor definidos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implementación de procedimientos, sistemas y acciones de mejoras oportunas y continuas, respecto de los </a:t>
            </a:r>
            <a:r>
              <a:rPr lang="es-ES" sz="1200" err="1">
                <a:latin typeface="+mn-lt"/>
                <a:cs typeface="Calibri"/>
              </a:rPr>
              <a:t>PQR’s</a:t>
            </a:r>
            <a:r>
              <a:rPr lang="es-ES" sz="1200">
                <a:latin typeface="+mn-lt"/>
                <a:cs typeface="Calibri"/>
              </a:rPr>
              <a:t> interpuestos por los clientes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Ejecutar acciones para retener clientes en riesgo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Implementar el modelo SAC (Sistema de Atención al Consumidor Financiero), y garantizar el debido cumplimiento de la normatividad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continua educación financiera a los clientes y usuarios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254752"/>
            <a:ext cx="4918780" cy="8725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Solución en primer contacto; (2) % Casos atendidos por canales de autogestión; (3) Nivel de satisfacción – encuesta de servicio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05415" y="1692048"/>
            <a:ext cx="1260000" cy="36512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59876" y="2027133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Comercial y de Servicio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65415" y="1874611"/>
            <a:ext cx="798461" cy="1525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05415" y="2532210"/>
            <a:ext cx="126000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14608" y="2217941"/>
            <a:ext cx="100077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7" y="2662926"/>
            <a:ext cx="32110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7" y="1874611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627539"/>
            <a:ext cx="942860" cy="9405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271902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84474" y="3861345"/>
            <a:ext cx="436638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627539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56806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Servicio al Cliente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333925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37F5389F-5E7B-465A-9611-76706D0FBFA6}"/>
              </a:ext>
            </a:extLst>
          </p:cNvPr>
          <p:cNvSpPr txBox="1">
            <a:spLocks/>
          </p:cNvSpPr>
          <p:nvPr/>
        </p:nvSpPr>
        <p:spPr>
          <a:xfrm>
            <a:off x="8805415" y="2837132"/>
            <a:ext cx="1260000" cy="43998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calidad y nivel de servicio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A804810A-5FAC-4F95-9F1E-859FD8828C64}"/>
              </a:ext>
            </a:extLst>
          </p:cNvPr>
          <p:cNvSpPr txBox="1">
            <a:spLocks/>
          </p:cNvSpPr>
          <p:nvPr/>
        </p:nvSpPr>
        <p:spPr>
          <a:xfrm>
            <a:off x="1880618" y="3032208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calidad y nivel de servicio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AA5CA055-8CC6-4971-BC09-771D0293B1FC}"/>
              </a:ext>
            </a:extLst>
          </p:cNvPr>
          <p:cNvSpPr/>
          <p:nvPr/>
        </p:nvSpPr>
        <p:spPr>
          <a:xfrm>
            <a:off x="10359876" y="4247849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</a:t>
            </a:r>
          </a:p>
        </p:txBody>
      </p:sp>
      <p:sp>
        <p:nvSpPr>
          <p:cNvPr id="46" name="Marcador de contenido 5">
            <a:extLst>
              <a:ext uri="{FF2B5EF4-FFF2-40B4-BE49-F238E27FC236}">
                <a16:creationId xmlns:a16="http://schemas.microsoft.com/office/drawing/2014/main" id="{AD7DB0F5-B762-4D3A-A87F-8D96C731BC50}"/>
              </a:ext>
            </a:extLst>
          </p:cNvPr>
          <p:cNvSpPr txBox="1">
            <a:spLocks/>
          </p:cNvSpPr>
          <p:nvPr/>
        </p:nvSpPr>
        <p:spPr>
          <a:xfrm>
            <a:off x="8805415" y="4724002"/>
            <a:ext cx="1260000" cy="786443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Revisión e implementación de acciones frente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PQR’s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 relevantes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7D8621D3-AA86-4F64-8470-913754A6587F}"/>
              </a:ext>
            </a:extLst>
          </p:cNvPr>
          <p:cNvSpPr txBox="1">
            <a:spLocks/>
          </p:cNvSpPr>
          <p:nvPr/>
        </p:nvSpPr>
        <p:spPr>
          <a:xfrm>
            <a:off x="8805415" y="3911902"/>
            <a:ext cx="1260000" cy="36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err="1">
                <a:solidFill>
                  <a:schemeClr val="tx1"/>
                </a:solidFill>
                <a:latin typeface="+mn-lt"/>
              </a:rPr>
              <a:t>PQR’s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 relevantes asociados al área</a:t>
            </a:r>
          </a:p>
        </p:txBody>
      </p:sp>
      <p:sp>
        <p:nvSpPr>
          <p:cNvPr id="54" name="Marcador de contenido 5">
            <a:extLst>
              <a:ext uri="{FF2B5EF4-FFF2-40B4-BE49-F238E27FC236}">
                <a16:creationId xmlns:a16="http://schemas.microsoft.com/office/drawing/2014/main" id="{D91BBA77-2D53-4C25-A20F-576B3E8CC598}"/>
              </a:ext>
            </a:extLst>
          </p:cNvPr>
          <p:cNvSpPr txBox="1">
            <a:spLocks/>
          </p:cNvSpPr>
          <p:nvPr/>
        </p:nvSpPr>
        <p:spPr>
          <a:xfrm>
            <a:off x="8805415" y="3499539"/>
            <a:ext cx="1260000" cy="36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Cultura de atención y SAC</a:t>
            </a:r>
          </a:p>
        </p:txBody>
      </p:sp>
      <p:cxnSp>
        <p:nvCxnSpPr>
          <p:cNvPr id="55" name="Conector angular 37">
            <a:extLst>
              <a:ext uri="{FF2B5EF4-FFF2-40B4-BE49-F238E27FC236}">
                <a16:creationId xmlns:a16="http://schemas.microsoft.com/office/drawing/2014/main" id="{7AFFF3CA-7E04-4DAF-B9ED-9CACDBC607B1}"/>
              </a:ext>
            </a:extLst>
          </p:cNvPr>
          <p:cNvCxnSpPr>
            <a:cxnSpLocks/>
            <a:stCxn id="11" idx="2"/>
            <a:endCxn id="26" idx="3"/>
          </p:cNvCxnSpPr>
          <p:nvPr/>
        </p:nvCxnSpPr>
        <p:spPr>
          <a:xfrm rot="5400000">
            <a:off x="10219650" y="2412899"/>
            <a:ext cx="489993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recto de flecha 59">
            <a:extLst>
              <a:ext uri="{FF2B5EF4-FFF2-40B4-BE49-F238E27FC236}">
                <a16:creationId xmlns:a16="http://schemas.microsoft.com/office/drawing/2014/main" id="{F6169664-0F81-4C32-95FD-56AAE4B0D119}"/>
              </a:ext>
            </a:extLst>
          </p:cNvPr>
          <p:cNvCxnSpPr>
            <a:cxnSpLocks/>
          </p:cNvCxnSpPr>
          <p:nvPr/>
        </p:nvCxnSpPr>
        <p:spPr>
          <a:xfrm flipH="1">
            <a:off x="8476637" y="3057126"/>
            <a:ext cx="32110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angular 37">
            <a:extLst>
              <a:ext uri="{FF2B5EF4-FFF2-40B4-BE49-F238E27FC236}">
                <a16:creationId xmlns:a16="http://schemas.microsoft.com/office/drawing/2014/main" id="{C232E117-18CF-4CC8-8BF4-5DA9E22E84A7}"/>
              </a:ext>
            </a:extLst>
          </p:cNvPr>
          <p:cNvCxnSpPr>
            <a:cxnSpLocks/>
            <a:stCxn id="54" idx="3"/>
            <a:endCxn id="45" idx="0"/>
          </p:cNvCxnSpPr>
          <p:nvPr/>
        </p:nvCxnSpPr>
        <p:spPr>
          <a:xfrm>
            <a:off x="10065415" y="3679539"/>
            <a:ext cx="798461" cy="5683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6741B999-7B27-4028-8C3A-CD2FB47D7689}"/>
              </a:ext>
            </a:extLst>
          </p:cNvPr>
          <p:cNvCxnSpPr>
            <a:cxnSpLocks/>
          </p:cNvCxnSpPr>
          <p:nvPr/>
        </p:nvCxnSpPr>
        <p:spPr>
          <a:xfrm flipH="1">
            <a:off x="3224151" y="3348440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recto de flecha 64">
            <a:extLst>
              <a:ext uri="{FF2B5EF4-FFF2-40B4-BE49-F238E27FC236}">
                <a16:creationId xmlns:a16="http://schemas.microsoft.com/office/drawing/2014/main" id="{CF5A7F95-9ACB-4979-9680-70951739F036}"/>
              </a:ext>
            </a:extLst>
          </p:cNvPr>
          <p:cNvCxnSpPr>
            <a:cxnSpLocks/>
          </p:cNvCxnSpPr>
          <p:nvPr/>
        </p:nvCxnSpPr>
        <p:spPr>
          <a:xfrm>
            <a:off x="3211361" y="4597752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angular 23">
            <a:extLst>
              <a:ext uri="{FF2B5EF4-FFF2-40B4-BE49-F238E27FC236}">
                <a16:creationId xmlns:a16="http://schemas.microsoft.com/office/drawing/2014/main" id="{47DCFF2A-0FE6-44FB-B22F-9B129F5F089D}"/>
              </a:ext>
            </a:extLst>
          </p:cNvPr>
          <p:cNvCxnSpPr>
            <a:cxnSpLocks/>
            <a:stCxn id="34" idx="1"/>
            <a:endCxn id="22" idx="0"/>
          </p:cNvCxnSpPr>
          <p:nvPr/>
        </p:nvCxnSpPr>
        <p:spPr>
          <a:xfrm rot="10800000" flipV="1">
            <a:off x="937758" y="3325821"/>
            <a:ext cx="942860" cy="2422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ector angular 37">
            <a:extLst>
              <a:ext uri="{FF2B5EF4-FFF2-40B4-BE49-F238E27FC236}">
                <a16:creationId xmlns:a16="http://schemas.microsoft.com/office/drawing/2014/main" id="{38372B79-2C00-4824-B53F-4D8C9716FB6D}"/>
              </a:ext>
            </a:extLst>
          </p:cNvPr>
          <p:cNvCxnSpPr>
            <a:cxnSpLocks/>
            <a:stCxn id="45" idx="2"/>
            <a:endCxn id="46" idx="3"/>
          </p:cNvCxnSpPr>
          <p:nvPr/>
        </p:nvCxnSpPr>
        <p:spPr>
          <a:xfrm rot="5400000">
            <a:off x="10299959" y="4553306"/>
            <a:ext cx="329375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angular 37">
            <a:extLst>
              <a:ext uri="{FF2B5EF4-FFF2-40B4-BE49-F238E27FC236}">
                <a16:creationId xmlns:a16="http://schemas.microsoft.com/office/drawing/2014/main" id="{80CEE008-0E16-4C50-B337-6C220877B3D8}"/>
              </a:ext>
            </a:extLst>
          </p:cNvPr>
          <p:cNvCxnSpPr>
            <a:cxnSpLocks/>
            <a:stCxn id="48" idx="3"/>
            <a:endCxn id="45" idx="0"/>
          </p:cNvCxnSpPr>
          <p:nvPr/>
        </p:nvCxnSpPr>
        <p:spPr>
          <a:xfrm>
            <a:off x="10065415" y="4091902"/>
            <a:ext cx="798461" cy="15594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0900A59C-A2F2-4334-B615-0163C4B5DD5C}"/>
              </a:ext>
            </a:extLst>
          </p:cNvPr>
          <p:cNvCxnSpPr>
            <a:cxnSpLocks/>
          </p:cNvCxnSpPr>
          <p:nvPr/>
        </p:nvCxnSpPr>
        <p:spPr>
          <a:xfrm flipH="1">
            <a:off x="8476637" y="5117223"/>
            <a:ext cx="32110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65B8AFB2-C28D-4CC9-8467-C0E3BEAB33B2}"/>
              </a:ext>
            </a:extLst>
          </p:cNvPr>
          <p:cNvCxnSpPr>
            <a:cxnSpLocks/>
          </p:cNvCxnSpPr>
          <p:nvPr/>
        </p:nvCxnSpPr>
        <p:spPr>
          <a:xfrm>
            <a:off x="8476637" y="3679539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ector recto de flecha 86">
            <a:extLst>
              <a:ext uri="{FF2B5EF4-FFF2-40B4-BE49-F238E27FC236}">
                <a16:creationId xmlns:a16="http://schemas.microsoft.com/office/drawing/2014/main" id="{E4102DF4-2799-40FE-896F-DAA8602243C8}"/>
              </a:ext>
            </a:extLst>
          </p:cNvPr>
          <p:cNvCxnSpPr>
            <a:cxnSpLocks/>
          </p:cNvCxnSpPr>
          <p:nvPr/>
        </p:nvCxnSpPr>
        <p:spPr>
          <a:xfrm>
            <a:off x="8476637" y="4091902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Marcador de pie de página 2">
            <a:extLst>
              <a:ext uri="{FF2B5EF4-FFF2-40B4-BE49-F238E27FC236}">
                <a16:creationId xmlns:a16="http://schemas.microsoft.com/office/drawing/2014/main" id="{18BD2178-CF24-4D0F-A3EB-0C31E11C146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BB8E0AB0-C4CB-4C7B-AB4D-50E4CCA92F2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7" name="Imagen 2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D2423A3E-9572-400B-A6EC-6B5292E885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4" name="Rectángulo 23">
            <a:extLst>
              <a:ext uri="{FF2B5EF4-FFF2-40B4-BE49-F238E27FC236}">
                <a16:creationId xmlns:a16="http://schemas.microsoft.com/office/drawing/2014/main" id="{215017E1-6D49-4498-BADA-64B7A81A4C1F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8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CDA79E0-8A06-407F-8963-D689343AF36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DB71AE7-9189-44BE-A379-7D7D7A5C56AC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53610987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de Riesgos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43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Vicepresidente de Riesgos liderará la identificación y gestión de riesgos relevantes y la administración de la cartera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de Riesgos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una adecuada gestión de los riegos de crédito, liquidez, mercado, operativo y lavado de activos y financiación del terrorismo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una administración de cartera efectiva y apalancada en analítica de datos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planificación, implementación y ajuste de los sistemas de administración de riesgo crédito, liquidez, mercado, operativo y lavado de activos y financiación del terrorismo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efectividad de la gestión integral a los riesgos de la organización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diseño, implementación y monitoreo del proceso de </a:t>
            </a:r>
            <a:r>
              <a:rPr lang="es-ES" sz="1200" err="1">
                <a:latin typeface="+mn-lt"/>
                <a:cs typeface="Calibri"/>
              </a:rPr>
              <a:t>originación</a:t>
            </a:r>
            <a:r>
              <a:rPr lang="es-ES" sz="1200">
                <a:latin typeface="+mn-lt"/>
                <a:cs typeface="Calibri"/>
              </a:rPr>
              <a:t> de crédito – evaluación efectiva y oportuna de nuevos créditos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diseño, implementación, monitoreo y ajuste de la estrategia de cobranza - efectiva recuperación de cartera vencida 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eficiencia en la ejecución de estudios de crédito - Apalancamiento en bases de datos de terceros</a:t>
            </a:r>
          </a:p>
          <a:p>
            <a:pPr indent="-169863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09772"/>
            <a:ext cx="4918780" cy="84283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Gasto de provisiones; (2) Cumplimiento meta de recuperación de cartera; (3) Contención de la cartera/rodamiento de cartera; (4) Puntos base riesgo; (5) NPS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913212" y="1683825"/>
            <a:ext cx="1592788" cy="35141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de riesgo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95932" y="2574291"/>
            <a:ext cx="972000" cy="369182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Presidente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506000" y="1859532"/>
            <a:ext cx="575932" cy="7147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4" y="2861590"/>
            <a:ext cx="1523513" cy="32663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718613" y="2661588"/>
            <a:ext cx="81434" cy="64520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6" y="1859532"/>
            <a:ext cx="4365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889360" y="2204764"/>
            <a:ext cx="706708" cy="16481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83278" y="4041866"/>
            <a:ext cx="1620000" cy="73836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colocación y recuperación de cartera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54" idx="1"/>
          </p:cNvCxnSpPr>
          <p:nvPr/>
        </p:nvCxnSpPr>
        <p:spPr>
          <a:xfrm rot="16200000" flipH="1">
            <a:off x="900275" y="2885410"/>
            <a:ext cx="684878" cy="70670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2204764"/>
            <a:ext cx="300137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03360" y="2369576"/>
            <a:ext cx="972000" cy="52674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Riesgo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596068" y="1864242"/>
            <a:ext cx="1628084" cy="68104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Acuerdo de niveles de riesgo y estrategias de mitigación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913212" y="2099858"/>
            <a:ext cx="1592787" cy="56166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colocación y calidad de la cartera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831B21A6-A508-4FA8-8CAC-DE0FE0846886}"/>
              </a:ext>
            </a:extLst>
          </p:cNvPr>
          <p:cNvSpPr/>
          <p:nvPr/>
        </p:nvSpPr>
        <p:spPr>
          <a:xfrm>
            <a:off x="433759" y="4571840"/>
            <a:ext cx="972000" cy="73037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Cobranza y Fabrica </a:t>
            </a:r>
          </a:p>
        </p:txBody>
      </p:sp>
      <p:sp>
        <p:nvSpPr>
          <p:cNvPr id="46" name="Marcador de contenido 5">
            <a:extLst>
              <a:ext uri="{FF2B5EF4-FFF2-40B4-BE49-F238E27FC236}">
                <a16:creationId xmlns:a16="http://schemas.microsoft.com/office/drawing/2014/main" id="{C9DE2B2E-0DD9-4338-B50B-9A28D2080E2A}"/>
              </a:ext>
            </a:extLst>
          </p:cNvPr>
          <p:cNvSpPr txBox="1">
            <a:spLocks/>
          </p:cNvSpPr>
          <p:nvPr/>
        </p:nvSpPr>
        <p:spPr>
          <a:xfrm>
            <a:off x="1596068" y="2689634"/>
            <a:ext cx="1628084" cy="5267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operación de riesgos </a:t>
            </a:r>
          </a:p>
        </p:txBody>
      </p:sp>
      <p:sp>
        <p:nvSpPr>
          <p:cNvPr id="54" name="Marcador de contenido 5">
            <a:extLst>
              <a:ext uri="{FF2B5EF4-FFF2-40B4-BE49-F238E27FC236}">
                <a16:creationId xmlns:a16="http://schemas.microsoft.com/office/drawing/2014/main" id="{39B249D0-660E-4A78-8A2B-845AF7023F63}"/>
              </a:ext>
            </a:extLst>
          </p:cNvPr>
          <p:cNvSpPr txBox="1">
            <a:spLocks/>
          </p:cNvSpPr>
          <p:nvPr/>
        </p:nvSpPr>
        <p:spPr>
          <a:xfrm>
            <a:off x="1596068" y="3281605"/>
            <a:ext cx="1628084" cy="59919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Identificación y alternativas de mitigación de riesgos</a:t>
            </a:r>
          </a:p>
        </p:txBody>
      </p:sp>
      <p:cxnSp>
        <p:nvCxnSpPr>
          <p:cNvPr id="58" name="Conector angular 26">
            <a:extLst>
              <a:ext uri="{FF2B5EF4-FFF2-40B4-BE49-F238E27FC236}">
                <a16:creationId xmlns:a16="http://schemas.microsoft.com/office/drawing/2014/main" id="{FBD1443B-58DF-4809-BA6D-AA945533A82B}"/>
              </a:ext>
            </a:extLst>
          </p:cNvPr>
          <p:cNvCxnSpPr>
            <a:cxnSpLocks/>
            <a:stCxn id="22" idx="2"/>
            <a:endCxn id="46" idx="1"/>
          </p:cNvCxnSpPr>
          <p:nvPr/>
        </p:nvCxnSpPr>
        <p:spPr>
          <a:xfrm rot="16200000" flipH="1">
            <a:off x="1214372" y="2571313"/>
            <a:ext cx="56684" cy="70670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3E2232F0-B901-4427-9ACA-9F70677CB3BA}"/>
              </a:ext>
            </a:extLst>
          </p:cNvPr>
          <p:cNvSpPr txBox="1">
            <a:spLocks/>
          </p:cNvSpPr>
          <p:nvPr/>
        </p:nvSpPr>
        <p:spPr>
          <a:xfrm>
            <a:off x="8913214" y="3293816"/>
            <a:ext cx="1523513" cy="62409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colocación y calidad de la cartera </a:t>
            </a:r>
          </a:p>
        </p:txBody>
      </p:sp>
      <p:cxnSp>
        <p:nvCxnSpPr>
          <p:cNvPr id="68" name="Conector angular 37">
            <a:extLst>
              <a:ext uri="{FF2B5EF4-FFF2-40B4-BE49-F238E27FC236}">
                <a16:creationId xmlns:a16="http://schemas.microsoft.com/office/drawing/2014/main" id="{78F7D167-602D-4DBA-9870-B416150508A1}"/>
              </a:ext>
            </a:extLst>
          </p:cNvPr>
          <p:cNvCxnSpPr>
            <a:cxnSpLocks/>
            <a:stCxn id="11" idx="2"/>
            <a:endCxn id="66" idx="3"/>
          </p:cNvCxnSpPr>
          <p:nvPr/>
        </p:nvCxnSpPr>
        <p:spPr>
          <a:xfrm rot="5400000">
            <a:off x="10428136" y="2952065"/>
            <a:ext cx="662388" cy="64520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Marcador de contenido 5">
            <a:extLst>
              <a:ext uri="{FF2B5EF4-FFF2-40B4-BE49-F238E27FC236}">
                <a16:creationId xmlns:a16="http://schemas.microsoft.com/office/drawing/2014/main" id="{2ABB6E86-FED0-4A60-9FF0-B035B0F790C5}"/>
              </a:ext>
            </a:extLst>
          </p:cNvPr>
          <p:cNvSpPr txBox="1">
            <a:spLocks/>
          </p:cNvSpPr>
          <p:nvPr/>
        </p:nvSpPr>
        <p:spPr>
          <a:xfrm>
            <a:off x="1583278" y="5044304"/>
            <a:ext cx="1620000" cy="73836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colocación y recuperación de cartera</a:t>
            </a:r>
          </a:p>
        </p:txBody>
      </p:sp>
      <p:cxnSp>
        <p:nvCxnSpPr>
          <p:cNvPr id="87" name="Conector angular 26">
            <a:extLst>
              <a:ext uri="{FF2B5EF4-FFF2-40B4-BE49-F238E27FC236}">
                <a16:creationId xmlns:a16="http://schemas.microsoft.com/office/drawing/2014/main" id="{2999BEBD-DE01-46A7-ACC0-1C26BCE62B08}"/>
              </a:ext>
            </a:extLst>
          </p:cNvPr>
          <p:cNvCxnSpPr>
            <a:cxnSpLocks/>
            <a:stCxn id="34" idx="2"/>
            <a:endCxn id="71" idx="1"/>
          </p:cNvCxnSpPr>
          <p:nvPr/>
        </p:nvCxnSpPr>
        <p:spPr>
          <a:xfrm rot="16200000" flipH="1">
            <a:off x="1195880" y="5026088"/>
            <a:ext cx="111276" cy="66351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angular 26">
            <a:extLst>
              <a:ext uri="{FF2B5EF4-FFF2-40B4-BE49-F238E27FC236}">
                <a16:creationId xmlns:a16="http://schemas.microsoft.com/office/drawing/2014/main" id="{E1158FC9-FD66-4971-96FB-748B2F572919}"/>
              </a:ext>
            </a:extLst>
          </p:cNvPr>
          <p:cNvCxnSpPr>
            <a:cxnSpLocks/>
            <a:stCxn id="18" idx="1"/>
            <a:endCxn id="34" idx="0"/>
          </p:cNvCxnSpPr>
          <p:nvPr/>
        </p:nvCxnSpPr>
        <p:spPr>
          <a:xfrm rot="10800000" flipV="1">
            <a:off x="919760" y="4411048"/>
            <a:ext cx="663519" cy="1607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3" name="Conector recto de flecha 102">
            <a:extLst>
              <a:ext uri="{FF2B5EF4-FFF2-40B4-BE49-F238E27FC236}">
                <a16:creationId xmlns:a16="http://schemas.microsoft.com/office/drawing/2014/main" id="{07A1D704-E1FA-4E0B-B32E-C01C7C2B3695}"/>
              </a:ext>
            </a:extLst>
          </p:cNvPr>
          <p:cNvCxnSpPr>
            <a:cxnSpLocks/>
            <a:stCxn id="46" idx="3"/>
          </p:cNvCxnSpPr>
          <p:nvPr/>
        </p:nvCxnSpPr>
        <p:spPr>
          <a:xfrm>
            <a:off x="3224152" y="2953009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7" name="Conector recto de flecha 106">
            <a:extLst>
              <a:ext uri="{FF2B5EF4-FFF2-40B4-BE49-F238E27FC236}">
                <a16:creationId xmlns:a16="http://schemas.microsoft.com/office/drawing/2014/main" id="{05F0275C-F12C-4138-8A80-38506AC0B867}"/>
              </a:ext>
            </a:extLst>
          </p:cNvPr>
          <p:cNvCxnSpPr>
            <a:cxnSpLocks/>
          </p:cNvCxnSpPr>
          <p:nvPr/>
        </p:nvCxnSpPr>
        <p:spPr>
          <a:xfrm>
            <a:off x="3224152" y="3581204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ector recto de flecha 107">
            <a:extLst>
              <a:ext uri="{FF2B5EF4-FFF2-40B4-BE49-F238E27FC236}">
                <a16:creationId xmlns:a16="http://schemas.microsoft.com/office/drawing/2014/main" id="{45A15BBB-B062-49F3-8F79-21A870532EE6}"/>
              </a:ext>
            </a:extLst>
          </p:cNvPr>
          <p:cNvCxnSpPr>
            <a:cxnSpLocks/>
            <a:endCxn id="18" idx="3"/>
          </p:cNvCxnSpPr>
          <p:nvPr/>
        </p:nvCxnSpPr>
        <p:spPr>
          <a:xfrm flipH="1">
            <a:off x="3203278" y="4411048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9" name="Conector recto de flecha 108">
            <a:extLst>
              <a:ext uri="{FF2B5EF4-FFF2-40B4-BE49-F238E27FC236}">
                <a16:creationId xmlns:a16="http://schemas.microsoft.com/office/drawing/2014/main" id="{36188DA5-A8BE-4A7C-BC6D-55C3A7441750}"/>
              </a:ext>
            </a:extLst>
          </p:cNvPr>
          <p:cNvCxnSpPr>
            <a:cxnSpLocks/>
          </p:cNvCxnSpPr>
          <p:nvPr/>
        </p:nvCxnSpPr>
        <p:spPr>
          <a:xfrm>
            <a:off x="3224152" y="5361022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Rectángulo 3">
            <a:extLst>
              <a:ext uri="{FF2B5EF4-FFF2-40B4-BE49-F238E27FC236}">
                <a16:creationId xmlns:a16="http://schemas.microsoft.com/office/drawing/2014/main" id="{CCACB679-3749-43E8-A1BA-69486AB2F9FF}"/>
              </a:ext>
            </a:extLst>
          </p:cNvPr>
          <p:cNvSpPr/>
          <p:nvPr/>
        </p:nvSpPr>
        <p:spPr>
          <a:xfrm>
            <a:off x="10533863" y="4415950"/>
            <a:ext cx="1096137" cy="369182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Innovación y Digit.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E2F9572B-1C18-4A6E-963F-7D03B30DEB11}"/>
              </a:ext>
            </a:extLst>
          </p:cNvPr>
          <p:cNvSpPr/>
          <p:nvPr/>
        </p:nvSpPr>
        <p:spPr>
          <a:xfrm>
            <a:off x="10533863" y="4837442"/>
            <a:ext cx="1096137" cy="41372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Comercial y de Servicio</a:t>
            </a:r>
          </a:p>
        </p:txBody>
      </p:sp>
      <p:sp>
        <p:nvSpPr>
          <p:cNvPr id="24" name="Marcador de contenido 5">
            <a:extLst>
              <a:ext uri="{FF2B5EF4-FFF2-40B4-BE49-F238E27FC236}">
                <a16:creationId xmlns:a16="http://schemas.microsoft.com/office/drawing/2014/main" id="{3E611A79-1C8F-4708-853D-40E2A2450366}"/>
              </a:ext>
            </a:extLst>
          </p:cNvPr>
          <p:cNvSpPr txBox="1">
            <a:spLocks/>
          </p:cNvSpPr>
          <p:nvPr/>
        </p:nvSpPr>
        <p:spPr>
          <a:xfrm>
            <a:off x="8913214" y="4071878"/>
            <a:ext cx="1523513" cy="365125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Estrategia de Riesgo</a:t>
            </a:r>
          </a:p>
        </p:txBody>
      </p:sp>
      <p:sp>
        <p:nvSpPr>
          <p:cNvPr id="25" name="Marcador de contenido 5">
            <a:extLst>
              <a:ext uri="{FF2B5EF4-FFF2-40B4-BE49-F238E27FC236}">
                <a16:creationId xmlns:a16="http://schemas.microsoft.com/office/drawing/2014/main" id="{9D939364-9658-42CA-9196-85D9E72B6BFA}"/>
              </a:ext>
            </a:extLst>
          </p:cNvPr>
          <p:cNvSpPr txBox="1">
            <a:spLocks/>
          </p:cNvSpPr>
          <p:nvPr/>
        </p:nvSpPr>
        <p:spPr>
          <a:xfrm>
            <a:off x="8913213" y="5163179"/>
            <a:ext cx="1523513" cy="365125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Novedades Calidad de la Cartera</a:t>
            </a:r>
          </a:p>
        </p:txBody>
      </p:sp>
      <p:cxnSp>
        <p:nvCxnSpPr>
          <p:cNvPr id="61" name="Conector angular 32">
            <a:extLst>
              <a:ext uri="{FF2B5EF4-FFF2-40B4-BE49-F238E27FC236}">
                <a16:creationId xmlns:a16="http://schemas.microsoft.com/office/drawing/2014/main" id="{5AA5D0E7-0EDB-485F-AC95-C561A2B514CC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505999" y="2380692"/>
            <a:ext cx="575933" cy="1935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angular 37">
            <a:extLst>
              <a:ext uri="{FF2B5EF4-FFF2-40B4-BE49-F238E27FC236}">
                <a16:creationId xmlns:a16="http://schemas.microsoft.com/office/drawing/2014/main" id="{2179457B-6EE5-4273-9F07-2C113E83490F}"/>
              </a:ext>
            </a:extLst>
          </p:cNvPr>
          <p:cNvCxnSpPr>
            <a:cxnSpLocks/>
            <a:stCxn id="20" idx="2"/>
            <a:endCxn id="25" idx="3"/>
          </p:cNvCxnSpPr>
          <p:nvPr/>
        </p:nvCxnSpPr>
        <p:spPr>
          <a:xfrm rot="5400000">
            <a:off x="10712041" y="4975850"/>
            <a:ext cx="94577" cy="6452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ector angular 32">
            <a:extLst>
              <a:ext uri="{FF2B5EF4-FFF2-40B4-BE49-F238E27FC236}">
                <a16:creationId xmlns:a16="http://schemas.microsoft.com/office/drawing/2014/main" id="{FE671629-BA4D-48B0-87B9-377693B3C2CC}"/>
              </a:ext>
            </a:extLst>
          </p:cNvPr>
          <p:cNvCxnSpPr>
            <a:cxnSpLocks/>
            <a:stCxn id="24" idx="3"/>
            <a:endCxn id="4" idx="0"/>
          </p:cNvCxnSpPr>
          <p:nvPr/>
        </p:nvCxnSpPr>
        <p:spPr>
          <a:xfrm>
            <a:off x="10436727" y="4254441"/>
            <a:ext cx="645205" cy="16150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9CC8FD83-F2C5-4E4F-990B-521EB90D0488}"/>
              </a:ext>
            </a:extLst>
          </p:cNvPr>
          <p:cNvCxnSpPr>
            <a:cxnSpLocks/>
            <a:endCxn id="33" idx="1"/>
          </p:cNvCxnSpPr>
          <p:nvPr/>
        </p:nvCxnSpPr>
        <p:spPr>
          <a:xfrm>
            <a:off x="8484819" y="2380692"/>
            <a:ext cx="42839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recto de flecha 91">
            <a:extLst>
              <a:ext uri="{FF2B5EF4-FFF2-40B4-BE49-F238E27FC236}">
                <a16:creationId xmlns:a16="http://schemas.microsoft.com/office/drawing/2014/main" id="{3E199CB2-4EC0-4231-AAD7-68D8B246D6D1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92840" y="3024907"/>
            <a:ext cx="42037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4DD370C7-4EE3-4751-B296-938A62AC6FBD}"/>
              </a:ext>
            </a:extLst>
          </p:cNvPr>
          <p:cNvCxnSpPr>
            <a:cxnSpLocks/>
          </p:cNvCxnSpPr>
          <p:nvPr/>
        </p:nvCxnSpPr>
        <p:spPr>
          <a:xfrm flipH="1">
            <a:off x="8492840" y="3605861"/>
            <a:ext cx="42037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D50C35A7-8844-4D4E-A7D2-12CD30513B6B}"/>
              </a:ext>
            </a:extLst>
          </p:cNvPr>
          <p:cNvCxnSpPr>
            <a:cxnSpLocks/>
          </p:cNvCxnSpPr>
          <p:nvPr/>
        </p:nvCxnSpPr>
        <p:spPr>
          <a:xfrm flipH="1">
            <a:off x="8492840" y="5357847"/>
            <a:ext cx="42037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recto de flecha 95">
            <a:extLst>
              <a:ext uri="{FF2B5EF4-FFF2-40B4-BE49-F238E27FC236}">
                <a16:creationId xmlns:a16="http://schemas.microsoft.com/office/drawing/2014/main" id="{52C097D4-8E55-4232-AAA5-76F6E917CF14}"/>
              </a:ext>
            </a:extLst>
          </p:cNvPr>
          <p:cNvCxnSpPr>
            <a:cxnSpLocks/>
          </p:cNvCxnSpPr>
          <p:nvPr/>
        </p:nvCxnSpPr>
        <p:spPr>
          <a:xfrm>
            <a:off x="8484819" y="4254440"/>
            <a:ext cx="37376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lecha: pentágono 29">
            <a:extLst>
              <a:ext uri="{FF2B5EF4-FFF2-40B4-BE49-F238E27FC236}">
                <a16:creationId xmlns:a16="http://schemas.microsoft.com/office/drawing/2014/main" id="{8A7AFFCF-3EC6-4FB6-9B08-48ED9355F955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31" name="Es igual a 30">
            <a:extLst>
              <a:ext uri="{FF2B5EF4-FFF2-40B4-BE49-F238E27FC236}">
                <a16:creationId xmlns:a16="http://schemas.microsoft.com/office/drawing/2014/main" id="{D5E6844C-B8C6-47BA-A6A6-E31B397A4696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15C6A03-00E0-411E-AE28-8B3BE3378A1D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CDDE583A-FA60-4705-830A-BE69D6DDEB7A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0781685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de Riesgo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44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Gerencia de Riesgo liderará la identificación, medición, control y monitoreo de los sistemas de </a:t>
            </a:r>
            <a:r>
              <a:rPr lang="es-ES" err="1"/>
              <a:t>admon</a:t>
            </a:r>
            <a:r>
              <a:rPr lang="es-ES"/>
              <a:t>. de riesgo de mercado, crediticio, liquidez y operativo en el corto mediano y largo plazo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Riesgo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identificación, medición, control y monitoreo de los sistemas de administración de riesgo de mercado, crediticio, liquidez y operativo en el corto mediano y largo plazo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  <a:tabLst>
                <a:tab pos="0" algn="l"/>
              </a:tabLst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gestión integral a los riesgos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Definición de los lineamientos  y de las políticas de crédito y cartera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Ejecutar controles para la gestión del deterioro de la cartera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la metodología y el sistema para la administración del riesgo de lavado de activos y financiación del terrorismo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Apoyar a la organización por medio de asesoría, divulgación y entendimiento en materia de riesgos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Velar porque las etapas y elementos de los Sistemas de Administración de Riesgos cumplan con las disposiciones de la Superintendencia Financiera de Colombia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Proponer alternativas que contribuyan a la mitigación del riesgo, en las etapas de identificación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09942"/>
            <a:ext cx="4918780" cy="8383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Gasto de provisiones; (2) Cumplimiento rangos de riesgos e liquidez, mercado y crédito; (3) Puntos base de riesgo; (4) NPS cliente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extermo</a:t>
            </a: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996749" y="1853116"/>
            <a:ext cx="1260000" cy="50554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gestión de Riesgos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51209" y="2399950"/>
            <a:ext cx="1096137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Riesgo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256749" y="2105889"/>
            <a:ext cx="842529" cy="2940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9051382" y="2898929"/>
            <a:ext cx="1260000" cy="42415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619802" y="2631530"/>
            <a:ext cx="171057" cy="7878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3943" y="2105889"/>
            <a:ext cx="53280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80" idx="1"/>
            <a:endCxn id="22" idx="0"/>
          </p:cNvCxnSpPr>
          <p:nvPr/>
        </p:nvCxnSpPr>
        <p:spPr>
          <a:xfrm rot="10800000" flipV="1">
            <a:off x="942967" y="3072083"/>
            <a:ext cx="658310" cy="37409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82" idx="1"/>
          </p:cNvCxnSpPr>
          <p:nvPr/>
        </p:nvCxnSpPr>
        <p:spPr>
          <a:xfrm rot="16200000" flipH="1">
            <a:off x="1103181" y="3825967"/>
            <a:ext cx="337882" cy="6583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29360" y="302192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8967" y="344618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Riesgo</a:t>
            </a:r>
          </a:p>
        </p:txBody>
      </p:sp>
      <p:sp>
        <p:nvSpPr>
          <p:cNvPr id="26" name="Marcador de contenido 5">
            <a:extLst>
              <a:ext uri="{FF2B5EF4-FFF2-40B4-BE49-F238E27FC236}">
                <a16:creationId xmlns:a16="http://schemas.microsoft.com/office/drawing/2014/main" id="{3DD32661-4A9E-4357-B90C-9C6211FFE9DF}"/>
              </a:ext>
            </a:extLst>
          </p:cNvPr>
          <p:cNvSpPr txBox="1">
            <a:spLocks/>
          </p:cNvSpPr>
          <p:nvPr/>
        </p:nvSpPr>
        <p:spPr>
          <a:xfrm>
            <a:off x="9051382" y="3405844"/>
            <a:ext cx="1260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Nivel de Riesgo Objetivo</a:t>
            </a:r>
          </a:p>
        </p:txBody>
      </p:sp>
      <p:cxnSp>
        <p:nvCxnSpPr>
          <p:cNvPr id="34" name="Conector angular 37">
            <a:extLst>
              <a:ext uri="{FF2B5EF4-FFF2-40B4-BE49-F238E27FC236}">
                <a16:creationId xmlns:a16="http://schemas.microsoft.com/office/drawing/2014/main" id="{574FF595-0144-409B-8AB7-4CF6AF1AFAE6}"/>
              </a:ext>
            </a:extLst>
          </p:cNvPr>
          <p:cNvCxnSpPr>
            <a:cxnSpLocks/>
            <a:stCxn id="11" idx="2"/>
            <a:endCxn id="26" idx="3"/>
          </p:cNvCxnSpPr>
          <p:nvPr/>
        </p:nvCxnSpPr>
        <p:spPr>
          <a:xfrm rot="5400000">
            <a:off x="10381102" y="2870230"/>
            <a:ext cx="648457" cy="7878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Rectángulo 60">
            <a:extLst>
              <a:ext uri="{FF2B5EF4-FFF2-40B4-BE49-F238E27FC236}">
                <a16:creationId xmlns:a16="http://schemas.microsoft.com/office/drawing/2014/main" id="{E4D4ECDD-B826-4188-80C5-A103BD5654C8}"/>
              </a:ext>
            </a:extLst>
          </p:cNvPr>
          <p:cNvSpPr/>
          <p:nvPr/>
        </p:nvSpPr>
        <p:spPr>
          <a:xfrm>
            <a:off x="10551209" y="4399266"/>
            <a:ext cx="1096137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</a:t>
            </a:r>
          </a:p>
        </p:txBody>
      </p:sp>
      <p:sp>
        <p:nvSpPr>
          <p:cNvPr id="63" name="Marcador de contenido 5">
            <a:extLst>
              <a:ext uri="{FF2B5EF4-FFF2-40B4-BE49-F238E27FC236}">
                <a16:creationId xmlns:a16="http://schemas.microsoft.com/office/drawing/2014/main" id="{431A1874-09B4-421B-BBE4-DA45D3B81AC2}"/>
              </a:ext>
            </a:extLst>
          </p:cNvPr>
          <p:cNvSpPr txBox="1">
            <a:spLocks/>
          </p:cNvSpPr>
          <p:nvPr/>
        </p:nvSpPr>
        <p:spPr>
          <a:xfrm>
            <a:off x="9051382" y="4034141"/>
            <a:ext cx="1260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Necesidades de Asesoría en R.</a:t>
            </a:r>
          </a:p>
        </p:txBody>
      </p: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345C9056-73A3-48B3-A94E-42EC6A05F6F0}"/>
              </a:ext>
            </a:extLst>
          </p:cNvPr>
          <p:cNvSpPr txBox="1">
            <a:spLocks/>
          </p:cNvSpPr>
          <p:nvPr/>
        </p:nvSpPr>
        <p:spPr>
          <a:xfrm>
            <a:off x="9051382" y="4969797"/>
            <a:ext cx="1260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Asesoría en Riesgo</a:t>
            </a:r>
          </a:p>
        </p:txBody>
      </p:sp>
      <p:cxnSp>
        <p:nvCxnSpPr>
          <p:cNvPr id="65" name="Conector angular 37">
            <a:extLst>
              <a:ext uri="{FF2B5EF4-FFF2-40B4-BE49-F238E27FC236}">
                <a16:creationId xmlns:a16="http://schemas.microsoft.com/office/drawing/2014/main" id="{9A28C24E-6A7D-4D72-B1F1-78CF9108C4BD}"/>
              </a:ext>
            </a:extLst>
          </p:cNvPr>
          <p:cNvCxnSpPr>
            <a:cxnSpLocks/>
            <a:stCxn id="61" idx="2"/>
            <a:endCxn id="64" idx="3"/>
          </p:cNvCxnSpPr>
          <p:nvPr/>
        </p:nvCxnSpPr>
        <p:spPr>
          <a:xfrm rot="5400000">
            <a:off x="10598783" y="4651865"/>
            <a:ext cx="213094" cy="7878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angular 32">
            <a:extLst>
              <a:ext uri="{FF2B5EF4-FFF2-40B4-BE49-F238E27FC236}">
                <a16:creationId xmlns:a16="http://schemas.microsoft.com/office/drawing/2014/main" id="{DFE22D28-25C6-49EF-A7C2-60BE9ED2B306}"/>
              </a:ext>
            </a:extLst>
          </p:cNvPr>
          <p:cNvCxnSpPr>
            <a:cxnSpLocks/>
            <a:stCxn id="63" idx="3"/>
            <a:endCxn id="61" idx="0"/>
          </p:cNvCxnSpPr>
          <p:nvPr/>
        </p:nvCxnSpPr>
        <p:spPr>
          <a:xfrm>
            <a:off x="10311382" y="4216704"/>
            <a:ext cx="787896" cy="1825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9CD0B734-3B23-4A30-9B1A-425DFAFF0820}"/>
              </a:ext>
            </a:extLst>
          </p:cNvPr>
          <p:cNvCxnSpPr>
            <a:cxnSpLocks/>
          </p:cNvCxnSpPr>
          <p:nvPr/>
        </p:nvCxnSpPr>
        <p:spPr>
          <a:xfrm>
            <a:off x="8463943" y="4216703"/>
            <a:ext cx="57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58E47C91-E6D6-4FFD-8394-521A078B7A39}"/>
              </a:ext>
            </a:extLst>
          </p:cNvPr>
          <p:cNvCxnSpPr>
            <a:cxnSpLocks/>
          </p:cNvCxnSpPr>
          <p:nvPr/>
        </p:nvCxnSpPr>
        <p:spPr>
          <a:xfrm flipH="1">
            <a:off x="8463943" y="3111006"/>
            <a:ext cx="5746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recto de flecha 76">
            <a:extLst>
              <a:ext uri="{FF2B5EF4-FFF2-40B4-BE49-F238E27FC236}">
                <a16:creationId xmlns:a16="http://schemas.microsoft.com/office/drawing/2014/main" id="{7F21FEE3-C487-4F6D-A83A-02DD4AB24D4C}"/>
              </a:ext>
            </a:extLst>
          </p:cNvPr>
          <p:cNvCxnSpPr>
            <a:cxnSpLocks/>
          </p:cNvCxnSpPr>
          <p:nvPr/>
        </p:nvCxnSpPr>
        <p:spPr>
          <a:xfrm flipH="1">
            <a:off x="8463943" y="3606256"/>
            <a:ext cx="5746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808B2FC6-0ABE-4D4D-B5AA-42BA2B67C91B}"/>
              </a:ext>
            </a:extLst>
          </p:cNvPr>
          <p:cNvCxnSpPr>
            <a:cxnSpLocks/>
          </p:cNvCxnSpPr>
          <p:nvPr/>
        </p:nvCxnSpPr>
        <p:spPr>
          <a:xfrm flipH="1">
            <a:off x="8463943" y="5202615"/>
            <a:ext cx="57462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Marcador de contenido 5">
            <a:extLst>
              <a:ext uri="{FF2B5EF4-FFF2-40B4-BE49-F238E27FC236}">
                <a16:creationId xmlns:a16="http://schemas.microsoft.com/office/drawing/2014/main" id="{3431772F-0922-4D27-B65B-011D516C27FA}"/>
              </a:ext>
            </a:extLst>
          </p:cNvPr>
          <p:cNvSpPr txBox="1">
            <a:spLocks/>
          </p:cNvSpPr>
          <p:nvPr/>
        </p:nvSpPr>
        <p:spPr>
          <a:xfrm>
            <a:off x="1601277" y="2731561"/>
            <a:ext cx="1628084" cy="68104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Acuerdo de niveles de riesgo y estrategias de mitigación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519CB68C-6411-4099-826E-C214F0C9C9DE}"/>
              </a:ext>
            </a:extLst>
          </p:cNvPr>
          <p:cNvSpPr txBox="1">
            <a:spLocks/>
          </p:cNvSpPr>
          <p:nvPr/>
        </p:nvSpPr>
        <p:spPr>
          <a:xfrm>
            <a:off x="1601277" y="4060688"/>
            <a:ext cx="1628084" cy="52675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operación de riesgos </a:t>
            </a:r>
          </a:p>
        </p:txBody>
      </p:sp>
      <p:cxnSp>
        <p:nvCxnSpPr>
          <p:cNvPr id="91" name="Conector recto de flecha 90">
            <a:extLst>
              <a:ext uri="{FF2B5EF4-FFF2-40B4-BE49-F238E27FC236}">
                <a16:creationId xmlns:a16="http://schemas.microsoft.com/office/drawing/2014/main" id="{7F625A6A-8985-4935-A375-B6855E41CC76}"/>
              </a:ext>
            </a:extLst>
          </p:cNvPr>
          <p:cNvCxnSpPr>
            <a:cxnSpLocks/>
          </p:cNvCxnSpPr>
          <p:nvPr/>
        </p:nvCxnSpPr>
        <p:spPr>
          <a:xfrm>
            <a:off x="3229360" y="4324063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Flecha: pentágono 30">
            <a:extLst>
              <a:ext uri="{FF2B5EF4-FFF2-40B4-BE49-F238E27FC236}">
                <a16:creationId xmlns:a16="http://schemas.microsoft.com/office/drawing/2014/main" id="{88DEAC3C-0971-4BE2-A2A5-49851381520A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32" name="Es igual a 31">
            <a:extLst>
              <a:ext uri="{FF2B5EF4-FFF2-40B4-BE49-F238E27FC236}">
                <a16:creationId xmlns:a16="http://schemas.microsoft.com/office/drawing/2014/main" id="{514AB1D4-B0C2-49EA-B1A3-9DE621FD49E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F11F659-ABCB-4466-B86C-E2C7E1F27FB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4BBBB18B-BC8E-4342-9BEA-4C0CC398F015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34798877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de Cobranzas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45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Cobranza será el encargado de maximizar recuperación y utilidad de la gestión de cobro y normalizar la cartera acorde a las necesidades de cada producto</a:t>
            </a:r>
          </a:p>
          <a:p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Cobranzas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Maximizar recuperación y utilidad de la gestión de cobro y normalizar la cartera acorde con las necesidades de cada producto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desarrollo e implementación de estrategias de recuperación  de cartera  que aseguren el cumplimiento de las metas de la compañía en los diferentes productos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 procesos que permitan la optimización de la gestión de cobro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el P&amp;G del proceso de cobranza de cartera, buscando maximizar la recuperación y la utilidad de la gestión de cobro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Seguimiento y medición permanente de la gestión de los canales de recuperación externos alienados a las políticas y directrices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Diseñar, desarrollar, implementar proyectos de innovación que mantenga a la compañía a la vanguardia en la industria de procesos de cobranza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20512"/>
            <a:ext cx="4918780" cy="82773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meta de recuperación de cartera; (2) Cumplimiento presupuesto del gasto de rodamiento de cartera; (3) Reducción del saldo de la cartera; (4)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PyG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la g. de cobranza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73516" y="2608472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Admin. de Cartera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27977" y="3294751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Riesgos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33516" y="2850879"/>
            <a:ext cx="798461" cy="4438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28149" y="3844084"/>
            <a:ext cx="1260000" cy="99701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>
              <a:buNone/>
            </a:pPr>
            <a:r>
              <a:rPr lang="es-ES" sz="1100" b="1">
                <a:solidFill>
                  <a:schemeClr val="tx1"/>
                </a:solidFill>
                <a:latin typeface="+mn-lt"/>
              </a:rPr>
              <a:t>Objetivos:</a:t>
            </a:r>
          </a:p>
          <a:p>
            <a:r>
              <a:rPr lang="es-ES" sz="1100">
                <a:solidFill>
                  <a:schemeClr val="tx1"/>
                </a:solidFill>
                <a:latin typeface="+mn-lt"/>
              </a:rPr>
              <a:t>Recuperación de Cartera</a:t>
            </a:r>
          </a:p>
          <a:p>
            <a:r>
              <a:rPr lang="es-ES" sz="1100">
                <a:solidFill>
                  <a:schemeClr val="tx1"/>
                </a:solidFill>
                <a:latin typeface="+mn-lt"/>
              </a:rPr>
              <a:t>%Cartera Normalizada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206142" y="3716758"/>
            <a:ext cx="507842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4461838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2850879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9" y="1859590"/>
            <a:ext cx="955195" cy="7059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049691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Admin. de Cartera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94304" y="2748964"/>
            <a:ext cx="216978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36486" y="1859590"/>
            <a:ext cx="30867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565510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Cobranzas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92953" y="1634534"/>
            <a:ext cx="1343533" cy="45011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Cobranza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70D2B6CB-386A-4C64-84E9-20B72DB14ABD}"/>
              </a:ext>
            </a:extLst>
          </p:cNvPr>
          <p:cNvSpPr txBox="1">
            <a:spLocks/>
          </p:cNvSpPr>
          <p:nvPr/>
        </p:nvSpPr>
        <p:spPr>
          <a:xfrm>
            <a:off x="1892953" y="2220332"/>
            <a:ext cx="1343533" cy="45011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Admin de Cartera</a:t>
            </a:r>
          </a:p>
        </p:txBody>
      </p:sp>
      <p:cxnSp>
        <p:nvCxnSpPr>
          <p:cNvPr id="42" name="Conector recto de flecha 41">
            <a:extLst>
              <a:ext uri="{FF2B5EF4-FFF2-40B4-BE49-F238E27FC236}">
                <a16:creationId xmlns:a16="http://schemas.microsoft.com/office/drawing/2014/main" id="{99EA32FC-A67B-4853-B9DE-7D7F1476993A}"/>
              </a:ext>
            </a:extLst>
          </p:cNvPr>
          <p:cNvCxnSpPr>
            <a:cxnSpLocks/>
            <a:endCxn id="34" idx="3"/>
          </p:cNvCxnSpPr>
          <p:nvPr/>
        </p:nvCxnSpPr>
        <p:spPr>
          <a:xfrm flipH="1">
            <a:off x="3236486" y="2445388"/>
            <a:ext cx="30867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angular 23">
            <a:extLst>
              <a:ext uri="{FF2B5EF4-FFF2-40B4-BE49-F238E27FC236}">
                <a16:creationId xmlns:a16="http://schemas.microsoft.com/office/drawing/2014/main" id="{1068D73E-F63F-40D6-BAD6-1E3C9911A712}"/>
              </a:ext>
            </a:extLst>
          </p:cNvPr>
          <p:cNvCxnSpPr>
            <a:cxnSpLocks/>
            <a:stCxn id="34" idx="1"/>
            <a:endCxn id="22" idx="0"/>
          </p:cNvCxnSpPr>
          <p:nvPr/>
        </p:nvCxnSpPr>
        <p:spPr>
          <a:xfrm rot="10800000" flipV="1">
            <a:off x="937759" y="2445388"/>
            <a:ext cx="955195" cy="1201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7233D0BD-C790-4D13-8DCB-878215F1F72D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3322488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CB9AEF1C-1601-4BA4-8211-A0E3BD1D63DC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7" name="Es igual a 26">
            <a:extLst>
              <a:ext uri="{FF2B5EF4-FFF2-40B4-BE49-F238E27FC236}">
                <a16:creationId xmlns:a16="http://schemas.microsoft.com/office/drawing/2014/main" id="{4D1BF999-9A6F-487F-9734-B52B21973BF6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Marcador de contenido 5">
            <a:extLst>
              <a:ext uri="{FF2B5EF4-FFF2-40B4-BE49-F238E27FC236}">
                <a16:creationId xmlns:a16="http://schemas.microsoft.com/office/drawing/2014/main" id="{9D942E16-374F-427F-A80B-DA6D45FFB30A}"/>
              </a:ext>
            </a:extLst>
          </p:cNvPr>
          <p:cNvSpPr txBox="1">
            <a:spLocks/>
          </p:cNvSpPr>
          <p:nvPr/>
        </p:nvSpPr>
        <p:spPr>
          <a:xfrm>
            <a:off x="1867828" y="3802586"/>
            <a:ext cx="1343533" cy="651609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F43CCF65-87EB-47B1-9699-99C869667CEF}"/>
              </a:ext>
            </a:extLst>
          </p:cNvPr>
          <p:cNvSpPr txBox="1">
            <a:spLocks/>
          </p:cNvSpPr>
          <p:nvPr/>
        </p:nvSpPr>
        <p:spPr>
          <a:xfrm>
            <a:off x="1867828" y="4797116"/>
            <a:ext cx="1343533" cy="651609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alineación en la gestión integral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941CF7E5-3B7C-460B-8F22-345BE450FE8E}"/>
              </a:ext>
            </a:extLst>
          </p:cNvPr>
          <p:cNvSpPr/>
          <p:nvPr/>
        </p:nvSpPr>
        <p:spPr>
          <a:xfrm>
            <a:off x="433758" y="4372808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Cobranzas</a:t>
            </a:r>
          </a:p>
        </p:txBody>
      </p:sp>
      <p:cxnSp>
        <p:nvCxnSpPr>
          <p:cNvPr id="39" name="Conector angular 26">
            <a:extLst>
              <a:ext uri="{FF2B5EF4-FFF2-40B4-BE49-F238E27FC236}">
                <a16:creationId xmlns:a16="http://schemas.microsoft.com/office/drawing/2014/main" id="{CBA932D6-05D2-4361-B3C7-9AEDB0AF1940}"/>
              </a:ext>
            </a:extLst>
          </p:cNvPr>
          <p:cNvCxnSpPr>
            <a:cxnSpLocks/>
            <a:stCxn id="38" idx="2"/>
            <a:endCxn id="35" idx="1"/>
          </p:cNvCxnSpPr>
          <p:nvPr/>
        </p:nvCxnSpPr>
        <p:spPr>
          <a:xfrm rot="16200000" flipH="1">
            <a:off x="1297737" y="4552829"/>
            <a:ext cx="210113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angular 23">
            <a:extLst>
              <a:ext uri="{FF2B5EF4-FFF2-40B4-BE49-F238E27FC236}">
                <a16:creationId xmlns:a16="http://schemas.microsoft.com/office/drawing/2014/main" id="{9EB99D9D-7041-4139-BC12-D30B0911AC17}"/>
              </a:ext>
            </a:extLst>
          </p:cNvPr>
          <p:cNvCxnSpPr>
            <a:cxnSpLocks/>
            <a:stCxn id="28" idx="1"/>
            <a:endCxn id="38" idx="0"/>
          </p:cNvCxnSpPr>
          <p:nvPr/>
        </p:nvCxnSpPr>
        <p:spPr>
          <a:xfrm rot="10800000" flipV="1">
            <a:off x="937758" y="4128390"/>
            <a:ext cx="930070" cy="24441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ector recto de flecha 49">
            <a:extLst>
              <a:ext uri="{FF2B5EF4-FFF2-40B4-BE49-F238E27FC236}">
                <a16:creationId xmlns:a16="http://schemas.microsoft.com/office/drawing/2014/main" id="{49B2A7EA-1516-4E11-B127-6A1C16E77F46}"/>
              </a:ext>
            </a:extLst>
          </p:cNvPr>
          <p:cNvCxnSpPr>
            <a:cxnSpLocks/>
          </p:cNvCxnSpPr>
          <p:nvPr/>
        </p:nvCxnSpPr>
        <p:spPr>
          <a:xfrm>
            <a:off x="3211361" y="5122920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ector recto de flecha 50">
            <a:extLst>
              <a:ext uri="{FF2B5EF4-FFF2-40B4-BE49-F238E27FC236}">
                <a16:creationId xmlns:a16="http://schemas.microsoft.com/office/drawing/2014/main" id="{176C25A2-42F6-417C-934D-DDB7080E166E}"/>
              </a:ext>
            </a:extLst>
          </p:cNvPr>
          <p:cNvCxnSpPr>
            <a:cxnSpLocks/>
          </p:cNvCxnSpPr>
          <p:nvPr/>
        </p:nvCxnSpPr>
        <p:spPr>
          <a:xfrm flipH="1">
            <a:off x="3236486" y="4128390"/>
            <a:ext cx="30867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E048BB4-58C6-4B69-98CB-99C8B4F4DCB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6DD906FF-DEB6-4FFA-9935-7EFAEA35B1AF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13423313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Gestión de Cobranza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46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D. de Gestión de Cobranza administrará la gestión de cobro de la cartera asignada a externos, casas de cobranza y abogados garantizando max. la recup. con un nivel costo/beneficio óptimo</a:t>
            </a:r>
          </a:p>
          <a:p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Gestión de Cobranza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57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gestión de cobro de la cartera asignada a externos, casas de cobranza y abogados garantizando maximizar la </a:t>
            </a:r>
            <a:r>
              <a:rPr lang="es-ES" sz="1200" err="1">
                <a:latin typeface="+mn-lt"/>
                <a:cs typeface="Calibri"/>
              </a:rPr>
              <a:t>rec.</a:t>
            </a:r>
            <a:r>
              <a:rPr lang="es-ES" sz="1200">
                <a:latin typeface="+mn-lt"/>
                <a:cs typeface="Calibri"/>
              </a:rPr>
              <a:t> de los portafolios con una relación óptima de costo/beneficio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Desarrollar e implementar </a:t>
            </a:r>
            <a:r>
              <a:rPr lang="es-ES" sz="1200" err="1">
                <a:latin typeface="+mn-lt"/>
                <a:cs typeface="Calibri"/>
              </a:rPr>
              <a:t>est</a:t>
            </a:r>
            <a:r>
              <a:rPr lang="es-ES" sz="1200">
                <a:latin typeface="+mn-lt"/>
                <a:cs typeface="Calibri"/>
              </a:rPr>
              <a:t>. de </a:t>
            </a:r>
            <a:r>
              <a:rPr lang="es-ES" sz="1200" err="1">
                <a:latin typeface="+mn-lt"/>
                <a:cs typeface="Calibri"/>
              </a:rPr>
              <a:t>recup</a:t>
            </a:r>
            <a:r>
              <a:rPr lang="es-ES" sz="1200">
                <a:latin typeface="+mn-lt"/>
                <a:cs typeface="Calibri"/>
              </a:rPr>
              <a:t>. de la cartera administrada que aseguren el cumplimiento de las metas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Establecer esquemas de medición a externos, casas de cobranza y abogados que permitan evaluar el desempeño de la cartera asignada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e implementar el Modelo de Supervisión a terceros que asegure control y seguimiento detallado de la gestión de la cartera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y asegurar el cumplimiento de los ANS con los proveedores administrados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Elaborar y plantear los procesos de trabajo y supervisar su ejecución con el fin de lograr la mejor eficiencia y efectividad en la gestión de cobro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el P&amp;G de la unidad, buscando maximizar la recuperación y la utilidad de la gestión de cobro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95654"/>
            <a:ext cx="4918780" cy="8577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meta de recuperación de cartera; (2) Cumplimiento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Ppto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Gasto de Rodamiento de la cartera; (3)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PyG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la Unidad de Cobranza; (4) NPS del cliente externo 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49243" y="360712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Cobranza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endCxn id="11" idx="0"/>
          </p:cNvCxnSpPr>
          <p:nvPr/>
        </p:nvCxnSpPr>
        <p:spPr>
          <a:xfrm>
            <a:off x="10054782" y="2607035"/>
            <a:ext cx="798461" cy="10000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27" idx="3"/>
          </p:cNvCxnSpPr>
          <p:nvPr/>
        </p:nvCxnSpPr>
        <p:spPr>
          <a:xfrm rot="5400000">
            <a:off x="10319864" y="4115324"/>
            <a:ext cx="501579" cy="56518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4648704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2607035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299388"/>
            <a:ext cx="942860" cy="10529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450682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 gestión de cobranza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987201" y="3842851"/>
            <a:ext cx="831185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29938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352294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Gestión de Cobranza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005774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gestión de cobranza</a:t>
            </a:r>
          </a:p>
        </p:txBody>
      </p:sp>
      <p:sp>
        <p:nvSpPr>
          <p:cNvPr id="4" name="Marcador de contenido 5">
            <a:extLst>
              <a:ext uri="{FF2B5EF4-FFF2-40B4-BE49-F238E27FC236}">
                <a16:creationId xmlns:a16="http://schemas.microsoft.com/office/drawing/2014/main" id="{4257D137-D526-4696-87DD-11A8A1420F35}"/>
              </a:ext>
            </a:extLst>
          </p:cNvPr>
          <p:cNvSpPr txBox="1">
            <a:spLocks/>
          </p:cNvSpPr>
          <p:nvPr/>
        </p:nvSpPr>
        <p:spPr>
          <a:xfrm>
            <a:off x="8787736" y="2364628"/>
            <a:ext cx="1500326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de cobranzas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5AA4EB8C-0A0B-4A32-B9E0-0B5944007F57}"/>
              </a:ext>
            </a:extLst>
          </p:cNvPr>
          <p:cNvSpPr txBox="1">
            <a:spLocks/>
          </p:cNvSpPr>
          <p:nvPr/>
        </p:nvSpPr>
        <p:spPr>
          <a:xfrm>
            <a:off x="8788234" y="4391780"/>
            <a:ext cx="1499829" cy="51384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gestión de cobranza</a:t>
            </a:r>
          </a:p>
        </p:txBody>
      </p:sp>
      <p:cxnSp>
        <p:nvCxnSpPr>
          <p:cNvPr id="25" name="Conector recto de flecha 24">
            <a:extLst>
              <a:ext uri="{FF2B5EF4-FFF2-40B4-BE49-F238E27FC236}">
                <a16:creationId xmlns:a16="http://schemas.microsoft.com/office/drawing/2014/main" id="{9ABC263E-2E99-4C03-B780-11B0DCF4D177}"/>
              </a:ext>
            </a:extLst>
          </p:cNvPr>
          <p:cNvCxnSpPr>
            <a:cxnSpLocks/>
          </p:cNvCxnSpPr>
          <p:nvPr/>
        </p:nvCxnSpPr>
        <p:spPr>
          <a:xfrm>
            <a:off x="3224151" y="4737317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7850FA34-A748-4803-837E-B569BC0DA88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9" name="Es igual a 28">
            <a:extLst>
              <a:ext uri="{FF2B5EF4-FFF2-40B4-BE49-F238E27FC236}">
                <a16:creationId xmlns:a16="http://schemas.microsoft.com/office/drawing/2014/main" id="{5E98E809-7336-49D7-A950-AD4B114027B4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9600375-CB61-47FA-869A-5FE4D56DEAAD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1B6C8832-0ED9-46C6-8B55-5CC9F7B38D7C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9698814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Inteligencia de Cobranza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47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Inteligencia de Cobranzas administrará y definirá las estrategias de cobro para todos los productos y generará reportes que permitan medir sus resultados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Inteligencia de Cobranza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57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de estrategias de cobro para cada uno de los productos de la entidad monitoreando los resultados de efectividad de la cartera y generando alertas oportunas respecto al desempeño de la misma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Desarrollar, implementar y medir las estrategias de cobranza de la cartera administrada que aseguren el cumplimiento de las metas de la compañía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e implementar informes y reportes transversales a la gerencia de Cobranzas que permitan la toma de decisiones y medir el desempeño de la cartera en cada una de las áreas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Generar alertas oportunamente sobre desviaciones en el comportamiento de los indicadores de </a:t>
            </a:r>
            <a:r>
              <a:rPr lang="es-ES" sz="1200" err="1">
                <a:latin typeface="+mn-lt"/>
                <a:cs typeface="Calibri"/>
              </a:rPr>
              <a:t>admin</a:t>
            </a:r>
            <a:r>
              <a:rPr lang="es-ES" sz="1200">
                <a:latin typeface="+mn-lt"/>
                <a:cs typeface="Calibri"/>
              </a:rPr>
              <a:t>. de cartera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funcionamiento y soporte del aplicativo de cobranzas para todos los usuarios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acciones de mejora en los procesos del área para garantizar ejecuciones eficientes y con calidad</a:t>
            </a:r>
            <a:endParaRPr lang="es-CO" sz="1200">
              <a:latin typeface="+mn-lt"/>
              <a:cs typeface="Calibri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912714" y="1873848"/>
            <a:ext cx="1500326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admin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 de Cobranzas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67350" y="311634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Cobranza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413040" y="2116255"/>
            <a:ext cx="658310" cy="10000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2" y="3919617"/>
            <a:ext cx="1499829" cy="173928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r>
              <a:rPr lang="es-ES" sz="1100">
                <a:solidFill>
                  <a:schemeClr val="tx1"/>
                </a:solidFill>
                <a:latin typeface="+mn-lt"/>
              </a:rPr>
              <a:t>Lineamientos en la estrategia de cobranza </a:t>
            </a:r>
          </a:p>
          <a:p>
            <a:r>
              <a:rPr lang="es-ES" sz="1100">
                <a:solidFill>
                  <a:schemeClr val="tx1"/>
                </a:solidFill>
                <a:latin typeface="+mn-lt"/>
              </a:rPr>
              <a:t>Objetivos – Cartera Vencida, Disponibilidad del Serv. de Software de Cobranzas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175739" y="3893648"/>
            <a:ext cx="1132914" cy="65830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 flipV="1">
            <a:off x="8463446" y="4757260"/>
            <a:ext cx="436576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3446" y="2116255"/>
            <a:ext cx="436078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359" y="2531352"/>
            <a:ext cx="942860" cy="10529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429" y="4682646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986802" y="4074815"/>
            <a:ext cx="831185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198172" y="2531352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359" y="3584258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Inteligencia de Cobranza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219" y="2237738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Admin de Cobranza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912714" y="2537308"/>
            <a:ext cx="1500326" cy="7325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Propuestas de mejora en la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admin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. de cobranzas – alertas oportunas</a:t>
            </a:r>
          </a:p>
        </p:txBody>
      </p:sp>
      <p:cxnSp>
        <p:nvCxnSpPr>
          <p:cNvPr id="40" name="Conector recto de flecha 39">
            <a:extLst>
              <a:ext uri="{FF2B5EF4-FFF2-40B4-BE49-F238E27FC236}">
                <a16:creationId xmlns:a16="http://schemas.microsoft.com/office/drawing/2014/main" id="{1B80EE8A-F47D-4DEA-B81B-0823F468F61A}"/>
              </a:ext>
            </a:extLst>
          </p:cNvPr>
          <p:cNvCxnSpPr>
            <a:cxnSpLocks/>
          </p:cNvCxnSpPr>
          <p:nvPr/>
        </p:nvCxnSpPr>
        <p:spPr>
          <a:xfrm>
            <a:off x="8463446" y="2903563"/>
            <a:ext cx="4487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Marcador de contenido 5">
            <a:extLst>
              <a:ext uri="{FF2B5EF4-FFF2-40B4-BE49-F238E27FC236}">
                <a16:creationId xmlns:a16="http://schemas.microsoft.com/office/drawing/2014/main" id="{1149D6F5-4A93-4409-B140-4EC899613FF3}"/>
              </a:ext>
            </a:extLst>
          </p:cNvPr>
          <p:cNvSpPr txBox="1">
            <a:spLocks/>
          </p:cNvSpPr>
          <p:nvPr/>
        </p:nvSpPr>
        <p:spPr>
          <a:xfrm>
            <a:off x="3545164" y="5668128"/>
            <a:ext cx="4918780" cy="72975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Gasto de provisiones; (2) Cumplimiento meta de recuperación de cartera</a:t>
            </a:r>
          </a:p>
        </p:txBody>
      </p:sp>
      <p:cxnSp>
        <p:nvCxnSpPr>
          <p:cNvPr id="30" name="Conector recto de flecha 29">
            <a:extLst>
              <a:ext uri="{FF2B5EF4-FFF2-40B4-BE49-F238E27FC236}">
                <a16:creationId xmlns:a16="http://schemas.microsoft.com/office/drawing/2014/main" id="{3F44168C-89A3-4CC2-BD4C-2515007E55E1}"/>
              </a:ext>
            </a:extLst>
          </p:cNvPr>
          <p:cNvCxnSpPr>
            <a:cxnSpLocks/>
          </p:cNvCxnSpPr>
          <p:nvPr/>
        </p:nvCxnSpPr>
        <p:spPr>
          <a:xfrm>
            <a:off x="3198172" y="4968610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ector angular 32">
            <a:extLst>
              <a:ext uri="{FF2B5EF4-FFF2-40B4-BE49-F238E27FC236}">
                <a16:creationId xmlns:a16="http://schemas.microsoft.com/office/drawing/2014/main" id="{CB5CCA9D-D021-409A-BABC-31F9A97D2517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413040" y="2903563"/>
            <a:ext cx="658310" cy="21278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Flecha: pentágono 34">
            <a:extLst>
              <a:ext uri="{FF2B5EF4-FFF2-40B4-BE49-F238E27FC236}">
                <a16:creationId xmlns:a16="http://schemas.microsoft.com/office/drawing/2014/main" id="{55192EDE-83EC-4E97-9B08-0AF90EAE6AB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36" name="Es igual a 35">
            <a:extLst>
              <a:ext uri="{FF2B5EF4-FFF2-40B4-BE49-F238E27FC236}">
                <a16:creationId xmlns:a16="http://schemas.microsoft.com/office/drawing/2014/main" id="{5E1C9CF9-5929-43F2-9361-C3E24F3150F5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20C5DF5-8C79-475C-8310-D875BD21775E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C75A2BC-A181-4696-B6C3-7592202C6CB7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15708803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Seguridad Bancaria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48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D. de Seguridad Bancaria será el encargado de min., prevenir y contener todo tipo de fraude, infidelidad, hurto y fuga de </a:t>
            </a:r>
            <a:r>
              <a:rPr lang="es-ES" err="1"/>
              <a:t>info</a:t>
            </a:r>
            <a:r>
              <a:rPr lang="es-ES"/>
              <a:t>. sensible de la </a:t>
            </a:r>
            <a:r>
              <a:rPr lang="es-ES" err="1"/>
              <a:t>org</a:t>
            </a:r>
            <a:r>
              <a:rPr lang="es-ES"/>
              <a:t>. y de instaurar las denuncias penales pertinentes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440713" y="1493442"/>
            <a:ext cx="5130523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Seguridad Bancaria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440713" y="1853116"/>
            <a:ext cx="5130523" cy="404147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Minimizar prevenir y contener todo tipo de fraude, infidelidad, hurto y fuga de la información sensible de la compañía que afecte los resultados económicos, la reputación corporativa y la continuidad del negocio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Investigar fraudes e instaurar las denuncias penales pertinentes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Prevención y mitigación de fraudes y presentación de indicadores estadísticos de medición de esta gestión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Creación e implementación de la política antifraude de la organización, y liderazgo del comité antifraude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Implementación de la circular 007 / 008. SIFC -  seguridad de la información y Ciberseguridad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Implementación y administración de los procesos de monitoreo transaccional - Circular 029 SIFC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Promover el concepto de cultura de seguridad, capacitando a los funcionarios en todos los niveles jerárquicos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Elaboración de los manuales y control de los procedimientos de seguridad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Instaurar las denuncias penales y auditar los procesos por fraudes; y mantener los  contactos </a:t>
            </a:r>
            <a:r>
              <a:rPr lang="es-ES" sz="1200" err="1">
                <a:latin typeface="+mn-lt"/>
                <a:cs typeface="Calibri"/>
              </a:rPr>
              <a:t>rela</a:t>
            </a:r>
            <a:r>
              <a:rPr lang="es-ES" sz="1200">
                <a:latin typeface="+mn-lt"/>
                <a:cs typeface="Calibri"/>
              </a:rPr>
              <a:t>. con las autoridades de policía y fiscalía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436307" y="5971505"/>
            <a:ext cx="5139335" cy="4767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TBD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2523387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seguridad bancaria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11634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Riesgo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2765794"/>
            <a:ext cx="798461" cy="35055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3858578"/>
            <a:ext cx="1260000" cy="4760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297691" y="3477235"/>
            <a:ext cx="440240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571236" y="4106884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575643" y="2765794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9" y="2299388"/>
            <a:ext cx="831711" cy="2195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69469" y="2955327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seguridad bancaria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69003" y="2727658"/>
            <a:ext cx="169220" cy="83171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113002" y="229938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518904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seguridad bancaria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69469" y="2005774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FB753278-C195-4AD3-B00F-EA500A87FC54}"/>
              </a:ext>
            </a:extLst>
          </p:cNvPr>
          <p:cNvSpPr/>
          <p:nvPr/>
        </p:nvSpPr>
        <p:spPr>
          <a:xfrm>
            <a:off x="433758" y="438057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Área Jurídica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80C66F65-DA00-4B02-94AE-004E732319AA}"/>
              </a:ext>
            </a:extLst>
          </p:cNvPr>
          <p:cNvSpPr txBox="1">
            <a:spLocks/>
          </p:cNvSpPr>
          <p:nvPr/>
        </p:nvSpPr>
        <p:spPr>
          <a:xfrm>
            <a:off x="1769469" y="3709589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Requerimientos de nivel de servicio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F3EF6E34-109F-4D68-BE06-0A4789783A63}"/>
              </a:ext>
            </a:extLst>
          </p:cNvPr>
          <p:cNvSpPr txBox="1">
            <a:spLocks/>
          </p:cNvSpPr>
          <p:nvPr/>
        </p:nvSpPr>
        <p:spPr>
          <a:xfrm>
            <a:off x="1769469" y="4875597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Cumplimiento de nivel de servicio</a:t>
            </a:r>
          </a:p>
        </p:txBody>
      </p:sp>
      <p:cxnSp>
        <p:nvCxnSpPr>
          <p:cNvPr id="36" name="Conector angular 26">
            <a:extLst>
              <a:ext uri="{FF2B5EF4-FFF2-40B4-BE49-F238E27FC236}">
                <a16:creationId xmlns:a16="http://schemas.microsoft.com/office/drawing/2014/main" id="{67F9B257-DA4F-43BC-9949-8CBF5680611E}"/>
              </a:ext>
            </a:extLst>
          </p:cNvPr>
          <p:cNvCxnSpPr>
            <a:cxnSpLocks/>
            <a:stCxn id="31" idx="2"/>
            <a:endCxn id="35" idx="1"/>
          </p:cNvCxnSpPr>
          <p:nvPr/>
        </p:nvCxnSpPr>
        <p:spPr>
          <a:xfrm rot="16200000" flipH="1">
            <a:off x="1239702" y="4618626"/>
            <a:ext cx="227823" cy="83171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ctor angular 23">
            <a:extLst>
              <a:ext uri="{FF2B5EF4-FFF2-40B4-BE49-F238E27FC236}">
                <a16:creationId xmlns:a16="http://schemas.microsoft.com/office/drawing/2014/main" id="{502A249E-D771-4B69-AF82-76D90590A157}"/>
              </a:ext>
            </a:extLst>
          </p:cNvPr>
          <p:cNvCxnSpPr>
            <a:cxnSpLocks/>
            <a:stCxn id="34" idx="1"/>
            <a:endCxn id="31" idx="0"/>
          </p:cNvCxnSpPr>
          <p:nvPr/>
        </p:nvCxnSpPr>
        <p:spPr>
          <a:xfrm rot="10800000" flipV="1">
            <a:off x="937759" y="3982385"/>
            <a:ext cx="831711" cy="39818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ector recto de flecha 40">
            <a:extLst>
              <a:ext uri="{FF2B5EF4-FFF2-40B4-BE49-F238E27FC236}">
                <a16:creationId xmlns:a16="http://schemas.microsoft.com/office/drawing/2014/main" id="{F653E1A0-FECB-4BDB-9DA2-7757C2556918}"/>
              </a:ext>
            </a:extLst>
          </p:cNvPr>
          <p:cNvCxnSpPr>
            <a:cxnSpLocks/>
          </p:cNvCxnSpPr>
          <p:nvPr/>
        </p:nvCxnSpPr>
        <p:spPr>
          <a:xfrm flipH="1">
            <a:off x="3113002" y="3982385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F11EA743-450C-4643-A4EA-235D4C191F07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6" name="Es igual a 25">
            <a:extLst>
              <a:ext uri="{FF2B5EF4-FFF2-40B4-BE49-F238E27FC236}">
                <a16:creationId xmlns:a16="http://schemas.microsoft.com/office/drawing/2014/main" id="{A770BD30-9DF3-4782-9157-9B421111DE3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7" name="Conector recto de flecha 36">
            <a:extLst>
              <a:ext uri="{FF2B5EF4-FFF2-40B4-BE49-F238E27FC236}">
                <a16:creationId xmlns:a16="http://schemas.microsoft.com/office/drawing/2014/main" id="{86606DBA-E830-43B3-B61A-8E8604328F81}"/>
              </a:ext>
            </a:extLst>
          </p:cNvPr>
          <p:cNvCxnSpPr>
            <a:cxnSpLocks/>
          </p:cNvCxnSpPr>
          <p:nvPr/>
        </p:nvCxnSpPr>
        <p:spPr>
          <a:xfrm>
            <a:off x="3113002" y="3228124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de flecha 38">
            <a:extLst>
              <a:ext uri="{FF2B5EF4-FFF2-40B4-BE49-F238E27FC236}">
                <a16:creationId xmlns:a16="http://schemas.microsoft.com/office/drawing/2014/main" id="{E83DB87A-04AB-40C6-A433-131A5817D1D9}"/>
              </a:ext>
            </a:extLst>
          </p:cNvPr>
          <p:cNvCxnSpPr>
            <a:cxnSpLocks/>
          </p:cNvCxnSpPr>
          <p:nvPr/>
        </p:nvCxnSpPr>
        <p:spPr>
          <a:xfrm>
            <a:off x="3113002" y="5148393"/>
            <a:ext cx="33878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E4C558B-7A5F-448F-BFF2-8040A96CF26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CB9B419E-DDCB-4872-8615-84F753A6EF31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09623580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Dir. Unidad de Recuperación de Activos de Consumo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49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Dir. de Recuperación de Activos de Consumo administrará la gestión de cobro de la cartera de consumo de difícil recuperación, buscando maximizar la utilidad del portafolio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Dir. Unidad de Recuperación de Activos de Consumo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gestión de cobro de la cartera de consumo de difícil recuperación garantizando maximizar la recuperación de los portafolios con una relación óptima de costo/beneficio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 estrategia y plan de trabajo para la gestión de esta cartera de consumo de difícil recuperación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el </a:t>
            </a:r>
            <a:r>
              <a:rPr lang="es-ES" sz="1200" err="1">
                <a:latin typeface="+mn-lt"/>
                <a:cs typeface="Calibri"/>
              </a:rPr>
              <a:t>PyG</a:t>
            </a:r>
            <a:r>
              <a:rPr lang="es-ES" sz="1200">
                <a:latin typeface="+mn-lt"/>
                <a:cs typeface="Calibri"/>
              </a:rPr>
              <a:t> de la unidad, buscando maximizar la recuperación y la utilidad de la gestión de cobro, o en su defecto minimizar la perdida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 e implementar procesos que permitan la optimización de la gestión de cobro de cartera de difícil recuperación y supervisar su ejecución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Recuperación de la cartera difícil, Gasto por Volumen Cartera Difícil Recuperada, Gasto de Rodamiento de la cartera difícil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94781" y="1873848"/>
            <a:ext cx="1282699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gestión de cartera de difícil recuperación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49243" y="311634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Riesgo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77480" y="2116255"/>
            <a:ext cx="775763" cy="10000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94782" y="4138624"/>
            <a:ext cx="1260000" cy="42543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gasto de la Unidad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106515" y="3604613"/>
            <a:ext cx="694996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56988" y="4363894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33456" y="2044944"/>
            <a:ext cx="847163" cy="75045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377536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de cartera de difícil recuperación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74285" y="3156789"/>
            <a:ext cx="152713" cy="83437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11361" y="2044944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29455" y="2795402"/>
            <a:ext cx="1008000" cy="702218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</a:t>
            </a:r>
            <a:r>
              <a:rPr lang="es-CO" sz="1100" err="1">
                <a:solidFill>
                  <a:prstClr val="white"/>
                </a:solidFill>
              </a:rPr>
              <a:t>Recup</a:t>
            </a:r>
            <a:r>
              <a:rPr lang="es-CO" sz="1100">
                <a:solidFill>
                  <a:prstClr val="white"/>
                </a:solidFill>
              </a:rPr>
              <a:t> .de Activos de Consumo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1904434"/>
            <a:ext cx="1343533" cy="28102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30590ED6-15E0-4ED6-AC3C-9DA7E9D8E864}"/>
              </a:ext>
            </a:extLst>
          </p:cNvPr>
          <p:cNvSpPr txBox="1">
            <a:spLocks/>
          </p:cNvSpPr>
          <p:nvPr/>
        </p:nvSpPr>
        <p:spPr>
          <a:xfrm>
            <a:off x="8794782" y="3719646"/>
            <a:ext cx="1260000" cy="34989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1" name="Marcador de contenido 5">
            <a:extLst>
              <a:ext uri="{FF2B5EF4-FFF2-40B4-BE49-F238E27FC236}">
                <a16:creationId xmlns:a16="http://schemas.microsoft.com/office/drawing/2014/main" id="{C0FCEBD2-168A-4BEF-9DCD-D5A27D11C596}"/>
              </a:ext>
            </a:extLst>
          </p:cNvPr>
          <p:cNvSpPr txBox="1">
            <a:spLocks/>
          </p:cNvSpPr>
          <p:nvPr/>
        </p:nvSpPr>
        <p:spPr>
          <a:xfrm>
            <a:off x="8794782" y="4630375"/>
            <a:ext cx="1282698" cy="7355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gestión de cartera de difícil recuperación aprobada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5CC163FE-12B0-46F0-BAD5-84BBD5B5163B}"/>
              </a:ext>
            </a:extLst>
          </p:cNvPr>
          <p:cNvSpPr txBox="1">
            <a:spLocks/>
          </p:cNvSpPr>
          <p:nvPr/>
        </p:nvSpPr>
        <p:spPr>
          <a:xfrm>
            <a:off x="8794781" y="2445955"/>
            <a:ext cx="1282699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gestión cartera de difícil recuperación</a:t>
            </a:r>
          </a:p>
        </p:txBody>
      </p:sp>
      <p:sp>
        <p:nvSpPr>
          <p:cNvPr id="45" name="Marcador de contenido 5">
            <a:extLst>
              <a:ext uri="{FF2B5EF4-FFF2-40B4-BE49-F238E27FC236}">
                <a16:creationId xmlns:a16="http://schemas.microsoft.com/office/drawing/2014/main" id="{844B7381-4558-4A66-934B-D8108C0DBC49}"/>
              </a:ext>
            </a:extLst>
          </p:cNvPr>
          <p:cNvSpPr txBox="1">
            <a:spLocks/>
          </p:cNvSpPr>
          <p:nvPr/>
        </p:nvSpPr>
        <p:spPr>
          <a:xfrm>
            <a:off x="1880618" y="2232579"/>
            <a:ext cx="1343533" cy="8547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recuperación de cartera y/ minimización de perdidas</a:t>
            </a:r>
          </a:p>
        </p:txBody>
      </p:sp>
      <p:cxnSp>
        <p:nvCxnSpPr>
          <p:cNvPr id="55" name="Conector angular 23">
            <a:extLst>
              <a:ext uri="{FF2B5EF4-FFF2-40B4-BE49-F238E27FC236}">
                <a16:creationId xmlns:a16="http://schemas.microsoft.com/office/drawing/2014/main" id="{81673F08-7BFD-48E2-8117-AB619A19FBD5}"/>
              </a:ext>
            </a:extLst>
          </p:cNvPr>
          <p:cNvCxnSpPr>
            <a:cxnSpLocks/>
            <a:stCxn id="45" idx="1"/>
            <a:endCxn id="22" idx="0"/>
          </p:cNvCxnSpPr>
          <p:nvPr/>
        </p:nvCxnSpPr>
        <p:spPr>
          <a:xfrm rot="10800000" flipV="1">
            <a:off x="1033456" y="2659976"/>
            <a:ext cx="847163" cy="13542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angular 32">
            <a:extLst>
              <a:ext uri="{FF2B5EF4-FFF2-40B4-BE49-F238E27FC236}">
                <a16:creationId xmlns:a16="http://schemas.microsoft.com/office/drawing/2014/main" id="{B14CC8F2-CD3A-4024-BD01-FC07DB9BA4FB}"/>
              </a:ext>
            </a:extLst>
          </p:cNvPr>
          <p:cNvCxnSpPr>
            <a:cxnSpLocks/>
            <a:stCxn id="35" idx="3"/>
            <a:endCxn id="11" idx="0"/>
          </p:cNvCxnSpPr>
          <p:nvPr/>
        </p:nvCxnSpPr>
        <p:spPr>
          <a:xfrm>
            <a:off x="10077480" y="2688362"/>
            <a:ext cx="775763" cy="4279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angular 37">
            <a:extLst>
              <a:ext uri="{FF2B5EF4-FFF2-40B4-BE49-F238E27FC236}">
                <a16:creationId xmlns:a16="http://schemas.microsoft.com/office/drawing/2014/main" id="{AB7CA665-288B-4F71-887B-7692AC3B6DFA}"/>
              </a:ext>
            </a:extLst>
          </p:cNvPr>
          <p:cNvCxnSpPr>
            <a:cxnSpLocks/>
            <a:stCxn id="11" idx="2"/>
            <a:endCxn id="27" idx="3"/>
          </p:cNvCxnSpPr>
          <p:nvPr/>
        </p:nvCxnSpPr>
        <p:spPr>
          <a:xfrm rot="5400000">
            <a:off x="10334890" y="3376238"/>
            <a:ext cx="238246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Conector angular 37">
            <a:extLst>
              <a:ext uri="{FF2B5EF4-FFF2-40B4-BE49-F238E27FC236}">
                <a16:creationId xmlns:a16="http://schemas.microsoft.com/office/drawing/2014/main" id="{9933B0CB-CC8B-4576-A8DD-E0D154A8AAF5}"/>
              </a:ext>
            </a:extLst>
          </p:cNvPr>
          <p:cNvCxnSpPr>
            <a:cxnSpLocks/>
            <a:stCxn id="11" idx="2"/>
            <a:endCxn id="31" idx="3"/>
          </p:cNvCxnSpPr>
          <p:nvPr/>
        </p:nvCxnSpPr>
        <p:spPr>
          <a:xfrm rot="5400000">
            <a:off x="9794452" y="3939374"/>
            <a:ext cx="1341820" cy="77576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de flecha 71">
            <a:extLst>
              <a:ext uri="{FF2B5EF4-FFF2-40B4-BE49-F238E27FC236}">
                <a16:creationId xmlns:a16="http://schemas.microsoft.com/office/drawing/2014/main" id="{018D07CC-C60F-4A7F-B5D5-1514E29A1009}"/>
              </a:ext>
            </a:extLst>
          </p:cNvPr>
          <p:cNvCxnSpPr>
            <a:cxnSpLocks/>
          </p:cNvCxnSpPr>
          <p:nvPr/>
        </p:nvCxnSpPr>
        <p:spPr>
          <a:xfrm flipH="1">
            <a:off x="8456988" y="3894591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494D5C96-CE10-44CF-8E47-2690BE069B72}"/>
              </a:ext>
            </a:extLst>
          </p:cNvPr>
          <p:cNvCxnSpPr>
            <a:cxnSpLocks/>
          </p:cNvCxnSpPr>
          <p:nvPr/>
        </p:nvCxnSpPr>
        <p:spPr>
          <a:xfrm flipH="1">
            <a:off x="8456988" y="4998165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D64D0967-51D4-4EF1-8B3C-F1FC84EA0094}"/>
              </a:ext>
            </a:extLst>
          </p:cNvPr>
          <p:cNvCxnSpPr>
            <a:cxnSpLocks/>
          </p:cNvCxnSpPr>
          <p:nvPr/>
        </p:nvCxnSpPr>
        <p:spPr>
          <a:xfrm>
            <a:off x="8470398" y="2687676"/>
            <a:ext cx="3254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recto de flecha 75">
            <a:extLst>
              <a:ext uri="{FF2B5EF4-FFF2-40B4-BE49-F238E27FC236}">
                <a16:creationId xmlns:a16="http://schemas.microsoft.com/office/drawing/2014/main" id="{84C4F50F-96FE-4E87-8E8C-8C23033690FD}"/>
              </a:ext>
            </a:extLst>
          </p:cNvPr>
          <p:cNvCxnSpPr>
            <a:cxnSpLocks/>
          </p:cNvCxnSpPr>
          <p:nvPr/>
        </p:nvCxnSpPr>
        <p:spPr>
          <a:xfrm>
            <a:off x="8470398" y="2106450"/>
            <a:ext cx="3254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recto de flecha 76">
            <a:extLst>
              <a:ext uri="{FF2B5EF4-FFF2-40B4-BE49-F238E27FC236}">
                <a16:creationId xmlns:a16="http://schemas.microsoft.com/office/drawing/2014/main" id="{7C9B2C09-8375-49C8-9879-9081263CFA38}"/>
              </a:ext>
            </a:extLst>
          </p:cNvPr>
          <p:cNvCxnSpPr>
            <a:cxnSpLocks/>
          </p:cNvCxnSpPr>
          <p:nvPr/>
        </p:nvCxnSpPr>
        <p:spPr>
          <a:xfrm flipH="1">
            <a:off x="3211361" y="2702274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4E683745-5499-43D0-B24A-6D3502F324D4}"/>
              </a:ext>
            </a:extLst>
          </p:cNvPr>
          <p:cNvCxnSpPr>
            <a:cxnSpLocks/>
          </p:cNvCxnSpPr>
          <p:nvPr/>
        </p:nvCxnSpPr>
        <p:spPr>
          <a:xfrm>
            <a:off x="3211361" y="3664323"/>
            <a:ext cx="3254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Rectángulo 81">
            <a:extLst>
              <a:ext uri="{FF2B5EF4-FFF2-40B4-BE49-F238E27FC236}">
                <a16:creationId xmlns:a16="http://schemas.microsoft.com/office/drawing/2014/main" id="{ED700012-91D1-40EA-9EA8-DF6041DFE271}"/>
              </a:ext>
            </a:extLst>
          </p:cNvPr>
          <p:cNvSpPr/>
          <p:nvPr/>
        </p:nvSpPr>
        <p:spPr>
          <a:xfrm>
            <a:off x="529455" y="4744814"/>
            <a:ext cx="1008000" cy="42461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Gerencia de cobranzas</a:t>
            </a:r>
          </a:p>
        </p:txBody>
      </p:sp>
      <p:sp>
        <p:nvSpPr>
          <p:cNvPr id="84" name="Marcador de contenido 5">
            <a:extLst>
              <a:ext uri="{FF2B5EF4-FFF2-40B4-BE49-F238E27FC236}">
                <a16:creationId xmlns:a16="http://schemas.microsoft.com/office/drawing/2014/main" id="{058263F8-91CB-41D5-B01B-0DCF55339638}"/>
              </a:ext>
            </a:extLst>
          </p:cNvPr>
          <p:cNvSpPr txBox="1">
            <a:spLocks/>
          </p:cNvSpPr>
          <p:nvPr/>
        </p:nvSpPr>
        <p:spPr>
          <a:xfrm>
            <a:off x="1867828" y="5133135"/>
            <a:ext cx="1343533" cy="545594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cartera de difícil recuperación</a:t>
            </a:r>
          </a:p>
        </p:txBody>
      </p:sp>
      <p:sp>
        <p:nvSpPr>
          <p:cNvPr id="85" name="Marcador de contenido 5">
            <a:extLst>
              <a:ext uri="{FF2B5EF4-FFF2-40B4-BE49-F238E27FC236}">
                <a16:creationId xmlns:a16="http://schemas.microsoft.com/office/drawing/2014/main" id="{79CA8A33-B517-465E-9131-6C954BC59619}"/>
              </a:ext>
            </a:extLst>
          </p:cNvPr>
          <p:cNvSpPr txBox="1">
            <a:spLocks/>
          </p:cNvSpPr>
          <p:nvPr/>
        </p:nvSpPr>
        <p:spPr>
          <a:xfrm>
            <a:off x="1867828" y="4182858"/>
            <a:ext cx="1343533" cy="545594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cartera de difícil recuperación</a:t>
            </a:r>
          </a:p>
        </p:txBody>
      </p:sp>
      <p:cxnSp>
        <p:nvCxnSpPr>
          <p:cNvPr id="86" name="Conector angular 26">
            <a:extLst>
              <a:ext uri="{FF2B5EF4-FFF2-40B4-BE49-F238E27FC236}">
                <a16:creationId xmlns:a16="http://schemas.microsoft.com/office/drawing/2014/main" id="{94E4F1FD-CFE6-4E7A-BB26-57A2F6C98562}"/>
              </a:ext>
            </a:extLst>
          </p:cNvPr>
          <p:cNvCxnSpPr>
            <a:cxnSpLocks/>
            <a:stCxn id="82" idx="2"/>
            <a:endCxn id="84" idx="1"/>
          </p:cNvCxnSpPr>
          <p:nvPr/>
        </p:nvCxnSpPr>
        <p:spPr>
          <a:xfrm rot="16200000" flipH="1">
            <a:off x="1332390" y="4870493"/>
            <a:ext cx="236503" cy="83437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angular 23">
            <a:extLst>
              <a:ext uri="{FF2B5EF4-FFF2-40B4-BE49-F238E27FC236}">
                <a16:creationId xmlns:a16="http://schemas.microsoft.com/office/drawing/2014/main" id="{A0757E26-F315-4F04-BAFA-CABDB30AE1B8}"/>
              </a:ext>
            </a:extLst>
          </p:cNvPr>
          <p:cNvCxnSpPr>
            <a:cxnSpLocks/>
            <a:stCxn id="85" idx="1"/>
            <a:endCxn id="82" idx="0"/>
          </p:cNvCxnSpPr>
          <p:nvPr/>
        </p:nvCxnSpPr>
        <p:spPr>
          <a:xfrm rot="10800000" flipV="1">
            <a:off x="1033456" y="4455654"/>
            <a:ext cx="834373" cy="2891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9E2653CA-4544-40DE-A8C6-F9C044590A2D}"/>
              </a:ext>
            </a:extLst>
          </p:cNvPr>
          <p:cNvCxnSpPr>
            <a:cxnSpLocks/>
          </p:cNvCxnSpPr>
          <p:nvPr/>
        </p:nvCxnSpPr>
        <p:spPr>
          <a:xfrm flipH="1">
            <a:off x="3211361" y="4493976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ector recto de flecha 43">
            <a:extLst>
              <a:ext uri="{FF2B5EF4-FFF2-40B4-BE49-F238E27FC236}">
                <a16:creationId xmlns:a16="http://schemas.microsoft.com/office/drawing/2014/main" id="{E6754CE7-4AFE-4D26-9B27-5F784A3F9A71}"/>
              </a:ext>
            </a:extLst>
          </p:cNvPr>
          <p:cNvCxnSpPr>
            <a:cxnSpLocks/>
          </p:cNvCxnSpPr>
          <p:nvPr/>
        </p:nvCxnSpPr>
        <p:spPr>
          <a:xfrm>
            <a:off x="3211361" y="5405931"/>
            <a:ext cx="32547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84C20675-0CED-4517-AED2-D450E72E1C1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6" name="Es igual a 25">
            <a:extLst>
              <a:ext uri="{FF2B5EF4-FFF2-40B4-BE49-F238E27FC236}">
                <a16:creationId xmlns:a16="http://schemas.microsoft.com/office/drawing/2014/main" id="{2E33C039-4427-4360-989F-71C41DCD955E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FAF895C-F364-4B1B-A80F-9EE08ED8915E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CE580F6F-5D4B-4D4E-B6C3-7807F33E194B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62053385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Fabrica de Crédito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50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Fabrica de Crédito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una gestión ordenada y sincronizada de operaciones de crédito que permita reducir riesgos de crédito y operación y aumentar la agilidad en los procesos</a:t>
            </a:r>
          </a:p>
          <a:p>
            <a:pPr marL="0" indent="98425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Agilizar, documentar, y depurar la calidad de las operaciones de crédito a través del control y validación en las distintas etapas del proceso: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Validación, checklist, digitalización y autenticación de documentos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Captura de la información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Validación del historial crediticio y evaluación de riesgos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Formalización del crédito y guarda y copia de documentos</a:t>
            </a:r>
          </a:p>
          <a:p>
            <a:pPr marL="271462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bases de datos de terceros que permitan mejorar la eficiencia y calidad de los estudios de crédito</a:t>
            </a:r>
            <a:endParaRPr lang="es-ES" sz="1100">
              <a:latin typeface="+mn-lt"/>
              <a:cs typeface="Calibri"/>
            </a:endParaRPr>
          </a:p>
          <a:p>
            <a:pPr marL="271462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un seguimiento y monitoreo riguroso las operaciones de crédito en cada una de sus etapas que permita garantizar el cumplimiento de las políticas y lineamientos de riesgo de la organización 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68122" y="2197748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Operación de Créditos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22583" y="2695962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Riesgos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28122" y="2440155"/>
            <a:ext cx="798461" cy="25580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22755" y="3155057"/>
            <a:ext cx="1260000" cy="7282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eficiencia en operaciones de crédito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13058" y="3005659"/>
            <a:ext cx="283223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60609" y="3551880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0609" y="2440155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509457"/>
            <a:ext cx="942860" cy="135455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780293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078254" y="4263515"/>
            <a:ext cx="649079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509457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86401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Fabrica de Crédito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145794"/>
            <a:ext cx="1343533" cy="7273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optimización de operaciones de crédito </a:t>
            </a:r>
          </a:p>
        </p:txBody>
      </p:sp>
      <p:sp>
        <p:nvSpPr>
          <p:cNvPr id="20" name="Marcador de texto 19">
            <a:extLst>
              <a:ext uri="{FF2B5EF4-FFF2-40B4-BE49-F238E27FC236}">
                <a16:creationId xmlns:a16="http://schemas.microsoft.com/office/drawing/2014/main" id="{FB1281E6-1D87-4352-BABB-741D5511C55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El D. de Fabrica de Crédito </a:t>
            </a:r>
            <a:r>
              <a:rPr lang="es-ES"/>
              <a:t>garantizará una gestión ordenada y sincronizada de operaciones de crédito que permita reducir riesgos de crédito y operación y aumentar la agilidad en los procesos</a:t>
            </a:r>
          </a:p>
        </p:txBody>
      </p:sp>
      <p:cxnSp>
        <p:nvCxnSpPr>
          <p:cNvPr id="34" name="Conector recto de flecha 33">
            <a:extLst>
              <a:ext uri="{FF2B5EF4-FFF2-40B4-BE49-F238E27FC236}">
                <a16:creationId xmlns:a16="http://schemas.microsoft.com/office/drawing/2014/main" id="{94B3E881-33C2-4023-A30A-34C65D3ACC08}"/>
              </a:ext>
            </a:extLst>
          </p:cNvPr>
          <p:cNvCxnSpPr>
            <a:cxnSpLocks/>
            <a:endCxn id="35" idx="3"/>
          </p:cNvCxnSpPr>
          <p:nvPr/>
        </p:nvCxnSpPr>
        <p:spPr>
          <a:xfrm flipH="1">
            <a:off x="3224151" y="3329151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C5410FC4-C132-4E58-B0A8-E107B31D75E9}"/>
              </a:ext>
            </a:extLst>
          </p:cNvPr>
          <p:cNvSpPr txBox="1">
            <a:spLocks/>
          </p:cNvSpPr>
          <p:nvPr/>
        </p:nvSpPr>
        <p:spPr>
          <a:xfrm>
            <a:off x="1880618" y="2965488"/>
            <a:ext cx="1343533" cy="7273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eficiencia en operaciones de crédito</a:t>
            </a:r>
          </a:p>
        </p:txBody>
      </p:sp>
      <p:cxnSp>
        <p:nvCxnSpPr>
          <p:cNvPr id="36" name="Conector angular 23">
            <a:extLst>
              <a:ext uri="{FF2B5EF4-FFF2-40B4-BE49-F238E27FC236}">
                <a16:creationId xmlns:a16="http://schemas.microsoft.com/office/drawing/2014/main" id="{2694A58E-8E74-4A73-BCC2-A43923EEE9F2}"/>
              </a:ext>
            </a:extLst>
          </p:cNvPr>
          <p:cNvCxnSpPr>
            <a:cxnSpLocks/>
            <a:stCxn id="35" idx="1"/>
            <a:endCxn id="22" idx="0"/>
          </p:cNvCxnSpPr>
          <p:nvPr/>
        </p:nvCxnSpPr>
        <p:spPr>
          <a:xfrm rot="10800000" flipV="1">
            <a:off x="937758" y="3329151"/>
            <a:ext cx="942860" cy="5348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ector recto de flecha 25">
            <a:extLst>
              <a:ext uri="{FF2B5EF4-FFF2-40B4-BE49-F238E27FC236}">
                <a16:creationId xmlns:a16="http://schemas.microsoft.com/office/drawing/2014/main" id="{1BF85271-8B17-4294-98C7-DAAF90563C71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5053090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Marcador de contenido 5">
            <a:extLst>
              <a:ext uri="{FF2B5EF4-FFF2-40B4-BE49-F238E27FC236}">
                <a16:creationId xmlns:a16="http://schemas.microsoft.com/office/drawing/2014/main" id="{1174CAAB-D4FD-4189-8DC1-49619A6C3826}"/>
              </a:ext>
            </a:extLst>
          </p:cNvPr>
          <p:cNvSpPr txBox="1">
            <a:spLocks/>
          </p:cNvSpPr>
          <p:nvPr/>
        </p:nvSpPr>
        <p:spPr>
          <a:xfrm>
            <a:off x="3545164" y="5620512"/>
            <a:ext cx="4918780" cy="82773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meta de recuperación de cartera; (2) Cumplimiento presupuesto del gasto de rodamiento de cartera; (3)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PyG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la unidad de cobranza; (4) NPS del cliente externo</a:t>
            </a: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305E961E-F5C5-4CB3-812D-763745DF5F23}"/>
              </a:ext>
            </a:extLst>
          </p:cNvPr>
          <p:cNvSpPr/>
          <p:nvPr/>
        </p:nvSpPr>
        <p:spPr>
          <a:xfrm>
            <a:off x="10422144" y="4513445"/>
            <a:ext cx="972000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 – Comercial</a:t>
            </a:r>
          </a:p>
        </p:txBody>
      </p:sp>
      <p:sp>
        <p:nvSpPr>
          <p:cNvPr id="37" name="Marcador de contenido 5">
            <a:extLst>
              <a:ext uri="{FF2B5EF4-FFF2-40B4-BE49-F238E27FC236}">
                <a16:creationId xmlns:a16="http://schemas.microsoft.com/office/drawing/2014/main" id="{FEE98469-2864-498F-8E27-13927D74D54E}"/>
              </a:ext>
            </a:extLst>
          </p:cNvPr>
          <p:cNvSpPr txBox="1">
            <a:spLocks/>
          </p:cNvSpPr>
          <p:nvPr/>
        </p:nvSpPr>
        <p:spPr>
          <a:xfrm>
            <a:off x="8798180" y="4926619"/>
            <a:ext cx="1343533" cy="601632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Necesidades de nivel de servicio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15EC6EB0-32E9-4B21-AF08-1DB5B810F0B0}"/>
              </a:ext>
            </a:extLst>
          </p:cNvPr>
          <p:cNvSpPr txBox="1">
            <a:spLocks/>
          </p:cNvSpPr>
          <p:nvPr/>
        </p:nvSpPr>
        <p:spPr>
          <a:xfrm>
            <a:off x="8798180" y="4053495"/>
            <a:ext cx="1343533" cy="601632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Cumplimiento acuerdos de nivel de servicio</a:t>
            </a:r>
          </a:p>
        </p:txBody>
      </p:sp>
      <p:cxnSp>
        <p:nvCxnSpPr>
          <p:cNvPr id="39" name="Conector angular 37">
            <a:extLst>
              <a:ext uri="{FF2B5EF4-FFF2-40B4-BE49-F238E27FC236}">
                <a16:creationId xmlns:a16="http://schemas.microsoft.com/office/drawing/2014/main" id="{13A23CFD-0879-4107-BC04-E1D6BBDF9EC1}"/>
              </a:ext>
            </a:extLst>
          </p:cNvPr>
          <p:cNvCxnSpPr>
            <a:cxnSpLocks/>
            <a:stCxn id="33" idx="2"/>
            <a:endCxn id="37" idx="3"/>
          </p:cNvCxnSpPr>
          <p:nvPr/>
        </p:nvCxnSpPr>
        <p:spPr>
          <a:xfrm rot="5400000">
            <a:off x="10426579" y="4745870"/>
            <a:ext cx="196700" cy="766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ector angular 37">
            <a:extLst>
              <a:ext uri="{FF2B5EF4-FFF2-40B4-BE49-F238E27FC236}">
                <a16:creationId xmlns:a16="http://schemas.microsoft.com/office/drawing/2014/main" id="{5F71A748-3549-4463-8740-8D29A2BC7380}"/>
              </a:ext>
            </a:extLst>
          </p:cNvPr>
          <p:cNvCxnSpPr>
            <a:cxnSpLocks/>
            <a:stCxn id="38" idx="3"/>
            <a:endCxn id="33" idx="0"/>
          </p:cNvCxnSpPr>
          <p:nvPr/>
        </p:nvCxnSpPr>
        <p:spPr>
          <a:xfrm>
            <a:off x="10141713" y="4354311"/>
            <a:ext cx="766431" cy="15913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ector recto de flecha 40">
            <a:extLst>
              <a:ext uri="{FF2B5EF4-FFF2-40B4-BE49-F238E27FC236}">
                <a16:creationId xmlns:a16="http://schemas.microsoft.com/office/drawing/2014/main" id="{90E6030C-70F3-4D7E-8B54-EF88D84FA0F1}"/>
              </a:ext>
            </a:extLst>
          </p:cNvPr>
          <p:cNvCxnSpPr>
            <a:cxnSpLocks/>
          </p:cNvCxnSpPr>
          <p:nvPr/>
        </p:nvCxnSpPr>
        <p:spPr>
          <a:xfrm>
            <a:off x="8460609" y="4354311"/>
            <a:ext cx="3375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ector recto de flecha 41">
            <a:extLst>
              <a:ext uri="{FF2B5EF4-FFF2-40B4-BE49-F238E27FC236}">
                <a16:creationId xmlns:a16="http://schemas.microsoft.com/office/drawing/2014/main" id="{8A140650-7207-4F2A-AD2F-4E1BB97AA9DE}"/>
              </a:ext>
            </a:extLst>
          </p:cNvPr>
          <p:cNvCxnSpPr>
            <a:cxnSpLocks/>
          </p:cNvCxnSpPr>
          <p:nvPr/>
        </p:nvCxnSpPr>
        <p:spPr>
          <a:xfrm flipH="1">
            <a:off x="8460609" y="5227435"/>
            <a:ext cx="337572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lecha: pentágono 27">
            <a:extLst>
              <a:ext uri="{FF2B5EF4-FFF2-40B4-BE49-F238E27FC236}">
                <a16:creationId xmlns:a16="http://schemas.microsoft.com/office/drawing/2014/main" id="{006F179C-FDA5-4297-B857-F9B8004261E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30" name="Es igual a 29">
            <a:extLst>
              <a:ext uri="{FF2B5EF4-FFF2-40B4-BE49-F238E27FC236}">
                <a16:creationId xmlns:a16="http://schemas.microsoft.com/office/drawing/2014/main" id="{FCA10FBE-8375-47EC-AA35-961B4C074958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1FBBC4F-851B-4BFC-BACC-785718DEEB7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2FB50DDF-9503-48E4-B567-9A786F96748F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92178482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Analítica de Administración de Cartera </a:t>
            </a:r>
          </a:p>
          <a:p>
            <a:endParaRPr lang="es-CO"/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51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El D. de Analítica de Admin. de Cartera </a:t>
            </a:r>
            <a:r>
              <a:rPr lang="es-ES"/>
              <a:t>liderará procesos de analítica en la gestión del ciclo de crédito que permitan generar </a:t>
            </a:r>
            <a:r>
              <a:rPr lang="es-ES" err="1"/>
              <a:t>benef</a:t>
            </a:r>
            <a:r>
              <a:rPr lang="es-ES"/>
              <a:t>. en el ahorro de provisiones y </a:t>
            </a:r>
            <a:r>
              <a:rPr lang="es-ES" err="1"/>
              <a:t>max</a:t>
            </a:r>
            <a:r>
              <a:rPr lang="es-ES"/>
              <a:t>. la recuperación de cartera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Analítica de Administración de Cartera 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4458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Liderar la definición e implementación de procesos de analítica en la gestión del ciclo de crédito (admisión, seguimiento, cobranza) que permitan generar beneficios en el ahorro de provisiones y max. la recuperación de cartera con una relación óptima costo beneficio</a:t>
            </a:r>
          </a:p>
          <a:p>
            <a:pPr marL="0" indent="98425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  <a:endParaRPr lang="es-CO" sz="1200">
              <a:latin typeface="+mn-lt"/>
              <a:cs typeface="Calibri"/>
            </a:endParaRP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Liderar el diseño, estructuración y desarrollo de modelos de datos en la gestión del ciclo de crédito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y proponer estrategias de mitigación del riesgo, en el ciclo de crédito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 estrategias de control/mitigación de riesgo de los diferentes productos, buscando el robustecimiento de las políticas y acciones preventivas - desarrollo de sistemas de Early Warnings</a:t>
            </a: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 y desarrollar estrategias de crecimiento en clientes rentables mejorando la profundización del portafolio</a:t>
            </a:r>
            <a:endParaRPr lang="es-CO" sz="1200">
              <a:latin typeface="+mn-lt"/>
              <a:cs typeface="Calibri"/>
            </a:endParaRPr>
          </a:p>
          <a:p>
            <a:pPr indent="-1730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Validar resultados e informar al Comité de Riesgos los aspectos relevantes de la gestión de riesgos de operación y tecnología, continuidad del negocio y seguridad de la información para una oportuna toma de decisiones</a:t>
            </a:r>
            <a:endParaRPr lang="es-CO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Gastos de provisiones; (2) Cumplimiento rangos de riesgos de liquidez, mercado y crédito; (3) NPS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81278" y="1812374"/>
            <a:ext cx="1442893" cy="39147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34" idx="0"/>
          </p:cNvCxnSpPr>
          <p:nvPr/>
        </p:nvCxnSpPr>
        <p:spPr>
          <a:xfrm>
            <a:off x="10324171" y="2008114"/>
            <a:ext cx="666492" cy="1644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3084283"/>
            <a:ext cx="1465591" cy="50879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Beneficios esperados analítica admin. de cartera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34" idx="2"/>
            <a:endCxn id="13" idx="3"/>
          </p:cNvCxnSpPr>
          <p:nvPr/>
        </p:nvCxnSpPr>
        <p:spPr>
          <a:xfrm rot="5400000">
            <a:off x="10344348" y="2692365"/>
            <a:ext cx="626138" cy="6664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3338680"/>
            <a:ext cx="4032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 flipV="1">
            <a:off x="8476636" y="2008114"/>
            <a:ext cx="403200" cy="477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148683"/>
            <a:ext cx="837804" cy="183877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148682"/>
            <a:ext cx="282936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987461"/>
            <a:ext cx="1008000" cy="691772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analítica de </a:t>
            </a:r>
            <a:r>
              <a:rPr lang="es-CO" sz="1100" err="1">
                <a:solidFill>
                  <a:prstClr val="white"/>
                </a:solidFill>
              </a:rPr>
              <a:t>admin</a:t>
            </a:r>
            <a:r>
              <a:rPr lang="es-CO" sz="1100">
                <a:solidFill>
                  <a:prstClr val="white"/>
                </a:solidFill>
              </a:rPr>
              <a:t>. de cartera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75562" y="2005775"/>
            <a:ext cx="1448589" cy="28581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DC90E217-1CC9-4A84-87CE-448FB85C87DD}"/>
              </a:ext>
            </a:extLst>
          </p:cNvPr>
          <p:cNvSpPr/>
          <p:nvPr/>
        </p:nvSpPr>
        <p:spPr>
          <a:xfrm>
            <a:off x="10486663" y="2172542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riesgos</a:t>
            </a:r>
          </a:p>
        </p:txBody>
      </p: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C1A0DF41-EBE4-42FC-8D9D-6C16591F2641}"/>
              </a:ext>
            </a:extLst>
          </p:cNvPr>
          <p:cNvSpPr txBox="1">
            <a:spLocks/>
          </p:cNvSpPr>
          <p:nvPr/>
        </p:nvSpPr>
        <p:spPr>
          <a:xfrm>
            <a:off x="1775562" y="3067002"/>
            <a:ext cx="1448590" cy="69177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el diseño,  estructuración y desarrollo del modelo de datos</a:t>
            </a:r>
          </a:p>
        </p:txBody>
      </p:sp>
      <p:sp>
        <p:nvSpPr>
          <p:cNvPr id="82" name="Marcador de contenido 5">
            <a:extLst>
              <a:ext uri="{FF2B5EF4-FFF2-40B4-BE49-F238E27FC236}">
                <a16:creationId xmlns:a16="http://schemas.microsoft.com/office/drawing/2014/main" id="{0CA1D10A-E0F4-4F20-8A50-E0EF9E03BEFA}"/>
              </a:ext>
            </a:extLst>
          </p:cNvPr>
          <p:cNvSpPr txBox="1">
            <a:spLocks/>
          </p:cNvSpPr>
          <p:nvPr/>
        </p:nvSpPr>
        <p:spPr>
          <a:xfrm>
            <a:off x="1775562" y="4890895"/>
            <a:ext cx="1435799" cy="38620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89" name="Conector angular 23">
            <a:extLst>
              <a:ext uri="{FF2B5EF4-FFF2-40B4-BE49-F238E27FC236}">
                <a16:creationId xmlns:a16="http://schemas.microsoft.com/office/drawing/2014/main" id="{FCC1939F-CE99-462C-B2E6-D5556A70E9FF}"/>
              </a:ext>
            </a:extLst>
          </p:cNvPr>
          <p:cNvCxnSpPr>
            <a:cxnSpLocks/>
            <a:stCxn id="73" idx="1"/>
            <a:endCxn id="22" idx="0"/>
          </p:cNvCxnSpPr>
          <p:nvPr/>
        </p:nvCxnSpPr>
        <p:spPr>
          <a:xfrm rot="10800000" flipV="1">
            <a:off x="937758" y="3412889"/>
            <a:ext cx="837804" cy="5745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angular 26">
            <a:extLst>
              <a:ext uri="{FF2B5EF4-FFF2-40B4-BE49-F238E27FC236}">
                <a16:creationId xmlns:a16="http://schemas.microsoft.com/office/drawing/2014/main" id="{2B54BE44-3215-4FDD-AAEE-71BB830653C9}"/>
              </a:ext>
            </a:extLst>
          </p:cNvPr>
          <p:cNvCxnSpPr>
            <a:cxnSpLocks/>
            <a:stCxn id="22" idx="2"/>
            <a:endCxn id="82" idx="1"/>
          </p:cNvCxnSpPr>
          <p:nvPr/>
        </p:nvCxnSpPr>
        <p:spPr>
          <a:xfrm rot="16200000" flipH="1">
            <a:off x="1154277" y="4462714"/>
            <a:ext cx="404767" cy="83780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A83FB73B-B12A-46A4-83AC-4E095E72C11C}"/>
              </a:ext>
            </a:extLst>
          </p:cNvPr>
          <p:cNvCxnSpPr>
            <a:cxnSpLocks/>
          </p:cNvCxnSpPr>
          <p:nvPr/>
        </p:nvCxnSpPr>
        <p:spPr>
          <a:xfrm flipH="1">
            <a:off x="3224151" y="2712541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4889BAFF-20B9-4382-908E-E04EB1375227}"/>
              </a:ext>
            </a:extLst>
          </p:cNvPr>
          <p:cNvCxnSpPr>
            <a:cxnSpLocks/>
          </p:cNvCxnSpPr>
          <p:nvPr/>
        </p:nvCxnSpPr>
        <p:spPr>
          <a:xfrm flipH="1">
            <a:off x="3224151" y="3414289"/>
            <a:ext cx="2980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BD678589-F2E5-4F21-A7E9-B1701A65FB74}"/>
              </a:ext>
            </a:extLst>
          </p:cNvPr>
          <p:cNvCxnSpPr>
            <a:cxnSpLocks/>
          </p:cNvCxnSpPr>
          <p:nvPr/>
        </p:nvCxnSpPr>
        <p:spPr>
          <a:xfrm>
            <a:off x="3224151" y="5082554"/>
            <a:ext cx="2980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8C7FB9BF-56A3-49D4-818A-A35BE19E12E6}"/>
              </a:ext>
            </a:extLst>
          </p:cNvPr>
          <p:cNvSpPr/>
          <p:nvPr/>
        </p:nvSpPr>
        <p:spPr>
          <a:xfrm>
            <a:off x="10486663" y="4065867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Business Intelligence</a:t>
            </a: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4C42FE3A-88DF-47D4-BFB9-E278E98FC0C3}"/>
              </a:ext>
            </a:extLst>
          </p:cNvPr>
          <p:cNvSpPr/>
          <p:nvPr/>
        </p:nvSpPr>
        <p:spPr>
          <a:xfrm>
            <a:off x="10486663" y="4516044"/>
            <a:ext cx="1008000" cy="39705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Gestión de datos</a:t>
            </a:r>
          </a:p>
        </p:txBody>
      </p:sp>
      <p:sp>
        <p:nvSpPr>
          <p:cNvPr id="107" name="Marcador de contenido 5">
            <a:extLst>
              <a:ext uri="{FF2B5EF4-FFF2-40B4-BE49-F238E27FC236}">
                <a16:creationId xmlns:a16="http://schemas.microsoft.com/office/drawing/2014/main" id="{46271439-B550-43B8-8670-F673EE8340AC}"/>
              </a:ext>
            </a:extLst>
          </p:cNvPr>
          <p:cNvSpPr txBox="1">
            <a:spLocks/>
          </p:cNvSpPr>
          <p:nvPr/>
        </p:nvSpPr>
        <p:spPr>
          <a:xfrm>
            <a:off x="8858580" y="4901835"/>
            <a:ext cx="1465592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Información solicitada</a:t>
            </a:r>
          </a:p>
        </p:txBody>
      </p:sp>
      <p:sp>
        <p:nvSpPr>
          <p:cNvPr id="109" name="Marcador de contenido 5">
            <a:extLst>
              <a:ext uri="{FF2B5EF4-FFF2-40B4-BE49-F238E27FC236}">
                <a16:creationId xmlns:a16="http://schemas.microsoft.com/office/drawing/2014/main" id="{7AC1A0C6-201D-4940-889A-84CDF82099A8}"/>
              </a:ext>
            </a:extLst>
          </p:cNvPr>
          <p:cNvSpPr txBox="1">
            <a:spLocks/>
          </p:cNvSpPr>
          <p:nvPr/>
        </p:nvSpPr>
        <p:spPr>
          <a:xfrm>
            <a:off x="8858580" y="3690467"/>
            <a:ext cx="1465592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información (RFI)</a:t>
            </a:r>
          </a:p>
        </p:txBody>
      </p:sp>
      <p:cxnSp>
        <p:nvCxnSpPr>
          <p:cNvPr id="110" name="Conector angular 37">
            <a:extLst>
              <a:ext uri="{FF2B5EF4-FFF2-40B4-BE49-F238E27FC236}">
                <a16:creationId xmlns:a16="http://schemas.microsoft.com/office/drawing/2014/main" id="{381F92E9-B1F8-4C52-BAEA-76790A827ACE}"/>
              </a:ext>
            </a:extLst>
          </p:cNvPr>
          <p:cNvCxnSpPr>
            <a:cxnSpLocks/>
            <a:stCxn id="105" idx="2"/>
            <a:endCxn id="107" idx="3"/>
          </p:cNvCxnSpPr>
          <p:nvPr/>
        </p:nvCxnSpPr>
        <p:spPr>
          <a:xfrm rot="5400000">
            <a:off x="10563787" y="4673488"/>
            <a:ext cx="187262" cy="66649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angular 32">
            <a:extLst>
              <a:ext uri="{FF2B5EF4-FFF2-40B4-BE49-F238E27FC236}">
                <a16:creationId xmlns:a16="http://schemas.microsoft.com/office/drawing/2014/main" id="{E36739A0-FEA5-4B08-9EF3-23FEA9E0A485}"/>
              </a:ext>
            </a:extLst>
          </p:cNvPr>
          <p:cNvCxnSpPr>
            <a:cxnSpLocks/>
            <a:stCxn id="109" idx="3"/>
            <a:endCxn id="104" idx="0"/>
          </p:cNvCxnSpPr>
          <p:nvPr/>
        </p:nvCxnSpPr>
        <p:spPr>
          <a:xfrm>
            <a:off x="10324172" y="3888996"/>
            <a:ext cx="666491" cy="17687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Conector recto de flecha 119">
            <a:extLst>
              <a:ext uri="{FF2B5EF4-FFF2-40B4-BE49-F238E27FC236}">
                <a16:creationId xmlns:a16="http://schemas.microsoft.com/office/drawing/2014/main" id="{1E8CF92C-D81E-4B2A-BD4A-618AF1754CDD}"/>
              </a:ext>
            </a:extLst>
          </p:cNvPr>
          <p:cNvCxnSpPr>
            <a:cxnSpLocks/>
          </p:cNvCxnSpPr>
          <p:nvPr/>
        </p:nvCxnSpPr>
        <p:spPr>
          <a:xfrm flipH="1">
            <a:off x="8476636" y="5100364"/>
            <a:ext cx="403200" cy="3304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Conector recto de flecha 120">
            <a:extLst>
              <a:ext uri="{FF2B5EF4-FFF2-40B4-BE49-F238E27FC236}">
                <a16:creationId xmlns:a16="http://schemas.microsoft.com/office/drawing/2014/main" id="{510A633A-A599-45FB-8F38-C8B793FC7760}"/>
              </a:ext>
            </a:extLst>
          </p:cNvPr>
          <p:cNvCxnSpPr>
            <a:cxnSpLocks/>
          </p:cNvCxnSpPr>
          <p:nvPr/>
        </p:nvCxnSpPr>
        <p:spPr>
          <a:xfrm>
            <a:off x="8476636" y="3888996"/>
            <a:ext cx="403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C8E10C5E-B36C-4C56-9A3B-4262528036A5}"/>
              </a:ext>
            </a:extLst>
          </p:cNvPr>
          <p:cNvSpPr txBox="1">
            <a:spLocks/>
          </p:cNvSpPr>
          <p:nvPr/>
        </p:nvSpPr>
        <p:spPr>
          <a:xfrm>
            <a:off x="8858580" y="2704659"/>
            <a:ext cx="1465591" cy="31606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62" name="Conector angular 37">
            <a:extLst>
              <a:ext uri="{FF2B5EF4-FFF2-40B4-BE49-F238E27FC236}">
                <a16:creationId xmlns:a16="http://schemas.microsoft.com/office/drawing/2014/main" id="{5243C02B-2FAC-44CB-B3CB-0AFFF089A9C2}"/>
              </a:ext>
            </a:extLst>
          </p:cNvPr>
          <p:cNvCxnSpPr>
            <a:cxnSpLocks/>
            <a:stCxn id="34" idx="2"/>
            <a:endCxn id="49" idx="3"/>
          </p:cNvCxnSpPr>
          <p:nvPr/>
        </p:nvCxnSpPr>
        <p:spPr>
          <a:xfrm rot="5400000">
            <a:off x="10582342" y="2454371"/>
            <a:ext cx="150151" cy="6664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recto de flecha 64">
            <a:extLst>
              <a:ext uri="{FF2B5EF4-FFF2-40B4-BE49-F238E27FC236}">
                <a16:creationId xmlns:a16="http://schemas.microsoft.com/office/drawing/2014/main" id="{475C7C36-FE37-4D88-A585-73005D8BC436}"/>
              </a:ext>
            </a:extLst>
          </p:cNvPr>
          <p:cNvCxnSpPr>
            <a:cxnSpLocks/>
          </p:cNvCxnSpPr>
          <p:nvPr/>
        </p:nvCxnSpPr>
        <p:spPr>
          <a:xfrm flipH="1">
            <a:off x="8476636" y="2870731"/>
            <a:ext cx="4032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Marcador de contenido 5">
            <a:extLst>
              <a:ext uri="{FF2B5EF4-FFF2-40B4-BE49-F238E27FC236}">
                <a16:creationId xmlns:a16="http://schemas.microsoft.com/office/drawing/2014/main" id="{F4A031E3-F7D3-4C72-98EE-D7A71867A2BF}"/>
              </a:ext>
            </a:extLst>
          </p:cNvPr>
          <p:cNvSpPr txBox="1">
            <a:spLocks/>
          </p:cNvSpPr>
          <p:nvPr/>
        </p:nvSpPr>
        <p:spPr>
          <a:xfrm>
            <a:off x="1775562" y="2394605"/>
            <a:ext cx="1448589" cy="57180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Beneficios esperados analítica admin. de cartera</a:t>
            </a:r>
          </a:p>
        </p:txBody>
      </p:sp>
      <p:cxnSp>
        <p:nvCxnSpPr>
          <p:cNvPr id="88" name="Conector angular 23">
            <a:extLst>
              <a:ext uri="{FF2B5EF4-FFF2-40B4-BE49-F238E27FC236}">
                <a16:creationId xmlns:a16="http://schemas.microsoft.com/office/drawing/2014/main" id="{E6C0A772-B2C9-4B32-881D-6FBBB1E03E57}"/>
              </a:ext>
            </a:extLst>
          </p:cNvPr>
          <p:cNvCxnSpPr>
            <a:cxnSpLocks/>
            <a:stCxn id="85" idx="1"/>
            <a:endCxn id="22" idx="0"/>
          </p:cNvCxnSpPr>
          <p:nvPr/>
        </p:nvCxnSpPr>
        <p:spPr>
          <a:xfrm rot="10800000" flipV="1">
            <a:off x="937758" y="2680507"/>
            <a:ext cx="837804" cy="130695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Marcador de contenido 5">
            <a:extLst>
              <a:ext uri="{FF2B5EF4-FFF2-40B4-BE49-F238E27FC236}">
                <a16:creationId xmlns:a16="http://schemas.microsoft.com/office/drawing/2014/main" id="{FB069126-6FB3-4217-91A1-CD542733B8B5}"/>
              </a:ext>
            </a:extLst>
          </p:cNvPr>
          <p:cNvSpPr txBox="1">
            <a:spLocks/>
          </p:cNvSpPr>
          <p:nvPr/>
        </p:nvSpPr>
        <p:spPr>
          <a:xfrm>
            <a:off x="8858580" y="5338453"/>
            <a:ext cx="1465591" cy="39705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Acceso a reportes y bases de consulta</a:t>
            </a:r>
          </a:p>
        </p:txBody>
      </p:sp>
      <p:cxnSp>
        <p:nvCxnSpPr>
          <p:cNvPr id="47" name="Conector angular 37">
            <a:extLst>
              <a:ext uri="{FF2B5EF4-FFF2-40B4-BE49-F238E27FC236}">
                <a16:creationId xmlns:a16="http://schemas.microsoft.com/office/drawing/2014/main" id="{47D269FF-CCCE-4BB9-8180-6684E125A227}"/>
              </a:ext>
            </a:extLst>
          </p:cNvPr>
          <p:cNvCxnSpPr>
            <a:cxnSpLocks/>
            <a:stCxn id="105" idx="2"/>
            <a:endCxn id="20" idx="3"/>
          </p:cNvCxnSpPr>
          <p:nvPr/>
        </p:nvCxnSpPr>
        <p:spPr>
          <a:xfrm rot="5400000">
            <a:off x="10345477" y="4891796"/>
            <a:ext cx="623880" cy="6664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ector recto de flecha 49">
            <a:extLst>
              <a:ext uri="{FF2B5EF4-FFF2-40B4-BE49-F238E27FC236}">
                <a16:creationId xmlns:a16="http://schemas.microsoft.com/office/drawing/2014/main" id="{FE906CF0-1E3A-4776-9696-65ABA86319B7}"/>
              </a:ext>
            </a:extLst>
          </p:cNvPr>
          <p:cNvCxnSpPr>
            <a:cxnSpLocks/>
          </p:cNvCxnSpPr>
          <p:nvPr/>
        </p:nvCxnSpPr>
        <p:spPr>
          <a:xfrm flipH="1">
            <a:off x="8481257" y="5540233"/>
            <a:ext cx="403200" cy="3304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Flecha: pentágono 25">
            <a:extLst>
              <a:ext uri="{FF2B5EF4-FFF2-40B4-BE49-F238E27FC236}">
                <a16:creationId xmlns:a16="http://schemas.microsoft.com/office/drawing/2014/main" id="{01345C7D-3618-45D5-89EF-C6FBE009C737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7" name="Es igual a 26">
            <a:extLst>
              <a:ext uri="{FF2B5EF4-FFF2-40B4-BE49-F238E27FC236}">
                <a16:creationId xmlns:a16="http://schemas.microsoft.com/office/drawing/2014/main" id="{88221BB7-67AA-48E0-A60A-BB5FEE487C23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E9CD976-A3BF-4513-BCAC-E8443E5172C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6490EE7A-5E83-4BF3-901F-F2EFA61ACCD5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37241428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de Operaciones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52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Gerencia de Operaciones ajustará su estructura de supervisión a un enfoque por procesos y garantizará la continuidad y eficiencia de la operación y el cumplimiento de los ANS internos y exter.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Operaciones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38150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mejoramiento y automatización de procesos garantizando la eficiencia en la operación y la mitigación del riesgo operacional –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enfoque operacional por procesos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Diseñar, implementar y monitorear procesos clave la operación en cada una de sus etapas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 y liderar proyectos y/o iniciativas que promuevan el mejoramiento y automatización de procesos – eficiencia operacional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Monitorear y proponer estrategias de mitigación del nivel de riesgo operativo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acuerdos de nivel de servicio internos y externos y garantizar su cumplimiento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aplicación de la normatividad definida por los diferentes entes regulatorios y de control	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cumplimiento de ANS internos y externos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303925"/>
            <a:ext cx="4918780" cy="10750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Disminución materialización de riesgo operativo; (2) Cumplimiento ANS interno; (3)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QR´s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 de clientes y terceros por temas operativos; (4) Eficiencia de gastos de operación; (4) NPS del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59672" y="1775793"/>
            <a:ext cx="1452802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200">
                <a:solidFill>
                  <a:schemeClr val="tx1"/>
                </a:solidFill>
                <a:latin typeface="+mn-lt"/>
              </a:rPr>
              <a:t>Resultados de la gestión operativa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38270" y="2248947"/>
            <a:ext cx="972000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Presidente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212474" y="2018200"/>
            <a:ext cx="711796" cy="23074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14306" y="2872399"/>
            <a:ext cx="1343533" cy="40175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87534" y="2536543"/>
            <a:ext cx="307042" cy="766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735" y="3631761"/>
            <a:ext cx="3375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735" y="2018200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56034" y="2753461"/>
            <a:ext cx="924585" cy="142787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691643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90379" y="4386990"/>
            <a:ext cx="243103" cy="9117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753461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23235" y="4181337"/>
            <a:ext cx="1065596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Operaciones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459847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Acuerdos de servicio internos y externos</a:t>
            </a:r>
          </a:p>
        </p:txBody>
      </p:sp>
      <p:sp>
        <p:nvSpPr>
          <p:cNvPr id="28" name="Marcador de contenido 5">
            <a:extLst>
              <a:ext uri="{FF2B5EF4-FFF2-40B4-BE49-F238E27FC236}">
                <a16:creationId xmlns:a16="http://schemas.microsoft.com/office/drawing/2014/main" id="{C4904C94-3E43-4432-B4FB-B31AD79AD655}"/>
              </a:ext>
            </a:extLst>
          </p:cNvPr>
          <p:cNvSpPr txBox="1">
            <a:spLocks/>
          </p:cNvSpPr>
          <p:nvPr/>
        </p:nvSpPr>
        <p:spPr>
          <a:xfrm>
            <a:off x="8814306" y="3330945"/>
            <a:ext cx="1343533" cy="60163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eficiencia operacional</a:t>
            </a:r>
          </a:p>
        </p:txBody>
      </p:sp>
      <p:cxnSp>
        <p:nvCxnSpPr>
          <p:cNvPr id="34" name="Conector angular 37">
            <a:extLst>
              <a:ext uri="{FF2B5EF4-FFF2-40B4-BE49-F238E27FC236}">
                <a16:creationId xmlns:a16="http://schemas.microsoft.com/office/drawing/2014/main" id="{E8C071D9-6E97-4551-BDAD-44CC2BFA5E21}"/>
              </a:ext>
            </a:extLst>
          </p:cNvPr>
          <p:cNvCxnSpPr>
            <a:cxnSpLocks/>
            <a:stCxn id="11" idx="2"/>
            <a:endCxn id="28" idx="3"/>
          </p:cNvCxnSpPr>
          <p:nvPr/>
        </p:nvCxnSpPr>
        <p:spPr>
          <a:xfrm rot="5400000">
            <a:off x="10108293" y="2815784"/>
            <a:ext cx="865524" cy="766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D9370273-5D7E-4CFD-922F-3D50BE911190}"/>
              </a:ext>
            </a:extLst>
          </p:cNvPr>
          <p:cNvCxnSpPr>
            <a:cxnSpLocks/>
          </p:cNvCxnSpPr>
          <p:nvPr/>
        </p:nvCxnSpPr>
        <p:spPr>
          <a:xfrm flipH="1">
            <a:off x="8476735" y="3094162"/>
            <a:ext cx="33757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ángulo 47">
            <a:extLst>
              <a:ext uri="{FF2B5EF4-FFF2-40B4-BE49-F238E27FC236}">
                <a16:creationId xmlns:a16="http://schemas.microsoft.com/office/drawing/2014/main" id="{12294270-4705-475C-A9F2-A02DAE83644A}"/>
              </a:ext>
            </a:extLst>
          </p:cNvPr>
          <p:cNvSpPr/>
          <p:nvPr/>
        </p:nvSpPr>
        <p:spPr>
          <a:xfrm>
            <a:off x="10438270" y="4543314"/>
            <a:ext cx="972000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CDD674BB-71CB-4316-9815-748945698859}"/>
              </a:ext>
            </a:extLst>
          </p:cNvPr>
          <p:cNvSpPr txBox="1">
            <a:spLocks/>
          </p:cNvSpPr>
          <p:nvPr/>
        </p:nvSpPr>
        <p:spPr>
          <a:xfrm>
            <a:off x="8814306" y="4860795"/>
            <a:ext cx="1343533" cy="601632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Necesidades de nivel de servicio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094CF0F5-09A8-4CB2-89EF-A66F8EEB4E1A}"/>
              </a:ext>
            </a:extLst>
          </p:cNvPr>
          <p:cNvSpPr txBox="1">
            <a:spLocks/>
          </p:cNvSpPr>
          <p:nvPr/>
        </p:nvSpPr>
        <p:spPr>
          <a:xfrm>
            <a:off x="8814306" y="4168428"/>
            <a:ext cx="1343533" cy="601632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Cumplimiento acuerdos de nivel de servicio</a:t>
            </a:r>
          </a:p>
        </p:txBody>
      </p:sp>
      <p:cxnSp>
        <p:nvCxnSpPr>
          <p:cNvPr id="52" name="Conector angular 37">
            <a:extLst>
              <a:ext uri="{FF2B5EF4-FFF2-40B4-BE49-F238E27FC236}">
                <a16:creationId xmlns:a16="http://schemas.microsoft.com/office/drawing/2014/main" id="{D0337E7E-A161-4166-828A-498FC48ED109}"/>
              </a:ext>
            </a:extLst>
          </p:cNvPr>
          <p:cNvCxnSpPr>
            <a:cxnSpLocks/>
            <a:stCxn id="48" idx="2"/>
            <a:endCxn id="50" idx="3"/>
          </p:cNvCxnSpPr>
          <p:nvPr/>
        </p:nvCxnSpPr>
        <p:spPr>
          <a:xfrm rot="5400000">
            <a:off x="10490552" y="4727892"/>
            <a:ext cx="101007" cy="766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angular 37">
            <a:extLst>
              <a:ext uri="{FF2B5EF4-FFF2-40B4-BE49-F238E27FC236}">
                <a16:creationId xmlns:a16="http://schemas.microsoft.com/office/drawing/2014/main" id="{2514041D-C37B-4C76-8A06-5D3F7FEBDAD0}"/>
              </a:ext>
            </a:extLst>
          </p:cNvPr>
          <p:cNvCxnSpPr>
            <a:cxnSpLocks/>
            <a:stCxn id="51" idx="3"/>
            <a:endCxn id="48" idx="0"/>
          </p:cNvCxnSpPr>
          <p:nvPr/>
        </p:nvCxnSpPr>
        <p:spPr>
          <a:xfrm>
            <a:off x="10157839" y="4469244"/>
            <a:ext cx="766431" cy="74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recto de flecha 59">
            <a:extLst>
              <a:ext uri="{FF2B5EF4-FFF2-40B4-BE49-F238E27FC236}">
                <a16:creationId xmlns:a16="http://schemas.microsoft.com/office/drawing/2014/main" id="{60B190EB-E5B6-4CBE-A647-99FAF5665169}"/>
              </a:ext>
            </a:extLst>
          </p:cNvPr>
          <p:cNvCxnSpPr>
            <a:cxnSpLocks/>
          </p:cNvCxnSpPr>
          <p:nvPr/>
        </p:nvCxnSpPr>
        <p:spPr>
          <a:xfrm>
            <a:off x="8476735" y="4469244"/>
            <a:ext cx="33757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832AE2EB-1BA0-4E66-A087-18DD9C60D3B8}"/>
              </a:ext>
            </a:extLst>
          </p:cNvPr>
          <p:cNvCxnSpPr>
            <a:cxnSpLocks/>
          </p:cNvCxnSpPr>
          <p:nvPr/>
        </p:nvCxnSpPr>
        <p:spPr>
          <a:xfrm flipH="1">
            <a:off x="8476735" y="5161611"/>
            <a:ext cx="337572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Marcador de contenido 5">
            <a:extLst>
              <a:ext uri="{FF2B5EF4-FFF2-40B4-BE49-F238E27FC236}">
                <a16:creationId xmlns:a16="http://schemas.microsoft.com/office/drawing/2014/main" id="{82F8D52A-98BA-4E5C-ABC9-553EE7851F4F}"/>
              </a:ext>
            </a:extLst>
          </p:cNvPr>
          <p:cNvSpPr txBox="1">
            <a:spLocks/>
          </p:cNvSpPr>
          <p:nvPr/>
        </p:nvSpPr>
        <p:spPr>
          <a:xfrm>
            <a:off x="1880618" y="3088187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eficiencia operacional</a:t>
            </a:r>
          </a:p>
        </p:txBody>
      </p:sp>
      <p:cxnSp>
        <p:nvCxnSpPr>
          <p:cNvPr id="71" name="Conector angular 23">
            <a:extLst>
              <a:ext uri="{FF2B5EF4-FFF2-40B4-BE49-F238E27FC236}">
                <a16:creationId xmlns:a16="http://schemas.microsoft.com/office/drawing/2014/main" id="{E338765D-558E-4356-8CBB-B11576277E33}"/>
              </a:ext>
            </a:extLst>
          </p:cNvPr>
          <p:cNvCxnSpPr>
            <a:cxnSpLocks/>
            <a:stCxn id="68" idx="1"/>
            <a:endCxn id="22" idx="0"/>
          </p:cNvCxnSpPr>
          <p:nvPr/>
        </p:nvCxnSpPr>
        <p:spPr>
          <a:xfrm rot="10800000" flipV="1">
            <a:off x="956034" y="3381801"/>
            <a:ext cx="924585" cy="79953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0C863F4E-B214-4269-B30F-F74A23ECD72A}"/>
              </a:ext>
            </a:extLst>
          </p:cNvPr>
          <p:cNvSpPr txBox="1">
            <a:spLocks/>
          </p:cNvSpPr>
          <p:nvPr/>
        </p:nvSpPr>
        <p:spPr>
          <a:xfrm>
            <a:off x="1880618" y="3724118"/>
            <a:ext cx="1343533" cy="49331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Proyectos de eficiencia operacional</a:t>
            </a:r>
          </a:p>
        </p:txBody>
      </p:sp>
      <p:sp>
        <p:nvSpPr>
          <p:cNvPr id="53" name="Marcador de contenido 5">
            <a:extLst>
              <a:ext uri="{FF2B5EF4-FFF2-40B4-BE49-F238E27FC236}">
                <a16:creationId xmlns:a16="http://schemas.microsoft.com/office/drawing/2014/main" id="{EEFA9AA1-7F05-4312-842D-DFA01F6D4F3A}"/>
              </a:ext>
            </a:extLst>
          </p:cNvPr>
          <p:cNvSpPr txBox="1">
            <a:spLocks/>
          </p:cNvSpPr>
          <p:nvPr/>
        </p:nvSpPr>
        <p:spPr>
          <a:xfrm>
            <a:off x="1880618" y="2068261"/>
            <a:ext cx="1343533" cy="34288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59" name="Conector angular 23">
            <a:extLst>
              <a:ext uri="{FF2B5EF4-FFF2-40B4-BE49-F238E27FC236}">
                <a16:creationId xmlns:a16="http://schemas.microsoft.com/office/drawing/2014/main" id="{6F6E27C7-6ECA-429B-9350-63EBDC73D1E2}"/>
              </a:ext>
            </a:extLst>
          </p:cNvPr>
          <p:cNvCxnSpPr>
            <a:cxnSpLocks/>
            <a:stCxn id="53" idx="1"/>
            <a:endCxn id="22" idx="0"/>
          </p:cNvCxnSpPr>
          <p:nvPr/>
        </p:nvCxnSpPr>
        <p:spPr>
          <a:xfrm rot="10800000" flipV="1">
            <a:off x="956034" y="2239701"/>
            <a:ext cx="924585" cy="194163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ector angular 23">
            <a:extLst>
              <a:ext uri="{FF2B5EF4-FFF2-40B4-BE49-F238E27FC236}">
                <a16:creationId xmlns:a16="http://schemas.microsoft.com/office/drawing/2014/main" id="{2C9A6E56-CD4E-4810-8254-C8700FDF5F41}"/>
              </a:ext>
            </a:extLst>
          </p:cNvPr>
          <p:cNvCxnSpPr>
            <a:cxnSpLocks/>
            <a:stCxn id="44" idx="1"/>
            <a:endCxn id="22" idx="0"/>
          </p:cNvCxnSpPr>
          <p:nvPr/>
        </p:nvCxnSpPr>
        <p:spPr>
          <a:xfrm rot="10800000" flipV="1">
            <a:off x="956034" y="3970777"/>
            <a:ext cx="924585" cy="2105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8E6ACD30-A10D-444A-A217-A035EAB8818E}"/>
              </a:ext>
            </a:extLst>
          </p:cNvPr>
          <p:cNvCxnSpPr>
            <a:cxnSpLocks/>
          </p:cNvCxnSpPr>
          <p:nvPr/>
        </p:nvCxnSpPr>
        <p:spPr>
          <a:xfrm flipH="1">
            <a:off x="3224151" y="2239701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de flecha 71">
            <a:extLst>
              <a:ext uri="{FF2B5EF4-FFF2-40B4-BE49-F238E27FC236}">
                <a16:creationId xmlns:a16="http://schemas.microsoft.com/office/drawing/2014/main" id="{1950CF49-5F0E-41AD-92A4-AE7BBB670E28}"/>
              </a:ext>
            </a:extLst>
          </p:cNvPr>
          <p:cNvCxnSpPr>
            <a:cxnSpLocks/>
          </p:cNvCxnSpPr>
          <p:nvPr/>
        </p:nvCxnSpPr>
        <p:spPr>
          <a:xfrm flipH="1">
            <a:off x="3224151" y="3375894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6EF2FF64-4A8B-4ED7-896F-5D5EB62538A4}"/>
              </a:ext>
            </a:extLst>
          </p:cNvPr>
          <p:cNvCxnSpPr>
            <a:cxnSpLocks/>
          </p:cNvCxnSpPr>
          <p:nvPr/>
        </p:nvCxnSpPr>
        <p:spPr>
          <a:xfrm flipH="1">
            <a:off x="3224151" y="3975543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7661F064-2758-455C-96F4-C71943421212}"/>
              </a:ext>
            </a:extLst>
          </p:cNvPr>
          <p:cNvCxnSpPr>
            <a:cxnSpLocks/>
          </p:cNvCxnSpPr>
          <p:nvPr/>
        </p:nvCxnSpPr>
        <p:spPr>
          <a:xfrm>
            <a:off x="3211361" y="4964439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Marcador de pie de página 2">
            <a:extLst>
              <a:ext uri="{FF2B5EF4-FFF2-40B4-BE49-F238E27FC236}">
                <a16:creationId xmlns:a16="http://schemas.microsoft.com/office/drawing/2014/main" id="{D0E1900B-84BA-485A-812E-C256963597C9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30" name="Flecha: pentágono 29">
            <a:extLst>
              <a:ext uri="{FF2B5EF4-FFF2-40B4-BE49-F238E27FC236}">
                <a16:creationId xmlns:a16="http://schemas.microsoft.com/office/drawing/2014/main" id="{EF413DBD-700F-461B-840B-24F6C10BB771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31" name="Imagen 30" descr="Imagen que contiene dibujo&#10;&#10;Descripción generada automáticamente">
            <a:extLst>
              <a:ext uri="{FF2B5EF4-FFF2-40B4-BE49-F238E27FC236}">
                <a16:creationId xmlns:a16="http://schemas.microsoft.com/office/drawing/2014/main" id="{56EB432F-28A9-4DE0-ABFE-634402C7EB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12425DFB-B83D-48FC-8E7D-6AABA67C169B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5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16B0497-F7F3-40FF-B197-F8BF751162FD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B8462757-3516-4C53-9F1B-FC213D76D4C6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297432123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Jefe Mesa de Control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53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Jefe Mesa de Control liderará la gestión y aplicación de políticas y procedimientos para el control de los procesos operat. y el cuadre de la cuentas asignadas del balance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Jefe Mesa de Control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gestión y aplicación de políticas y procedimientos para el control de los procesos operat. y el cuadre de la cuentas asignadas del balance y de la información reportada a entes reguladores</a:t>
            </a:r>
          </a:p>
          <a:p>
            <a:pPr marL="100012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Dirigir y gestionar la correcta ejecución de las conciliaciones de las cuentas bancarias y contables a través del seguimiento al cuadre entre los aplicativos de los productos y/o cuentas bancarias y las cifras reflejadas en la contabilidad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Garantizar, verificar y controlar el cuadre contable de las operaciones activas de crédito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Coordinar la conciliación bancaria y contable a fin de garantizar que los movimientos reflejados correspondan a los efectivamente ordenados y autorizados por la compañía.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Atender los requerimientos de Auditoría, Revisoría Fiscal, y Superintendencia financiera, relacionados con las conciliaciones, con el fin de garantizar el cumplimiento de reglamentación interna y de los entes de control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715605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257821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Operaciones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1958012"/>
            <a:ext cx="798461" cy="29980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2881147"/>
            <a:ext cx="1260000" cy="484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54946" y="2561456"/>
            <a:ext cx="325731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 flipV="1">
            <a:off x="8476636" y="3123551"/>
            <a:ext cx="381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6636" y="1958011"/>
            <a:ext cx="381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689228"/>
            <a:ext cx="942860" cy="66306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044729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90177" y="3639875"/>
            <a:ext cx="425232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689229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352294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Mesa de Control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512785"/>
            <a:ext cx="1343533" cy="35288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34" name="Conector recto de flecha 33">
            <a:extLst>
              <a:ext uri="{FF2B5EF4-FFF2-40B4-BE49-F238E27FC236}">
                <a16:creationId xmlns:a16="http://schemas.microsoft.com/office/drawing/2014/main" id="{087BF9E2-8B5A-42B8-8D81-7CB22FA76C7E}"/>
              </a:ext>
            </a:extLst>
          </p:cNvPr>
          <p:cNvCxnSpPr>
            <a:cxnSpLocks/>
          </p:cNvCxnSpPr>
          <p:nvPr/>
        </p:nvCxnSpPr>
        <p:spPr>
          <a:xfrm>
            <a:off x="3262226" y="4328232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ángulo 35">
            <a:extLst>
              <a:ext uri="{FF2B5EF4-FFF2-40B4-BE49-F238E27FC236}">
                <a16:creationId xmlns:a16="http://schemas.microsoft.com/office/drawing/2014/main" id="{A3C578E8-5BDA-44E7-A66B-D2C6D9DBEEB5}"/>
              </a:ext>
            </a:extLst>
          </p:cNvPr>
          <p:cNvSpPr/>
          <p:nvPr/>
        </p:nvSpPr>
        <p:spPr>
          <a:xfrm>
            <a:off x="10413041" y="4299020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Contabilidad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00FBC646-5737-48BC-A010-14C13663FAAA}"/>
              </a:ext>
            </a:extLst>
          </p:cNvPr>
          <p:cNvSpPr txBox="1">
            <a:spLocks/>
          </p:cNvSpPr>
          <p:nvPr/>
        </p:nvSpPr>
        <p:spPr>
          <a:xfrm>
            <a:off x="8858580" y="4788003"/>
            <a:ext cx="1260000" cy="54000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Registros cuentas bancarias y contables</a:t>
            </a:r>
          </a:p>
        </p:txBody>
      </p:sp>
      <p:sp>
        <p:nvSpPr>
          <p:cNvPr id="39" name="Marcador de contenido 5">
            <a:extLst>
              <a:ext uri="{FF2B5EF4-FFF2-40B4-BE49-F238E27FC236}">
                <a16:creationId xmlns:a16="http://schemas.microsoft.com/office/drawing/2014/main" id="{8EB5E745-B6D5-49B3-A565-32C4494F4C49}"/>
              </a:ext>
            </a:extLst>
          </p:cNvPr>
          <p:cNvSpPr txBox="1">
            <a:spLocks/>
          </p:cNvSpPr>
          <p:nvPr/>
        </p:nvSpPr>
        <p:spPr>
          <a:xfrm>
            <a:off x="8858580" y="3796213"/>
            <a:ext cx="1260000" cy="484809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Conciliación cuentas bancarias y contables</a:t>
            </a:r>
          </a:p>
        </p:txBody>
      </p:sp>
      <p:cxnSp>
        <p:nvCxnSpPr>
          <p:cNvPr id="40" name="Conector angular 37">
            <a:extLst>
              <a:ext uri="{FF2B5EF4-FFF2-40B4-BE49-F238E27FC236}">
                <a16:creationId xmlns:a16="http://schemas.microsoft.com/office/drawing/2014/main" id="{AED6D58E-FA30-4477-AEC3-21607041A8A1}"/>
              </a:ext>
            </a:extLst>
          </p:cNvPr>
          <p:cNvCxnSpPr>
            <a:cxnSpLocks/>
            <a:stCxn id="36" idx="2"/>
            <a:endCxn id="38" idx="3"/>
          </p:cNvCxnSpPr>
          <p:nvPr/>
        </p:nvCxnSpPr>
        <p:spPr>
          <a:xfrm rot="5400000">
            <a:off x="10408320" y="4549281"/>
            <a:ext cx="218983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angular 32">
            <a:extLst>
              <a:ext uri="{FF2B5EF4-FFF2-40B4-BE49-F238E27FC236}">
                <a16:creationId xmlns:a16="http://schemas.microsoft.com/office/drawing/2014/main" id="{D5EE3B57-C57D-400D-852C-0EA0944E53F6}"/>
              </a:ext>
            </a:extLst>
          </p:cNvPr>
          <p:cNvCxnSpPr>
            <a:cxnSpLocks/>
            <a:stCxn id="39" idx="3"/>
            <a:endCxn id="36" idx="0"/>
          </p:cNvCxnSpPr>
          <p:nvPr/>
        </p:nvCxnSpPr>
        <p:spPr>
          <a:xfrm>
            <a:off x="10118580" y="4038618"/>
            <a:ext cx="798461" cy="26040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9D8E9014-2A63-4305-8339-749FD4143644}"/>
              </a:ext>
            </a:extLst>
          </p:cNvPr>
          <p:cNvCxnSpPr>
            <a:cxnSpLocks/>
          </p:cNvCxnSpPr>
          <p:nvPr/>
        </p:nvCxnSpPr>
        <p:spPr>
          <a:xfrm flipH="1">
            <a:off x="8476636" y="5058003"/>
            <a:ext cx="381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ector recto de flecha 49">
            <a:extLst>
              <a:ext uri="{FF2B5EF4-FFF2-40B4-BE49-F238E27FC236}">
                <a16:creationId xmlns:a16="http://schemas.microsoft.com/office/drawing/2014/main" id="{AEC7614D-7903-4711-93FE-F32D397926C0}"/>
              </a:ext>
            </a:extLst>
          </p:cNvPr>
          <p:cNvCxnSpPr>
            <a:cxnSpLocks/>
          </p:cNvCxnSpPr>
          <p:nvPr/>
        </p:nvCxnSpPr>
        <p:spPr>
          <a:xfrm>
            <a:off x="8476636" y="4047543"/>
            <a:ext cx="3816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Rectángulo 61">
            <a:extLst>
              <a:ext uri="{FF2B5EF4-FFF2-40B4-BE49-F238E27FC236}">
                <a16:creationId xmlns:a16="http://schemas.microsoft.com/office/drawing/2014/main" id="{D219D355-454E-4C1B-AD4F-C0C04330B31B}"/>
              </a:ext>
            </a:extLst>
          </p:cNvPr>
          <p:cNvSpPr/>
          <p:nvPr/>
        </p:nvSpPr>
        <p:spPr>
          <a:xfrm>
            <a:off x="648717" y="878797"/>
            <a:ext cx="1508152" cy="28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PRELIMINAR</a:t>
            </a:r>
          </a:p>
        </p:txBody>
      </p:sp>
      <p:sp>
        <p:nvSpPr>
          <p:cNvPr id="2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BABD9C4-DAF4-4273-8B58-85EFF2D62429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09ACE901-366D-495D-8189-D58DA1C19FEE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176603784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Jefe de Servicios Operativos Transversales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54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Jefe de Servicios Operativos Transversales garantiza la continuidad y eficiencia de la operación de procesos relacionados con gestión documental, seguros y siniestros y el inventario de tarjetas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Jefe de Servicios Operativos Transversales 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Garantizar la continuidad y eficiencia de la operación de servicios operativos transversales – gestión documental, seguros y siniestros e inventario de tarjetas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continuidad y eficiencia de proceso de administración y control de los títulos valores constituidos, papelería numerada y documentos físicos correspondientes a operaciones de colocación y captación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continuidad y eficiencia del proceso de reporte de nuevos asegurados, su mantenimiento, reporte de  cartera a las diferentes aseguradoras y gestión del pago de las primas correspondientes y para gestionar las solicitudes de siniestro ante la aseguradora o la devolución de los fondos correspondientes a productos pasivos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continuidad y eficiencia el manejo adecuado del stock de tarjetas de crédito y gestión de tarjetas débito no entregadas al cliente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N/A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873848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11634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Operaciones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2116255"/>
            <a:ext cx="798461" cy="10000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58580" y="3951379"/>
            <a:ext cx="1260000" cy="4059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268819" y="3506107"/>
            <a:ext cx="497984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6636" y="4165945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6" y="2116255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14912" y="2188337"/>
            <a:ext cx="865706" cy="92800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4450682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025778" y="3881428"/>
            <a:ext cx="831185" cy="8529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188338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7" y="3116345"/>
            <a:ext cx="1162310" cy="77594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Servicios Op. Transversales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005775"/>
            <a:ext cx="1343533" cy="36512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0834410F-FEC3-483C-B43B-BD462E234892}"/>
              </a:ext>
            </a:extLst>
          </p:cNvPr>
          <p:cNvSpPr txBox="1">
            <a:spLocks/>
          </p:cNvSpPr>
          <p:nvPr/>
        </p:nvSpPr>
        <p:spPr>
          <a:xfrm>
            <a:off x="8858580" y="4411659"/>
            <a:ext cx="1260000" cy="58461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eficiencia en procesos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A7F548F8-1676-43A5-B14C-1859E4DCD951}"/>
              </a:ext>
            </a:extLst>
          </p:cNvPr>
          <p:cNvSpPr txBox="1">
            <a:spLocks/>
          </p:cNvSpPr>
          <p:nvPr/>
        </p:nvSpPr>
        <p:spPr>
          <a:xfrm>
            <a:off x="1880618" y="2521261"/>
            <a:ext cx="1343533" cy="36512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eficiencia en procesos</a:t>
            </a:r>
          </a:p>
        </p:txBody>
      </p:sp>
      <p:cxnSp>
        <p:nvCxnSpPr>
          <p:cNvPr id="39" name="Conector angular 23">
            <a:extLst>
              <a:ext uri="{FF2B5EF4-FFF2-40B4-BE49-F238E27FC236}">
                <a16:creationId xmlns:a16="http://schemas.microsoft.com/office/drawing/2014/main" id="{2C029944-548D-496F-975D-C1C0E3306044}"/>
              </a:ext>
            </a:extLst>
          </p:cNvPr>
          <p:cNvCxnSpPr>
            <a:cxnSpLocks/>
            <a:stCxn id="38" idx="1"/>
            <a:endCxn id="22" idx="0"/>
          </p:cNvCxnSpPr>
          <p:nvPr/>
        </p:nvCxnSpPr>
        <p:spPr>
          <a:xfrm rot="10800000" flipV="1">
            <a:off x="1014912" y="2703823"/>
            <a:ext cx="865706" cy="4125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ector angular 37">
            <a:extLst>
              <a:ext uri="{FF2B5EF4-FFF2-40B4-BE49-F238E27FC236}">
                <a16:creationId xmlns:a16="http://schemas.microsoft.com/office/drawing/2014/main" id="{5AA119CF-0218-49E2-A329-B6C5B005847E}"/>
              </a:ext>
            </a:extLst>
          </p:cNvPr>
          <p:cNvCxnSpPr>
            <a:cxnSpLocks/>
            <a:stCxn id="11" idx="2"/>
            <a:endCxn id="27" idx="3"/>
          </p:cNvCxnSpPr>
          <p:nvPr/>
        </p:nvCxnSpPr>
        <p:spPr>
          <a:xfrm rot="5400000">
            <a:off x="9994000" y="3780926"/>
            <a:ext cx="1047623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5AFE9CEE-C33B-4362-AD8E-FD280F61ECAA}"/>
              </a:ext>
            </a:extLst>
          </p:cNvPr>
          <p:cNvCxnSpPr>
            <a:cxnSpLocks/>
          </p:cNvCxnSpPr>
          <p:nvPr/>
        </p:nvCxnSpPr>
        <p:spPr>
          <a:xfrm flipH="1">
            <a:off x="8476636" y="4703967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ector recto de flecha 50">
            <a:extLst>
              <a:ext uri="{FF2B5EF4-FFF2-40B4-BE49-F238E27FC236}">
                <a16:creationId xmlns:a16="http://schemas.microsoft.com/office/drawing/2014/main" id="{805C79F6-C145-43F3-9077-9A33E6C9169A}"/>
              </a:ext>
            </a:extLst>
          </p:cNvPr>
          <p:cNvCxnSpPr>
            <a:cxnSpLocks/>
          </p:cNvCxnSpPr>
          <p:nvPr/>
        </p:nvCxnSpPr>
        <p:spPr>
          <a:xfrm flipH="1">
            <a:off x="3224151" y="2700106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ector recto de flecha 51">
            <a:extLst>
              <a:ext uri="{FF2B5EF4-FFF2-40B4-BE49-F238E27FC236}">
                <a16:creationId xmlns:a16="http://schemas.microsoft.com/office/drawing/2014/main" id="{DB50E5D8-6504-4CC1-B340-EAA9C808CE0C}"/>
              </a:ext>
            </a:extLst>
          </p:cNvPr>
          <p:cNvCxnSpPr>
            <a:cxnSpLocks/>
          </p:cNvCxnSpPr>
          <p:nvPr/>
        </p:nvCxnSpPr>
        <p:spPr>
          <a:xfrm flipH="1">
            <a:off x="3200031" y="4703967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ángulo 53">
            <a:extLst>
              <a:ext uri="{FF2B5EF4-FFF2-40B4-BE49-F238E27FC236}">
                <a16:creationId xmlns:a16="http://schemas.microsoft.com/office/drawing/2014/main" id="{E596ED35-9AC6-48B6-8B38-F647FC335F24}"/>
              </a:ext>
            </a:extLst>
          </p:cNvPr>
          <p:cNvSpPr/>
          <p:nvPr/>
        </p:nvSpPr>
        <p:spPr>
          <a:xfrm>
            <a:off x="648717" y="878797"/>
            <a:ext cx="1508152" cy="28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PRELIMINAR</a:t>
            </a:r>
          </a:p>
        </p:txBody>
      </p:sp>
      <p:sp>
        <p:nvSpPr>
          <p:cNvPr id="2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461CDD3-2ECD-401F-A9DF-E63A28941540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E754CBC2-5015-4126-AE14-5B7AFCD8C1E9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332321230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de Tecnología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55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Resaltados en azul nuevos roles y/o </a:t>
            </a:r>
            <a:br>
              <a:rPr lang="es-ES_tradnl"/>
            </a:br>
            <a:r>
              <a:rPr lang="es-ES_tradnl"/>
              <a:t>responsabilidades; (2) NPS del cliente externo; 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VP de TI gestionará proyectos fundamentados en tecnología, soportará la digitalización del negocio y asumirá el gobierno de datos y la administración del </a:t>
            </a:r>
            <a:r>
              <a:rPr lang="es-ES" err="1"/>
              <a:t>Datawarehouse</a:t>
            </a:r>
            <a:endParaRPr lang="es-E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de Tecnología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837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+mn-lt"/>
                <a:cs typeface="Calibri"/>
              </a:rPr>
              <a:t>Asegurar el correcto funcionamiento de los sistemas de TI y </a:t>
            </a:r>
            <a:r>
              <a:rPr lang="es-CO" sz="1200">
                <a:solidFill>
                  <a:schemeClr val="accent1"/>
                </a:solidFill>
                <a:latin typeface="+mn-lt"/>
                <a:cs typeface="Calibri"/>
              </a:rPr>
              <a:t>liderar el diseño, implementación y monitoreo de iniciativas que permitan optimizar el negocio tradicional y la transformación digital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Dar soporte desde el área de tecnología a la optimización del negocio tradicional y la digitalización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Velar por el correcto funcionamiento de los sistemas y componentes de TI que soportan las operaciones diarias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diseño, implementación y monitoreo de planes que permitan la incorporación de nuevos servicios y soluciones tecnológicas y que apalanquen la estrategia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identificación, definición, desarrollo e implementación de mejoras a los aplicativos actuales y futuros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Establecer un control de los recursos de tecnología que serán asignados a proyectos y dar seguimiento a estos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calidad de la gestión de datos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acuerdos de nivel de servicio internos y externos y garantizar su cumplimiento 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91674"/>
            <a:ext cx="4918780" cy="8554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y avance de los proyectos del área de TI; (2) Cumplimiento volúmenes canal digital; (3) Disponibilidad de las plataformas; (4) Cumplimiento ANS cliente interno; NPS</a:t>
            </a:r>
            <a:r>
              <a:rPr lang="es-ES" sz="1200" kern="0" baseline="30000">
                <a:latin typeface="+mn-lt"/>
                <a:cs typeface="Arial"/>
                <a:sym typeface="Arial"/>
                <a:rtl val="0"/>
              </a:rPr>
              <a:t>2</a:t>
            </a: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9681" y="1509741"/>
            <a:ext cx="1452802" cy="36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gestión de TI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4141" y="2799668"/>
            <a:ext cx="1210797" cy="30495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Presidente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312483" y="1689741"/>
            <a:ext cx="707057" cy="110992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27" idx="3"/>
          </p:cNvCxnSpPr>
          <p:nvPr/>
        </p:nvCxnSpPr>
        <p:spPr>
          <a:xfrm rot="5400000">
            <a:off x="10329280" y="3033189"/>
            <a:ext cx="618829" cy="7616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77737" y="3268314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77737" y="1689741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827774" y="2439810"/>
            <a:ext cx="1040054" cy="28933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577415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012221" y="2994605"/>
            <a:ext cx="671160" cy="104005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11361" y="2459420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278774" y="2729140"/>
            <a:ext cx="1098000" cy="449912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TI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67828" y="2237064"/>
            <a:ext cx="1343533" cy="40549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proyectos de TI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859681" y="2377479"/>
            <a:ext cx="1452802" cy="45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implementación de iniciativas de TI</a:t>
            </a:r>
          </a:p>
        </p:txBody>
      </p: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2FDBDA27-C6BB-45E7-8D54-BC2AE6D3437D}"/>
              </a:ext>
            </a:extLst>
          </p:cNvPr>
          <p:cNvSpPr txBox="1">
            <a:spLocks/>
          </p:cNvSpPr>
          <p:nvPr/>
        </p:nvSpPr>
        <p:spPr>
          <a:xfrm>
            <a:off x="8859681" y="3541234"/>
            <a:ext cx="1398167" cy="36443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</a:t>
            </a:r>
            <a:r>
              <a:rPr lang="es-ES" sz="1100" err="1">
                <a:solidFill>
                  <a:schemeClr val="tx1"/>
                </a:solidFill>
                <a:latin typeface="+mn-lt"/>
              </a:rPr>
              <a:t>transf</a:t>
            </a:r>
            <a:r>
              <a:rPr lang="es-ES" sz="1100">
                <a:solidFill>
                  <a:schemeClr val="tx1"/>
                </a:solidFill>
                <a:latin typeface="+mn-lt"/>
              </a:rPr>
              <a:t>.  digital</a:t>
            </a:r>
          </a:p>
        </p:txBody>
      </p:sp>
      <p:sp>
        <p:nvSpPr>
          <p:cNvPr id="45" name="Marcador de contenido 5">
            <a:extLst>
              <a:ext uri="{FF2B5EF4-FFF2-40B4-BE49-F238E27FC236}">
                <a16:creationId xmlns:a16="http://schemas.microsoft.com/office/drawing/2014/main" id="{BB3C6492-EF82-485B-9B73-039FA412B42F}"/>
              </a:ext>
            </a:extLst>
          </p:cNvPr>
          <p:cNvSpPr txBox="1">
            <a:spLocks/>
          </p:cNvSpPr>
          <p:nvPr/>
        </p:nvSpPr>
        <p:spPr>
          <a:xfrm>
            <a:off x="1867828" y="2737169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resultados de optimización de TI</a:t>
            </a: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872A4596-8CF4-45B5-9432-D95478885931}"/>
              </a:ext>
            </a:extLst>
          </p:cNvPr>
          <p:cNvSpPr/>
          <p:nvPr/>
        </p:nvSpPr>
        <p:spPr>
          <a:xfrm>
            <a:off x="280637" y="4773361"/>
            <a:ext cx="1096137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48E68183-0FDC-485A-A26D-7E98666CF4AA}"/>
              </a:ext>
            </a:extLst>
          </p:cNvPr>
          <p:cNvSpPr txBox="1">
            <a:spLocks/>
          </p:cNvSpPr>
          <p:nvPr/>
        </p:nvSpPr>
        <p:spPr>
          <a:xfrm>
            <a:off x="1867828" y="5235710"/>
            <a:ext cx="1343533" cy="396117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Necesidades de nivel de servicio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F6616485-0560-4F27-B15F-400C05EC4630}"/>
              </a:ext>
            </a:extLst>
          </p:cNvPr>
          <p:cNvSpPr txBox="1">
            <a:spLocks/>
          </p:cNvSpPr>
          <p:nvPr/>
        </p:nvSpPr>
        <p:spPr>
          <a:xfrm>
            <a:off x="1867828" y="4349831"/>
            <a:ext cx="1343533" cy="601632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Cumplimiento acuerdos de nivel de servicio</a:t>
            </a:r>
          </a:p>
        </p:txBody>
      </p:sp>
      <p:cxnSp>
        <p:nvCxnSpPr>
          <p:cNvPr id="36" name="Conector angular 37">
            <a:extLst>
              <a:ext uri="{FF2B5EF4-FFF2-40B4-BE49-F238E27FC236}">
                <a16:creationId xmlns:a16="http://schemas.microsoft.com/office/drawing/2014/main" id="{31213748-29AC-46D8-B3A8-A2B3E643FEA3}"/>
              </a:ext>
            </a:extLst>
          </p:cNvPr>
          <p:cNvCxnSpPr>
            <a:cxnSpLocks/>
            <a:stCxn id="32" idx="2"/>
            <a:endCxn id="34" idx="1"/>
          </p:cNvCxnSpPr>
          <p:nvPr/>
        </p:nvCxnSpPr>
        <p:spPr>
          <a:xfrm rot="16200000" flipH="1">
            <a:off x="1276708" y="4842649"/>
            <a:ext cx="143118" cy="10391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ector angular 37">
            <a:extLst>
              <a:ext uri="{FF2B5EF4-FFF2-40B4-BE49-F238E27FC236}">
                <a16:creationId xmlns:a16="http://schemas.microsoft.com/office/drawing/2014/main" id="{FB474406-35E3-4FA5-BDCD-9B89BD01E8B6}"/>
              </a:ext>
            </a:extLst>
          </p:cNvPr>
          <p:cNvCxnSpPr>
            <a:cxnSpLocks/>
            <a:stCxn id="35" idx="1"/>
            <a:endCxn id="32" idx="0"/>
          </p:cNvCxnSpPr>
          <p:nvPr/>
        </p:nvCxnSpPr>
        <p:spPr>
          <a:xfrm rot="10800000" flipV="1">
            <a:off x="828706" y="4650647"/>
            <a:ext cx="1039122" cy="12271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Marcador de contenido 5">
            <a:extLst>
              <a:ext uri="{FF2B5EF4-FFF2-40B4-BE49-F238E27FC236}">
                <a16:creationId xmlns:a16="http://schemas.microsoft.com/office/drawing/2014/main" id="{3B13DDEF-7CF1-4334-882A-4445AC756361}"/>
              </a:ext>
            </a:extLst>
          </p:cNvPr>
          <p:cNvSpPr txBox="1">
            <a:spLocks/>
          </p:cNvSpPr>
          <p:nvPr/>
        </p:nvSpPr>
        <p:spPr>
          <a:xfrm>
            <a:off x="8859681" y="1948055"/>
            <a:ext cx="1452802" cy="36093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Portafolio de proyectos de TI</a:t>
            </a:r>
          </a:p>
        </p:txBody>
      </p:sp>
      <p:sp>
        <p:nvSpPr>
          <p:cNvPr id="58" name="Marcador de contenido 5">
            <a:extLst>
              <a:ext uri="{FF2B5EF4-FFF2-40B4-BE49-F238E27FC236}">
                <a16:creationId xmlns:a16="http://schemas.microsoft.com/office/drawing/2014/main" id="{C24A4AB4-6BA1-403D-A386-8D9B1CF453E8}"/>
              </a:ext>
            </a:extLst>
          </p:cNvPr>
          <p:cNvSpPr txBox="1">
            <a:spLocks/>
          </p:cNvSpPr>
          <p:nvPr/>
        </p:nvSpPr>
        <p:spPr>
          <a:xfrm>
            <a:off x="8859681" y="3050731"/>
            <a:ext cx="1398167" cy="43516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proy. de TI aprobado</a:t>
            </a:r>
          </a:p>
        </p:txBody>
      </p: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F1E804AF-DDF5-498F-BB96-B4091DA9D8B4}"/>
              </a:ext>
            </a:extLst>
          </p:cNvPr>
          <p:cNvSpPr txBox="1">
            <a:spLocks/>
          </p:cNvSpPr>
          <p:nvPr/>
        </p:nvSpPr>
        <p:spPr>
          <a:xfrm>
            <a:off x="1867828" y="1764153"/>
            <a:ext cx="1343533" cy="40549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C10CB5F3-6358-4C8D-8DD1-8CBE50190662}"/>
              </a:ext>
            </a:extLst>
          </p:cNvPr>
          <p:cNvSpPr txBox="1">
            <a:spLocks/>
          </p:cNvSpPr>
          <p:nvPr/>
        </p:nvSpPr>
        <p:spPr>
          <a:xfrm>
            <a:off x="8859681" y="3959999"/>
            <a:ext cx="1398167" cy="4977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resultados de optimización de TI</a:t>
            </a:r>
          </a:p>
        </p:txBody>
      </p:sp>
      <p:cxnSp>
        <p:nvCxnSpPr>
          <p:cNvPr id="76" name="Conector angular 37">
            <a:extLst>
              <a:ext uri="{FF2B5EF4-FFF2-40B4-BE49-F238E27FC236}">
                <a16:creationId xmlns:a16="http://schemas.microsoft.com/office/drawing/2014/main" id="{A8C59637-C59C-4411-8D34-99A83B74F0E4}"/>
              </a:ext>
            </a:extLst>
          </p:cNvPr>
          <p:cNvCxnSpPr>
            <a:cxnSpLocks/>
            <a:stCxn id="11" idx="2"/>
            <a:endCxn id="72" idx="3"/>
          </p:cNvCxnSpPr>
          <p:nvPr/>
        </p:nvCxnSpPr>
        <p:spPr>
          <a:xfrm rot="5400000">
            <a:off x="10086580" y="3275889"/>
            <a:ext cx="1104229" cy="7616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angular 32">
            <a:extLst>
              <a:ext uri="{FF2B5EF4-FFF2-40B4-BE49-F238E27FC236}">
                <a16:creationId xmlns:a16="http://schemas.microsoft.com/office/drawing/2014/main" id="{078BAEE3-EEDF-40A7-B230-D4BD649E356A}"/>
              </a:ext>
            </a:extLst>
          </p:cNvPr>
          <p:cNvCxnSpPr>
            <a:cxnSpLocks/>
            <a:stCxn id="52" idx="3"/>
            <a:endCxn id="11" idx="0"/>
          </p:cNvCxnSpPr>
          <p:nvPr/>
        </p:nvCxnSpPr>
        <p:spPr>
          <a:xfrm>
            <a:off x="10312483" y="2128524"/>
            <a:ext cx="707057" cy="67114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angular 32">
            <a:extLst>
              <a:ext uri="{FF2B5EF4-FFF2-40B4-BE49-F238E27FC236}">
                <a16:creationId xmlns:a16="http://schemas.microsoft.com/office/drawing/2014/main" id="{5AC69625-1B67-4F21-8D16-16727DC74712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312483" y="2602479"/>
            <a:ext cx="707057" cy="19718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angular 37">
            <a:extLst>
              <a:ext uri="{FF2B5EF4-FFF2-40B4-BE49-F238E27FC236}">
                <a16:creationId xmlns:a16="http://schemas.microsoft.com/office/drawing/2014/main" id="{B749E838-E44C-4958-8461-1F0777A7592C}"/>
              </a:ext>
            </a:extLst>
          </p:cNvPr>
          <p:cNvCxnSpPr>
            <a:cxnSpLocks/>
            <a:stCxn id="11" idx="2"/>
            <a:endCxn id="58" idx="3"/>
          </p:cNvCxnSpPr>
          <p:nvPr/>
        </p:nvCxnSpPr>
        <p:spPr>
          <a:xfrm rot="5400000">
            <a:off x="10556848" y="2805621"/>
            <a:ext cx="163693" cy="7616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A03964EC-1A43-44BC-8B11-885BDF885DBE}"/>
              </a:ext>
            </a:extLst>
          </p:cNvPr>
          <p:cNvCxnSpPr>
            <a:cxnSpLocks/>
          </p:cNvCxnSpPr>
          <p:nvPr/>
        </p:nvCxnSpPr>
        <p:spPr>
          <a:xfrm flipH="1">
            <a:off x="8477737" y="3723450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ABB7F176-6094-4989-8426-06860849603D}"/>
              </a:ext>
            </a:extLst>
          </p:cNvPr>
          <p:cNvCxnSpPr>
            <a:cxnSpLocks/>
          </p:cNvCxnSpPr>
          <p:nvPr/>
        </p:nvCxnSpPr>
        <p:spPr>
          <a:xfrm flipH="1">
            <a:off x="8477737" y="4178724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angular 23">
            <a:extLst>
              <a:ext uri="{FF2B5EF4-FFF2-40B4-BE49-F238E27FC236}">
                <a16:creationId xmlns:a16="http://schemas.microsoft.com/office/drawing/2014/main" id="{C07D61A0-09C4-4B46-907A-CF5BA7BA8234}"/>
              </a:ext>
            </a:extLst>
          </p:cNvPr>
          <p:cNvCxnSpPr>
            <a:cxnSpLocks/>
            <a:stCxn id="69" idx="1"/>
            <a:endCxn id="22" idx="0"/>
          </p:cNvCxnSpPr>
          <p:nvPr/>
        </p:nvCxnSpPr>
        <p:spPr>
          <a:xfrm rot="10800000" flipV="1">
            <a:off x="827774" y="1966898"/>
            <a:ext cx="1040054" cy="76224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ector recto de flecha 45">
            <a:extLst>
              <a:ext uri="{FF2B5EF4-FFF2-40B4-BE49-F238E27FC236}">
                <a16:creationId xmlns:a16="http://schemas.microsoft.com/office/drawing/2014/main" id="{4D559E4F-1A75-449D-B143-5CFDD74E0893}"/>
              </a:ext>
            </a:extLst>
          </p:cNvPr>
          <p:cNvCxnSpPr>
            <a:cxnSpLocks/>
          </p:cNvCxnSpPr>
          <p:nvPr/>
        </p:nvCxnSpPr>
        <p:spPr>
          <a:xfrm flipH="1">
            <a:off x="3211361" y="1963234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ector recto de flecha 46">
            <a:extLst>
              <a:ext uri="{FF2B5EF4-FFF2-40B4-BE49-F238E27FC236}">
                <a16:creationId xmlns:a16="http://schemas.microsoft.com/office/drawing/2014/main" id="{63CDEDE2-8F19-4F31-B2CB-AD430E8C8EF1}"/>
              </a:ext>
            </a:extLst>
          </p:cNvPr>
          <p:cNvCxnSpPr>
            <a:cxnSpLocks/>
          </p:cNvCxnSpPr>
          <p:nvPr/>
        </p:nvCxnSpPr>
        <p:spPr>
          <a:xfrm flipH="1">
            <a:off x="3211361" y="3058387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B2D469D8-A177-4990-A3A6-B911AD6EF5EF}"/>
              </a:ext>
            </a:extLst>
          </p:cNvPr>
          <p:cNvCxnSpPr>
            <a:cxnSpLocks/>
          </p:cNvCxnSpPr>
          <p:nvPr/>
        </p:nvCxnSpPr>
        <p:spPr>
          <a:xfrm flipH="1">
            <a:off x="3211361" y="4646858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ector recto de flecha 48">
            <a:extLst>
              <a:ext uri="{FF2B5EF4-FFF2-40B4-BE49-F238E27FC236}">
                <a16:creationId xmlns:a16="http://schemas.microsoft.com/office/drawing/2014/main" id="{89E0ABB5-C25B-4F2A-B271-B7BD9646E306}"/>
              </a:ext>
            </a:extLst>
          </p:cNvPr>
          <p:cNvCxnSpPr>
            <a:cxnSpLocks/>
          </p:cNvCxnSpPr>
          <p:nvPr/>
        </p:nvCxnSpPr>
        <p:spPr>
          <a:xfrm>
            <a:off x="3211361" y="3846424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ector recto de flecha 50">
            <a:extLst>
              <a:ext uri="{FF2B5EF4-FFF2-40B4-BE49-F238E27FC236}">
                <a16:creationId xmlns:a16="http://schemas.microsoft.com/office/drawing/2014/main" id="{72A30359-D05C-4315-834E-A0B2CE907755}"/>
              </a:ext>
            </a:extLst>
          </p:cNvPr>
          <p:cNvCxnSpPr>
            <a:cxnSpLocks/>
          </p:cNvCxnSpPr>
          <p:nvPr/>
        </p:nvCxnSpPr>
        <p:spPr>
          <a:xfrm>
            <a:off x="3211361" y="5413486"/>
            <a:ext cx="324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3C22432E-39C8-43F7-B741-48AB63674895}"/>
              </a:ext>
            </a:extLst>
          </p:cNvPr>
          <p:cNvCxnSpPr>
            <a:cxnSpLocks/>
          </p:cNvCxnSpPr>
          <p:nvPr/>
        </p:nvCxnSpPr>
        <p:spPr>
          <a:xfrm>
            <a:off x="8477737" y="2160552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ector recto de flecha 53">
            <a:extLst>
              <a:ext uri="{FF2B5EF4-FFF2-40B4-BE49-F238E27FC236}">
                <a16:creationId xmlns:a16="http://schemas.microsoft.com/office/drawing/2014/main" id="{96878C49-63CB-41A3-A1C4-4D8D9FE4B422}"/>
              </a:ext>
            </a:extLst>
          </p:cNvPr>
          <p:cNvCxnSpPr>
            <a:cxnSpLocks/>
          </p:cNvCxnSpPr>
          <p:nvPr/>
        </p:nvCxnSpPr>
        <p:spPr>
          <a:xfrm>
            <a:off x="8477737" y="2602435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ángulo 54">
            <a:extLst>
              <a:ext uri="{FF2B5EF4-FFF2-40B4-BE49-F238E27FC236}">
                <a16:creationId xmlns:a16="http://schemas.microsoft.com/office/drawing/2014/main" id="{67A75B18-C15E-4092-A0FF-D319D9C5789C}"/>
              </a:ext>
            </a:extLst>
          </p:cNvPr>
          <p:cNvSpPr/>
          <p:nvPr/>
        </p:nvSpPr>
        <p:spPr>
          <a:xfrm>
            <a:off x="10414141" y="5046149"/>
            <a:ext cx="1111551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100"/>
              <a:t>VP </a:t>
            </a:r>
            <a:r>
              <a:rPr lang="en-US" sz="1100" err="1"/>
              <a:t>Innovación</a:t>
            </a:r>
            <a:r>
              <a:rPr lang="en-US" sz="1100"/>
              <a:t> y Dig.</a:t>
            </a:r>
          </a:p>
        </p:txBody>
      </p:sp>
      <p:sp>
        <p:nvSpPr>
          <p:cNvPr id="56" name="Marcador de contenido 5">
            <a:extLst>
              <a:ext uri="{FF2B5EF4-FFF2-40B4-BE49-F238E27FC236}">
                <a16:creationId xmlns:a16="http://schemas.microsoft.com/office/drawing/2014/main" id="{8FB9A5ED-B547-44DC-BBB9-E702618F359D}"/>
              </a:ext>
            </a:extLst>
          </p:cNvPr>
          <p:cNvSpPr txBox="1">
            <a:spLocks/>
          </p:cNvSpPr>
          <p:nvPr/>
        </p:nvSpPr>
        <p:spPr>
          <a:xfrm>
            <a:off x="8859681" y="4523974"/>
            <a:ext cx="1398167" cy="866577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s-ES" sz="1100">
                <a:solidFill>
                  <a:schemeClr val="bg1"/>
                </a:solidFill>
                <a:latin typeface="+mn-lt"/>
              </a:rPr>
              <a:t>Requerimiento de apoyo en definición de estrategia de transformación interna</a:t>
            </a:r>
          </a:p>
        </p:txBody>
      </p:sp>
      <p:sp>
        <p:nvSpPr>
          <p:cNvPr id="57" name="Marcador de contenido 5">
            <a:extLst>
              <a:ext uri="{FF2B5EF4-FFF2-40B4-BE49-F238E27FC236}">
                <a16:creationId xmlns:a16="http://schemas.microsoft.com/office/drawing/2014/main" id="{543C935F-0E57-4F9B-A71E-99B04732C496}"/>
              </a:ext>
            </a:extLst>
          </p:cNvPr>
          <p:cNvSpPr txBox="1">
            <a:spLocks/>
          </p:cNvSpPr>
          <p:nvPr/>
        </p:nvSpPr>
        <p:spPr>
          <a:xfrm>
            <a:off x="8859681" y="5461042"/>
            <a:ext cx="1398167" cy="471437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Apoyo a la transformación digital interna</a:t>
            </a:r>
          </a:p>
        </p:txBody>
      </p:sp>
      <p:cxnSp>
        <p:nvCxnSpPr>
          <p:cNvPr id="59" name="Conector angular 37">
            <a:extLst>
              <a:ext uri="{FF2B5EF4-FFF2-40B4-BE49-F238E27FC236}">
                <a16:creationId xmlns:a16="http://schemas.microsoft.com/office/drawing/2014/main" id="{E8BD7951-B4F2-4F3F-BA64-77EA1A2D7759}"/>
              </a:ext>
            </a:extLst>
          </p:cNvPr>
          <p:cNvCxnSpPr>
            <a:cxnSpLocks/>
            <a:stCxn id="55" idx="2"/>
            <a:endCxn id="57" idx="3"/>
          </p:cNvCxnSpPr>
          <p:nvPr/>
        </p:nvCxnSpPr>
        <p:spPr>
          <a:xfrm rot="5400000">
            <a:off x="10558577" y="5285421"/>
            <a:ext cx="110612" cy="71206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angular 32">
            <a:extLst>
              <a:ext uri="{FF2B5EF4-FFF2-40B4-BE49-F238E27FC236}">
                <a16:creationId xmlns:a16="http://schemas.microsoft.com/office/drawing/2014/main" id="{55BE2315-268F-47F4-883B-718F8C2F1468}"/>
              </a:ext>
            </a:extLst>
          </p:cNvPr>
          <p:cNvCxnSpPr>
            <a:cxnSpLocks/>
            <a:stCxn id="56" idx="3"/>
            <a:endCxn id="55" idx="0"/>
          </p:cNvCxnSpPr>
          <p:nvPr/>
        </p:nvCxnSpPr>
        <p:spPr>
          <a:xfrm>
            <a:off x="10257848" y="4957263"/>
            <a:ext cx="712069" cy="8888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19352E68-4A93-4901-BF4A-4C97E7EAED3E}"/>
              </a:ext>
            </a:extLst>
          </p:cNvPr>
          <p:cNvCxnSpPr>
            <a:cxnSpLocks/>
          </p:cNvCxnSpPr>
          <p:nvPr/>
        </p:nvCxnSpPr>
        <p:spPr>
          <a:xfrm flipH="1">
            <a:off x="8477737" y="5581348"/>
            <a:ext cx="367200" cy="176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ector recto de flecha 86">
            <a:extLst>
              <a:ext uri="{FF2B5EF4-FFF2-40B4-BE49-F238E27FC236}">
                <a16:creationId xmlns:a16="http://schemas.microsoft.com/office/drawing/2014/main" id="{E206B7C4-6D1D-4106-B46D-7345A2560449}"/>
              </a:ext>
            </a:extLst>
          </p:cNvPr>
          <p:cNvCxnSpPr>
            <a:cxnSpLocks/>
          </p:cNvCxnSpPr>
          <p:nvPr/>
        </p:nvCxnSpPr>
        <p:spPr>
          <a:xfrm>
            <a:off x="8477737" y="4951463"/>
            <a:ext cx="3672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Flecha: pentágono 80">
            <a:extLst>
              <a:ext uri="{FF2B5EF4-FFF2-40B4-BE49-F238E27FC236}">
                <a16:creationId xmlns:a16="http://schemas.microsoft.com/office/drawing/2014/main" id="{8CFEEB76-DBF6-4BBE-ACF1-50299B1B22D4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82" name="Imagen 81" descr="Imagen que contiene dibujo&#10;&#10;Descripción generada automáticamente">
            <a:extLst>
              <a:ext uri="{FF2B5EF4-FFF2-40B4-BE49-F238E27FC236}">
                <a16:creationId xmlns:a16="http://schemas.microsoft.com/office/drawing/2014/main" id="{01899235-D5D0-45E1-8E42-331CEC3B9E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4" name="Rectángulo 3">
            <a:extLst>
              <a:ext uri="{FF2B5EF4-FFF2-40B4-BE49-F238E27FC236}">
                <a16:creationId xmlns:a16="http://schemas.microsoft.com/office/drawing/2014/main" id="{65ACDF6F-EB3B-4651-AA9A-082063E9555B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1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0AFE374-6094-4E99-BD1D-EE6A11CE40E0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B861A7C2-D052-4F8A-8A66-20BDFBD80191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98318137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Desarrollo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56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Desarrollo liderará el desarrollo de soluciones de software desde su planeación hasta su implementación y aportará expertise técnico a iniciativas y/o proyectos de digitalización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333421" y="1493442"/>
            <a:ext cx="5130523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Desarrollo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333421" y="1853116"/>
            <a:ext cx="5130523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Planear, desarrollar, analizar, e implementar soluciones de software que contribuyan a la funcionalidad de los productos de la organización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Aportar expertise técnico en desarrollo de software a proyectos y/o iniciativas de digitalización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Hacer seguimiento a los cronogramas para el montaje de nuevas funcionalidades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Diseño detallado de la solución, donde se describen conectores, puntos de integración, se identifican procesos y subprocesos.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Planeación de la solución (cronogramas para la atención de la solicitud)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Seguimiento y control de la construcción de los artefactos de software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Evaluación del impacto de una modificación al requerimiento original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que las pruebas del software sean satisfactorias y cumplan con los requerimientos del proyecto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Verificar que el software entregado como parte de la solución sea integral y funcional</a:t>
            </a:r>
          </a:p>
          <a:p>
            <a:pPr marL="447675" lvl="1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1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330540" y="5567818"/>
            <a:ext cx="5133404" cy="77271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Cump. hitos de implementación del modelo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transf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. digital de la organización; (2) Disminución número de bugs críticos; (3) Conversión a producción (lead time); (4) NPS del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669775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208791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TI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1912182"/>
            <a:ext cx="798461" cy="29660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49" idx="3"/>
          </p:cNvCxnSpPr>
          <p:nvPr/>
        </p:nvCxnSpPr>
        <p:spPr>
          <a:xfrm rot="5400000">
            <a:off x="10295597" y="2571775"/>
            <a:ext cx="444428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3944" y="1912182"/>
            <a:ext cx="39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9" y="2818258"/>
            <a:ext cx="741027" cy="85804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69204" y="4153757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198353" y="3955703"/>
            <a:ext cx="210256" cy="73144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022318" y="281825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676298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Desarrollo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78785" y="2524644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Backlog de soluciones a desarrollar</a:t>
            </a: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76B47A25-A66B-4D5A-8ED1-AB09F0461A7C}"/>
              </a:ext>
            </a:extLst>
          </p:cNvPr>
          <p:cNvSpPr/>
          <p:nvPr/>
        </p:nvSpPr>
        <p:spPr>
          <a:xfrm>
            <a:off x="10413040" y="4598876"/>
            <a:ext cx="1096137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Innovación y Digitalización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D0CF5286-B0ED-4337-83EA-1ED719A28AE4}"/>
              </a:ext>
            </a:extLst>
          </p:cNvPr>
          <p:cNvSpPr txBox="1">
            <a:spLocks/>
          </p:cNvSpPr>
          <p:nvPr/>
        </p:nvSpPr>
        <p:spPr>
          <a:xfrm>
            <a:off x="8858580" y="3680311"/>
            <a:ext cx="1260000" cy="341324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Expertise Técnico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42808FC7-A437-4534-85BD-A793A3416DFE}"/>
              </a:ext>
            </a:extLst>
          </p:cNvPr>
          <p:cNvSpPr txBox="1">
            <a:spLocks/>
          </p:cNvSpPr>
          <p:nvPr/>
        </p:nvSpPr>
        <p:spPr>
          <a:xfrm>
            <a:off x="8858580" y="4958861"/>
            <a:ext cx="1260000" cy="566255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Portafolio de Iniciativas de Digitalización</a:t>
            </a:r>
          </a:p>
        </p:txBody>
      </p:sp>
      <p:sp>
        <p:nvSpPr>
          <p:cNvPr id="36" name="Marcador de contenido 5">
            <a:extLst>
              <a:ext uri="{FF2B5EF4-FFF2-40B4-BE49-F238E27FC236}">
                <a16:creationId xmlns:a16="http://schemas.microsoft.com/office/drawing/2014/main" id="{A3611B3D-76FE-4A15-97DE-4EA1F91969D9}"/>
              </a:ext>
            </a:extLst>
          </p:cNvPr>
          <p:cNvSpPr txBox="1">
            <a:spLocks/>
          </p:cNvSpPr>
          <p:nvPr/>
        </p:nvSpPr>
        <p:spPr>
          <a:xfrm>
            <a:off x="8858580" y="4074217"/>
            <a:ext cx="1260000" cy="704674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Equipo de Desarrolladores asignado a las células de trabajo</a:t>
            </a:r>
          </a:p>
        </p:txBody>
      </p:sp>
      <p:cxnSp>
        <p:nvCxnSpPr>
          <p:cNvPr id="37" name="Conector angular 37">
            <a:extLst>
              <a:ext uri="{FF2B5EF4-FFF2-40B4-BE49-F238E27FC236}">
                <a16:creationId xmlns:a16="http://schemas.microsoft.com/office/drawing/2014/main" id="{30EA9438-3C41-49DD-9C9E-8F1C0C16DCE5}"/>
              </a:ext>
            </a:extLst>
          </p:cNvPr>
          <p:cNvCxnSpPr>
            <a:cxnSpLocks/>
            <a:stCxn id="31" idx="2"/>
            <a:endCxn id="35" idx="3"/>
          </p:cNvCxnSpPr>
          <p:nvPr/>
        </p:nvCxnSpPr>
        <p:spPr>
          <a:xfrm rot="5400000">
            <a:off x="10488289" y="4769168"/>
            <a:ext cx="103113" cy="84252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ector angular 32">
            <a:extLst>
              <a:ext uri="{FF2B5EF4-FFF2-40B4-BE49-F238E27FC236}">
                <a16:creationId xmlns:a16="http://schemas.microsoft.com/office/drawing/2014/main" id="{5D2CAD61-0A5A-4FED-901E-24BB81CE811D}"/>
              </a:ext>
            </a:extLst>
          </p:cNvPr>
          <p:cNvCxnSpPr>
            <a:cxnSpLocks/>
            <a:stCxn id="36" idx="3"/>
            <a:endCxn id="31" idx="0"/>
          </p:cNvCxnSpPr>
          <p:nvPr/>
        </p:nvCxnSpPr>
        <p:spPr>
          <a:xfrm>
            <a:off x="10118580" y="4426554"/>
            <a:ext cx="842529" cy="17232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angular 32">
            <a:extLst>
              <a:ext uri="{FF2B5EF4-FFF2-40B4-BE49-F238E27FC236}">
                <a16:creationId xmlns:a16="http://schemas.microsoft.com/office/drawing/2014/main" id="{A439D3CC-A97B-4115-9D98-4861E9A6BD09}"/>
              </a:ext>
            </a:extLst>
          </p:cNvPr>
          <p:cNvCxnSpPr>
            <a:cxnSpLocks/>
            <a:stCxn id="34" idx="3"/>
            <a:endCxn id="31" idx="0"/>
          </p:cNvCxnSpPr>
          <p:nvPr/>
        </p:nvCxnSpPr>
        <p:spPr>
          <a:xfrm>
            <a:off x="10118580" y="3850973"/>
            <a:ext cx="842529" cy="74790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D649344E-7D2C-4084-95CA-C1727773A6EF}"/>
              </a:ext>
            </a:extLst>
          </p:cNvPr>
          <p:cNvSpPr txBox="1">
            <a:spLocks/>
          </p:cNvSpPr>
          <p:nvPr/>
        </p:nvSpPr>
        <p:spPr>
          <a:xfrm>
            <a:off x="8858580" y="2950812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Backlog de Soluciones a Desarrollar</a:t>
            </a:r>
          </a:p>
        </p:txBody>
      </p: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4D7969D3-0F20-466D-9CC6-A7998DD89773}"/>
              </a:ext>
            </a:extLst>
          </p:cNvPr>
          <p:cNvSpPr txBox="1">
            <a:spLocks/>
          </p:cNvSpPr>
          <p:nvPr/>
        </p:nvSpPr>
        <p:spPr>
          <a:xfrm>
            <a:off x="1678785" y="3303609"/>
            <a:ext cx="1343533" cy="472608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Técnicos</a:t>
            </a:r>
          </a:p>
        </p:txBody>
      </p:sp>
      <p:cxnSp>
        <p:nvCxnSpPr>
          <p:cNvPr id="66" name="Conector angular 23">
            <a:extLst>
              <a:ext uri="{FF2B5EF4-FFF2-40B4-BE49-F238E27FC236}">
                <a16:creationId xmlns:a16="http://schemas.microsoft.com/office/drawing/2014/main" id="{CBE73C74-8AEC-45DC-BF31-50D86F258F4E}"/>
              </a:ext>
            </a:extLst>
          </p:cNvPr>
          <p:cNvCxnSpPr>
            <a:cxnSpLocks/>
            <a:stCxn id="61" idx="1"/>
            <a:endCxn id="22" idx="0"/>
          </p:cNvCxnSpPr>
          <p:nvPr/>
        </p:nvCxnSpPr>
        <p:spPr>
          <a:xfrm rot="10800000" flipV="1">
            <a:off x="937759" y="3539912"/>
            <a:ext cx="741027" cy="13638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9" name="Conector recto de flecha 68">
            <a:extLst>
              <a:ext uri="{FF2B5EF4-FFF2-40B4-BE49-F238E27FC236}">
                <a16:creationId xmlns:a16="http://schemas.microsoft.com/office/drawing/2014/main" id="{506B440B-834B-4B13-933E-36B5514A4C4B}"/>
              </a:ext>
            </a:extLst>
          </p:cNvPr>
          <p:cNvCxnSpPr>
            <a:cxnSpLocks/>
          </p:cNvCxnSpPr>
          <p:nvPr/>
        </p:nvCxnSpPr>
        <p:spPr>
          <a:xfrm flipH="1">
            <a:off x="3022318" y="3546122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A7FCDD55-B9D1-45EC-B7E3-1A5D14D61839}"/>
              </a:ext>
            </a:extLst>
          </p:cNvPr>
          <p:cNvCxnSpPr>
            <a:cxnSpLocks/>
          </p:cNvCxnSpPr>
          <p:nvPr/>
        </p:nvCxnSpPr>
        <p:spPr>
          <a:xfrm>
            <a:off x="8463944" y="3850973"/>
            <a:ext cx="39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9CF381B7-5D8A-46A4-A254-EF46F624AFC0}"/>
              </a:ext>
            </a:extLst>
          </p:cNvPr>
          <p:cNvCxnSpPr>
            <a:cxnSpLocks/>
          </p:cNvCxnSpPr>
          <p:nvPr/>
        </p:nvCxnSpPr>
        <p:spPr>
          <a:xfrm>
            <a:off x="8463944" y="4426554"/>
            <a:ext cx="396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64319160-A763-4115-99BA-5080368121B1}"/>
              </a:ext>
            </a:extLst>
          </p:cNvPr>
          <p:cNvCxnSpPr>
            <a:cxnSpLocks/>
          </p:cNvCxnSpPr>
          <p:nvPr/>
        </p:nvCxnSpPr>
        <p:spPr>
          <a:xfrm>
            <a:off x="3034960" y="4381325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EB92A321-79AE-4AC8-B9B4-323403A1DFC0}"/>
              </a:ext>
            </a:extLst>
          </p:cNvPr>
          <p:cNvCxnSpPr>
            <a:cxnSpLocks/>
          </p:cNvCxnSpPr>
          <p:nvPr/>
        </p:nvCxnSpPr>
        <p:spPr>
          <a:xfrm flipH="1">
            <a:off x="8463944" y="3193219"/>
            <a:ext cx="396000" cy="255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25D3245C-5167-4B1C-B0B3-D6210A3B0388}"/>
              </a:ext>
            </a:extLst>
          </p:cNvPr>
          <p:cNvCxnSpPr>
            <a:cxnSpLocks/>
          </p:cNvCxnSpPr>
          <p:nvPr/>
        </p:nvCxnSpPr>
        <p:spPr>
          <a:xfrm flipH="1">
            <a:off x="8463944" y="5241989"/>
            <a:ext cx="396000" cy="255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Marcador de pie de página 2">
            <a:extLst>
              <a:ext uri="{FF2B5EF4-FFF2-40B4-BE49-F238E27FC236}">
                <a16:creationId xmlns:a16="http://schemas.microsoft.com/office/drawing/2014/main" id="{3FD71CE7-E7A7-48A9-A120-A4A98B8DF64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15" name="Flecha: pentágono 14">
            <a:extLst>
              <a:ext uri="{FF2B5EF4-FFF2-40B4-BE49-F238E27FC236}">
                <a16:creationId xmlns:a16="http://schemas.microsoft.com/office/drawing/2014/main" id="{EE69B18B-B1A2-425B-BF0E-17F5FF196E2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0" name="Imagen 19" descr="Imagen que contiene dibujo&#10;&#10;Descripción generada automáticamente">
            <a:extLst>
              <a:ext uri="{FF2B5EF4-FFF2-40B4-BE49-F238E27FC236}">
                <a16:creationId xmlns:a16="http://schemas.microsoft.com/office/drawing/2014/main" id="{3F6CF102-78B0-47CE-8078-2A75022A97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4" name="Rectángulo 23">
            <a:extLst>
              <a:ext uri="{FF2B5EF4-FFF2-40B4-BE49-F238E27FC236}">
                <a16:creationId xmlns:a16="http://schemas.microsoft.com/office/drawing/2014/main" id="{A7470924-AE88-4BF7-9AEC-C75440EC784A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5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1EF7C3C-92CC-4D65-BF69-0E7FFE287F38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2D977761-1443-4B9C-9B2E-9E0ECE2F44C8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40936874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Proyectos de TI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57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Proyectos de Ti gestionará el portafolio de proyectos estratégicos de fundamento tecnológico de la organización, asegurando la implementación exitosa de la estrategia</a:t>
            </a:r>
          </a:p>
          <a:p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Proyectos de TI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portafolio de proyectos estratégicos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de fundamento tecnológico</a:t>
            </a:r>
            <a:r>
              <a:rPr lang="es-ES" sz="1200">
                <a:latin typeface="+mn-lt"/>
                <a:cs typeface="Calibri"/>
              </a:rPr>
              <a:t> para asegurar la implementación exitosa de la estrategia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Construir plan de negocio inicial y plan detallado de iniciativas estratégicas y de fundamento tecnológico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Viabilidad financiera, comercial y técnica</a:t>
            </a: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Inversión requerida/capital afectado – </a:t>
            </a:r>
            <a:r>
              <a:rPr lang="es-ES" sz="1100" err="1">
                <a:latin typeface="+mn-lt"/>
                <a:cs typeface="Calibri"/>
              </a:rPr>
              <a:t>Capex</a:t>
            </a:r>
            <a:r>
              <a:rPr lang="es-ES" sz="1100">
                <a:latin typeface="+mn-lt"/>
                <a:cs typeface="Calibri"/>
              </a:rPr>
              <a:t>/</a:t>
            </a:r>
            <a:r>
              <a:rPr lang="es-ES" sz="1100" err="1">
                <a:latin typeface="+mn-lt"/>
                <a:cs typeface="Calibri"/>
              </a:rPr>
              <a:t>Opex</a:t>
            </a:r>
            <a:endParaRPr lang="es-ES" sz="1100">
              <a:latin typeface="+mn-lt"/>
              <a:cs typeface="Calibri"/>
            </a:endParaRPr>
          </a:p>
          <a:p>
            <a:pPr marL="452437" lvl="1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+mn-lt"/>
                <a:cs typeface="Calibri"/>
              </a:rPr>
              <a:t>Definir de cronogramas, tiempos, participantes internos y externos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Generar métricas de seguimiento de iniciativas estratégicas de fundamento tecnológico que sean ejecutables y medibles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seguimiento y control de la implementación de iniciativas estratégicas de fundamento tecnológico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y coordinar el esfuerzo del equipo de TI y otras áreas relevantes – asegurar mirada integral del plan de negocios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y gestionar barreras y riesgos en la implementación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Ejecutar cierre de ejecución del proyecto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Cump. hitos de implementación del modelo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transf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. digital de la organización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03899" y="1558879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implementación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58360" y="1917206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 de TI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63899" y="1801286"/>
            <a:ext cx="798461" cy="11592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03899" y="2342532"/>
            <a:ext cx="1260000" cy="93060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Portafolio de iniciativas estratégicas de fundamentos tecnológico 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287817" y="2233289"/>
            <a:ext cx="350627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3944" y="1801286"/>
            <a:ext cx="3384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645369"/>
            <a:ext cx="942860" cy="63861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</p:cNvCxnSpPr>
          <p:nvPr/>
        </p:nvCxnSpPr>
        <p:spPr>
          <a:xfrm rot="16200000" flipH="1">
            <a:off x="1253446" y="3508293"/>
            <a:ext cx="298694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645369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28398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Lideres Iniciativas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462806"/>
            <a:ext cx="1343533" cy="3651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Gestión y seguimiento</a:t>
            </a:r>
          </a:p>
        </p:txBody>
      </p:sp>
      <p:sp>
        <p:nvSpPr>
          <p:cNvPr id="45" name="Marcador de contenido 5">
            <a:extLst>
              <a:ext uri="{FF2B5EF4-FFF2-40B4-BE49-F238E27FC236}">
                <a16:creationId xmlns:a16="http://schemas.microsoft.com/office/drawing/2014/main" id="{70AC71CB-9EF7-4FA9-86E1-0E66D6FE80FE}"/>
              </a:ext>
            </a:extLst>
          </p:cNvPr>
          <p:cNvSpPr txBox="1">
            <a:spLocks/>
          </p:cNvSpPr>
          <p:nvPr/>
        </p:nvSpPr>
        <p:spPr>
          <a:xfrm>
            <a:off x="1880618" y="2869886"/>
            <a:ext cx="1343533" cy="3651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Apoyo en toma de decisiones 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693EA1C7-51D6-43D6-BC2C-1C13186F9858}"/>
              </a:ext>
            </a:extLst>
          </p:cNvPr>
          <p:cNvSpPr txBox="1">
            <a:spLocks/>
          </p:cNvSpPr>
          <p:nvPr/>
        </p:nvSpPr>
        <p:spPr>
          <a:xfrm>
            <a:off x="1880618" y="3823981"/>
            <a:ext cx="1343533" cy="3651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Informes </a:t>
            </a:r>
            <a:br>
              <a:rPr lang="es-ES" sz="1100">
                <a:solidFill>
                  <a:schemeClr val="tx1"/>
                </a:solidFill>
                <a:latin typeface="+mn-lt"/>
              </a:rPr>
            </a:br>
            <a:r>
              <a:rPr lang="es-ES" sz="1100">
                <a:solidFill>
                  <a:schemeClr val="tx1"/>
                </a:solidFill>
                <a:latin typeface="+mn-lt"/>
              </a:rPr>
              <a:t>de avance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517DC53A-2D15-4130-845D-D63217BDDCA3}"/>
              </a:ext>
            </a:extLst>
          </p:cNvPr>
          <p:cNvSpPr txBox="1">
            <a:spLocks/>
          </p:cNvSpPr>
          <p:nvPr/>
        </p:nvSpPr>
        <p:spPr>
          <a:xfrm>
            <a:off x="1880618" y="4263978"/>
            <a:ext cx="1343533" cy="36512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Resultados/ </a:t>
            </a:r>
            <a:br>
              <a:rPr lang="es-ES" sz="1100">
                <a:solidFill>
                  <a:schemeClr val="tx1"/>
                </a:solidFill>
                <a:latin typeface="+mn-lt"/>
              </a:rPr>
            </a:br>
            <a:r>
              <a:rPr lang="es-ES" sz="1100">
                <a:solidFill>
                  <a:schemeClr val="tx1"/>
                </a:solidFill>
                <a:latin typeface="+mn-lt"/>
              </a:rPr>
              <a:t>avance</a:t>
            </a:r>
          </a:p>
        </p:txBody>
      </p:sp>
      <p:cxnSp>
        <p:nvCxnSpPr>
          <p:cNvPr id="50" name="Conector angular 26">
            <a:extLst>
              <a:ext uri="{FF2B5EF4-FFF2-40B4-BE49-F238E27FC236}">
                <a16:creationId xmlns:a16="http://schemas.microsoft.com/office/drawing/2014/main" id="{14C159A4-0280-4FAB-943D-5BF18B0A1A3F}"/>
              </a:ext>
            </a:extLst>
          </p:cNvPr>
          <p:cNvCxnSpPr>
            <a:cxnSpLocks/>
            <a:stCxn id="22" idx="2"/>
            <a:endCxn id="49" idx="1"/>
          </p:cNvCxnSpPr>
          <p:nvPr/>
        </p:nvCxnSpPr>
        <p:spPr>
          <a:xfrm rot="16200000" flipH="1">
            <a:off x="1097908" y="3663831"/>
            <a:ext cx="622560" cy="9428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ector angular 23">
            <a:extLst>
              <a:ext uri="{FF2B5EF4-FFF2-40B4-BE49-F238E27FC236}">
                <a16:creationId xmlns:a16="http://schemas.microsoft.com/office/drawing/2014/main" id="{9A138808-545C-440D-80E0-1ABAF238C2DD}"/>
              </a:ext>
            </a:extLst>
          </p:cNvPr>
          <p:cNvCxnSpPr>
            <a:cxnSpLocks/>
            <a:stCxn id="45" idx="1"/>
            <a:endCxn id="22" idx="0"/>
          </p:cNvCxnSpPr>
          <p:nvPr/>
        </p:nvCxnSpPr>
        <p:spPr>
          <a:xfrm rot="10800000" flipV="1">
            <a:off x="937758" y="3052449"/>
            <a:ext cx="942860" cy="2315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ector recto de flecha 57">
            <a:extLst>
              <a:ext uri="{FF2B5EF4-FFF2-40B4-BE49-F238E27FC236}">
                <a16:creationId xmlns:a16="http://schemas.microsoft.com/office/drawing/2014/main" id="{6D1EC2FE-0908-4CC9-9DCC-309633ECC416}"/>
              </a:ext>
            </a:extLst>
          </p:cNvPr>
          <p:cNvCxnSpPr>
            <a:cxnSpLocks/>
            <a:endCxn id="45" idx="3"/>
          </p:cNvCxnSpPr>
          <p:nvPr/>
        </p:nvCxnSpPr>
        <p:spPr>
          <a:xfrm flipH="1">
            <a:off x="3224151" y="3052449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A20F24EA-7076-463A-8FAC-E719A973DA61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3224151" y="4006544"/>
            <a:ext cx="33380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recto de flecha 64">
            <a:extLst>
              <a:ext uri="{FF2B5EF4-FFF2-40B4-BE49-F238E27FC236}">
                <a16:creationId xmlns:a16="http://schemas.microsoft.com/office/drawing/2014/main" id="{5F3FB463-6A75-4531-8647-B958B4E36EE4}"/>
              </a:ext>
            </a:extLst>
          </p:cNvPr>
          <p:cNvCxnSpPr>
            <a:cxnSpLocks/>
            <a:stCxn id="49" idx="3"/>
          </p:cNvCxnSpPr>
          <p:nvPr/>
        </p:nvCxnSpPr>
        <p:spPr>
          <a:xfrm>
            <a:off x="3224151" y="4446541"/>
            <a:ext cx="33380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recto de flecha 67">
            <a:extLst>
              <a:ext uri="{FF2B5EF4-FFF2-40B4-BE49-F238E27FC236}">
                <a16:creationId xmlns:a16="http://schemas.microsoft.com/office/drawing/2014/main" id="{64C28C4A-F1A3-409C-B22F-D71EBAB302CD}"/>
              </a:ext>
            </a:extLst>
          </p:cNvPr>
          <p:cNvCxnSpPr>
            <a:cxnSpLocks/>
          </p:cNvCxnSpPr>
          <p:nvPr/>
        </p:nvCxnSpPr>
        <p:spPr>
          <a:xfrm flipH="1">
            <a:off x="8463944" y="2807833"/>
            <a:ext cx="3384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04DA7B28-D789-4AB1-A360-589464B3079F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5" name="Imagen 2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2EA064B8-2A57-41DD-AB7D-19C281360A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7" name="Rectángulo 36">
            <a:extLst>
              <a:ext uri="{FF2B5EF4-FFF2-40B4-BE49-F238E27FC236}">
                <a16:creationId xmlns:a16="http://schemas.microsoft.com/office/drawing/2014/main" id="{734D7867-2D00-4BC7-A4EA-87D7CE7EDF43}"/>
              </a:ext>
            </a:extLst>
          </p:cNvPr>
          <p:cNvSpPr/>
          <p:nvPr/>
        </p:nvSpPr>
        <p:spPr>
          <a:xfrm>
            <a:off x="10358360" y="4238179"/>
            <a:ext cx="1008000" cy="38880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Director de Gestión</a:t>
            </a:r>
          </a:p>
        </p:txBody>
      </p:sp>
      <p:sp>
        <p:nvSpPr>
          <p:cNvPr id="39" name="Marcador de contenido 5">
            <a:extLst>
              <a:ext uri="{FF2B5EF4-FFF2-40B4-BE49-F238E27FC236}">
                <a16:creationId xmlns:a16="http://schemas.microsoft.com/office/drawing/2014/main" id="{B623F6EA-5759-4A3F-BB29-41414E8F3799}"/>
              </a:ext>
            </a:extLst>
          </p:cNvPr>
          <p:cNvSpPr txBox="1">
            <a:spLocks/>
          </p:cNvSpPr>
          <p:nvPr/>
        </p:nvSpPr>
        <p:spPr>
          <a:xfrm>
            <a:off x="8803899" y="4589128"/>
            <a:ext cx="1260000" cy="70999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gestión de proyectos relevantes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0C9E5CA0-789E-418A-80CE-9A3673CCA50B}"/>
              </a:ext>
            </a:extLst>
          </p:cNvPr>
          <p:cNvSpPr txBox="1">
            <a:spLocks/>
          </p:cNvSpPr>
          <p:nvPr/>
        </p:nvSpPr>
        <p:spPr>
          <a:xfrm>
            <a:off x="8803899" y="3429001"/>
            <a:ext cx="1260000" cy="6957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Hitos e </a:t>
            </a:r>
            <a:r>
              <a:rPr lang="es-CO" sz="1100" err="1">
                <a:solidFill>
                  <a:schemeClr val="tx1"/>
                </a:solidFill>
                <a:latin typeface="+mn-lt"/>
              </a:rPr>
              <a:t>issues</a:t>
            </a:r>
            <a:r>
              <a:rPr lang="es-CO" sz="1100">
                <a:solidFill>
                  <a:schemeClr val="tx1"/>
                </a:solidFill>
                <a:latin typeface="+mn-lt"/>
              </a:rPr>
              <a:t> clave de proyectos relevantes</a:t>
            </a:r>
          </a:p>
        </p:txBody>
      </p:sp>
      <p:cxnSp>
        <p:nvCxnSpPr>
          <p:cNvPr id="42" name="Conector angular 32">
            <a:extLst>
              <a:ext uri="{FF2B5EF4-FFF2-40B4-BE49-F238E27FC236}">
                <a16:creationId xmlns:a16="http://schemas.microsoft.com/office/drawing/2014/main" id="{87DDA237-AA0E-4514-9C28-5AC9CBDF6B14}"/>
              </a:ext>
            </a:extLst>
          </p:cNvPr>
          <p:cNvCxnSpPr>
            <a:cxnSpLocks/>
            <a:stCxn id="41" idx="3"/>
            <a:endCxn id="37" idx="0"/>
          </p:cNvCxnSpPr>
          <p:nvPr/>
        </p:nvCxnSpPr>
        <p:spPr>
          <a:xfrm>
            <a:off x="10063899" y="3776885"/>
            <a:ext cx="798461" cy="46129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ector angular 32">
            <a:extLst>
              <a:ext uri="{FF2B5EF4-FFF2-40B4-BE49-F238E27FC236}">
                <a16:creationId xmlns:a16="http://schemas.microsoft.com/office/drawing/2014/main" id="{C9335DCC-8B07-4CFF-81A2-A1911997648D}"/>
              </a:ext>
            </a:extLst>
          </p:cNvPr>
          <p:cNvCxnSpPr>
            <a:cxnSpLocks/>
            <a:stCxn id="37" idx="2"/>
            <a:endCxn id="39" idx="3"/>
          </p:cNvCxnSpPr>
          <p:nvPr/>
        </p:nvCxnSpPr>
        <p:spPr>
          <a:xfrm rot="5400000">
            <a:off x="10304558" y="4386322"/>
            <a:ext cx="317145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ector recto de flecha 50">
            <a:extLst>
              <a:ext uri="{FF2B5EF4-FFF2-40B4-BE49-F238E27FC236}">
                <a16:creationId xmlns:a16="http://schemas.microsoft.com/office/drawing/2014/main" id="{0246CB0F-BD25-4144-A7C2-2BD5F554E498}"/>
              </a:ext>
            </a:extLst>
          </p:cNvPr>
          <p:cNvCxnSpPr>
            <a:cxnSpLocks/>
          </p:cNvCxnSpPr>
          <p:nvPr/>
        </p:nvCxnSpPr>
        <p:spPr>
          <a:xfrm flipH="1">
            <a:off x="8463944" y="4933979"/>
            <a:ext cx="33840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recto de flecha 52">
            <a:extLst>
              <a:ext uri="{FF2B5EF4-FFF2-40B4-BE49-F238E27FC236}">
                <a16:creationId xmlns:a16="http://schemas.microsoft.com/office/drawing/2014/main" id="{5933DFE0-69B0-4FD6-9A07-D6676733400B}"/>
              </a:ext>
            </a:extLst>
          </p:cNvPr>
          <p:cNvCxnSpPr>
            <a:cxnSpLocks/>
          </p:cNvCxnSpPr>
          <p:nvPr/>
        </p:nvCxnSpPr>
        <p:spPr>
          <a:xfrm>
            <a:off x="8463944" y="3810331"/>
            <a:ext cx="3384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2877A8D5-E687-4420-9E48-8D2CC213386E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9E6E0BA9-6498-48A3-BBED-8F37EEC79558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194872877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Infraestructura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58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NPS del cliente externo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Infraestructura liderará la identificación e implementación de mejoras basadas en TI y la definición y mantenimiento de la arquitectura de TI – alineación con las necesidades del negocio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380539" y="1493442"/>
            <a:ext cx="5185156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Infraestructura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380538" y="1853116"/>
            <a:ext cx="5220000" cy="374758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identificación e implementación de mejoras basadas en TI que recopilen las necesidades del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y mantenimiento de la arquitectura y apoyar planeación estratégica de TI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los lineamientos de arquitectura de TI que regirán las soluciones  tecnológicas de la  organización, alineadas con la estrategia corporativa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Trabajar de la mano con las áreas de negocio para identificar proyectos con componentes de TI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oportunidades de mejora en los procesos de negocio mediante la utilización de TI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Actualizar la arquitectura (negocio, integración, aplicaciones, datos e infraestructura, y seguridad) acorde con los requerimientos del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Mantener la flexibilidad de la arquitecta para garantizar tiempos de respuesta adecuados a las iniciativas del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que los equipos de implementación garanticen  la  eficiencia y eficacia  del ciclo de vida del desarrollo de software y que cumplan con los estándares de arquitectura definidos</a:t>
            </a:r>
          </a:p>
          <a:p>
            <a:pPr marL="100012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339933" y="5648674"/>
            <a:ext cx="5276089" cy="8327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Cump. hitos de implementación del modelo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transf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. digital de la organización; (2) Implementación del plan de modernización de la infraestructura; (3) Disponibilidad de las plataformas (4) NPS</a:t>
            </a:r>
            <a:r>
              <a:rPr lang="es-ES" sz="1200" kern="0" baseline="30000">
                <a:latin typeface="+mn-lt"/>
                <a:cs typeface="Arial"/>
                <a:sym typeface="Arial"/>
                <a:rtl val="0"/>
              </a:rPr>
              <a:t>1</a:t>
            </a: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873848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40441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TI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2116255"/>
            <a:ext cx="798461" cy="2881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3" y="3084372"/>
            <a:ext cx="1260000" cy="3710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TI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82395" y="2735233"/>
            <a:ext cx="325464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575643" y="2116255"/>
            <a:ext cx="28293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00897" y="3359499"/>
            <a:ext cx="567138" cy="3859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68035" y="4420473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080551" y="4205785"/>
            <a:ext cx="407831" cy="56713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2911568" y="3359499"/>
            <a:ext cx="46897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745439"/>
            <a:ext cx="1134278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Infraestructura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568035" y="3065886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Técnicos</a:t>
            </a:r>
          </a:p>
        </p:txBody>
      </p:sp>
      <p:cxnSp>
        <p:nvCxnSpPr>
          <p:cNvPr id="31" name="Conector recto de flecha 30">
            <a:extLst>
              <a:ext uri="{FF2B5EF4-FFF2-40B4-BE49-F238E27FC236}">
                <a16:creationId xmlns:a16="http://schemas.microsoft.com/office/drawing/2014/main" id="{1A9FE395-8FF8-41F2-9FE1-BFB01DCF79AD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616023" y="3269879"/>
            <a:ext cx="29719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418D7472-1C62-4091-BA62-B06F97EE4E03}"/>
              </a:ext>
            </a:extLst>
          </p:cNvPr>
          <p:cNvSpPr txBox="1">
            <a:spLocks/>
          </p:cNvSpPr>
          <p:nvPr/>
        </p:nvSpPr>
        <p:spPr>
          <a:xfrm>
            <a:off x="8913213" y="3653371"/>
            <a:ext cx="1260000" cy="484813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bg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44F7A4E8-E1F7-43F2-8C8B-25993E1216CC}"/>
              </a:ext>
            </a:extLst>
          </p:cNvPr>
          <p:cNvSpPr/>
          <p:nvPr/>
        </p:nvSpPr>
        <p:spPr>
          <a:xfrm>
            <a:off x="10413041" y="4774085"/>
            <a:ext cx="1008000" cy="374329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TI</a:t>
            </a:r>
          </a:p>
        </p:txBody>
      </p:sp>
      <p:cxnSp>
        <p:nvCxnSpPr>
          <p:cNvPr id="53" name="Conector angular 32">
            <a:extLst>
              <a:ext uri="{FF2B5EF4-FFF2-40B4-BE49-F238E27FC236}">
                <a16:creationId xmlns:a16="http://schemas.microsoft.com/office/drawing/2014/main" id="{0520E1CB-1138-4781-957D-DF882E6E4693}"/>
              </a:ext>
            </a:extLst>
          </p:cNvPr>
          <p:cNvCxnSpPr>
            <a:cxnSpLocks/>
            <a:stCxn id="51" idx="3"/>
            <a:endCxn id="52" idx="0"/>
          </p:cNvCxnSpPr>
          <p:nvPr/>
        </p:nvCxnSpPr>
        <p:spPr>
          <a:xfrm>
            <a:off x="10173213" y="3895778"/>
            <a:ext cx="743828" cy="87830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Marcador de contenido 5">
            <a:extLst>
              <a:ext uri="{FF2B5EF4-FFF2-40B4-BE49-F238E27FC236}">
                <a16:creationId xmlns:a16="http://schemas.microsoft.com/office/drawing/2014/main" id="{11AC6034-27A1-4B36-9B12-67BF5FB35AA0}"/>
              </a:ext>
            </a:extLst>
          </p:cNvPr>
          <p:cNvSpPr txBox="1">
            <a:spLocks/>
          </p:cNvSpPr>
          <p:nvPr/>
        </p:nvSpPr>
        <p:spPr>
          <a:xfrm>
            <a:off x="8913213" y="5196459"/>
            <a:ext cx="1260000" cy="371013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Estrategia de TI</a:t>
            </a:r>
          </a:p>
        </p:txBody>
      </p:sp>
      <p:cxnSp>
        <p:nvCxnSpPr>
          <p:cNvPr id="55" name="Conector angular 37">
            <a:extLst>
              <a:ext uri="{FF2B5EF4-FFF2-40B4-BE49-F238E27FC236}">
                <a16:creationId xmlns:a16="http://schemas.microsoft.com/office/drawing/2014/main" id="{FAD267CC-4EDA-4D23-B5F9-487BD3DD9942}"/>
              </a:ext>
            </a:extLst>
          </p:cNvPr>
          <p:cNvCxnSpPr>
            <a:cxnSpLocks/>
            <a:stCxn id="52" idx="2"/>
            <a:endCxn id="54" idx="3"/>
          </p:cNvCxnSpPr>
          <p:nvPr/>
        </p:nvCxnSpPr>
        <p:spPr>
          <a:xfrm rot="5400000">
            <a:off x="10428351" y="4893276"/>
            <a:ext cx="233552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Conector recto de flecha 55">
            <a:extLst>
              <a:ext uri="{FF2B5EF4-FFF2-40B4-BE49-F238E27FC236}">
                <a16:creationId xmlns:a16="http://schemas.microsoft.com/office/drawing/2014/main" id="{067811B3-3B61-42E3-9EAB-41C11CC45605}"/>
              </a:ext>
            </a:extLst>
          </p:cNvPr>
          <p:cNvCxnSpPr>
            <a:cxnSpLocks/>
            <a:endCxn id="51" idx="1"/>
          </p:cNvCxnSpPr>
          <p:nvPr/>
        </p:nvCxnSpPr>
        <p:spPr>
          <a:xfrm>
            <a:off x="8616023" y="3895778"/>
            <a:ext cx="29719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E3B5AD46-E037-42C6-A615-8032179C0D1E}"/>
              </a:ext>
            </a:extLst>
          </p:cNvPr>
          <p:cNvCxnSpPr>
            <a:cxnSpLocks/>
            <a:stCxn id="54" idx="1"/>
          </p:cNvCxnSpPr>
          <p:nvPr/>
        </p:nvCxnSpPr>
        <p:spPr>
          <a:xfrm flipH="1">
            <a:off x="8616023" y="5381966"/>
            <a:ext cx="29719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Marcador de contenido 5">
            <a:extLst>
              <a:ext uri="{FF2B5EF4-FFF2-40B4-BE49-F238E27FC236}">
                <a16:creationId xmlns:a16="http://schemas.microsoft.com/office/drawing/2014/main" id="{FB4F0107-D23A-46D6-B114-84A27BEDB374}"/>
              </a:ext>
            </a:extLst>
          </p:cNvPr>
          <p:cNvSpPr txBox="1">
            <a:spLocks/>
          </p:cNvSpPr>
          <p:nvPr/>
        </p:nvSpPr>
        <p:spPr>
          <a:xfrm>
            <a:off x="1568035" y="2345192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Estrategia de TI</a:t>
            </a:r>
          </a:p>
        </p:txBody>
      </p: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5FF5ABA1-4D0B-4BB3-B2E1-7005BA63748E}"/>
              </a:ext>
            </a:extLst>
          </p:cNvPr>
          <p:cNvSpPr txBox="1">
            <a:spLocks/>
          </p:cNvSpPr>
          <p:nvPr/>
        </p:nvSpPr>
        <p:spPr>
          <a:xfrm>
            <a:off x="8913213" y="4208457"/>
            <a:ext cx="1260000" cy="484813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bg1"/>
                </a:solidFill>
                <a:latin typeface="+mn-lt"/>
              </a:rPr>
              <a:t>Apoyo en la definición de la estrategia de TI</a:t>
            </a:r>
          </a:p>
        </p:txBody>
      </p:sp>
      <p:cxnSp>
        <p:nvCxnSpPr>
          <p:cNvPr id="65" name="Conector recto de flecha 64">
            <a:extLst>
              <a:ext uri="{FF2B5EF4-FFF2-40B4-BE49-F238E27FC236}">
                <a16:creationId xmlns:a16="http://schemas.microsoft.com/office/drawing/2014/main" id="{7F930337-9FE1-4D6D-8B39-EB4A15FB7E38}"/>
              </a:ext>
            </a:extLst>
          </p:cNvPr>
          <p:cNvCxnSpPr>
            <a:cxnSpLocks/>
            <a:endCxn id="64" idx="1"/>
          </p:cNvCxnSpPr>
          <p:nvPr/>
        </p:nvCxnSpPr>
        <p:spPr>
          <a:xfrm>
            <a:off x="8575643" y="4450864"/>
            <a:ext cx="3375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32">
            <a:extLst>
              <a:ext uri="{FF2B5EF4-FFF2-40B4-BE49-F238E27FC236}">
                <a16:creationId xmlns:a16="http://schemas.microsoft.com/office/drawing/2014/main" id="{567916C3-F7C0-411F-B8FE-A569A262D231}"/>
              </a:ext>
            </a:extLst>
          </p:cNvPr>
          <p:cNvCxnSpPr>
            <a:cxnSpLocks/>
            <a:stCxn id="64" idx="3"/>
            <a:endCxn id="52" idx="0"/>
          </p:cNvCxnSpPr>
          <p:nvPr/>
        </p:nvCxnSpPr>
        <p:spPr>
          <a:xfrm>
            <a:off x="10173213" y="4450864"/>
            <a:ext cx="743828" cy="3232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ector angular 23">
            <a:extLst>
              <a:ext uri="{FF2B5EF4-FFF2-40B4-BE49-F238E27FC236}">
                <a16:creationId xmlns:a16="http://schemas.microsoft.com/office/drawing/2014/main" id="{A5EC28F5-602A-4CF9-82A7-9C8B707C4029}"/>
              </a:ext>
            </a:extLst>
          </p:cNvPr>
          <p:cNvCxnSpPr>
            <a:cxnSpLocks/>
            <a:stCxn id="61" idx="1"/>
            <a:endCxn id="22" idx="0"/>
          </p:cNvCxnSpPr>
          <p:nvPr/>
        </p:nvCxnSpPr>
        <p:spPr>
          <a:xfrm rot="10800000" flipV="1">
            <a:off x="1000897" y="2638805"/>
            <a:ext cx="567138" cy="110663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89BF7907-4B48-429C-885D-10189FB30B1A}"/>
              </a:ext>
            </a:extLst>
          </p:cNvPr>
          <p:cNvCxnSpPr>
            <a:cxnSpLocks/>
          </p:cNvCxnSpPr>
          <p:nvPr/>
        </p:nvCxnSpPr>
        <p:spPr>
          <a:xfrm flipH="1">
            <a:off x="2911568" y="2617141"/>
            <a:ext cx="46897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AA75A88C-0FC5-41DC-8E3D-2D11DF327F0D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2911568" y="4693270"/>
            <a:ext cx="42836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D11708D3-0B79-41F1-80CC-E9076EC26B39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5" name="Es igual a 24">
            <a:extLst>
              <a:ext uri="{FF2B5EF4-FFF2-40B4-BE49-F238E27FC236}">
                <a16:creationId xmlns:a16="http://schemas.microsoft.com/office/drawing/2014/main" id="{156995CB-4D23-4EBB-97AF-0678E12F418D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84EBC3C-98FB-4684-A361-BAFCD4B2DA05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A27F2C2-1180-4097-A353-C350B2824AF5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4845865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Soporte de TI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59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(2) NPS del cliente externo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Soporte de TI garantiza el cumplimiento de ANS a usuarios finales de las plataformas tecnológicas y se asegura de su correcto funcionamiento en todo momento 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Soporte de TI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4089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Proveer a los usuarios un punto único de contacto mediante el cual se resuelvan y/o canalicen sus necesidades relativas al uso de recursos y servicios de plataformas tecnológicas, garantizando oportunidad y calidad en la atención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correcto funcionamiento de los sistemas y componente de TI que soportan las operaciones diarias de la organización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atención de solicitudes tecnológicas (requerimientos e incidentes) de usuarios finales y las aplicaciones de negocio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Proveer un esquema de operación tecnológica 24X7, para los procesos de la compañía que se ejecutan sobre los Core de negocio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Analizar y generar recomendaciones sobre el mejoramiento y optimización de los sistemas de TI que soportan el día a día de la operación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implementación de acciones correctivas a problemas o incidentes masivos presentados en la plataforma TI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Medir cumplimiento de los ANS e identificar oportunidades de mejora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90960"/>
            <a:ext cx="4918780" cy="66378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Cump. hitos de implementación del modelo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transf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. digital de la organización; (2) Disponibilidad de las plataformas; (3) NPS</a:t>
            </a:r>
            <a:r>
              <a:rPr lang="es-ES" sz="1200" kern="0" baseline="30000">
                <a:latin typeface="+mn-lt"/>
                <a:cs typeface="Arial"/>
                <a:sym typeface="Arial"/>
                <a:rtl val="0"/>
              </a:rPr>
              <a:t>1</a:t>
            </a:r>
            <a:endParaRPr lang="es-ES" sz="1200" kern="0">
              <a:latin typeface="+mn-lt"/>
              <a:cs typeface="Arial"/>
              <a:sym typeface="Arial"/>
              <a:rtl val="0"/>
            </a:endParaRP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873848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soporte de TI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244071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TI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2116255"/>
            <a:ext cx="798461" cy="1278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3" y="3216816"/>
            <a:ext cx="1260000" cy="55435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cumplimiento de ANS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190166" y="2767118"/>
            <a:ext cx="709922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63944" y="2890759"/>
            <a:ext cx="435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3944" y="2116255"/>
            <a:ext cx="435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3358595"/>
            <a:ext cx="942860" cy="2051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87189" y="3975840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40050" y="3701498"/>
            <a:ext cx="144846" cy="949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3358595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563791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Soporte de TI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3064981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cumplimiento de ANS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49B67A4D-9067-4340-BE03-0FB62958F1B3}"/>
              </a:ext>
            </a:extLst>
          </p:cNvPr>
          <p:cNvSpPr txBox="1">
            <a:spLocks/>
          </p:cNvSpPr>
          <p:nvPr/>
        </p:nvSpPr>
        <p:spPr>
          <a:xfrm>
            <a:off x="8913213" y="2643278"/>
            <a:ext cx="1260000" cy="49496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37" name="Conector angular 37">
            <a:extLst>
              <a:ext uri="{FF2B5EF4-FFF2-40B4-BE49-F238E27FC236}">
                <a16:creationId xmlns:a16="http://schemas.microsoft.com/office/drawing/2014/main" id="{8DECFE6E-E5D0-4874-BF55-11AB8C601B40}"/>
              </a:ext>
            </a:extLst>
          </p:cNvPr>
          <p:cNvCxnSpPr>
            <a:cxnSpLocks/>
            <a:stCxn id="11" idx="2"/>
            <a:endCxn id="35" idx="3"/>
          </p:cNvCxnSpPr>
          <p:nvPr/>
        </p:nvCxnSpPr>
        <p:spPr>
          <a:xfrm rot="5400000">
            <a:off x="10491783" y="2465501"/>
            <a:ext cx="106688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ángulo 52">
            <a:extLst>
              <a:ext uri="{FF2B5EF4-FFF2-40B4-BE49-F238E27FC236}">
                <a16:creationId xmlns:a16="http://schemas.microsoft.com/office/drawing/2014/main" id="{EC0DD078-6544-4440-9350-24D07D230642}"/>
              </a:ext>
            </a:extLst>
          </p:cNvPr>
          <p:cNvSpPr/>
          <p:nvPr/>
        </p:nvSpPr>
        <p:spPr>
          <a:xfrm>
            <a:off x="10413041" y="445027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</a:t>
            </a:r>
          </a:p>
        </p:txBody>
      </p:sp>
      <p:sp>
        <p:nvSpPr>
          <p:cNvPr id="55" name="Marcador de contenido 5">
            <a:extLst>
              <a:ext uri="{FF2B5EF4-FFF2-40B4-BE49-F238E27FC236}">
                <a16:creationId xmlns:a16="http://schemas.microsoft.com/office/drawing/2014/main" id="{21ECAD29-C093-4C06-A481-B11D068FCCB5}"/>
              </a:ext>
            </a:extLst>
          </p:cNvPr>
          <p:cNvSpPr txBox="1">
            <a:spLocks/>
          </p:cNvSpPr>
          <p:nvPr/>
        </p:nvSpPr>
        <p:spPr>
          <a:xfrm>
            <a:off x="8913213" y="4057259"/>
            <a:ext cx="1260000" cy="55435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Necesidades de servicio</a:t>
            </a:r>
          </a:p>
        </p:txBody>
      </p:sp>
      <p:sp>
        <p:nvSpPr>
          <p:cNvPr id="56" name="Marcador de contenido 5">
            <a:extLst>
              <a:ext uri="{FF2B5EF4-FFF2-40B4-BE49-F238E27FC236}">
                <a16:creationId xmlns:a16="http://schemas.microsoft.com/office/drawing/2014/main" id="{28AE8471-D8A9-431B-8EC9-7BA68FE6D9AA}"/>
              </a:ext>
            </a:extLst>
          </p:cNvPr>
          <p:cNvSpPr txBox="1">
            <a:spLocks/>
          </p:cNvSpPr>
          <p:nvPr/>
        </p:nvSpPr>
        <p:spPr>
          <a:xfrm>
            <a:off x="8913213" y="5111787"/>
            <a:ext cx="1260000" cy="55435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Cumplimiento de ANS</a:t>
            </a:r>
          </a:p>
        </p:txBody>
      </p: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EB5551C7-E5B5-4D53-BD10-3C80035BAF8E}"/>
              </a:ext>
            </a:extLst>
          </p:cNvPr>
          <p:cNvCxnSpPr>
            <a:cxnSpLocks/>
          </p:cNvCxnSpPr>
          <p:nvPr/>
        </p:nvCxnSpPr>
        <p:spPr>
          <a:xfrm flipH="1">
            <a:off x="8463944" y="3465706"/>
            <a:ext cx="435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ector angular 37">
            <a:extLst>
              <a:ext uri="{FF2B5EF4-FFF2-40B4-BE49-F238E27FC236}">
                <a16:creationId xmlns:a16="http://schemas.microsoft.com/office/drawing/2014/main" id="{C76D7DAC-4417-4E23-8256-689D7E569F1B}"/>
              </a:ext>
            </a:extLst>
          </p:cNvPr>
          <p:cNvCxnSpPr>
            <a:cxnSpLocks/>
            <a:stCxn id="53" idx="2"/>
            <a:endCxn id="56" idx="3"/>
          </p:cNvCxnSpPr>
          <p:nvPr/>
        </p:nvCxnSpPr>
        <p:spPr>
          <a:xfrm rot="5400000">
            <a:off x="10345781" y="4817704"/>
            <a:ext cx="398692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3A8AFE66-B29D-40EF-A612-85ED666AB7AE}"/>
              </a:ext>
            </a:extLst>
          </p:cNvPr>
          <p:cNvCxnSpPr>
            <a:cxnSpLocks/>
          </p:cNvCxnSpPr>
          <p:nvPr/>
        </p:nvCxnSpPr>
        <p:spPr>
          <a:xfrm flipH="1">
            <a:off x="8463944" y="5396362"/>
            <a:ext cx="435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Marcador de contenido 5">
            <a:extLst>
              <a:ext uri="{FF2B5EF4-FFF2-40B4-BE49-F238E27FC236}">
                <a16:creationId xmlns:a16="http://schemas.microsoft.com/office/drawing/2014/main" id="{AEB5A8AF-70F7-4C47-B2A3-A6D9964EDA94}"/>
              </a:ext>
            </a:extLst>
          </p:cNvPr>
          <p:cNvSpPr txBox="1">
            <a:spLocks/>
          </p:cNvSpPr>
          <p:nvPr/>
        </p:nvSpPr>
        <p:spPr>
          <a:xfrm>
            <a:off x="1880618" y="2280179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E13E4AAC-6C61-40C6-B02C-6CE4ADAFD0DF}"/>
              </a:ext>
            </a:extLst>
          </p:cNvPr>
          <p:cNvSpPr txBox="1">
            <a:spLocks/>
          </p:cNvSpPr>
          <p:nvPr/>
        </p:nvSpPr>
        <p:spPr>
          <a:xfrm>
            <a:off x="1887189" y="4751597"/>
            <a:ext cx="1343533" cy="783258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Oportunidades de mejoramiento y optimizaciones de TI</a:t>
            </a:r>
          </a:p>
        </p:txBody>
      </p:sp>
      <p:cxnSp>
        <p:nvCxnSpPr>
          <p:cNvPr id="73" name="Conector angular 23">
            <a:extLst>
              <a:ext uri="{FF2B5EF4-FFF2-40B4-BE49-F238E27FC236}">
                <a16:creationId xmlns:a16="http://schemas.microsoft.com/office/drawing/2014/main" id="{7037D0A1-4610-410F-A414-5B9A380B06A1}"/>
              </a:ext>
            </a:extLst>
          </p:cNvPr>
          <p:cNvCxnSpPr>
            <a:cxnSpLocks/>
            <a:stCxn id="67" idx="1"/>
            <a:endCxn id="22" idx="0"/>
          </p:cNvCxnSpPr>
          <p:nvPr/>
        </p:nvCxnSpPr>
        <p:spPr>
          <a:xfrm rot="10800000" flipV="1">
            <a:off x="937758" y="2573793"/>
            <a:ext cx="942860" cy="9899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angular 23">
            <a:extLst>
              <a:ext uri="{FF2B5EF4-FFF2-40B4-BE49-F238E27FC236}">
                <a16:creationId xmlns:a16="http://schemas.microsoft.com/office/drawing/2014/main" id="{BBE9F20C-E1CD-46ED-9F5C-F5ABB2EB564E}"/>
              </a:ext>
            </a:extLst>
          </p:cNvPr>
          <p:cNvCxnSpPr>
            <a:cxnSpLocks/>
            <a:stCxn id="22" idx="2"/>
            <a:endCxn id="72" idx="1"/>
          </p:cNvCxnSpPr>
          <p:nvPr/>
        </p:nvCxnSpPr>
        <p:spPr>
          <a:xfrm rot="16200000" flipH="1">
            <a:off x="892756" y="4148792"/>
            <a:ext cx="1039435" cy="9494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ector recto de flecha 35">
            <a:extLst>
              <a:ext uri="{FF2B5EF4-FFF2-40B4-BE49-F238E27FC236}">
                <a16:creationId xmlns:a16="http://schemas.microsoft.com/office/drawing/2014/main" id="{4CAD697E-BD60-4FD9-8CE4-B4722977F7AC}"/>
              </a:ext>
            </a:extLst>
          </p:cNvPr>
          <p:cNvCxnSpPr>
            <a:cxnSpLocks/>
          </p:cNvCxnSpPr>
          <p:nvPr/>
        </p:nvCxnSpPr>
        <p:spPr>
          <a:xfrm flipH="1">
            <a:off x="3224151" y="2584091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de flecha 37">
            <a:extLst>
              <a:ext uri="{FF2B5EF4-FFF2-40B4-BE49-F238E27FC236}">
                <a16:creationId xmlns:a16="http://schemas.microsoft.com/office/drawing/2014/main" id="{D7BE415F-F1E2-42C4-A62E-72D4DF7E2BAF}"/>
              </a:ext>
            </a:extLst>
          </p:cNvPr>
          <p:cNvCxnSpPr>
            <a:cxnSpLocks/>
          </p:cNvCxnSpPr>
          <p:nvPr/>
        </p:nvCxnSpPr>
        <p:spPr>
          <a:xfrm>
            <a:off x="3243512" y="4298095"/>
            <a:ext cx="30165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de flecha 38">
            <a:extLst>
              <a:ext uri="{FF2B5EF4-FFF2-40B4-BE49-F238E27FC236}">
                <a16:creationId xmlns:a16="http://schemas.microsoft.com/office/drawing/2014/main" id="{596C8E0C-5373-400F-AC10-D70AAD2B654B}"/>
              </a:ext>
            </a:extLst>
          </p:cNvPr>
          <p:cNvCxnSpPr>
            <a:cxnSpLocks/>
          </p:cNvCxnSpPr>
          <p:nvPr/>
        </p:nvCxnSpPr>
        <p:spPr>
          <a:xfrm>
            <a:off x="3243512" y="5143225"/>
            <a:ext cx="30165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ector angular 32">
            <a:extLst>
              <a:ext uri="{FF2B5EF4-FFF2-40B4-BE49-F238E27FC236}">
                <a16:creationId xmlns:a16="http://schemas.microsoft.com/office/drawing/2014/main" id="{B46D5F21-146B-4C87-AA57-8475BF999098}"/>
              </a:ext>
            </a:extLst>
          </p:cNvPr>
          <p:cNvCxnSpPr>
            <a:cxnSpLocks/>
            <a:stCxn id="55" idx="3"/>
            <a:endCxn id="53" idx="0"/>
          </p:cNvCxnSpPr>
          <p:nvPr/>
        </p:nvCxnSpPr>
        <p:spPr>
          <a:xfrm>
            <a:off x="10173213" y="4334436"/>
            <a:ext cx="743828" cy="11583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CE3F2843-E268-4968-B74F-B91E2CF95608}"/>
              </a:ext>
            </a:extLst>
          </p:cNvPr>
          <p:cNvCxnSpPr>
            <a:cxnSpLocks/>
          </p:cNvCxnSpPr>
          <p:nvPr/>
        </p:nvCxnSpPr>
        <p:spPr>
          <a:xfrm>
            <a:off x="8463944" y="4330211"/>
            <a:ext cx="4356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Flecha: pentágono 26">
            <a:extLst>
              <a:ext uri="{FF2B5EF4-FFF2-40B4-BE49-F238E27FC236}">
                <a16:creationId xmlns:a16="http://schemas.microsoft.com/office/drawing/2014/main" id="{69438A40-C25A-4B68-A4FC-8310DB666ACF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8" name="Es igual a 27">
            <a:extLst>
              <a:ext uri="{FF2B5EF4-FFF2-40B4-BE49-F238E27FC236}">
                <a16:creationId xmlns:a16="http://schemas.microsoft.com/office/drawing/2014/main" id="{09CB7812-C259-4414-B4DF-D184686309B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095E7B8-D23A-438D-8085-4B6C6D4E7C87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00A8B6B-DEF2-4054-9609-EFE5601C9131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97624793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Gestión de Datos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60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Gestión de Datos liderará el gobierno de datos y pondrá a disposición de la organización datos clave para la gestión del negocio y la toma de decisiones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Gestión de Datos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Gestionar el gobierno de datos de la organización – protección de datos y privacidad, control de la información, calidad y gestión del ciclo de vida de los datos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Poner a disposición de la organización datos clave para la gestión del negocio – Gestión del </a:t>
            </a:r>
            <a:r>
              <a:rPr lang="es-ES" sz="1200" err="1">
                <a:latin typeface="+mn-lt"/>
                <a:cs typeface="Calibri"/>
              </a:rPr>
              <a:t>Datawarehouse</a:t>
            </a:r>
            <a:endParaRPr lang="es-CO" sz="1200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Desarrollar los modelos, políticas, reglas y estándares para almacenar, organizar e integrar los datos de fuentes internas y externas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base de datos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protección de datos contra accesos no autorizados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y proponer mejoras que permitan asegurar la calidad de los datos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Verificar el cumplimiento de indicadores de calidad definidos para los datos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Planificar, adquirir, desarrollar, implementar, mantener, soportar y controlar todos los recursos tecnológicos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598973"/>
            <a:ext cx="4918780" cy="107902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Cump. hitos de implementación del modelo de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transf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. digital de la organización;(2 Disminución de materializaciones de riesgo de vulnerabilidad de datos; (3) ROI del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datawarehouse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; (4) DQ Audit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findings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; (5) NPS del cliente externo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28151" y="1810050"/>
            <a:ext cx="1260000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operación 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27979" y="2294863"/>
            <a:ext cx="1096136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de TI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088151" y="2052457"/>
            <a:ext cx="787896" cy="2424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28151" y="2736960"/>
            <a:ext cx="1260000" cy="48103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10791" y="2512223"/>
            <a:ext cx="142616" cy="7878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65296" y="2052457"/>
            <a:ext cx="36285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01556" y="1963515"/>
            <a:ext cx="611178" cy="18688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599944" y="2580024"/>
            <a:ext cx="1611417" cy="49444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operación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32325" y="2459628"/>
            <a:ext cx="136850" cy="5983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24151" y="3534296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97556" y="2150397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Gestión de Datos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12734" y="1697428"/>
            <a:ext cx="1611417" cy="53217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Técnicos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5B5CC0CD-13A0-42E8-ADA4-E228BC3C4A78}"/>
              </a:ext>
            </a:extLst>
          </p:cNvPr>
          <p:cNvSpPr/>
          <p:nvPr/>
        </p:nvSpPr>
        <p:spPr>
          <a:xfrm>
            <a:off x="10327978" y="4002265"/>
            <a:ext cx="1096137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/>
              <a:t>Analítica Comercial y Adm. Cartera</a:t>
            </a:r>
          </a:p>
        </p:txBody>
      </p:sp>
      <p:cxnSp>
        <p:nvCxnSpPr>
          <p:cNvPr id="32" name="Conector recto de flecha 31">
            <a:extLst>
              <a:ext uri="{FF2B5EF4-FFF2-40B4-BE49-F238E27FC236}">
                <a16:creationId xmlns:a16="http://schemas.microsoft.com/office/drawing/2014/main" id="{B5FF1428-930C-410C-95ED-5E652CF0F3DB}"/>
              </a:ext>
            </a:extLst>
          </p:cNvPr>
          <p:cNvCxnSpPr>
            <a:cxnSpLocks/>
          </p:cNvCxnSpPr>
          <p:nvPr/>
        </p:nvCxnSpPr>
        <p:spPr>
          <a:xfrm flipH="1">
            <a:off x="8465296" y="2977479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Marcador de contenido 5">
            <a:extLst>
              <a:ext uri="{FF2B5EF4-FFF2-40B4-BE49-F238E27FC236}">
                <a16:creationId xmlns:a16="http://schemas.microsoft.com/office/drawing/2014/main" id="{65261050-DE0B-4E28-944F-5FBF56C2A2EC}"/>
              </a:ext>
            </a:extLst>
          </p:cNvPr>
          <p:cNvSpPr txBox="1">
            <a:spLocks/>
          </p:cNvSpPr>
          <p:nvPr/>
        </p:nvSpPr>
        <p:spPr>
          <a:xfrm>
            <a:off x="8828151" y="4943294"/>
            <a:ext cx="1260000" cy="48103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arquitectura de la información</a:t>
            </a:r>
          </a:p>
        </p:txBody>
      </p:sp>
      <p:sp>
        <p:nvSpPr>
          <p:cNvPr id="38" name="Marcador de contenido 5">
            <a:extLst>
              <a:ext uri="{FF2B5EF4-FFF2-40B4-BE49-F238E27FC236}">
                <a16:creationId xmlns:a16="http://schemas.microsoft.com/office/drawing/2014/main" id="{BC8C8620-E4F7-4F89-9934-BC80C8E0FC9D}"/>
              </a:ext>
            </a:extLst>
          </p:cNvPr>
          <p:cNvSpPr txBox="1">
            <a:spLocks/>
          </p:cNvSpPr>
          <p:nvPr/>
        </p:nvSpPr>
        <p:spPr>
          <a:xfrm>
            <a:off x="8828151" y="3420956"/>
            <a:ext cx="1260000" cy="48103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Reportes, dashboards y herramientas</a:t>
            </a:r>
          </a:p>
        </p:txBody>
      </p:sp>
      <p:cxnSp>
        <p:nvCxnSpPr>
          <p:cNvPr id="42" name="Conector recto de flecha 41">
            <a:extLst>
              <a:ext uri="{FF2B5EF4-FFF2-40B4-BE49-F238E27FC236}">
                <a16:creationId xmlns:a16="http://schemas.microsoft.com/office/drawing/2014/main" id="{11AC6370-D96D-42CF-865D-1AE754C1E8B9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2827247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ángulo 47">
            <a:extLst>
              <a:ext uri="{FF2B5EF4-FFF2-40B4-BE49-F238E27FC236}">
                <a16:creationId xmlns:a16="http://schemas.microsoft.com/office/drawing/2014/main" id="{3C901614-B508-48DF-9B5F-3CC5F3FB9539}"/>
              </a:ext>
            </a:extLst>
          </p:cNvPr>
          <p:cNvSpPr/>
          <p:nvPr/>
        </p:nvSpPr>
        <p:spPr>
          <a:xfrm>
            <a:off x="497556" y="4348837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E87757C9-1594-44AC-B193-E5D958D791DA}"/>
              </a:ext>
            </a:extLst>
          </p:cNvPr>
          <p:cNvSpPr txBox="1">
            <a:spLocks/>
          </p:cNvSpPr>
          <p:nvPr/>
        </p:nvSpPr>
        <p:spPr>
          <a:xfrm>
            <a:off x="1599944" y="3208171"/>
            <a:ext cx="1611417" cy="71337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Modelos, políticas, reglas y estándares del manejo de la información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D9F30913-F5AF-4ABD-A224-D3686C3A0ABE}"/>
              </a:ext>
            </a:extLst>
          </p:cNvPr>
          <p:cNvSpPr txBox="1">
            <a:spLocks/>
          </p:cNvSpPr>
          <p:nvPr/>
        </p:nvSpPr>
        <p:spPr>
          <a:xfrm>
            <a:off x="1599944" y="4712325"/>
            <a:ext cx="1611417" cy="52220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y necesidades de información</a:t>
            </a:r>
          </a:p>
        </p:txBody>
      </p:sp>
      <p:sp>
        <p:nvSpPr>
          <p:cNvPr id="51" name="Rectángulo 50">
            <a:extLst>
              <a:ext uri="{FF2B5EF4-FFF2-40B4-BE49-F238E27FC236}">
                <a16:creationId xmlns:a16="http://schemas.microsoft.com/office/drawing/2014/main" id="{67503EF1-9423-4B98-8484-7AD85341E43C}"/>
              </a:ext>
            </a:extLst>
          </p:cNvPr>
          <p:cNvSpPr/>
          <p:nvPr/>
        </p:nvSpPr>
        <p:spPr>
          <a:xfrm>
            <a:off x="10327978" y="4652804"/>
            <a:ext cx="1096137" cy="35941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/>
              <a:t>Business </a:t>
            </a:r>
            <a:r>
              <a:rPr lang="es-ES" sz="1100" err="1"/>
              <a:t>Intelligence</a:t>
            </a:r>
            <a:endParaRPr lang="es-ES" sz="1100"/>
          </a:p>
        </p:txBody>
      </p:sp>
      <p:cxnSp>
        <p:nvCxnSpPr>
          <p:cNvPr id="52" name="Conector angular 37">
            <a:extLst>
              <a:ext uri="{FF2B5EF4-FFF2-40B4-BE49-F238E27FC236}">
                <a16:creationId xmlns:a16="http://schemas.microsoft.com/office/drawing/2014/main" id="{B8DFC0B4-279C-4A8F-AD0D-D673191F10AD}"/>
              </a:ext>
            </a:extLst>
          </p:cNvPr>
          <p:cNvCxnSpPr>
            <a:cxnSpLocks/>
            <a:stCxn id="51" idx="2"/>
            <a:endCxn id="37" idx="3"/>
          </p:cNvCxnSpPr>
          <p:nvPr/>
        </p:nvCxnSpPr>
        <p:spPr>
          <a:xfrm rot="5400000">
            <a:off x="10396302" y="4704068"/>
            <a:ext cx="171594" cy="7878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angular 32">
            <a:extLst>
              <a:ext uri="{FF2B5EF4-FFF2-40B4-BE49-F238E27FC236}">
                <a16:creationId xmlns:a16="http://schemas.microsoft.com/office/drawing/2014/main" id="{94FD7909-3FFC-4AF5-9677-8C9237901265}"/>
              </a:ext>
            </a:extLst>
          </p:cNvPr>
          <p:cNvCxnSpPr>
            <a:cxnSpLocks/>
            <a:stCxn id="38" idx="3"/>
            <a:endCxn id="29" idx="0"/>
          </p:cNvCxnSpPr>
          <p:nvPr/>
        </p:nvCxnSpPr>
        <p:spPr>
          <a:xfrm>
            <a:off x="10088151" y="3661475"/>
            <a:ext cx="787896" cy="3407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13857FAD-B14A-4A78-9922-483D15DD572D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1963516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57E290F7-F5DF-4BA3-AA9A-20377FE1A85B}"/>
              </a:ext>
            </a:extLst>
          </p:cNvPr>
          <p:cNvCxnSpPr>
            <a:cxnSpLocks/>
            <a:stCxn id="50" idx="3"/>
          </p:cNvCxnSpPr>
          <p:nvPr/>
        </p:nvCxnSpPr>
        <p:spPr>
          <a:xfrm>
            <a:off x="3211361" y="4973426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angular 26">
            <a:extLst>
              <a:ext uri="{FF2B5EF4-FFF2-40B4-BE49-F238E27FC236}">
                <a16:creationId xmlns:a16="http://schemas.microsoft.com/office/drawing/2014/main" id="{F68C6BE2-55CC-4D07-8AA1-2074D40FA11C}"/>
              </a:ext>
            </a:extLst>
          </p:cNvPr>
          <p:cNvCxnSpPr>
            <a:cxnSpLocks/>
            <a:stCxn id="48" idx="2"/>
            <a:endCxn id="50" idx="1"/>
          </p:cNvCxnSpPr>
          <p:nvPr/>
        </p:nvCxnSpPr>
        <p:spPr>
          <a:xfrm rot="16200000" flipH="1">
            <a:off x="1258456" y="4631937"/>
            <a:ext cx="84589" cy="5983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angular 23">
            <a:extLst>
              <a:ext uri="{FF2B5EF4-FFF2-40B4-BE49-F238E27FC236}">
                <a16:creationId xmlns:a16="http://schemas.microsoft.com/office/drawing/2014/main" id="{21AFF61C-8EF9-4E62-8F8A-72DCADC1D2FC}"/>
              </a:ext>
            </a:extLst>
          </p:cNvPr>
          <p:cNvCxnSpPr>
            <a:cxnSpLocks/>
            <a:stCxn id="49" idx="1"/>
            <a:endCxn id="48" idx="0"/>
          </p:cNvCxnSpPr>
          <p:nvPr/>
        </p:nvCxnSpPr>
        <p:spPr>
          <a:xfrm rot="10800000" flipV="1">
            <a:off x="1001556" y="3564859"/>
            <a:ext cx="598388" cy="78397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A51E1EBE-D091-44FC-9CC4-BE6213856420}"/>
              </a:ext>
            </a:extLst>
          </p:cNvPr>
          <p:cNvCxnSpPr>
            <a:cxnSpLocks/>
          </p:cNvCxnSpPr>
          <p:nvPr/>
        </p:nvCxnSpPr>
        <p:spPr>
          <a:xfrm flipH="1" flipV="1">
            <a:off x="8465296" y="5183812"/>
            <a:ext cx="36285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recto de flecha 75">
            <a:extLst>
              <a:ext uri="{FF2B5EF4-FFF2-40B4-BE49-F238E27FC236}">
                <a16:creationId xmlns:a16="http://schemas.microsoft.com/office/drawing/2014/main" id="{D5F404C7-79F2-4790-BBFB-F2218EE2A029}"/>
              </a:ext>
            </a:extLst>
          </p:cNvPr>
          <p:cNvCxnSpPr>
            <a:cxnSpLocks/>
          </p:cNvCxnSpPr>
          <p:nvPr/>
        </p:nvCxnSpPr>
        <p:spPr>
          <a:xfrm>
            <a:off x="8465296" y="3661474"/>
            <a:ext cx="36285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BCBB9AC2-FBD1-4E02-A1EE-F1DBD3B69B9F}"/>
              </a:ext>
            </a:extLst>
          </p:cNvPr>
          <p:cNvSpPr txBox="1">
            <a:spLocks/>
          </p:cNvSpPr>
          <p:nvPr/>
        </p:nvSpPr>
        <p:spPr>
          <a:xfrm>
            <a:off x="1599944" y="3960677"/>
            <a:ext cx="1611417" cy="58159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r>
              <a:rPr lang="es-ES" sz="1100">
                <a:solidFill>
                  <a:schemeClr val="tx1"/>
                </a:solidFill>
                <a:latin typeface="+mn-lt"/>
              </a:rPr>
              <a:t>Requerimientos de validación de calidad de la información</a:t>
            </a:r>
          </a:p>
        </p:txBody>
      </p:sp>
      <p:cxnSp>
        <p:nvCxnSpPr>
          <p:cNvPr id="67" name="Conector recto de flecha 66">
            <a:extLst>
              <a:ext uri="{FF2B5EF4-FFF2-40B4-BE49-F238E27FC236}">
                <a16:creationId xmlns:a16="http://schemas.microsoft.com/office/drawing/2014/main" id="{27BBFAA2-F977-43B9-8070-E8A3C47C2865}"/>
              </a:ext>
            </a:extLst>
          </p:cNvPr>
          <p:cNvCxnSpPr>
            <a:cxnSpLocks/>
          </p:cNvCxnSpPr>
          <p:nvPr/>
        </p:nvCxnSpPr>
        <p:spPr>
          <a:xfrm flipH="1">
            <a:off x="3211361" y="4221240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Marcador de contenido 5">
            <a:extLst>
              <a:ext uri="{FF2B5EF4-FFF2-40B4-BE49-F238E27FC236}">
                <a16:creationId xmlns:a16="http://schemas.microsoft.com/office/drawing/2014/main" id="{FBC882A9-3117-4FB5-958D-9AD1053F68DA}"/>
              </a:ext>
            </a:extLst>
          </p:cNvPr>
          <p:cNvSpPr txBox="1">
            <a:spLocks/>
          </p:cNvSpPr>
          <p:nvPr/>
        </p:nvSpPr>
        <p:spPr>
          <a:xfrm>
            <a:off x="1599943" y="5280368"/>
            <a:ext cx="1611417" cy="52220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Retroalimentación de la calidad y Gobierno de datos</a:t>
            </a:r>
          </a:p>
        </p:txBody>
      </p:sp>
      <p:cxnSp>
        <p:nvCxnSpPr>
          <p:cNvPr id="75" name="Conector angular 26">
            <a:extLst>
              <a:ext uri="{FF2B5EF4-FFF2-40B4-BE49-F238E27FC236}">
                <a16:creationId xmlns:a16="http://schemas.microsoft.com/office/drawing/2014/main" id="{489A671B-7C2F-4E08-B280-C244A16202F6}"/>
              </a:ext>
            </a:extLst>
          </p:cNvPr>
          <p:cNvCxnSpPr>
            <a:cxnSpLocks/>
            <a:stCxn id="48" idx="2"/>
            <a:endCxn id="71" idx="1"/>
          </p:cNvCxnSpPr>
          <p:nvPr/>
        </p:nvCxnSpPr>
        <p:spPr>
          <a:xfrm rot="16200000" flipH="1">
            <a:off x="974433" y="4915959"/>
            <a:ext cx="652632" cy="59838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14C6F238-7496-44EA-9AAF-17FF5C43F738}"/>
              </a:ext>
            </a:extLst>
          </p:cNvPr>
          <p:cNvCxnSpPr>
            <a:cxnSpLocks/>
          </p:cNvCxnSpPr>
          <p:nvPr/>
        </p:nvCxnSpPr>
        <p:spPr>
          <a:xfrm>
            <a:off x="3224151" y="5445597"/>
            <a:ext cx="33380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23">
            <a:extLst>
              <a:ext uri="{FF2B5EF4-FFF2-40B4-BE49-F238E27FC236}">
                <a16:creationId xmlns:a16="http://schemas.microsoft.com/office/drawing/2014/main" id="{C6DE5CFE-FA15-4C7E-A512-A99BA7EB17C5}"/>
              </a:ext>
            </a:extLst>
          </p:cNvPr>
          <p:cNvCxnSpPr>
            <a:cxnSpLocks/>
            <a:stCxn id="27" idx="1"/>
            <a:endCxn id="48" idx="0"/>
          </p:cNvCxnSpPr>
          <p:nvPr/>
        </p:nvCxnSpPr>
        <p:spPr>
          <a:xfrm rot="10800000" flipV="1">
            <a:off x="1001556" y="4251475"/>
            <a:ext cx="598388" cy="973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lecha: pentágono 84">
            <a:extLst>
              <a:ext uri="{FF2B5EF4-FFF2-40B4-BE49-F238E27FC236}">
                <a16:creationId xmlns:a16="http://schemas.microsoft.com/office/drawing/2014/main" id="{1544B162-5810-4FBE-AFCF-F8DDD9BA00D5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87" name="Imagen 8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069AC5E1-D91F-455D-9D43-1B5725589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4" name="Rectángulo 3">
            <a:extLst>
              <a:ext uri="{FF2B5EF4-FFF2-40B4-BE49-F238E27FC236}">
                <a16:creationId xmlns:a16="http://schemas.microsoft.com/office/drawing/2014/main" id="{26D77808-22BE-48A3-8A4E-FC4CFD3020B3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25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20DA71D-B61D-4B70-91A8-4F7417A5C544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F983E619-9829-48F0-916B-1F3B4BABA97A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403114382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>
                <a:latin typeface="+mn-lt"/>
              </a:rPr>
              <a:t>Roles e interacciones clave – Gerente de Gestión del Talento</a:t>
            </a:r>
          </a:p>
          <a:p>
            <a:endParaRPr lang="es-CO">
              <a:latin typeface="+mn-lt"/>
            </a:endParaRP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61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El gerente de Gestión del Talento </a:t>
            </a:r>
            <a:r>
              <a:rPr lang="es-ES"/>
              <a:t>lidera la estrategia de desarrollo del talento humano y organizacional y se asegurará de su alineación con el norte estratégico de la organización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Gestión del Talento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5100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300" b="1">
                <a:latin typeface="+mn-lt"/>
                <a:cs typeface="Calibri"/>
              </a:rPr>
              <a:t>Misión</a:t>
            </a:r>
          </a:p>
          <a:p>
            <a:pPr marL="3635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 kern="0">
                <a:solidFill>
                  <a:schemeClr val="accent1"/>
                </a:solidFill>
                <a:latin typeface="+mn-lt"/>
              </a:rPr>
              <a:t>Asegurar la alineación del talento interno con los objetivos estratégicos del negocio y la digitalización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300" b="1">
                <a:latin typeface="+mn-lt"/>
                <a:cs typeface="Calibri"/>
              </a:rPr>
              <a:t>Principales Responsabilidades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solidFill>
                  <a:schemeClr val="accent1"/>
                </a:solidFill>
                <a:latin typeface="+mn-lt"/>
                <a:cs typeface="Calibri"/>
              </a:rPr>
              <a:t>Liderar la definir e implementación de la estrategia de gestión del talento asegurando su alineación con los objetivos estratégicos del negocio y la digitalización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solidFill>
                  <a:schemeClr val="accent1"/>
                </a:solidFill>
                <a:latin typeface="+mn-lt"/>
                <a:cs typeface="Calibri"/>
              </a:rPr>
              <a:t>Ejecutar plan de transformación del modelo organizacional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latin typeface="+mn-lt"/>
                <a:cs typeface="Calibri"/>
              </a:rPr>
              <a:t>Gestionar el mapa de talento por niveles y procesos – medición de desempeño y alineación con la estrategia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latin typeface="+mn-lt"/>
                <a:cs typeface="Calibri"/>
              </a:rPr>
              <a:t>Soportar el diseño de la estructura, el mapa de procesos y el modelo de evaluación del talento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latin typeface="+mn-lt"/>
                <a:cs typeface="Calibri"/>
              </a:rPr>
              <a:t>Gestionar el tamaño de la planta y las políticas de reclutamiento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latin typeface="+mn-lt"/>
                <a:cs typeface="Calibri"/>
              </a:rPr>
              <a:t>Desplegar iniciativas de gestión del cambio y fortalecimiento de la cultura interna (</a:t>
            </a:r>
            <a:r>
              <a:rPr lang="es-ES" sz="1300" err="1">
                <a:latin typeface="+mn-lt"/>
                <a:cs typeface="Calibri"/>
              </a:rPr>
              <a:t>engagement</a:t>
            </a:r>
            <a:r>
              <a:rPr lang="es-ES" sz="1300">
                <a:latin typeface="+mn-lt"/>
                <a:cs typeface="Calibri"/>
              </a:rPr>
              <a:t>)</a:t>
            </a:r>
          </a:p>
          <a:p>
            <a:pPr marL="363538" indent="-27463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300">
                <a:solidFill>
                  <a:schemeClr val="accent1"/>
                </a:solidFill>
                <a:latin typeface="+mn-lt"/>
                <a:cs typeface="Calibri"/>
              </a:rPr>
              <a:t>Diseñar los planes de comunicación interna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72265" y="4152028"/>
            <a:ext cx="1369015" cy="38915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t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Gestión del Talento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26898" y="4443257"/>
            <a:ext cx="1173225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100" err="1"/>
              <a:t>Presidente</a:t>
            </a:r>
            <a:endParaRPr lang="en-US" sz="1100"/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41280" y="4346608"/>
            <a:ext cx="872231" cy="9664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72265" y="4735766"/>
            <a:ext cx="1440110" cy="38165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t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Lineamientos estratégicos </a:t>
            </a:r>
          </a:p>
          <a:p>
            <a:pPr algn="ctr"/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553836" y="4466920"/>
            <a:ext cx="118214" cy="80113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6" y="4345439"/>
            <a:ext cx="295629" cy="1169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93423" y="1943275"/>
            <a:ext cx="611677" cy="223772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05099" y="4673457"/>
            <a:ext cx="1506263" cy="518785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t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Necesidades de gestión del talento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58279" y="4486029"/>
            <a:ext cx="281963" cy="61167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ector recto de flecha 19">
            <a:extLst>
              <a:ext uri="{FF2B5EF4-FFF2-40B4-BE49-F238E27FC236}">
                <a16:creationId xmlns:a16="http://schemas.microsoft.com/office/drawing/2014/main" id="{2D3D0C51-C3F5-4CAA-A97A-1312F6948994}"/>
              </a:ext>
            </a:extLst>
          </p:cNvPr>
          <p:cNvCxnSpPr>
            <a:cxnSpLocks/>
          </p:cNvCxnSpPr>
          <p:nvPr/>
        </p:nvCxnSpPr>
        <p:spPr>
          <a:xfrm>
            <a:off x="3224152" y="4926595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2" y="1943276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08938" y="4181001"/>
            <a:ext cx="1168967" cy="469886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705099" y="1747210"/>
            <a:ext cx="1519053" cy="39213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Esquema de Compensación</a:t>
            </a:r>
          </a:p>
        </p:txBody>
      </p:sp>
      <p:sp>
        <p:nvSpPr>
          <p:cNvPr id="36" name="Marcador de contenido 5">
            <a:extLst>
              <a:ext uri="{FF2B5EF4-FFF2-40B4-BE49-F238E27FC236}">
                <a16:creationId xmlns:a16="http://schemas.microsoft.com/office/drawing/2014/main" id="{B8A4891F-21AA-4196-81FD-C457112E5664}"/>
              </a:ext>
            </a:extLst>
          </p:cNvPr>
          <p:cNvSpPr txBox="1">
            <a:spLocks/>
          </p:cNvSpPr>
          <p:nvPr/>
        </p:nvSpPr>
        <p:spPr>
          <a:xfrm>
            <a:off x="1705099" y="2182929"/>
            <a:ext cx="1519053" cy="39213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Esquema de Compensación</a:t>
            </a:r>
          </a:p>
        </p:txBody>
      </p:sp>
      <p:sp>
        <p:nvSpPr>
          <p:cNvPr id="37" name="Marcador de contenido 5">
            <a:extLst>
              <a:ext uri="{FF2B5EF4-FFF2-40B4-BE49-F238E27FC236}">
                <a16:creationId xmlns:a16="http://schemas.microsoft.com/office/drawing/2014/main" id="{09FC05B2-1273-4C2E-80CC-7ABD5833DE4E}"/>
              </a:ext>
            </a:extLst>
          </p:cNvPr>
          <p:cNvSpPr txBox="1">
            <a:spLocks/>
          </p:cNvSpPr>
          <p:nvPr/>
        </p:nvSpPr>
        <p:spPr>
          <a:xfrm>
            <a:off x="1705099" y="2618648"/>
            <a:ext cx="1519053" cy="392132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Planes de Desarrollo</a:t>
            </a:r>
          </a:p>
        </p:txBody>
      </p:sp>
      <p:sp>
        <p:nvSpPr>
          <p:cNvPr id="39" name="Marcador de contenido 5">
            <a:extLst>
              <a:ext uri="{FF2B5EF4-FFF2-40B4-BE49-F238E27FC236}">
                <a16:creationId xmlns:a16="http://schemas.microsoft.com/office/drawing/2014/main" id="{D17F2014-A307-481B-9B6B-830F76B871CD}"/>
              </a:ext>
            </a:extLst>
          </p:cNvPr>
          <p:cNvSpPr txBox="1">
            <a:spLocks/>
          </p:cNvSpPr>
          <p:nvPr/>
        </p:nvSpPr>
        <p:spPr>
          <a:xfrm>
            <a:off x="1705099" y="3054367"/>
            <a:ext cx="1519053" cy="54079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Lineamientos Gestión del Talento</a:t>
            </a:r>
          </a:p>
        </p:txBody>
      </p:sp>
      <p:cxnSp>
        <p:nvCxnSpPr>
          <p:cNvPr id="46" name="Conector recto de flecha 45">
            <a:extLst>
              <a:ext uri="{FF2B5EF4-FFF2-40B4-BE49-F238E27FC236}">
                <a16:creationId xmlns:a16="http://schemas.microsoft.com/office/drawing/2014/main" id="{10E25B54-2235-4A19-B55F-A268C1C34583}"/>
              </a:ext>
            </a:extLst>
          </p:cNvPr>
          <p:cNvCxnSpPr>
            <a:cxnSpLocks/>
            <a:endCxn id="36" idx="3"/>
          </p:cNvCxnSpPr>
          <p:nvPr/>
        </p:nvCxnSpPr>
        <p:spPr>
          <a:xfrm flipH="1" flipV="1">
            <a:off x="3224152" y="2378995"/>
            <a:ext cx="308222" cy="148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ector recto de flecha 46">
            <a:extLst>
              <a:ext uri="{FF2B5EF4-FFF2-40B4-BE49-F238E27FC236}">
                <a16:creationId xmlns:a16="http://schemas.microsoft.com/office/drawing/2014/main" id="{F5FE06AF-B6BF-4B1F-9A90-3EC503440CDF}"/>
              </a:ext>
            </a:extLst>
          </p:cNvPr>
          <p:cNvCxnSpPr>
            <a:cxnSpLocks/>
            <a:endCxn id="37" idx="3"/>
          </p:cNvCxnSpPr>
          <p:nvPr/>
        </p:nvCxnSpPr>
        <p:spPr>
          <a:xfrm flipH="1">
            <a:off x="3224152" y="2804411"/>
            <a:ext cx="321012" cy="1030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de flecha 47">
            <a:extLst>
              <a:ext uri="{FF2B5EF4-FFF2-40B4-BE49-F238E27FC236}">
                <a16:creationId xmlns:a16="http://schemas.microsoft.com/office/drawing/2014/main" id="{FD6212A7-3D41-4CC4-9607-308AFD8A9990}"/>
              </a:ext>
            </a:extLst>
          </p:cNvPr>
          <p:cNvCxnSpPr>
            <a:cxnSpLocks/>
          </p:cNvCxnSpPr>
          <p:nvPr/>
        </p:nvCxnSpPr>
        <p:spPr>
          <a:xfrm flipH="1">
            <a:off x="3224152" y="3351458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angular 23">
            <a:extLst>
              <a:ext uri="{FF2B5EF4-FFF2-40B4-BE49-F238E27FC236}">
                <a16:creationId xmlns:a16="http://schemas.microsoft.com/office/drawing/2014/main" id="{73834AA7-ABA7-4D2B-BD75-5A94C08EA5F0}"/>
              </a:ext>
            </a:extLst>
          </p:cNvPr>
          <p:cNvCxnSpPr>
            <a:cxnSpLocks/>
            <a:stCxn id="36" idx="1"/>
            <a:endCxn id="22" idx="0"/>
          </p:cNvCxnSpPr>
          <p:nvPr/>
        </p:nvCxnSpPr>
        <p:spPr>
          <a:xfrm rot="10800000" flipV="1">
            <a:off x="1093423" y="2378995"/>
            <a:ext cx="611677" cy="18020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angular 23">
            <a:extLst>
              <a:ext uri="{FF2B5EF4-FFF2-40B4-BE49-F238E27FC236}">
                <a16:creationId xmlns:a16="http://schemas.microsoft.com/office/drawing/2014/main" id="{10A9C7DC-CEC7-4BC7-9E62-A4CA4A570479}"/>
              </a:ext>
            </a:extLst>
          </p:cNvPr>
          <p:cNvCxnSpPr>
            <a:cxnSpLocks/>
            <a:stCxn id="37" idx="1"/>
            <a:endCxn id="22" idx="0"/>
          </p:cNvCxnSpPr>
          <p:nvPr/>
        </p:nvCxnSpPr>
        <p:spPr>
          <a:xfrm rot="10800000" flipV="1">
            <a:off x="1093423" y="2814713"/>
            <a:ext cx="611677" cy="136628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Conector angular 23">
            <a:extLst>
              <a:ext uri="{FF2B5EF4-FFF2-40B4-BE49-F238E27FC236}">
                <a16:creationId xmlns:a16="http://schemas.microsoft.com/office/drawing/2014/main" id="{690739F6-6B24-412A-A776-B0CF233871CA}"/>
              </a:ext>
            </a:extLst>
          </p:cNvPr>
          <p:cNvCxnSpPr>
            <a:cxnSpLocks/>
            <a:stCxn id="39" idx="1"/>
            <a:endCxn id="22" idx="0"/>
          </p:cNvCxnSpPr>
          <p:nvPr/>
        </p:nvCxnSpPr>
        <p:spPr>
          <a:xfrm rot="10800000" flipV="1">
            <a:off x="1093423" y="3324767"/>
            <a:ext cx="611677" cy="85623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B4110B1F-14D3-4E21-A3DF-F5C043EB7633}"/>
              </a:ext>
            </a:extLst>
          </p:cNvPr>
          <p:cNvCxnSpPr>
            <a:cxnSpLocks/>
          </p:cNvCxnSpPr>
          <p:nvPr/>
        </p:nvCxnSpPr>
        <p:spPr>
          <a:xfrm flipH="1">
            <a:off x="8476636" y="4916350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Marcador de contenido 5">
            <a:extLst>
              <a:ext uri="{FF2B5EF4-FFF2-40B4-BE49-F238E27FC236}">
                <a16:creationId xmlns:a16="http://schemas.microsoft.com/office/drawing/2014/main" id="{F0B805E6-86CD-4B29-9F1E-F0C5D317F562}"/>
              </a:ext>
            </a:extLst>
          </p:cNvPr>
          <p:cNvSpPr txBox="1">
            <a:spLocks/>
          </p:cNvSpPr>
          <p:nvPr/>
        </p:nvSpPr>
        <p:spPr>
          <a:xfrm>
            <a:off x="8772265" y="5180138"/>
            <a:ext cx="1440110" cy="48953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t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Estrategia gestión del talento aprobada</a:t>
            </a:r>
          </a:p>
          <a:p>
            <a:pPr algn="ctr"/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1" name="Conector angular 37">
            <a:extLst>
              <a:ext uri="{FF2B5EF4-FFF2-40B4-BE49-F238E27FC236}">
                <a16:creationId xmlns:a16="http://schemas.microsoft.com/office/drawing/2014/main" id="{A1976E10-0D05-41DA-89B7-BD3FCEF52BA2}"/>
              </a:ext>
            </a:extLst>
          </p:cNvPr>
          <p:cNvCxnSpPr>
            <a:cxnSpLocks/>
            <a:stCxn id="11" idx="2"/>
            <a:endCxn id="40" idx="3"/>
          </p:cNvCxnSpPr>
          <p:nvPr/>
        </p:nvCxnSpPr>
        <p:spPr>
          <a:xfrm rot="5400000">
            <a:off x="10304682" y="4716074"/>
            <a:ext cx="616523" cy="80113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B302895F-47DE-4457-A179-E265091BBCE5}"/>
              </a:ext>
            </a:extLst>
          </p:cNvPr>
          <p:cNvCxnSpPr>
            <a:cxnSpLocks/>
          </p:cNvCxnSpPr>
          <p:nvPr/>
        </p:nvCxnSpPr>
        <p:spPr>
          <a:xfrm flipH="1">
            <a:off x="8476636" y="5443283"/>
            <a:ext cx="308321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Marcador de pie de página 2">
            <a:extLst>
              <a:ext uri="{FF2B5EF4-FFF2-40B4-BE49-F238E27FC236}">
                <a16:creationId xmlns:a16="http://schemas.microsoft.com/office/drawing/2014/main" id="{26C87F8E-A86E-404B-8D08-F88DDF3FD087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3" name="Marcador de contenido 5">
            <a:extLst>
              <a:ext uri="{FF2B5EF4-FFF2-40B4-BE49-F238E27FC236}">
                <a16:creationId xmlns:a16="http://schemas.microsoft.com/office/drawing/2014/main" id="{B0ED7B0C-6D3C-414A-AC38-2EC2CF077186}"/>
              </a:ext>
            </a:extLst>
          </p:cNvPr>
          <p:cNvSpPr txBox="1">
            <a:spLocks/>
          </p:cNvSpPr>
          <p:nvPr/>
        </p:nvSpPr>
        <p:spPr>
          <a:xfrm>
            <a:off x="3545164" y="5530838"/>
            <a:ext cx="4918780" cy="8395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Implementación del plan estratégico de gestión del talento ; (2) Experiencia del Colaborador; (3) Rotación de la planta (retención del personal); (4) NPS Cliente Externo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80AEB88D-6A60-417D-9463-5AA204D759B9}"/>
              </a:ext>
            </a:extLst>
          </p:cNvPr>
          <p:cNvSpPr/>
          <p:nvPr/>
        </p:nvSpPr>
        <p:spPr>
          <a:xfrm>
            <a:off x="10426523" y="1755629"/>
            <a:ext cx="1173600" cy="37001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Director de Comunica.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23395DEF-D337-4AE5-8472-E25DDE2BF460}"/>
              </a:ext>
            </a:extLst>
          </p:cNvPr>
          <p:cNvSpPr txBox="1">
            <a:spLocks/>
          </p:cNvSpPr>
          <p:nvPr/>
        </p:nvSpPr>
        <p:spPr>
          <a:xfrm>
            <a:off x="8785005" y="2136112"/>
            <a:ext cx="1343533" cy="389159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Resultados gestión de comunicaciones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D8473459-BC01-4998-AF94-ECE29BF1ABDE}"/>
              </a:ext>
            </a:extLst>
          </p:cNvPr>
          <p:cNvSpPr txBox="1">
            <a:spLocks/>
          </p:cNvSpPr>
          <p:nvPr/>
        </p:nvSpPr>
        <p:spPr>
          <a:xfrm>
            <a:off x="8785005" y="1417870"/>
            <a:ext cx="1343533" cy="385742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Manual de comunicaciones</a:t>
            </a:r>
          </a:p>
        </p:txBody>
      </p:sp>
      <p:cxnSp>
        <p:nvCxnSpPr>
          <p:cNvPr id="52" name="Conector angular 26">
            <a:extLst>
              <a:ext uri="{FF2B5EF4-FFF2-40B4-BE49-F238E27FC236}">
                <a16:creationId xmlns:a16="http://schemas.microsoft.com/office/drawing/2014/main" id="{CEC46E15-B078-4247-BCCA-1BD80A17A3BD}"/>
              </a:ext>
            </a:extLst>
          </p:cNvPr>
          <p:cNvCxnSpPr>
            <a:cxnSpLocks/>
            <a:stCxn id="45" idx="2"/>
            <a:endCxn id="50" idx="3"/>
          </p:cNvCxnSpPr>
          <p:nvPr/>
        </p:nvCxnSpPr>
        <p:spPr>
          <a:xfrm rot="5400000">
            <a:off x="10468405" y="1785774"/>
            <a:ext cx="205052" cy="88478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ector angular 23">
            <a:extLst>
              <a:ext uri="{FF2B5EF4-FFF2-40B4-BE49-F238E27FC236}">
                <a16:creationId xmlns:a16="http://schemas.microsoft.com/office/drawing/2014/main" id="{85FED882-AC12-4E44-AA03-127EA8DB236A}"/>
              </a:ext>
            </a:extLst>
          </p:cNvPr>
          <p:cNvCxnSpPr>
            <a:cxnSpLocks/>
            <a:stCxn id="51" idx="3"/>
            <a:endCxn id="45" idx="0"/>
          </p:cNvCxnSpPr>
          <p:nvPr/>
        </p:nvCxnSpPr>
        <p:spPr>
          <a:xfrm>
            <a:off x="10128538" y="1610741"/>
            <a:ext cx="884785" cy="1448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Conector recto de flecha 53">
            <a:extLst>
              <a:ext uri="{FF2B5EF4-FFF2-40B4-BE49-F238E27FC236}">
                <a16:creationId xmlns:a16="http://schemas.microsoft.com/office/drawing/2014/main" id="{283B3CD2-DF5F-4853-B05C-3AC147294B9B}"/>
              </a:ext>
            </a:extLst>
          </p:cNvPr>
          <p:cNvCxnSpPr>
            <a:cxnSpLocks/>
          </p:cNvCxnSpPr>
          <p:nvPr/>
        </p:nvCxnSpPr>
        <p:spPr>
          <a:xfrm>
            <a:off x="8454438" y="1615001"/>
            <a:ext cx="33051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Conector recto de flecha 54">
            <a:extLst>
              <a:ext uri="{FF2B5EF4-FFF2-40B4-BE49-F238E27FC236}">
                <a16:creationId xmlns:a16="http://schemas.microsoft.com/office/drawing/2014/main" id="{F36E3D83-5767-4158-9220-EB0EA1807F2C}"/>
              </a:ext>
            </a:extLst>
          </p:cNvPr>
          <p:cNvCxnSpPr>
            <a:cxnSpLocks/>
          </p:cNvCxnSpPr>
          <p:nvPr/>
        </p:nvCxnSpPr>
        <p:spPr>
          <a:xfrm flipH="1">
            <a:off x="8465536" y="2330691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ángulo 91">
            <a:extLst>
              <a:ext uri="{FF2B5EF4-FFF2-40B4-BE49-F238E27FC236}">
                <a16:creationId xmlns:a16="http://schemas.microsoft.com/office/drawing/2014/main" id="{35117D91-155E-4BC7-9746-19367A6043C0}"/>
              </a:ext>
            </a:extLst>
          </p:cNvPr>
          <p:cNvSpPr/>
          <p:nvPr/>
        </p:nvSpPr>
        <p:spPr>
          <a:xfrm>
            <a:off x="10426523" y="3106381"/>
            <a:ext cx="1173600" cy="370011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Director Admin.</a:t>
            </a:r>
          </a:p>
        </p:txBody>
      </p:sp>
      <p:sp>
        <p:nvSpPr>
          <p:cNvPr id="93" name="Marcador de contenido 5">
            <a:extLst>
              <a:ext uri="{FF2B5EF4-FFF2-40B4-BE49-F238E27FC236}">
                <a16:creationId xmlns:a16="http://schemas.microsoft.com/office/drawing/2014/main" id="{F16AB66E-A42C-4B56-AB6C-BC021BCDF491}"/>
              </a:ext>
            </a:extLst>
          </p:cNvPr>
          <p:cNvSpPr txBox="1">
            <a:spLocks/>
          </p:cNvSpPr>
          <p:nvPr/>
        </p:nvSpPr>
        <p:spPr>
          <a:xfrm>
            <a:off x="8785005" y="3476231"/>
            <a:ext cx="1343533" cy="389159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Liquidación de nomina</a:t>
            </a:r>
          </a:p>
        </p:txBody>
      </p:sp>
      <p:sp>
        <p:nvSpPr>
          <p:cNvPr id="94" name="Marcador de contenido 5">
            <a:extLst>
              <a:ext uri="{FF2B5EF4-FFF2-40B4-BE49-F238E27FC236}">
                <a16:creationId xmlns:a16="http://schemas.microsoft.com/office/drawing/2014/main" id="{DB3C9AB6-B6EE-426E-B800-8F29157CF3F2}"/>
              </a:ext>
            </a:extLst>
          </p:cNvPr>
          <p:cNvSpPr txBox="1">
            <a:spLocks/>
          </p:cNvSpPr>
          <p:nvPr/>
        </p:nvSpPr>
        <p:spPr>
          <a:xfrm>
            <a:off x="8785005" y="2757989"/>
            <a:ext cx="1343533" cy="385742"/>
          </a:xfrm>
          <a:prstGeom prst="rect">
            <a:avLst/>
          </a:prstGeom>
          <a:solidFill>
            <a:srgbClr val="B1B1B1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bg1"/>
                </a:solidFill>
                <a:latin typeface="+mn-lt"/>
              </a:rPr>
              <a:t>Novedades de nomina</a:t>
            </a:r>
          </a:p>
        </p:txBody>
      </p:sp>
      <p:cxnSp>
        <p:nvCxnSpPr>
          <p:cNvPr id="95" name="Conector angular 26">
            <a:extLst>
              <a:ext uri="{FF2B5EF4-FFF2-40B4-BE49-F238E27FC236}">
                <a16:creationId xmlns:a16="http://schemas.microsoft.com/office/drawing/2014/main" id="{6C76F3EB-2A8B-4266-A861-FC72B09B9272}"/>
              </a:ext>
            </a:extLst>
          </p:cNvPr>
          <p:cNvCxnSpPr>
            <a:cxnSpLocks/>
            <a:stCxn id="92" idx="2"/>
            <a:endCxn id="93" idx="3"/>
          </p:cNvCxnSpPr>
          <p:nvPr/>
        </p:nvCxnSpPr>
        <p:spPr>
          <a:xfrm rot="5400000">
            <a:off x="10473722" y="3131209"/>
            <a:ext cx="194419" cy="88478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angular 23">
            <a:extLst>
              <a:ext uri="{FF2B5EF4-FFF2-40B4-BE49-F238E27FC236}">
                <a16:creationId xmlns:a16="http://schemas.microsoft.com/office/drawing/2014/main" id="{3114189D-65B6-42FA-B14A-188353A709E2}"/>
              </a:ext>
            </a:extLst>
          </p:cNvPr>
          <p:cNvCxnSpPr>
            <a:cxnSpLocks/>
            <a:stCxn id="94" idx="3"/>
            <a:endCxn id="92" idx="0"/>
          </p:cNvCxnSpPr>
          <p:nvPr/>
        </p:nvCxnSpPr>
        <p:spPr>
          <a:xfrm>
            <a:off x="10128538" y="2950860"/>
            <a:ext cx="884785" cy="15552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9073500E-E919-44F2-A87D-4EFBD1984CEC}"/>
              </a:ext>
            </a:extLst>
          </p:cNvPr>
          <p:cNvCxnSpPr>
            <a:cxnSpLocks/>
          </p:cNvCxnSpPr>
          <p:nvPr/>
        </p:nvCxnSpPr>
        <p:spPr>
          <a:xfrm>
            <a:off x="8454438" y="2955120"/>
            <a:ext cx="33051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D6855F28-8007-42BB-8484-E78995D95CAA}"/>
              </a:ext>
            </a:extLst>
          </p:cNvPr>
          <p:cNvCxnSpPr>
            <a:cxnSpLocks/>
          </p:cNvCxnSpPr>
          <p:nvPr/>
        </p:nvCxnSpPr>
        <p:spPr>
          <a:xfrm flipH="1">
            <a:off x="8465536" y="3670810"/>
            <a:ext cx="30832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F6BC6923-1B5F-4A5A-BEEB-223562AAB38A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6" name="Imagen 25" descr="Imagen que contiene dibujo&#10;&#10;Descripción generada automáticamente">
            <a:extLst>
              <a:ext uri="{FF2B5EF4-FFF2-40B4-BE49-F238E27FC236}">
                <a16:creationId xmlns:a16="http://schemas.microsoft.com/office/drawing/2014/main" id="{1FB0A265-3330-4A82-A9C4-2B9729EDB1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4" name="Marcador de contenido 5">
            <a:extLst>
              <a:ext uri="{FF2B5EF4-FFF2-40B4-BE49-F238E27FC236}">
                <a16:creationId xmlns:a16="http://schemas.microsoft.com/office/drawing/2014/main" id="{E044AF1C-1032-4DA2-BDB5-5D2F83199D29}"/>
              </a:ext>
            </a:extLst>
          </p:cNvPr>
          <p:cNvSpPr txBox="1">
            <a:spLocks/>
          </p:cNvSpPr>
          <p:nvPr/>
        </p:nvSpPr>
        <p:spPr>
          <a:xfrm>
            <a:off x="1705099" y="3638752"/>
            <a:ext cx="1519053" cy="54079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Iniciativas de gestión del cambio y cultura</a:t>
            </a:r>
          </a:p>
        </p:txBody>
      </p:sp>
      <p:cxnSp>
        <p:nvCxnSpPr>
          <p:cNvPr id="57" name="Conector angular 23">
            <a:extLst>
              <a:ext uri="{FF2B5EF4-FFF2-40B4-BE49-F238E27FC236}">
                <a16:creationId xmlns:a16="http://schemas.microsoft.com/office/drawing/2014/main" id="{8334515C-556E-4733-8566-92B90E99D58E}"/>
              </a:ext>
            </a:extLst>
          </p:cNvPr>
          <p:cNvCxnSpPr>
            <a:cxnSpLocks/>
            <a:stCxn id="4" idx="1"/>
            <a:endCxn id="22" idx="0"/>
          </p:cNvCxnSpPr>
          <p:nvPr/>
        </p:nvCxnSpPr>
        <p:spPr>
          <a:xfrm rot="10800000" flipV="1">
            <a:off x="1093423" y="3909151"/>
            <a:ext cx="611677" cy="27184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191638A6-2F3C-45D0-BF3F-20F81054D8F2}"/>
              </a:ext>
            </a:extLst>
          </p:cNvPr>
          <p:cNvCxnSpPr>
            <a:cxnSpLocks/>
          </p:cNvCxnSpPr>
          <p:nvPr/>
        </p:nvCxnSpPr>
        <p:spPr>
          <a:xfrm flipH="1">
            <a:off x="3207777" y="3893634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Marcador de contenido 5">
            <a:extLst>
              <a:ext uri="{FF2B5EF4-FFF2-40B4-BE49-F238E27FC236}">
                <a16:creationId xmlns:a16="http://schemas.microsoft.com/office/drawing/2014/main" id="{25EA74F6-CAF8-4325-A55B-3AC7BECA6895}"/>
              </a:ext>
            </a:extLst>
          </p:cNvPr>
          <p:cNvSpPr txBox="1">
            <a:spLocks/>
          </p:cNvSpPr>
          <p:nvPr/>
        </p:nvSpPr>
        <p:spPr>
          <a:xfrm>
            <a:off x="1701514" y="5244725"/>
            <a:ext cx="1506263" cy="61381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t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Retroalimentación de las iniciativas y la estrategia </a:t>
            </a:r>
          </a:p>
        </p:txBody>
      </p: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21C790E0-D3E4-4515-8264-F9610B06C72B}"/>
              </a:ext>
            </a:extLst>
          </p:cNvPr>
          <p:cNvCxnSpPr>
            <a:cxnSpLocks/>
          </p:cNvCxnSpPr>
          <p:nvPr/>
        </p:nvCxnSpPr>
        <p:spPr>
          <a:xfrm>
            <a:off x="3224152" y="5445582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angular 26">
            <a:extLst>
              <a:ext uri="{FF2B5EF4-FFF2-40B4-BE49-F238E27FC236}">
                <a16:creationId xmlns:a16="http://schemas.microsoft.com/office/drawing/2014/main" id="{321F8358-0CF8-4F77-A45A-CC40D1503F28}"/>
              </a:ext>
            </a:extLst>
          </p:cNvPr>
          <p:cNvCxnSpPr>
            <a:cxnSpLocks/>
            <a:stCxn id="22" idx="2"/>
            <a:endCxn id="29" idx="1"/>
          </p:cNvCxnSpPr>
          <p:nvPr/>
        </p:nvCxnSpPr>
        <p:spPr>
          <a:xfrm rot="16200000" flipH="1">
            <a:off x="947096" y="4797213"/>
            <a:ext cx="900745" cy="60809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C9CA486-11A9-4CF5-9389-BD27B489BA53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8DA0F255-6B9C-4FD0-A1E1-D68A0370550E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71FB917-BDA5-491B-8216-B3BE7E238378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00689006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Financiero y Administrativo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62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La VP Financiera asumirá la gestión de Balance y P&amp;G de forma integral en la organización, proveerá soporte a la toma de decisiones y asegurará la gestión y control presupuestal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Financiero y Administrativo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79" cy="40277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Gestionar el balance y el P&amp;G de Banco </a:t>
            </a:r>
            <a:r>
              <a:rPr lang="es-ES" sz="1200" err="1">
                <a:solidFill>
                  <a:schemeClr val="accent1"/>
                </a:solidFill>
                <a:latin typeface="+mn-lt"/>
                <a:cs typeface="Calibri"/>
              </a:rPr>
              <a:t>Credifinanciera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 y Credivalores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soporte financiero a decisiones del negocio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el control de los movimientos financieros en procesos críticos y mitigar riesgos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y controlar procesos orientados al soporte de decisiones estratégicas – </a:t>
            </a:r>
            <a:r>
              <a:rPr lang="es-ES" sz="1200" err="1">
                <a:latin typeface="+mn-lt"/>
                <a:cs typeface="Calibri"/>
              </a:rPr>
              <a:t>e.g</a:t>
            </a:r>
            <a:r>
              <a:rPr lang="es-ES" sz="1200">
                <a:latin typeface="+mn-lt"/>
                <a:cs typeface="Calibri"/>
              </a:rPr>
              <a:t>., planeación financiera y presupuesto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cumplimiento de las necesidades de fondeo de corto plazo de la organización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Soportar al toma de decisiones desde la perspectiva financiera de proyectos relevantes – </a:t>
            </a:r>
            <a:r>
              <a:rPr lang="es-ES" sz="1200" err="1">
                <a:latin typeface="+mn-lt"/>
                <a:cs typeface="Calibri"/>
              </a:rPr>
              <a:t>e.g</a:t>
            </a:r>
            <a:r>
              <a:rPr lang="es-ES" sz="1200">
                <a:latin typeface="+mn-lt"/>
                <a:cs typeface="Calibri"/>
              </a:rPr>
              <a:t>., crecimiento, eficiencia operacional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Asegurar el cumplimiento regulatorio – impuestos, reportes a entidades gubernamentales, auditoría, etc.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Monitorear el proceso de compras estratégicas a alto nivel – revisión de presupuestos, aprobaciones, etc.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Minimizar el costo financiero del fondeo de corto plazo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En casos de excepción, ajustar tasas de referencia en periodos de más CP al Comité ALCO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953490"/>
            <a:ext cx="4918780" cy="78955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ANS Cliente interno; (2) Optimización costo de fondeo de CP; (3) Cumplimiento del presupuesto de gastos; (4) ANS Contractuales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84956" y="1642300"/>
            <a:ext cx="1381707" cy="67311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financieros – flujo de caja, rentabilidad y dividendos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11382" y="2235138"/>
            <a:ext cx="1351859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err="1"/>
              <a:t>Presidente</a:t>
            </a:r>
            <a:endParaRPr lang="en-US" sz="1200"/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66663" y="1978859"/>
            <a:ext cx="820649" cy="25627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59573" y="2735375"/>
            <a:ext cx="1398168" cy="49806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de rentabilidad y liquidez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56536" y="2453634"/>
            <a:ext cx="231982" cy="82957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115246" y="1782004"/>
            <a:ext cx="765372" cy="1582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2221918"/>
            <a:ext cx="1343533" cy="49199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control y gestión financiera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418745" y="2018834"/>
            <a:ext cx="145585" cy="75258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1940264"/>
            <a:ext cx="1362975" cy="382069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Equipo </a:t>
            </a:r>
            <a:br>
              <a:rPr lang="es-CO" sz="1200">
                <a:solidFill>
                  <a:prstClr val="white"/>
                </a:solidFill>
              </a:rPr>
            </a:br>
            <a:r>
              <a:rPr lang="es-CO" sz="1200">
                <a:solidFill>
                  <a:prstClr val="white"/>
                </a:solidFill>
              </a:rPr>
              <a:t>Financiero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1653727"/>
            <a:ext cx="1343533" cy="256556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C8C5A5DC-C7C3-485A-881A-18E09BCD6986}"/>
              </a:ext>
            </a:extLst>
          </p:cNvPr>
          <p:cNvSpPr txBox="1">
            <a:spLocks/>
          </p:cNvSpPr>
          <p:nvPr/>
        </p:nvSpPr>
        <p:spPr>
          <a:xfrm>
            <a:off x="1867828" y="2808867"/>
            <a:ext cx="1343533" cy="33471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gestión admin.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06DECB86-4FD8-4FF7-A4EB-4E70EB08A208}"/>
              </a:ext>
            </a:extLst>
          </p:cNvPr>
          <p:cNvSpPr txBox="1">
            <a:spLocks/>
          </p:cNvSpPr>
          <p:nvPr/>
        </p:nvSpPr>
        <p:spPr>
          <a:xfrm>
            <a:off x="8759573" y="3443768"/>
            <a:ext cx="1398168" cy="47330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Estándares corporativos y regulatorios</a:t>
            </a:r>
          </a:p>
        </p:txBody>
      </p:sp>
      <p:cxnSp>
        <p:nvCxnSpPr>
          <p:cNvPr id="60" name="Conector angular 37">
            <a:extLst>
              <a:ext uri="{FF2B5EF4-FFF2-40B4-BE49-F238E27FC236}">
                <a16:creationId xmlns:a16="http://schemas.microsoft.com/office/drawing/2014/main" id="{8C3FD72E-7A34-4556-BCDC-84E0CC3BF0DE}"/>
              </a:ext>
            </a:extLst>
          </p:cNvPr>
          <p:cNvCxnSpPr>
            <a:cxnSpLocks/>
            <a:stCxn id="11" idx="2"/>
            <a:endCxn id="48" idx="3"/>
          </p:cNvCxnSpPr>
          <p:nvPr/>
        </p:nvCxnSpPr>
        <p:spPr>
          <a:xfrm rot="5400000">
            <a:off x="10108531" y="2801639"/>
            <a:ext cx="927993" cy="82957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26">
            <a:extLst>
              <a:ext uri="{FF2B5EF4-FFF2-40B4-BE49-F238E27FC236}">
                <a16:creationId xmlns:a16="http://schemas.microsoft.com/office/drawing/2014/main" id="{87523D49-5F54-412B-83AE-BA8B18C1DB25}"/>
              </a:ext>
            </a:extLst>
          </p:cNvPr>
          <p:cNvCxnSpPr>
            <a:cxnSpLocks/>
            <a:stCxn id="22" idx="2"/>
            <a:endCxn id="35" idx="1"/>
          </p:cNvCxnSpPr>
          <p:nvPr/>
        </p:nvCxnSpPr>
        <p:spPr>
          <a:xfrm rot="16200000" flipH="1">
            <a:off x="1164593" y="2272986"/>
            <a:ext cx="653889" cy="75258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ángulo 48">
            <a:extLst>
              <a:ext uri="{FF2B5EF4-FFF2-40B4-BE49-F238E27FC236}">
                <a16:creationId xmlns:a16="http://schemas.microsoft.com/office/drawing/2014/main" id="{C20664BD-23E2-41D4-B7FD-3257A356979C}"/>
              </a:ext>
            </a:extLst>
          </p:cNvPr>
          <p:cNvSpPr/>
          <p:nvPr/>
        </p:nvSpPr>
        <p:spPr>
          <a:xfrm>
            <a:off x="10311382" y="4642429"/>
            <a:ext cx="1351859" cy="51729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Unidades de Negocio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BC7E3014-FFE4-4C4F-AF27-2ECBD3561090}"/>
              </a:ext>
            </a:extLst>
          </p:cNvPr>
          <p:cNvSpPr txBox="1">
            <a:spLocks/>
          </p:cNvSpPr>
          <p:nvPr/>
        </p:nvSpPr>
        <p:spPr>
          <a:xfrm>
            <a:off x="8759573" y="4233800"/>
            <a:ext cx="1398168" cy="47330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Necesidades de nivel de servicio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C6F5E005-596B-4E0C-99C0-ED4DC3455849}"/>
              </a:ext>
            </a:extLst>
          </p:cNvPr>
          <p:cNvSpPr txBox="1">
            <a:spLocks/>
          </p:cNvSpPr>
          <p:nvPr/>
        </p:nvSpPr>
        <p:spPr>
          <a:xfrm>
            <a:off x="8759573" y="5139446"/>
            <a:ext cx="1398168" cy="47330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Soporte financiero a decisiones del negocio</a:t>
            </a:r>
          </a:p>
        </p:txBody>
      </p:sp>
      <p:cxnSp>
        <p:nvCxnSpPr>
          <p:cNvPr id="45" name="Conector: angular 44">
            <a:extLst>
              <a:ext uri="{FF2B5EF4-FFF2-40B4-BE49-F238E27FC236}">
                <a16:creationId xmlns:a16="http://schemas.microsoft.com/office/drawing/2014/main" id="{96010F18-0CC1-4509-BE54-A57266238839}"/>
              </a:ext>
            </a:extLst>
          </p:cNvPr>
          <p:cNvCxnSpPr>
            <a:stCxn id="49" idx="2"/>
            <a:endCxn id="51" idx="3"/>
          </p:cNvCxnSpPr>
          <p:nvPr/>
        </p:nvCxnSpPr>
        <p:spPr>
          <a:xfrm rot="5400000">
            <a:off x="10464337" y="4853124"/>
            <a:ext cx="216380" cy="829571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Conector: angular 51">
            <a:extLst>
              <a:ext uri="{FF2B5EF4-FFF2-40B4-BE49-F238E27FC236}">
                <a16:creationId xmlns:a16="http://schemas.microsoft.com/office/drawing/2014/main" id="{8AA61354-4E98-4451-80E9-EE59C1E8CC97}"/>
              </a:ext>
            </a:extLst>
          </p:cNvPr>
          <p:cNvCxnSpPr>
            <a:stCxn id="50" idx="3"/>
            <a:endCxn id="49" idx="0"/>
          </p:cNvCxnSpPr>
          <p:nvPr/>
        </p:nvCxnSpPr>
        <p:spPr>
          <a:xfrm>
            <a:off x="10157741" y="4470453"/>
            <a:ext cx="829571" cy="171976"/>
          </a:xfrm>
          <a:prstGeom prst="bentConnector2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ectángulo 53">
            <a:extLst>
              <a:ext uri="{FF2B5EF4-FFF2-40B4-BE49-F238E27FC236}">
                <a16:creationId xmlns:a16="http://schemas.microsoft.com/office/drawing/2014/main" id="{456A984E-BB33-46A1-957F-A45B1463E4EF}"/>
              </a:ext>
            </a:extLst>
          </p:cNvPr>
          <p:cNvSpPr/>
          <p:nvPr/>
        </p:nvSpPr>
        <p:spPr>
          <a:xfrm>
            <a:off x="433758" y="3784007"/>
            <a:ext cx="1362975" cy="272798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Mercadeo</a:t>
            </a: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5B073BA9-154B-40AD-8C38-308471EC12FB}"/>
              </a:ext>
            </a:extLst>
          </p:cNvPr>
          <p:cNvSpPr/>
          <p:nvPr/>
        </p:nvSpPr>
        <p:spPr>
          <a:xfrm>
            <a:off x="433758" y="4108133"/>
            <a:ext cx="1362975" cy="365124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VP Comercial y de Servicio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1371DA00-BE65-49AC-8E76-F474EEA743E6}"/>
              </a:ext>
            </a:extLst>
          </p:cNvPr>
          <p:cNvSpPr/>
          <p:nvPr/>
        </p:nvSpPr>
        <p:spPr>
          <a:xfrm>
            <a:off x="433758" y="4531562"/>
            <a:ext cx="1362975" cy="365124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prstClr val="white"/>
                </a:solidFill>
              </a:rPr>
              <a:t>VP Financiación Estructurada</a:t>
            </a:r>
          </a:p>
        </p:txBody>
      </p: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7E6CB4B9-6384-4BAA-9099-51B00ACD23FF}"/>
              </a:ext>
            </a:extLst>
          </p:cNvPr>
          <p:cNvSpPr txBox="1">
            <a:spLocks/>
          </p:cNvSpPr>
          <p:nvPr/>
        </p:nvSpPr>
        <p:spPr>
          <a:xfrm>
            <a:off x="1880618" y="3316949"/>
            <a:ext cx="1330743" cy="39057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Requerimientos de fondeo de CP y LP</a:t>
            </a:r>
          </a:p>
        </p:txBody>
      </p:sp>
      <p:sp>
        <p:nvSpPr>
          <p:cNvPr id="67" name="Marcador de contenido 5">
            <a:extLst>
              <a:ext uri="{FF2B5EF4-FFF2-40B4-BE49-F238E27FC236}">
                <a16:creationId xmlns:a16="http://schemas.microsoft.com/office/drawing/2014/main" id="{E7815893-B85C-41CB-99D0-62455C1FE0EF}"/>
              </a:ext>
            </a:extLst>
          </p:cNvPr>
          <p:cNvSpPr txBox="1">
            <a:spLocks/>
          </p:cNvSpPr>
          <p:nvPr/>
        </p:nvSpPr>
        <p:spPr>
          <a:xfrm>
            <a:off x="1880618" y="4826628"/>
            <a:ext cx="1330743" cy="40487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Novedades de Fondeo de CP y LP</a:t>
            </a:r>
          </a:p>
        </p:txBody>
      </p:sp>
      <p:sp>
        <p:nvSpPr>
          <p:cNvPr id="68" name="Marcador de contenido 5">
            <a:extLst>
              <a:ext uri="{FF2B5EF4-FFF2-40B4-BE49-F238E27FC236}">
                <a16:creationId xmlns:a16="http://schemas.microsoft.com/office/drawing/2014/main" id="{AF849EEE-CCBA-4C54-82CC-536BD165C819}"/>
              </a:ext>
            </a:extLst>
          </p:cNvPr>
          <p:cNvSpPr txBox="1">
            <a:spLocks/>
          </p:cNvSpPr>
          <p:nvPr/>
        </p:nvSpPr>
        <p:spPr>
          <a:xfrm>
            <a:off x="1880618" y="5264094"/>
            <a:ext cx="1330743" cy="30232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Fondeo de CP y LP</a:t>
            </a:r>
          </a:p>
        </p:txBody>
      </p:sp>
      <p:cxnSp>
        <p:nvCxnSpPr>
          <p:cNvPr id="69" name="Conector angular 26">
            <a:extLst>
              <a:ext uri="{FF2B5EF4-FFF2-40B4-BE49-F238E27FC236}">
                <a16:creationId xmlns:a16="http://schemas.microsoft.com/office/drawing/2014/main" id="{7CFCE24D-1FB0-48FD-8D2C-A6C9AD3A357E}"/>
              </a:ext>
            </a:extLst>
          </p:cNvPr>
          <p:cNvCxnSpPr>
            <a:cxnSpLocks/>
            <a:stCxn id="56" idx="2"/>
            <a:endCxn id="67" idx="1"/>
          </p:cNvCxnSpPr>
          <p:nvPr/>
        </p:nvCxnSpPr>
        <p:spPr>
          <a:xfrm rot="16200000" flipH="1">
            <a:off x="1431742" y="4580190"/>
            <a:ext cx="132380" cy="7653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ector angular 26">
            <a:extLst>
              <a:ext uri="{FF2B5EF4-FFF2-40B4-BE49-F238E27FC236}">
                <a16:creationId xmlns:a16="http://schemas.microsoft.com/office/drawing/2014/main" id="{BBC47276-342A-4B32-9385-D952FDAA3E15}"/>
              </a:ext>
            </a:extLst>
          </p:cNvPr>
          <p:cNvCxnSpPr>
            <a:cxnSpLocks/>
            <a:stCxn id="56" idx="2"/>
            <a:endCxn id="68" idx="1"/>
          </p:cNvCxnSpPr>
          <p:nvPr/>
        </p:nvCxnSpPr>
        <p:spPr>
          <a:xfrm rot="16200000" flipH="1">
            <a:off x="1238647" y="4773285"/>
            <a:ext cx="518571" cy="7653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angular 23">
            <a:extLst>
              <a:ext uri="{FF2B5EF4-FFF2-40B4-BE49-F238E27FC236}">
                <a16:creationId xmlns:a16="http://schemas.microsoft.com/office/drawing/2014/main" id="{E5EEAFC2-120D-4EBF-909B-475E171243DA}"/>
              </a:ext>
            </a:extLst>
          </p:cNvPr>
          <p:cNvCxnSpPr>
            <a:cxnSpLocks/>
            <a:stCxn id="66" idx="1"/>
            <a:endCxn id="54" idx="0"/>
          </p:cNvCxnSpPr>
          <p:nvPr/>
        </p:nvCxnSpPr>
        <p:spPr>
          <a:xfrm rot="10800000" flipV="1">
            <a:off x="1115246" y="3512237"/>
            <a:ext cx="765372" cy="27176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0" name="Conector recto de flecha 89">
            <a:extLst>
              <a:ext uri="{FF2B5EF4-FFF2-40B4-BE49-F238E27FC236}">
                <a16:creationId xmlns:a16="http://schemas.microsoft.com/office/drawing/2014/main" id="{2468D84F-A82D-4C84-A97D-EBCE1E616CE1}"/>
              </a:ext>
            </a:extLst>
          </p:cNvPr>
          <p:cNvCxnSpPr>
            <a:cxnSpLocks/>
          </p:cNvCxnSpPr>
          <p:nvPr/>
        </p:nvCxnSpPr>
        <p:spPr>
          <a:xfrm flipH="1">
            <a:off x="3224151" y="1782424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ctor recto de flecha 91">
            <a:extLst>
              <a:ext uri="{FF2B5EF4-FFF2-40B4-BE49-F238E27FC236}">
                <a16:creationId xmlns:a16="http://schemas.microsoft.com/office/drawing/2014/main" id="{B0CE1810-632F-4C82-B622-0188268F97F0}"/>
              </a:ext>
            </a:extLst>
          </p:cNvPr>
          <p:cNvCxnSpPr>
            <a:cxnSpLocks/>
          </p:cNvCxnSpPr>
          <p:nvPr/>
        </p:nvCxnSpPr>
        <p:spPr>
          <a:xfrm flipH="1">
            <a:off x="3224151" y="3504762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de flecha 92">
            <a:extLst>
              <a:ext uri="{FF2B5EF4-FFF2-40B4-BE49-F238E27FC236}">
                <a16:creationId xmlns:a16="http://schemas.microsoft.com/office/drawing/2014/main" id="{70BBBF3F-BE97-42F3-9CA7-3C36973DA354}"/>
              </a:ext>
            </a:extLst>
          </p:cNvPr>
          <p:cNvCxnSpPr>
            <a:cxnSpLocks/>
          </p:cNvCxnSpPr>
          <p:nvPr/>
        </p:nvCxnSpPr>
        <p:spPr>
          <a:xfrm flipH="1">
            <a:off x="8438561" y="3680421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25CADC76-EA63-491D-8D4A-150F14407F0F}"/>
              </a:ext>
            </a:extLst>
          </p:cNvPr>
          <p:cNvCxnSpPr>
            <a:cxnSpLocks/>
          </p:cNvCxnSpPr>
          <p:nvPr/>
        </p:nvCxnSpPr>
        <p:spPr>
          <a:xfrm flipH="1">
            <a:off x="8438561" y="2972675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Conector recto de flecha 94">
            <a:extLst>
              <a:ext uri="{FF2B5EF4-FFF2-40B4-BE49-F238E27FC236}">
                <a16:creationId xmlns:a16="http://schemas.microsoft.com/office/drawing/2014/main" id="{61DE24AC-0D4E-4396-A6C6-1AA2688900D1}"/>
              </a:ext>
            </a:extLst>
          </p:cNvPr>
          <p:cNvCxnSpPr>
            <a:cxnSpLocks/>
          </p:cNvCxnSpPr>
          <p:nvPr/>
        </p:nvCxnSpPr>
        <p:spPr>
          <a:xfrm flipH="1">
            <a:off x="8438561" y="5383982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Conector recto de flecha 95">
            <a:extLst>
              <a:ext uri="{FF2B5EF4-FFF2-40B4-BE49-F238E27FC236}">
                <a16:creationId xmlns:a16="http://schemas.microsoft.com/office/drawing/2014/main" id="{F02C7822-27DF-4AE6-9DC2-629992BD80D5}"/>
              </a:ext>
            </a:extLst>
          </p:cNvPr>
          <p:cNvCxnSpPr>
            <a:cxnSpLocks/>
          </p:cNvCxnSpPr>
          <p:nvPr/>
        </p:nvCxnSpPr>
        <p:spPr>
          <a:xfrm>
            <a:off x="3230467" y="2452388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74BEB326-D722-4418-B2F8-2853EA6F5FA8}"/>
              </a:ext>
            </a:extLst>
          </p:cNvPr>
          <p:cNvCxnSpPr>
            <a:cxnSpLocks/>
          </p:cNvCxnSpPr>
          <p:nvPr/>
        </p:nvCxnSpPr>
        <p:spPr>
          <a:xfrm>
            <a:off x="3230467" y="2976222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AE9F47B7-E687-4510-A522-D6092DD5AACF}"/>
              </a:ext>
            </a:extLst>
          </p:cNvPr>
          <p:cNvCxnSpPr>
            <a:cxnSpLocks/>
          </p:cNvCxnSpPr>
          <p:nvPr/>
        </p:nvCxnSpPr>
        <p:spPr>
          <a:xfrm>
            <a:off x="3230467" y="5029066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90903347-7A29-4DA7-B068-4BEB36F85F60}"/>
              </a:ext>
            </a:extLst>
          </p:cNvPr>
          <p:cNvCxnSpPr>
            <a:cxnSpLocks/>
          </p:cNvCxnSpPr>
          <p:nvPr/>
        </p:nvCxnSpPr>
        <p:spPr>
          <a:xfrm>
            <a:off x="3230467" y="5415257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recto de flecha 100">
            <a:extLst>
              <a:ext uri="{FF2B5EF4-FFF2-40B4-BE49-F238E27FC236}">
                <a16:creationId xmlns:a16="http://schemas.microsoft.com/office/drawing/2014/main" id="{27B637D7-3FF6-44EB-AFFC-1C70F1EBE4D8}"/>
              </a:ext>
            </a:extLst>
          </p:cNvPr>
          <p:cNvCxnSpPr>
            <a:cxnSpLocks/>
          </p:cNvCxnSpPr>
          <p:nvPr/>
        </p:nvCxnSpPr>
        <p:spPr>
          <a:xfrm>
            <a:off x="8438561" y="4470453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Conector recto de flecha 101">
            <a:extLst>
              <a:ext uri="{FF2B5EF4-FFF2-40B4-BE49-F238E27FC236}">
                <a16:creationId xmlns:a16="http://schemas.microsoft.com/office/drawing/2014/main" id="{BE0F4728-B87E-4D6D-BD12-270D1454429E}"/>
              </a:ext>
            </a:extLst>
          </p:cNvPr>
          <p:cNvCxnSpPr>
            <a:cxnSpLocks/>
          </p:cNvCxnSpPr>
          <p:nvPr/>
        </p:nvCxnSpPr>
        <p:spPr>
          <a:xfrm>
            <a:off x="8438561" y="1942177"/>
            <a:ext cx="31469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Marcador de pie de página 2">
            <a:extLst>
              <a:ext uri="{FF2B5EF4-FFF2-40B4-BE49-F238E27FC236}">
                <a16:creationId xmlns:a16="http://schemas.microsoft.com/office/drawing/2014/main" id="{D8B0991E-F39A-497F-8E3F-D11B7FFBFDC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</a:t>
            </a:r>
            <a:br>
              <a:rPr lang="es-ES_tradnl"/>
            </a:br>
            <a:r>
              <a:rPr lang="es-ES_tradnl"/>
              <a:t>y/o responsabilidades; Fuente: Análisis Oval</a:t>
            </a:r>
          </a:p>
        </p:txBody>
      </p:sp>
      <p:sp>
        <p:nvSpPr>
          <p:cNvPr id="21" name="Flecha: pentágono 20">
            <a:extLst>
              <a:ext uri="{FF2B5EF4-FFF2-40B4-BE49-F238E27FC236}">
                <a16:creationId xmlns:a16="http://schemas.microsoft.com/office/drawing/2014/main" id="{5148DD93-0384-47B7-B9C5-D57D96A4EEE6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4" name="Imagen 23" descr="Imagen que contiene dibujo&#10;&#10;Descripción generada automáticamente">
            <a:extLst>
              <a:ext uri="{FF2B5EF4-FFF2-40B4-BE49-F238E27FC236}">
                <a16:creationId xmlns:a16="http://schemas.microsoft.com/office/drawing/2014/main" id="{F4E5E520-60AB-4ED6-B60A-4C4DC67849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B82A2600-9B8A-4D51-BF19-6DD78828EB90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15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899889B5-C923-4FD5-B655-4BAAD686CF29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5198E9C8-3917-45DF-986A-8EA157B3CAF4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55707853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Gerente Contabilidad e Impuestos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63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Gerente de Contabilidad e Imp. garantizará la información oportuna y confiable de los EEFF de la organización, asegurando el cumplimiento de la legislación y la optimización del recurso monetario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Gerente de Contabilidad e Impuestos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2" y="1853116"/>
            <a:ext cx="4918782" cy="365940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información oportuna y confiable de los estados financieros de la organización, asegurando el cumplimiento de la legislación y optimizando el recurso monetario de la organización.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definición y diseño de la política contable de la organización de acuerdo con la normativa aplicable y las mejores prácticas establecidas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elaboración del Plan Tributario a través de análisis del contexto tributario e identificación de </a:t>
            </a:r>
            <a:r>
              <a:rPr lang="es-ES" sz="1200" err="1">
                <a:latin typeface="+mn-lt"/>
                <a:cs typeface="Calibri"/>
              </a:rPr>
              <a:t>oportu</a:t>
            </a:r>
            <a:r>
              <a:rPr lang="es-ES" sz="1200">
                <a:latin typeface="+mn-lt"/>
                <a:cs typeface="Calibri"/>
              </a:rPr>
              <a:t>. y limitaciones fiscales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presentación de las declaraciones tributarias y demás documentación fiscal aplicable y realización del pago de los impuestos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Aprobar la info. contable resultante del ejercicio financiero con la calidad y oportunidad establecida (estados, reportes, </a:t>
            </a:r>
            <a:r>
              <a:rPr lang="es-ES" sz="1200" err="1">
                <a:latin typeface="+mn-lt"/>
                <a:cs typeface="Calibri"/>
              </a:rPr>
              <a:t>KPIs</a:t>
            </a:r>
            <a:r>
              <a:rPr lang="es-ES" sz="1200">
                <a:latin typeface="+mn-lt"/>
                <a:cs typeface="Calibri"/>
              </a:rPr>
              <a:t> fin.)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Asumir y realizar las responsabilidades que como contador general de la organización le corresponden asegurando la integridad de las transacciones y movimientos financieros de tesorería, contabilidad, impuestos y facturación de la organización 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Meta de optimización de impuestos; (2) Implementación modelo de pricing y costos; (3) ANS cliente interno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8580" y="1873849"/>
            <a:ext cx="1260000" cy="4086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Política contable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3364318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Financiero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2078149"/>
            <a:ext cx="798461" cy="128616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913213" y="3950593"/>
            <a:ext cx="1260000" cy="50316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Política contable y plan tributario aprobados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96198" y="3681333"/>
            <a:ext cx="297858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6" y="2078149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163031"/>
            <a:ext cx="942860" cy="13459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2680744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44837" y="2430550"/>
            <a:ext cx="115912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163031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297629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Contabilidad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005774"/>
            <a:ext cx="1343533" cy="314513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25D5B759-A759-4EEA-9185-7D3EBFF29ABC}"/>
              </a:ext>
            </a:extLst>
          </p:cNvPr>
          <p:cNvSpPr txBox="1">
            <a:spLocks/>
          </p:cNvSpPr>
          <p:nvPr/>
        </p:nvSpPr>
        <p:spPr>
          <a:xfrm>
            <a:off x="8858580" y="2395892"/>
            <a:ext cx="1260000" cy="4086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Plan tributario</a:t>
            </a:r>
          </a:p>
        </p:txBody>
      </p:sp>
      <p:sp>
        <p:nvSpPr>
          <p:cNvPr id="35" name="Marcador de contenido 5">
            <a:extLst>
              <a:ext uri="{FF2B5EF4-FFF2-40B4-BE49-F238E27FC236}">
                <a16:creationId xmlns:a16="http://schemas.microsoft.com/office/drawing/2014/main" id="{CAB7E034-D9CA-420E-890F-D6476E06A918}"/>
              </a:ext>
            </a:extLst>
          </p:cNvPr>
          <p:cNvSpPr txBox="1">
            <a:spLocks/>
          </p:cNvSpPr>
          <p:nvPr/>
        </p:nvSpPr>
        <p:spPr>
          <a:xfrm>
            <a:off x="8858580" y="2899058"/>
            <a:ext cx="1260000" cy="4086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ejecución</a:t>
            </a:r>
          </a:p>
        </p:txBody>
      </p:sp>
      <p:sp>
        <p:nvSpPr>
          <p:cNvPr id="41" name="Marcador de contenido 5">
            <a:extLst>
              <a:ext uri="{FF2B5EF4-FFF2-40B4-BE49-F238E27FC236}">
                <a16:creationId xmlns:a16="http://schemas.microsoft.com/office/drawing/2014/main" id="{DC6A4586-77FC-4AB0-9350-91DDE7B8C8D2}"/>
              </a:ext>
            </a:extLst>
          </p:cNvPr>
          <p:cNvSpPr txBox="1">
            <a:spLocks/>
          </p:cNvSpPr>
          <p:nvPr/>
        </p:nvSpPr>
        <p:spPr>
          <a:xfrm>
            <a:off x="8913213" y="4588271"/>
            <a:ext cx="1260000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5EA320B0-30CC-467D-B72C-CD287956C274}"/>
              </a:ext>
            </a:extLst>
          </p:cNvPr>
          <p:cNvSpPr/>
          <p:nvPr/>
        </p:nvSpPr>
        <p:spPr>
          <a:xfrm>
            <a:off x="433758" y="406903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Planeación Financiera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16D386E6-C69F-4DFE-8B1D-2049DE61F940}"/>
              </a:ext>
            </a:extLst>
          </p:cNvPr>
          <p:cNvSpPr txBox="1">
            <a:spLocks/>
          </p:cNvSpPr>
          <p:nvPr/>
        </p:nvSpPr>
        <p:spPr>
          <a:xfrm>
            <a:off x="1880618" y="3538401"/>
            <a:ext cx="1343533" cy="58722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Presupuesto y proyecciones financieras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7A961806-A581-4A6D-8EC0-1FB4DC81F259}"/>
              </a:ext>
            </a:extLst>
          </p:cNvPr>
          <p:cNvSpPr txBox="1">
            <a:spLocks/>
          </p:cNvSpPr>
          <p:nvPr/>
        </p:nvSpPr>
        <p:spPr>
          <a:xfrm>
            <a:off x="1867828" y="4414964"/>
            <a:ext cx="1356324" cy="861328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Presupuesto y proyecciones fin. validados y aprobados</a:t>
            </a:r>
          </a:p>
        </p:txBody>
      </p:sp>
      <p:cxnSp>
        <p:nvCxnSpPr>
          <p:cNvPr id="59" name="Conector angular 23">
            <a:extLst>
              <a:ext uri="{FF2B5EF4-FFF2-40B4-BE49-F238E27FC236}">
                <a16:creationId xmlns:a16="http://schemas.microsoft.com/office/drawing/2014/main" id="{EA44033A-62DC-477D-B9F7-918966FCD41C}"/>
              </a:ext>
            </a:extLst>
          </p:cNvPr>
          <p:cNvCxnSpPr>
            <a:cxnSpLocks/>
            <a:stCxn id="48" idx="1"/>
            <a:endCxn id="46" idx="0"/>
          </p:cNvCxnSpPr>
          <p:nvPr/>
        </p:nvCxnSpPr>
        <p:spPr>
          <a:xfrm rot="10800000" flipV="1">
            <a:off x="937758" y="3832014"/>
            <a:ext cx="942860" cy="23701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ector angular 26">
            <a:extLst>
              <a:ext uri="{FF2B5EF4-FFF2-40B4-BE49-F238E27FC236}">
                <a16:creationId xmlns:a16="http://schemas.microsoft.com/office/drawing/2014/main" id="{8982484A-5ABA-41B4-9C71-7050DE56E080}"/>
              </a:ext>
            </a:extLst>
          </p:cNvPr>
          <p:cNvCxnSpPr>
            <a:cxnSpLocks/>
            <a:stCxn id="46" idx="2"/>
            <a:endCxn id="49" idx="1"/>
          </p:cNvCxnSpPr>
          <p:nvPr/>
        </p:nvCxnSpPr>
        <p:spPr>
          <a:xfrm rot="16200000" flipH="1">
            <a:off x="1284495" y="4262295"/>
            <a:ext cx="236596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angular 37">
            <a:extLst>
              <a:ext uri="{FF2B5EF4-FFF2-40B4-BE49-F238E27FC236}">
                <a16:creationId xmlns:a16="http://schemas.microsoft.com/office/drawing/2014/main" id="{66147A15-5873-453C-9790-FAC9DF6CD555}"/>
              </a:ext>
            </a:extLst>
          </p:cNvPr>
          <p:cNvCxnSpPr>
            <a:cxnSpLocks/>
            <a:stCxn id="11" idx="2"/>
            <a:endCxn id="41" idx="3"/>
          </p:cNvCxnSpPr>
          <p:nvPr/>
        </p:nvCxnSpPr>
        <p:spPr>
          <a:xfrm rot="5400000">
            <a:off x="10111869" y="3965662"/>
            <a:ext cx="866516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8" name="Conector angular 32">
            <a:extLst>
              <a:ext uri="{FF2B5EF4-FFF2-40B4-BE49-F238E27FC236}">
                <a16:creationId xmlns:a16="http://schemas.microsoft.com/office/drawing/2014/main" id="{892D555F-DEAB-4059-AD48-AEB4279C361F}"/>
              </a:ext>
            </a:extLst>
          </p:cNvPr>
          <p:cNvCxnSpPr>
            <a:cxnSpLocks/>
            <a:stCxn id="34" idx="3"/>
            <a:endCxn id="11" idx="0"/>
          </p:cNvCxnSpPr>
          <p:nvPr/>
        </p:nvCxnSpPr>
        <p:spPr>
          <a:xfrm>
            <a:off x="10118580" y="2600192"/>
            <a:ext cx="798461" cy="76412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1" name="Conector angular 32">
            <a:extLst>
              <a:ext uri="{FF2B5EF4-FFF2-40B4-BE49-F238E27FC236}">
                <a16:creationId xmlns:a16="http://schemas.microsoft.com/office/drawing/2014/main" id="{B7A8F66C-107A-46F9-9136-1D4A29FA65CA}"/>
              </a:ext>
            </a:extLst>
          </p:cNvPr>
          <p:cNvCxnSpPr>
            <a:cxnSpLocks/>
            <a:stCxn id="35" idx="3"/>
            <a:endCxn id="11" idx="0"/>
          </p:cNvCxnSpPr>
          <p:nvPr/>
        </p:nvCxnSpPr>
        <p:spPr>
          <a:xfrm>
            <a:off x="10118580" y="3103358"/>
            <a:ext cx="798461" cy="26096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ector recto de flecha 73">
            <a:extLst>
              <a:ext uri="{FF2B5EF4-FFF2-40B4-BE49-F238E27FC236}">
                <a16:creationId xmlns:a16="http://schemas.microsoft.com/office/drawing/2014/main" id="{9CD6145D-DCF6-4E3F-AB6A-70346AB11534}"/>
              </a:ext>
            </a:extLst>
          </p:cNvPr>
          <p:cNvCxnSpPr>
            <a:cxnSpLocks/>
          </p:cNvCxnSpPr>
          <p:nvPr/>
        </p:nvCxnSpPr>
        <p:spPr>
          <a:xfrm>
            <a:off x="8476636" y="2600192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2C6EF971-693E-4478-9EE6-629F133AD7DF}"/>
              </a:ext>
            </a:extLst>
          </p:cNvPr>
          <p:cNvCxnSpPr>
            <a:cxnSpLocks/>
          </p:cNvCxnSpPr>
          <p:nvPr/>
        </p:nvCxnSpPr>
        <p:spPr>
          <a:xfrm>
            <a:off x="8476636" y="3103358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recto de flecha 75">
            <a:extLst>
              <a:ext uri="{FF2B5EF4-FFF2-40B4-BE49-F238E27FC236}">
                <a16:creationId xmlns:a16="http://schemas.microsoft.com/office/drawing/2014/main" id="{4B9CFE03-6B27-40CD-84A3-99FD0F9B23C5}"/>
              </a:ext>
            </a:extLst>
          </p:cNvPr>
          <p:cNvCxnSpPr>
            <a:cxnSpLocks/>
          </p:cNvCxnSpPr>
          <p:nvPr/>
        </p:nvCxnSpPr>
        <p:spPr>
          <a:xfrm flipH="1">
            <a:off x="8463944" y="4202176"/>
            <a:ext cx="42991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de flecha 77">
            <a:extLst>
              <a:ext uri="{FF2B5EF4-FFF2-40B4-BE49-F238E27FC236}">
                <a16:creationId xmlns:a16="http://schemas.microsoft.com/office/drawing/2014/main" id="{0D8564B2-7106-4772-9683-EDDEBCA0F28A}"/>
              </a:ext>
            </a:extLst>
          </p:cNvPr>
          <p:cNvCxnSpPr>
            <a:cxnSpLocks/>
          </p:cNvCxnSpPr>
          <p:nvPr/>
        </p:nvCxnSpPr>
        <p:spPr>
          <a:xfrm flipH="1">
            <a:off x="8463944" y="4770833"/>
            <a:ext cx="429916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recto de flecha 78">
            <a:extLst>
              <a:ext uri="{FF2B5EF4-FFF2-40B4-BE49-F238E27FC236}">
                <a16:creationId xmlns:a16="http://schemas.microsoft.com/office/drawing/2014/main" id="{C5EF2718-B5DE-4154-83FE-D4922C0F70B6}"/>
              </a:ext>
            </a:extLst>
          </p:cNvPr>
          <p:cNvCxnSpPr>
            <a:cxnSpLocks/>
          </p:cNvCxnSpPr>
          <p:nvPr/>
        </p:nvCxnSpPr>
        <p:spPr>
          <a:xfrm flipH="1">
            <a:off x="3224151" y="3872789"/>
            <a:ext cx="32101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ector recto de flecha 79">
            <a:extLst>
              <a:ext uri="{FF2B5EF4-FFF2-40B4-BE49-F238E27FC236}">
                <a16:creationId xmlns:a16="http://schemas.microsoft.com/office/drawing/2014/main" id="{480EBFCD-19C8-4F87-BDC0-B72A5D8BF668}"/>
              </a:ext>
            </a:extLst>
          </p:cNvPr>
          <p:cNvCxnSpPr>
            <a:cxnSpLocks/>
          </p:cNvCxnSpPr>
          <p:nvPr/>
        </p:nvCxnSpPr>
        <p:spPr>
          <a:xfrm>
            <a:off x="3208422" y="2982255"/>
            <a:ext cx="35246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Conector recto de flecha 82">
            <a:extLst>
              <a:ext uri="{FF2B5EF4-FFF2-40B4-BE49-F238E27FC236}">
                <a16:creationId xmlns:a16="http://schemas.microsoft.com/office/drawing/2014/main" id="{1B2A55B2-FCB3-4AC8-B652-51E13E2585EE}"/>
              </a:ext>
            </a:extLst>
          </p:cNvPr>
          <p:cNvCxnSpPr>
            <a:cxnSpLocks/>
          </p:cNvCxnSpPr>
          <p:nvPr/>
        </p:nvCxnSpPr>
        <p:spPr>
          <a:xfrm>
            <a:off x="3208422" y="4918131"/>
            <a:ext cx="352467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503AE474-29A3-4C63-97BD-82A9051E5F30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5" name="Es igual a 24">
            <a:extLst>
              <a:ext uri="{FF2B5EF4-FFF2-40B4-BE49-F238E27FC236}">
                <a16:creationId xmlns:a16="http://schemas.microsoft.com/office/drawing/2014/main" id="{AA3B92EA-E28A-4EB6-B2DA-8618AA02B519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BC613C4-84DA-4ADE-A679-0A19475B84C9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D627AE2C-B546-43D0-9847-F6593ADAC3B4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3147546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Contabilidad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64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Contabilidad garantizará la actualización de la info. contable de la organización y velar por el cumplimiento de las políticas contables de las entidad vigilada y la no vigilada</a:t>
            </a:r>
          </a:p>
          <a:p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Contabilidad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5"/>
            <a:ext cx="4918780" cy="37590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actualización de la información contable de la organización y velar por el cumplimiento de las políticas contables de las entidad vigilada y la no vigilada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Validar y actualizar información contable generada por las distintas áreas de la organización mediante la comprobación de asientos contables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Velar por el cumplimiento de las políticas, principios y normas sobre contabilidad, que rigen a la entidad vigilada y a la no vigilada  a través de su implementación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Ejecutar y garantizar que se cumplan las normas técnicas generales y específicas, sustantivas y procedimentales de la entidad vigilada y la no vigilada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Producir informes a través de la interfaz contables, sobre la situación financiera de la compañía que exijan los entes de control y las directivas 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el cumplimiento de los acuerdos de niveles de servicio establecidos con las diferentes áreas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02408" y="2356715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Gerente de Contabilidad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33" idx="3"/>
            <a:endCxn id="11" idx="0"/>
          </p:cNvCxnSpPr>
          <p:nvPr/>
        </p:nvCxnSpPr>
        <p:spPr>
          <a:xfrm>
            <a:off x="10107947" y="2099314"/>
            <a:ext cx="798461" cy="25740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47947" y="2954596"/>
            <a:ext cx="1260000" cy="43741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68885" y="2635778"/>
            <a:ext cx="276587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</p:cNvCxnSpPr>
          <p:nvPr/>
        </p:nvCxnSpPr>
        <p:spPr>
          <a:xfrm flipH="1">
            <a:off x="8487071" y="3173302"/>
            <a:ext cx="360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</p:cNvCxnSpPr>
          <p:nvPr/>
        </p:nvCxnSpPr>
        <p:spPr>
          <a:xfrm>
            <a:off x="8487071" y="2116255"/>
            <a:ext cx="360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972054"/>
            <a:ext cx="942860" cy="29361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786215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76121" y="3467305"/>
            <a:ext cx="253344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24151" y="2972055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3265668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Contable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678441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33" name="Marcador de contenido 5">
            <a:extLst>
              <a:ext uri="{FF2B5EF4-FFF2-40B4-BE49-F238E27FC236}">
                <a16:creationId xmlns:a16="http://schemas.microsoft.com/office/drawing/2014/main" id="{C96316CE-BEFC-4A45-A437-714AF35BABB9}"/>
              </a:ext>
            </a:extLst>
          </p:cNvPr>
          <p:cNvSpPr txBox="1">
            <a:spLocks/>
          </p:cNvSpPr>
          <p:nvPr/>
        </p:nvSpPr>
        <p:spPr>
          <a:xfrm>
            <a:off x="8847947" y="1826994"/>
            <a:ext cx="1260000" cy="54464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4E0DC05C-E95C-4866-A628-0DE37E7FCBC5}"/>
              </a:ext>
            </a:extLst>
          </p:cNvPr>
          <p:cNvSpPr/>
          <p:nvPr/>
        </p:nvSpPr>
        <p:spPr>
          <a:xfrm>
            <a:off x="10402408" y="4244188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Unidades de negocio</a:t>
            </a:r>
          </a:p>
        </p:txBody>
      </p: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28DDFD82-8583-430E-9BEC-15E049961E2D}"/>
              </a:ext>
            </a:extLst>
          </p:cNvPr>
          <p:cNvCxnSpPr>
            <a:cxnSpLocks/>
          </p:cNvCxnSpPr>
          <p:nvPr/>
        </p:nvCxnSpPr>
        <p:spPr>
          <a:xfrm>
            <a:off x="3232330" y="4059012"/>
            <a:ext cx="300043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C594662B-0802-42E3-9D95-273320E28F90}"/>
              </a:ext>
            </a:extLst>
          </p:cNvPr>
          <p:cNvSpPr txBox="1">
            <a:spLocks/>
          </p:cNvSpPr>
          <p:nvPr/>
        </p:nvSpPr>
        <p:spPr>
          <a:xfrm>
            <a:off x="8847947" y="3726718"/>
            <a:ext cx="1260000" cy="54464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Información contable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D98CAE65-1A7D-4CC2-87B5-3C9F3CA20803}"/>
              </a:ext>
            </a:extLst>
          </p:cNvPr>
          <p:cNvSpPr txBox="1">
            <a:spLocks/>
          </p:cNvSpPr>
          <p:nvPr/>
        </p:nvSpPr>
        <p:spPr>
          <a:xfrm>
            <a:off x="8847947" y="4708991"/>
            <a:ext cx="1260000" cy="54464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Actualización de la información contable</a:t>
            </a:r>
          </a:p>
        </p:txBody>
      </p:sp>
      <p:cxnSp>
        <p:nvCxnSpPr>
          <p:cNvPr id="50" name="Conector angular 37">
            <a:extLst>
              <a:ext uri="{FF2B5EF4-FFF2-40B4-BE49-F238E27FC236}">
                <a16:creationId xmlns:a16="http://schemas.microsoft.com/office/drawing/2014/main" id="{84B8ACE6-4A12-4344-97FD-71EB7E58B7B3}"/>
              </a:ext>
            </a:extLst>
          </p:cNvPr>
          <p:cNvCxnSpPr>
            <a:cxnSpLocks/>
            <a:stCxn id="38" idx="2"/>
            <a:endCxn id="49" idx="3"/>
          </p:cNvCxnSpPr>
          <p:nvPr/>
        </p:nvCxnSpPr>
        <p:spPr>
          <a:xfrm rot="5400000">
            <a:off x="10408617" y="4483519"/>
            <a:ext cx="197123" cy="79846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ector angular 32">
            <a:extLst>
              <a:ext uri="{FF2B5EF4-FFF2-40B4-BE49-F238E27FC236}">
                <a16:creationId xmlns:a16="http://schemas.microsoft.com/office/drawing/2014/main" id="{8E72A15C-D440-4294-B367-1BB8DCE33596}"/>
              </a:ext>
            </a:extLst>
          </p:cNvPr>
          <p:cNvCxnSpPr>
            <a:cxnSpLocks/>
            <a:stCxn id="48" idx="3"/>
            <a:endCxn id="38" idx="0"/>
          </p:cNvCxnSpPr>
          <p:nvPr/>
        </p:nvCxnSpPr>
        <p:spPr>
          <a:xfrm>
            <a:off x="10107947" y="3999038"/>
            <a:ext cx="798461" cy="24515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C5B68245-79B7-4177-A110-620B5B37696D}"/>
              </a:ext>
            </a:extLst>
          </p:cNvPr>
          <p:cNvCxnSpPr>
            <a:cxnSpLocks/>
          </p:cNvCxnSpPr>
          <p:nvPr/>
        </p:nvCxnSpPr>
        <p:spPr>
          <a:xfrm flipV="1">
            <a:off x="8487071" y="3999038"/>
            <a:ext cx="360000" cy="6467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de flecha 60">
            <a:extLst>
              <a:ext uri="{FF2B5EF4-FFF2-40B4-BE49-F238E27FC236}">
                <a16:creationId xmlns:a16="http://schemas.microsoft.com/office/drawing/2014/main" id="{C2350E5C-C282-47DE-8C11-92985D070C3D}"/>
              </a:ext>
            </a:extLst>
          </p:cNvPr>
          <p:cNvCxnSpPr>
            <a:cxnSpLocks/>
          </p:cNvCxnSpPr>
          <p:nvPr/>
        </p:nvCxnSpPr>
        <p:spPr>
          <a:xfrm flipH="1">
            <a:off x="8487071" y="4999933"/>
            <a:ext cx="36000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BBC4F6BE-F51F-470F-B8FF-FFABEFEA4883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Meta de optimización de impuestos; (2) Implementación modelo de pricing y costos; (3) ANS cliente interno</a:t>
            </a:r>
          </a:p>
        </p:txBody>
      </p: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F17BA3A1-0CAE-43ED-AB31-9426AF119A32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6" name="Es igual a 25">
            <a:extLst>
              <a:ext uri="{FF2B5EF4-FFF2-40B4-BE49-F238E27FC236}">
                <a16:creationId xmlns:a16="http://schemas.microsoft.com/office/drawing/2014/main" id="{C0D3F6A0-FD07-44F2-95A7-03E440E7B45F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63B4566-1AEA-4889-939F-1392BD3BDEC0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2A18F173-C727-4D80-9C90-ACEB2D9B2DFB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208510244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Administrativo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65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Administrativo liderará la gestión de las labores administrativas de soporte de la organización, incluyendo el manejo admin. de las oficinas, de la nomina y de las compras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Administrativo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0013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Planear, definir, dirigir y controlar las labores administrativas de soporte de la organización, incluyendo la gestión administrativa de las oficinas, de la nomina y de las compras</a:t>
            </a:r>
            <a:endParaRPr lang="es-ES" sz="1200" b="1"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 y dirigir las políticas y procesos administrativos de la compañía para la asignación y control de los recursos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Supervisar el mantenimiento y reparación de los equipos de oficina, además del reemplazo de suministros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Supervisar y controlar el proceso de nómina a  través de las políticas de legislación colombiana y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Supervisar y coordinar el proceso de contratación de acuerdo a las directrices del comité de gestión del talento establecidas con las políticas de la compañía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Atender los requerimientos interno y externos relacionados con cálculo y administración del proceso de nomina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Realizar, controlar y validar las compras requeridas por la org. cumpliendo con los plazos establecidos, nivel de calidad, y precio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50742" y="1754882"/>
            <a:ext cx="1267838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413041" y="2113658"/>
            <a:ext cx="1008000" cy="32504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Financiero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18580" y="1997289"/>
            <a:ext cx="798461" cy="11636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47911" y="2373297"/>
            <a:ext cx="1325302" cy="36512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86550" y="2125368"/>
            <a:ext cx="117155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76637" y="2555860"/>
            <a:ext cx="371274" cy="33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7" y="1997288"/>
            <a:ext cx="37410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014912" y="1901956"/>
            <a:ext cx="865706" cy="1143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2330673"/>
            <a:ext cx="1343533" cy="38169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71347" y="2025036"/>
            <a:ext cx="140047" cy="85291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 flipV="1">
            <a:off x="3224151" y="1901956"/>
            <a:ext cx="333802" cy="4826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7" y="2016346"/>
            <a:ext cx="1162309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Administrativo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1711111"/>
            <a:ext cx="1343533" cy="38169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888E6BA8-EB3F-4574-9A07-6F23589A3A46}"/>
              </a:ext>
            </a:extLst>
          </p:cNvPr>
          <p:cNvSpPr/>
          <p:nvPr/>
        </p:nvSpPr>
        <p:spPr>
          <a:xfrm>
            <a:off x="10413041" y="3707474"/>
            <a:ext cx="1008000" cy="418729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Gestión del Talento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8E26459C-A889-4521-8C72-C3282DC84DBF}"/>
              </a:ext>
            </a:extLst>
          </p:cNvPr>
          <p:cNvSpPr/>
          <p:nvPr/>
        </p:nvSpPr>
        <p:spPr>
          <a:xfrm>
            <a:off x="433757" y="3214487"/>
            <a:ext cx="1162309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Unidades de negocio</a:t>
            </a:r>
          </a:p>
        </p:txBody>
      </p:sp>
      <p:sp>
        <p:nvSpPr>
          <p:cNvPr id="65" name="Marcador de contenido 5">
            <a:extLst>
              <a:ext uri="{FF2B5EF4-FFF2-40B4-BE49-F238E27FC236}">
                <a16:creationId xmlns:a16="http://schemas.microsoft.com/office/drawing/2014/main" id="{39DFF76D-8CC5-4703-8AD0-7D1350736E82}"/>
              </a:ext>
            </a:extLst>
          </p:cNvPr>
          <p:cNvSpPr txBox="1">
            <a:spLocks/>
          </p:cNvSpPr>
          <p:nvPr/>
        </p:nvSpPr>
        <p:spPr>
          <a:xfrm>
            <a:off x="8829680" y="4147627"/>
            <a:ext cx="1343533" cy="38169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Novedades de nomina</a:t>
            </a:r>
          </a:p>
        </p:txBody>
      </p: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441DB997-44B9-487F-9DB1-4456B62DF30B}"/>
              </a:ext>
            </a:extLst>
          </p:cNvPr>
          <p:cNvSpPr txBox="1">
            <a:spLocks/>
          </p:cNvSpPr>
          <p:nvPr/>
        </p:nvSpPr>
        <p:spPr>
          <a:xfrm>
            <a:off x="1772356" y="3422799"/>
            <a:ext cx="1451795" cy="72200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 b="1">
                <a:solidFill>
                  <a:schemeClr val="tx1"/>
                </a:solidFill>
                <a:latin typeface="+mn-lt"/>
              </a:rPr>
              <a:t>Requerimientos de nivel de servicio </a:t>
            </a:r>
          </a:p>
          <a:p>
            <a:r>
              <a:rPr lang="es-ES" sz="1100">
                <a:solidFill>
                  <a:schemeClr val="tx1"/>
                </a:solidFill>
                <a:latin typeface="+mn-lt"/>
              </a:rPr>
              <a:t>Soporte admin.</a:t>
            </a:r>
          </a:p>
          <a:p>
            <a:r>
              <a:rPr lang="es-ES" sz="1100">
                <a:solidFill>
                  <a:schemeClr val="tx1"/>
                </a:solidFill>
                <a:latin typeface="+mn-lt"/>
              </a:rPr>
              <a:t>Compras</a:t>
            </a:r>
          </a:p>
        </p:txBody>
      </p:sp>
      <p:sp>
        <p:nvSpPr>
          <p:cNvPr id="69" name="Marcador de contenido 5">
            <a:extLst>
              <a:ext uri="{FF2B5EF4-FFF2-40B4-BE49-F238E27FC236}">
                <a16:creationId xmlns:a16="http://schemas.microsoft.com/office/drawing/2014/main" id="{C0EBEA6C-9549-4EE0-8739-ED3080887502}"/>
              </a:ext>
            </a:extLst>
          </p:cNvPr>
          <p:cNvSpPr txBox="1">
            <a:spLocks/>
          </p:cNvSpPr>
          <p:nvPr/>
        </p:nvSpPr>
        <p:spPr>
          <a:xfrm>
            <a:off x="8847911" y="4586323"/>
            <a:ext cx="1343533" cy="531929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Ajustes al modelo de compensación variable</a:t>
            </a:r>
          </a:p>
        </p:txBody>
      </p:sp>
      <p:sp>
        <p:nvSpPr>
          <p:cNvPr id="70" name="Marcador de contenido 5">
            <a:extLst>
              <a:ext uri="{FF2B5EF4-FFF2-40B4-BE49-F238E27FC236}">
                <a16:creationId xmlns:a16="http://schemas.microsoft.com/office/drawing/2014/main" id="{9075019B-DDCB-4A92-A173-B63F3E4EFB74}"/>
              </a:ext>
            </a:extLst>
          </p:cNvPr>
          <p:cNvSpPr txBox="1">
            <a:spLocks/>
          </p:cNvSpPr>
          <p:nvPr/>
        </p:nvSpPr>
        <p:spPr>
          <a:xfrm>
            <a:off x="8847911" y="5175259"/>
            <a:ext cx="1343533" cy="30026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Escala salarial</a:t>
            </a:r>
          </a:p>
        </p:txBody>
      </p:sp>
      <p:sp>
        <p:nvSpPr>
          <p:cNvPr id="72" name="Marcador de contenido 5">
            <a:extLst>
              <a:ext uri="{FF2B5EF4-FFF2-40B4-BE49-F238E27FC236}">
                <a16:creationId xmlns:a16="http://schemas.microsoft.com/office/drawing/2014/main" id="{DB27E79B-8F2E-4677-A7F0-C7C3DF2A19C3}"/>
              </a:ext>
            </a:extLst>
          </p:cNvPr>
          <p:cNvSpPr txBox="1">
            <a:spLocks/>
          </p:cNvSpPr>
          <p:nvPr/>
        </p:nvSpPr>
        <p:spPr>
          <a:xfrm>
            <a:off x="8829680" y="2982925"/>
            <a:ext cx="1343533" cy="38169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Revisión y comentarios</a:t>
            </a:r>
          </a:p>
        </p:txBody>
      </p:sp>
      <p:sp>
        <p:nvSpPr>
          <p:cNvPr id="73" name="Marcador de contenido 5">
            <a:extLst>
              <a:ext uri="{FF2B5EF4-FFF2-40B4-BE49-F238E27FC236}">
                <a16:creationId xmlns:a16="http://schemas.microsoft.com/office/drawing/2014/main" id="{C63B3C93-85FF-421A-A8B1-D0FEA69D85B0}"/>
              </a:ext>
            </a:extLst>
          </p:cNvPr>
          <p:cNvSpPr txBox="1">
            <a:spLocks/>
          </p:cNvSpPr>
          <p:nvPr/>
        </p:nvSpPr>
        <p:spPr>
          <a:xfrm>
            <a:off x="1772356" y="2822173"/>
            <a:ext cx="1451795" cy="46144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Cumplimiento nivel de servicio</a:t>
            </a:r>
          </a:p>
        </p:txBody>
      </p:sp>
      <p:sp>
        <p:nvSpPr>
          <p:cNvPr id="77" name="Marcador de contenido 5">
            <a:extLst>
              <a:ext uri="{FF2B5EF4-FFF2-40B4-BE49-F238E27FC236}">
                <a16:creationId xmlns:a16="http://schemas.microsoft.com/office/drawing/2014/main" id="{5627AA1D-ACCB-49F7-87DD-A482D8FBFC51}"/>
              </a:ext>
            </a:extLst>
          </p:cNvPr>
          <p:cNvSpPr txBox="1">
            <a:spLocks/>
          </p:cNvSpPr>
          <p:nvPr/>
        </p:nvSpPr>
        <p:spPr>
          <a:xfrm>
            <a:off x="8829680" y="3392324"/>
            <a:ext cx="1343533" cy="27603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Ajustes</a:t>
            </a:r>
          </a:p>
        </p:txBody>
      </p:sp>
      <p:cxnSp>
        <p:nvCxnSpPr>
          <p:cNvPr id="82" name="Conector angular 32">
            <a:extLst>
              <a:ext uri="{FF2B5EF4-FFF2-40B4-BE49-F238E27FC236}">
                <a16:creationId xmlns:a16="http://schemas.microsoft.com/office/drawing/2014/main" id="{CE093BB9-8587-431F-85DC-9E2A1E9E469A}"/>
              </a:ext>
            </a:extLst>
          </p:cNvPr>
          <p:cNvCxnSpPr>
            <a:cxnSpLocks/>
            <a:stCxn id="72" idx="3"/>
            <a:endCxn id="45" idx="0"/>
          </p:cNvCxnSpPr>
          <p:nvPr/>
        </p:nvCxnSpPr>
        <p:spPr>
          <a:xfrm>
            <a:off x="10173213" y="3173770"/>
            <a:ext cx="743828" cy="53370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angular 32">
            <a:extLst>
              <a:ext uri="{FF2B5EF4-FFF2-40B4-BE49-F238E27FC236}">
                <a16:creationId xmlns:a16="http://schemas.microsoft.com/office/drawing/2014/main" id="{6C15C3FF-FDCF-464D-8189-DCCE82F0CE1E}"/>
              </a:ext>
            </a:extLst>
          </p:cNvPr>
          <p:cNvCxnSpPr>
            <a:cxnSpLocks/>
            <a:stCxn id="77" idx="3"/>
            <a:endCxn id="45" idx="0"/>
          </p:cNvCxnSpPr>
          <p:nvPr/>
        </p:nvCxnSpPr>
        <p:spPr>
          <a:xfrm>
            <a:off x="10173213" y="3530342"/>
            <a:ext cx="743828" cy="17713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ector angular 32">
            <a:extLst>
              <a:ext uri="{FF2B5EF4-FFF2-40B4-BE49-F238E27FC236}">
                <a16:creationId xmlns:a16="http://schemas.microsoft.com/office/drawing/2014/main" id="{50756477-BEE8-47B5-8A6E-58670E24406B}"/>
              </a:ext>
            </a:extLst>
          </p:cNvPr>
          <p:cNvCxnSpPr>
            <a:cxnSpLocks/>
            <a:stCxn id="45" idx="2"/>
            <a:endCxn id="65" idx="3"/>
          </p:cNvCxnSpPr>
          <p:nvPr/>
        </p:nvCxnSpPr>
        <p:spPr>
          <a:xfrm rot="5400000">
            <a:off x="10438993" y="3860423"/>
            <a:ext cx="212269" cy="7438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ctor angular 32">
            <a:extLst>
              <a:ext uri="{FF2B5EF4-FFF2-40B4-BE49-F238E27FC236}">
                <a16:creationId xmlns:a16="http://schemas.microsoft.com/office/drawing/2014/main" id="{04FD4704-9252-43FC-A844-A1CA528D3605}"/>
              </a:ext>
            </a:extLst>
          </p:cNvPr>
          <p:cNvCxnSpPr>
            <a:cxnSpLocks/>
            <a:stCxn id="45" idx="2"/>
            <a:endCxn id="69" idx="3"/>
          </p:cNvCxnSpPr>
          <p:nvPr/>
        </p:nvCxnSpPr>
        <p:spPr>
          <a:xfrm rot="5400000">
            <a:off x="10191201" y="4126447"/>
            <a:ext cx="726085" cy="72559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angular 32">
            <a:extLst>
              <a:ext uri="{FF2B5EF4-FFF2-40B4-BE49-F238E27FC236}">
                <a16:creationId xmlns:a16="http://schemas.microsoft.com/office/drawing/2014/main" id="{4DD178E8-DC4E-47D0-B5A8-156824D96812}"/>
              </a:ext>
            </a:extLst>
          </p:cNvPr>
          <p:cNvCxnSpPr>
            <a:cxnSpLocks/>
            <a:stCxn id="45" idx="2"/>
            <a:endCxn id="70" idx="3"/>
          </p:cNvCxnSpPr>
          <p:nvPr/>
        </p:nvCxnSpPr>
        <p:spPr>
          <a:xfrm rot="5400000">
            <a:off x="9954650" y="4362998"/>
            <a:ext cx="1199187" cy="72559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80C6A570-CEE9-4E89-B2D7-E88DFDC3AA70}"/>
              </a:ext>
            </a:extLst>
          </p:cNvPr>
          <p:cNvCxnSpPr>
            <a:cxnSpLocks/>
          </p:cNvCxnSpPr>
          <p:nvPr/>
        </p:nvCxnSpPr>
        <p:spPr>
          <a:xfrm flipH="1">
            <a:off x="8476637" y="4349473"/>
            <a:ext cx="371274" cy="33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F3B99585-D8E7-43EA-B24F-C96F8384D39C}"/>
              </a:ext>
            </a:extLst>
          </p:cNvPr>
          <p:cNvCxnSpPr>
            <a:cxnSpLocks/>
          </p:cNvCxnSpPr>
          <p:nvPr/>
        </p:nvCxnSpPr>
        <p:spPr>
          <a:xfrm flipH="1">
            <a:off x="8476637" y="4854391"/>
            <a:ext cx="371274" cy="33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9" name="Conector recto de flecha 98">
            <a:extLst>
              <a:ext uri="{FF2B5EF4-FFF2-40B4-BE49-F238E27FC236}">
                <a16:creationId xmlns:a16="http://schemas.microsoft.com/office/drawing/2014/main" id="{13C15AA1-9960-44E8-B52C-8E3DF9280FF6}"/>
              </a:ext>
            </a:extLst>
          </p:cNvPr>
          <p:cNvCxnSpPr>
            <a:cxnSpLocks/>
          </p:cNvCxnSpPr>
          <p:nvPr/>
        </p:nvCxnSpPr>
        <p:spPr>
          <a:xfrm flipH="1">
            <a:off x="8476637" y="5337656"/>
            <a:ext cx="371274" cy="33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06F5A37D-BB84-4B48-8978-551F3D48C0D5}"/>
              </a:ext>
            </a:extLst>
          </p:cNvPr>
          <p:cNvCxnSpPr>
            <a:cxnSpLocks/>
          </p:cNvCxnSpPr>
          <p:nvPr/>
        </p:nvCxnSpPr>
        <p:spPr>
          <a:xfrm>
            <a:off x="8476637" y="3202583"/>
            <a:ext cx="37410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1" name="Conector recto de flecha 100">
            <a:extLst>
              <a:ext uri="{FF2B5EF4-FFF2-40B4-BE49-F238E27FC236}">
                <a16:creationId xmlns:a16="http://schemas.microsoft.com/office/drawing/2014/main" id="{3BA86562-7AF0-4C6B-9650-119B4E7FD456}"/>
              </a:ext>
            </a:extLst>
          </p:cNvPr>
          <p:cNvCxnSpPr>
            <a:cxnSpLocks/>
          </p:cNvCxnSpPr>
          <p:nvPr/>
        </p:nvCxnSpPr>
        <p:spPr>
          <a:xfrm>
            <a:off x="8476637" y="3538954"/>
            <a:ext cx="374105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5" name="Conector angular 26">
            <a:extLst>
              <a:ext uri="{FF2B5EF4-FFF2-40B4-BE49-F238E27FC236}">
                <a16:creationId xmlns:a16="http://schemas.microsoft.com/office/drawing/2014/main" id="{FD2FAAC2-EEBD-47D6-B433-6DD2A7E3A85B}"/>
              </a:ext>
            </a:extLst>
          </p:cNvPr>
          <p:cNvCxnSpPr>
            <a:cxnSpLocks/>
            <a:stCxn id="48" idx="2"/>
            <a:endCxn id="66" idx="1"/>
          </p:cNvCxnSpPr>
          <p:nvPr/>
        </p:nvCxnSpPr>
        <p:spPr>
          <a:xfrm rot="16200000" flipH="1">
            <a:off x="1291539" y="3302985"/>
            <a:ext cx="204190" cy="75744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8" name="Conector angular 23">
            <a:extLst>
              <a:ext uri="{FF2B5EF4-FFF2-40B4-BE49-F238E27FC236}">
                <a16:creationId xmlns:a16="http://schemas.microsoft.com/office/drawing/2014/main" id="{1B3BAE36-5209-4468-8198-4781618C1544}"/>
              </a:ext>
            </a:extLst>
          </p:cNvPr>
          <p:cNvCxnSpPr>
            <a:cxnSpLocks/>
            <a:stCxn id="73" idx="1"/>
            <a:endCxn id="48" idx="0"/>
          </p:cNvCxnSpPr>
          <p:nvPr/>
        </p:nvCxnSpPr>
        <p:spPr>
          <a:xfrm rot="10800000" flipV="1">
            <a:off x="1014912" y="3052897"/>
            <a:ext cx="757444" cy="16159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ector recto de flecha 110">
            <a:extLst>
              <a:ext uri="{FF2B5EF4-FFF2-40B4-BE49-F238E27FC236}">
                <a16:creationId xmlns:a16="http://schemas.microsoft.com/office/drawing/2014/main" id="{B4608C80-A01A-4BE4-BF2D-FE8F83C1414D}"/>
              </a:ext>
            </a:extLst>
          </p:cNvPr>
          <p:cNvCxnSpPr>
            <a:cxnSpLocks/>
          </p:cNvCxnSpPr>
          <p:nvPr/>
        </p:nvCxnSpPr>
        <p:spPr>
          <a:xfrm flipH="1">
            <a:off x="3224151" y="3073215"/>
            <a:ext cx="308320" cy="36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" name="Conector recto de flecha 111">
            <a:extLst>
              <a:ext uri="{FF2B5EF4-FFF2-40B4-BE49-F238E27FC236}">
                <a16:creationId xmlns:a16="http://schemas.microsoft.com/office/drawing/2014/main" id="{9DEB38ED-466B-4074-A11A-356CD6BEBFF2}"/>
              </a:ext>
            </a:extLst>
          </p:cNvPr>
          <p:cNvCxnSpPr>
            <a:cxnSpLocks/>
            <a:stCxn id="18" idx="3"/>
          </p:cNvCxnSpPr>
          <p:nvPr/>
        </p:nvCxnSpPr>
        <p:spPr>
          <a:xfrm>
            <a:off x="3211361" y="2521518"/>
            <a:ext cx="321013" cy="772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" name="Conector recto de flecha 115">
            <a:extLst>
              <a:ext uri="{FF2B5EF4-FFF2-40B4-BE49-F238E27FC236}">
                <a16:creationId xmlns:a16="http://schemas.microsoft.com/office/drawing/2014/main" id="{3C44CC26-F169-472A-9F02-4C1A1E93C634}"/>
              </a:ext>
            </a:extLst>
          </p:cNvPr>
          <p:cNvCxnSpPr>
            <a:cxnSpLocks/>
          </p:cNvCxnSpPr>
          <p:nvPr/>
        </p:nvCxnSpPr>
        <p:spPr>
          <a:xfrm>
            <a:off x="3211361" y="3819945"/>
            <a:ext cx="321013" cy="772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ángulo 128">
            <a:extLst>
              <a:ext uri="{FF2B5EF4-FFF2-40B4-BE49-F238E27FC236}">
                <a16:creationId xmlns:a16="http://schemas.microsoft.com/office/drawing/2014/main" id="{C8CD4EB6-9F22-46C7-B067-DB5D71E3A2A6}"/>
              </a:ext>
            </a:extLst>
          </p:cNvPr>
          <p:cNvSpPr/>
          <p:nvPr/>
        </p:nvSpPr>
        <p:spPr>
          <a:xfrm>
            <a:off x="433757" y="4669724"/>
            <a:ext cx="1162309" cy="36512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Área Financiera</a:t>
            </a:r>
          </a:p>
        </p:txBody>
      </p:sp>
      <p:sp>
        <p:nvSpPr>
          <p:cNvPr id="131" name="Marcador de contenido 5">
            <a:extLst>
              <a:ext uri="{FF2B5EF4-FFF2-40B4-BE49-F238E27FC236}">
                <a16:creationId xmlns:a16="http://schemas.microsoft.com/office/drawing/2014/main" id="{0983BBEC-8AFD-4857-8591-80DD9C47B40B}"/>
              </a:ext>
            </a:extLst>
          </p:cNvPr>
          <p:cNvSpPr txBox="1">
            <a:spLocks/>
          </p:cNvSpPr>
          <p:nvPr/>
        </p:nvSpPr>
        <p:spPr>
          <a:xfrm>
            <a:off x="1772356" y="4272265"/>
            <a:ext cx="1451795" cy="337061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Novedades de nómina</a:t>
            </a:r>
          </a:p>
        </p:txBody>
      </p:sp>
      <p:sp>
        <p:nvSpPr>
          <p:cNvPr id="132" name="Marcador de contenido 5">
            <a:extLst>
              <a:ext uri="{FF2B5EF4-FFF2-40B4-BE49-F238E27FC236}">
                <a16:creationId xmlns:a16="http://schemas.microsoft.com/office/drawing/2014/main" id="{00B2DA28-190E-4864-8DBB-CB68C5C2FAA8}"/>
              </a:ext>
            </a:extLst>
          </p:cNvPr>
          <p:cNvSpPr txBox="1">
            <a:spLocks/>
          </p:cNvSpPr>
          <p:nvPr/>
        </p:nvSpPr>
        <p:spPr>
          <a:xfrm>
            <a:off x="1772356" y="5054477"/>
            <a:ext cx="1451795" cy="337061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Nómina </a:t>
            </a:r>
            <a:br>
              <a:rPr lang="es-ES" sz="1100">
                <a:solidFill>
                  <a:schemeClr val="tx1"/>
                </a:solidFill>
                <a:latin typeface="+mn-lt"/>
              </a:rPr>
            </a:br>
            <a:r>
              <a:rPr lang="es-ES" sz="1100">
                <a:solidFill>
                  <a:schemeClr val="tx1"/>
                </a:solidFill>
                <a:latin typeface="+mn-lt"/>
              </a:rPr>
              <a:t>validada</a:t>
            </a:r>
          </a:p>
        </p:txBody>
      </p:sp>
      <p:cxnSp>
        <p:nvCxnSpPr>
          <p:cNvPr id="133" name="Conector angular 23">
            <a:extLst>
              <a:ext uri="{FF2B5EF4-FFF2-40B4-BE49-F238E27FC236}">
                <a16:creationId xmlns:a16="http://schemas.microsoft.com/office/drawing/2014/main" id="{7D13FF5C-0ECA-4B13-B583-F300939C18AC}"/>
              </a:ext>
            </a:extLst>
          </p:cNvPr>
          <p:cNvCxnSpPr>
            <a:cxnSpLocks/>
            <a:stCxn id="131" idx="1"/>
            <a:endCxn id="129" idx="0"/>
          </p:cNvCxnSpPr>
          <p:nvPr/>
        </p:nvCxnSpPr>
        <p:spPr>
          <a:xfrm rot="10800000" flipV="1">
            <a:off x="1014912" y="4440796"/>
            <a:ext cx="757444" cy="2289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Conector angular 26">
            <a:extLst>
              <a:ext uri="{FF2B5EF4-FFF2-40B4-BE49-F238E27FC236}">
                <a16:creationId xmlns:a16="http://schemas.microsoft.com/office/drawing/2014/main" id="{352C6B02-8835-41DA-BD4A-680DA358A0C7}"/>
              </a:ext>
            </a:extLst>
          </p:cNvPr>
          <p:cNvCxnSpPr>
            <a:cxnSpLocks/>
            <a:stCxn id="129" idx="2"/>
            <a:endCxn id="132" idx="1"/>
          </p:cNvCxnSpPr>
          <p:nvPr/>
        </p:nvCxnSpPr>
        <p:spPr>
          <a:xfrm rot="16200000" flipH="1">
            <a:off x="1299555" y="4750206"/>
            <a:ext cx="188159" cy="75744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Conector recto de flecha 138">
            <a:extLst>
              <a:ext uri="{FF2B5EF4-FFF2-40B4-BE49-F238E27FC236}">
                <a16:creationId xmlns:a16="http://schemas.microsoft.com/office/drawing/2014/main" id="{4E7502A9-8C97-4D5C-AB43-96838C3D21E7}"/>
              </a:ext>
            </a:extLst>
          </p:cNvPr>
          <p:cNvCxnSpPr>
            <a:cxnSpLocks/>
          </p:cNvCxnSpPr>
          <p:nvPr/>
        </p:nvCxnSpPr>
        <p:spPr>
          <a:xfrm>
            <a:off x="3211361" y="5245002"/>
            <a:ext cx="321013" cy="772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0" name="Conector recto de flecha 139">
            <a:extLst>
              <a:ext uri="{FF2B5EF4-FFF2-40B4-BE49-F238E27FC236}">
                <a16:creationId xmlns:a16="http://schemas.microsoft.com/office/drawing/2014/main" id="{F8DF9947-C0E4-47CD-8E90-1527C3639C60}"/>
              </a:ext>
            </a:extLst>
          </p:cNvPr>
          <p:cNvCxnSpPr>
            <a:cxnSpLocks/>
          </p:cNvCxnSpPr>
          <p:nvPr/>
        </p:nvCxnSpPr>
        <p:spPr>
          <a:xfrm flipH="1">
            <a:off x="3224151" y="4454902"/>
            <a:ext cx="308320" cy="3625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5487D305-C172-4F45-AF15-D7494F870173}"/>
              </a:ext>
            </a:extLst>
          </p:cNvPr>
          <p:cNvSpPr txBox="1">
            <a:spLocks/>
          </p:cNvSpPr>
          <p:nvPr/>
        </p:nvSpPr>
        <p:spPr>
          <a:xfrm>
            <a:off x="3545164" y="5530837"/>
            <a:ext cx="4918780" cy="91741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Optimización del proceso de compras (meta de ahorro con proveedores; (2) Rentabilidad de la implementación proyectos estratégicos; (3) ANS cliente interno</a:t>
            </a:r>
          </a:p>
        </p:txBody>
      </p:sp>
      <p:sp>
        <p:nvSpPr>
          <p:cNvPr id="25" name="Flecha: pentágono 24">
            <a:extLst>
              <a:ext uri="{FF2B5EF4-FFF2-40B4-BE49-F238E27FC236}">
                <a16:creationId xmlns:a16="http://schemas.microsoft.com/office/drawing/2014/main" id="{BA34E798-9167-481F-AA29-56EABCDAD683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6" name="Es igual a 25">
            <a:extLst>
              <a:ext uri="{FF2B5EF4-FFF2-40B4-BE49-F238E27FC236}">
                <a16:creationId xmlns:a16="http://schemas.microsoft.com/office/drawing/2014/main" id="{EF6F5A28-9970-4E62-A674-D469034AB0CA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B97DFC8-2217-4807-83E4-CBC18D8B1175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4778F01A-8E93-4A5F-8905-29488285C423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8942011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>
                <a:latin typeface="+mn-lt"/>
              </a:rPr>
              <a:t>Roles e interacciones clave – Director Planeación y Control Financiero</a:t>
            </a:r>
          </a:p>
          <a:p>
            <a:endParaRPr lang="es-CO">
              <a:latin typeface="+mn-lt"/>
            </a:endParaRPr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66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Planeación y Control Financiero liderará la construcción del plan finan. agregado para soportar la toma de decisiones en la organización y asegurará la gestión y control presupuestal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Planeación y Control Financiero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3589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71462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construcción del plan financiero en conjunto con líderes de proceso para facilitar la toma de decisiones de negocio y asegurar la gestión y </a:t>
            </a: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el control presupuestal</a:t>
            </a:r>
            <a:endParaRPr lang="es-CO" sz="1200">
              <a:solidFill>
                <a:schemeClr val="accent1"/>
              </a:solidFill>
              <a:latin typeface="+mn-lt"/>
              <a:cs typeface="Calibri"/>
            </a:endParaRP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  <a:latin typeface="+mn-lt"/>
                <a:cs typeface="Calibri"/>
              </a:rPr>
              <a:t>Construir y controlar el presupuesto del negocio</a:t>
            </a:r>
            <a:r>
              <a:rPr lang="es-ES" sz="1200">
                <a:latin typeface="+mn-lt"/>
                <a:cs typeface="Calibri"/>
              </a:rPr>
              <a:t> con base las expectativas macroeconómicas y de negocio a alto nivel – apoyo de las vicepresidencias</a:t>
            </a:r>
          </a:p>
          <a:p>
            <a:pPr marL="271462" indent="-17145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Construir proyecciones de negocio del negocio de corto, mediano y largo plazo con base a las expectativas macroeconómicas y de negocio a alto nivel – apoyo de las vicepresidencias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Soportar casos de negocio de proyectos estratégicos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Construir los reportes de desempeño de negocio desde la perspectiva operativa y financiera – con líderes de proceso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None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301313"/>
            <a:ext cx="4918780" cy="90471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363538" eaLnBrk="0" fontAlgn="auto" hangingPunct="0">
              <a:spcBef>
                <a:spcPts val="0"/>
              </a:spcBef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Utilidad antes de impuestos; (2) Rentabilidad del patrimonio;(3) Efectividad de las proyecciones (volumen, liquidez y utilidad); (4) ANS cliente interno 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72265" y="1485418"/>
            <a:ext cx="1558938" cy="3825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planeación finan.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506000" y="2527690"/>
            <a:ext cx="1177062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Financiero y Administrativo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331203" y="1676673"/>
            <a:ext cx="763328" cy="85101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72265" y="2783828"/>
            <a:ext cx="1558938" cy="5446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de negocio a corto, mediano y largo plazo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631188" y="2592829"/>
            <a:ext cx="163359" cy="7633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14A70CC3-1AF3-4D8A-98AF-174D1B946E3A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76636" y="3056173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76636" y="1676673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1101150" y="2130313"/>
            <a:ext cx="708375" cy="2991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796734" y="2905579"/>
            <a:ext cx="1414628" cy="61531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Proyección de resultados operativos de proceso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310598" y="2727098"/>
            <a:ext cx="276687" cy="69558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ector recto de flecha 19">
            <a:extLst>
              <a:ext uri="{FF2B5EF4-FFF2-40B4-BE49-F238E27FC236}">
                <a16:creationId xmlns:a16="http://schemas.microsoft.com/office/drawing/2014/main" id="{2D3D0C51-C3F5-4CAA-A97A-1312F6948994}"/>
              </a:ext>
            </a:extLst>
          </p:cNvPr>
          <p:cNvCxnSpPr>
            <a:cxnSpLocks/>
          </p:cNvCxnSpPr>
          <p:nvPr/>
        </p:nvCxnSpPr>
        <p:spPr>
          <a:xfrm>
            <a:off x="3224151" y="3267818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</p:cNvCxnSpPr>
          <p:nvPr/>
        </p:nvCxnSpPr>
        <p:spPr>
          <a:xfrm flipH="1">
            <a:off x="3211361" y="2130313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524392" y="2429513"/>
            <a:ext cx="1153513" cy="50703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Lideres de proceso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09524" y="1765128"/>
            <a:ext cx="1414628" cy="730371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Expectativas macroeconómicas y de negocio a alto nivel</a:t>
            </a:r>
          </a:p>
        </p:txBody>
      </p:sp>
      <p:sp>
        <p:nvSpPr>
          <p:cNvPr id="44" name="Marcador de contenido 5">
            <a:extLst>
              <a:ext uri="{FF2B5EF4-FFF2-40B4-BE49-F238E27FC236}">
                <a16:creationId xmlns:a16="http://schemas.microsoft.com/office/drawing/2014/main" id="{90A18A80-E65B-463E-9B22-6ED60A6A8171}"/>
              </a:ext>
            </a:extLst>
          </p:cNvPr>
          <p:cNvSpPr txBox="1">
            <a:spLocks/>
          </p:cNvSpPr>
          <p:nvPr/>
        </p:nvSpPr>
        <p:spPr>
          <a:xfrm>
            <a:off x="8772265" y="1906992"/>
            <a:ext cx="1558938" cy="33587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Proyecciones financieras</a:t>
            </a:r>
          </a:p>
        </p:txBody>
      </p:sp>
      <p:sp>
        <p:nvSpPr>
          <p:cNvPr id="46" name="Marcador de contenido 5">
            <a:extLst>
              <a:ext uri="{FF2B5EF4-FFF2-40B4-BE49-F238E27FC236}">
                <a16:creationId xmlns:a16="http://schemas.microsoft.com/office/drawing/2014/main" id="{3F7A43E0-6530-41AE-98B2-12E00134B696}"/>
              </a:ext>
            </a:extLst>
          </p:cNvPr>
          <p:cNvSpPr txBox="1">
            <a:spLocks/>
          </p:cNvSpPr>
          <p:nvPr/>
        </p:nvSpPr>
        <p:spPr>
          <a:xfrm>
            <a:off x="8772265" y="2281935"/>
            <a:ext cx="1558938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Presupuesto</a:t>
            </a:r>
          </a:p>
        </p:txBody>
      </p:sp>
      <p:sp>
        <p:nvSpPr>
          <p:cNvPr id="53" name="Marcador de contenido 5">
            <a:extLst>
              <a:ext uri="{FF2B5EF4-FFF2-40B4-BE49-F238E27FC236}">
                <a16:creationId xmlns:a16="http://schemas.microsoft.com/office/drawing/2014/main" id="{30C58837-38B5-43EC-ADF7-A5D0F6926CF5}"/>
              </a:ext>
            </a:extLst>
          </p:cNvPr>
          <p:cNvSpPr txBox="1">
            <a:spLocks/>
          </p:cNvSpPr>
          <p:nvPr/>
        </p:nvSpPr>
        <p:spPr>
          <a:xfrm>
            <a:off x="8772265" y="3385962"/>
            <a:ext cx="1558938" cy="4811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Proyecciones y presupuesto revisados y validados</a:t>
            </a:r>
          </a:p>
        </p:txBody>
      </p:sp>
      <p:cxnSp>
        <p:nvCxnSpPr>
          <p:cNvPr id="54" name="Conector angular 37">
            <a:extLst>
              <a:ext uri="{FF2B5EF4-FFF2-40B4-BE49-F238E27FC236}">
                <a16:creationId xmlns:a16="http://schemas.microsoft.com/office/drawing/2014/main" id="{AD86AB94-0C74-4497-AA50-BA645933729A}"/>
              </a:ext>
            </a:extLst>
          </p:cNvPr>
          <p:cNvCxnSpPr>
            <a:cxnSpLocks/>
            <a:stCxn id="11" idx="2"/>
            <a:endCxn id="53" idx="3"/>
          </p:cNvCxnSpPr>
          <p:nvPr/>
        </p:nvCxnSpPr>
        <p:spPr>
          <a:xfrm rot="5400000">
            <a:off x="10345995" y="2878022"/>
            <a:ext cx="733744" cy="76332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" name="Conector recto de flecha 56">
            <a:extLst>
              <a:ext uri="{FF2B5EF4-FFF2-40B4-BE49-F238E27FC236}">
                <a16:creationId xmlns:a16="http://schemas.microsoft.com/office/drawing/2014/main" id="{151EEF89-4F44-4ADF-98B8-8085D012FA4E}"/>
              </a:ext>
            </a:extLst>
          </p:cNvPr>
          <p:cNvCxnSpPr>
            <a:cxnSpLocks/>
          </p:cNvCxnSpPr>
          <p:nvPr/>
        </p:nvCxnSpPr>
        <p:spPr>
          <a:xfrm flipH="1">
            <a:off x="8476636" y="3626558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ector recto de flecha 57">
            <a:extLst>
              <a:ext uri="{FF2B5EF4-FFF2-40B4-BE49-F238E27FC236}">
                <a16:creationId xmlns:a16="http://schemas.microsoft.com/office/drawing/2014/main" id="{FE7D9A33-27BC-45D4-B75D-72D48A9DEF4B}"/>
              </a:ext>
            </a:extLst>
          </p:cNvPr>
          <p:cNvCxnSpPr>
            <a:cxnSpLocks/>
          </p:cNvCxnSpPr>
          <p:nvPr/>
        </p:nvCxnSpPr>
        <p:spPr>
          <a:xfrm>
            <a:off x="8476636" y="2067887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ector recto de flecha 58">
            <a:extLst>
              <a:ext uri="{FF2B5EF4-FFF2-40B4-BE49-F238E27FC236}">
                <a16:creationId xmlns:a16="http://schemas.microsoft.com/office/drawing/2014/main" id="{94D7D3B1-2E69-49DA-B666-591A71A0F983}"/>
              </a:ext>
            </a:extLst>
          </p:cNvPr>
          <p:cNvCxnSpPr>
            <a:cxnSpLocks/>
          </p:cNvCxnSpPr>
          <p:nvPr/>
        </p:nvCxnSpPr>
        <p:spPr>
          <a:xfrm>
            <a:off x="8476636" y="2429512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Conector angular 32">
            <a:extLst>
              <a:ext uri="{FF2B5EF4-FFF2-40B4-BE49-F238E27FC236}">
                <a16:creationId xmlns:a16="http://schemas.microsoft.com/office/drawing/2014/main" id="{8348C899-BF2F-4888-A8BB-A5BD15824DFE}"/>
              </a:ext>
            </a:extLst>
          </p:cNvPr>
          <p:cNvCxnSpPr>
            <a:cxnSpLocks/>
            <a:stCxn id="44" idx="3"/>
            <a:endCxn id="11" idx="0"/>
          </p:cNvCxnSpPr>
          <p:nvPr/>
        </p:nvCxnSpPr>
        <p:spPr>
          <a:xfrm>
            <a:off x="10331203" y="2074931"/>
            <a:ext cx="763328" cy="45275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ctor angular 32">
            <a:extLst>
              <a:ext uri="{FF2B5EF4-FFF2-40B4-BE49-F238E27FC236}">
                <a16:creationId xmlns:a16="http://schemas.microsoft.com/office/drawing/2014/main" id="{783D5DFE-C1C8-47F0-BA5D-D76ED0A7681E}"/>
              </a:ext>
            </a:extLst>
          </p:cNvPr>
          <p:cNvCxnSpPr>
            <a:cxnSpLocks/>
            <a:stCxn id="46" idx="3"/>
            <a:endCxn id="11" idx="0"/>
          </p:cNvCxnSpPr>
          <p:nvPr/>
        </p:nvCxnSpPr>
        <p:spPr>
          <a:xfrm>
            <a:off x="10331203" y="2416935"/>
            <a:ext cx="763328" cy="11075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7" name="Rectángulo 76">
            <a:extLst>
              <a:ext uri="{FF2B5EF4-FFF2-40B4-BE49-F238E27FC236}">
                <a16:creationId xmlns:a16="http://schemas.microsoft.com/office/drawing/2014/main" id="{9D21D0B3-E556-41D3-94AE-92457A35B0FA}"/>
              </a:ext>
            </a:extLst>
          </p:cNvPr>
          <p:cNvSpPr/>
          <p:nvPr/>
        </p:nvSpPr>
        <p:spPr>
          <a:xfrm>
            <a:off x="524392" y="4394230"/>
            <a:ext cx="1153513" cy="507035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Contabilidad</a:t>
            </a:r>
          </a:p>
        </p:txBody>
      </p:sp>
      <p:sp>
        <p:nvSpPr>
          <p:cNvPr id="79" name="Marcador de contenido 5">
            <a:extLst>
              <a:ext uri="{FF2B5EF4-FFF2-40B4-BE49-F238E27FC236}">
                <a16:creationId xmlns:a16="http://schemas.microsoft.com/office/drawing/2014/main" id="{E3579C0E-7086-421A-AF91-29F34D78BD77}"/>
              </a:ext>
            </a:extLst>
          </p:cNvPr>
          <p:cNvSpPr txBox="1">
            <a:spLocks/>
          </p:cNvSpPr>
          <p:nvPr/>
        </p:nvSpPr>
        <p:spPr>
          <a:xfrm>
            <a:off x="1809524" y="3760133"/>
            <a:ext cx="1401838" cy="58722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Presupuesto y proyecciones financieras</a:t>
            </a:r>
          </a:p>
        </p:txBody>
      </p:sp>
      <p:sp>
        <p:nvSpPr>
          <p:cNvPr id="81" name="Marcador de contenido 5">
            <a:extLst>
              <a:ext uri="{FF2B5EF4-FFF2-40B4-BE49-F238E27FC236}">
                <a16:creationId xmlns:a16="http://schemas.microsoft.com/office/drawing/2014/main" id="{558A5CB7-B5AF-4093-BE01-7CA4C7D88800}"/>
              </a:ext>
            </a:extLst>
          </p:cNvPr>
          <p:cNvSpPr txBox="1">
            <a:spLocks/>
          </p:cNvSpPr>
          <p:nvPr/>
        </p:nvSpPr>
        <p:spPr>
          <a:xfrm>
            <a:off x="1809523" y="4687268"/>
            <a:ext cx="1401837" cy="678676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Presupuesto y proyecciones fin. validados y aprobados</a:t>
            </a:r>
          </a:p>
        </p:txBody>
      </p:sp>
      <p:cxnSp>
        <p:nvCxnSpPr>
          <p:cNvPr id="82" name="Conector angular 23">
            <a:extLst>
              <a:ext uri="{FF2B5EF4-FFF2-40B4-BE49-F238E27FC236}">
                <a16:creationId xmlns:a16="http://schemas.microsoft.com/office/drawing/2014/main" id="{E6AD9DCF-234D-4EB7-B56E-8FEEE212237E}"/>
              </a:ext>
            </a:extLst>
          </p:cNvPr>
          <p:cNvCxnSpPr>
            <a:cxnSpLocks/>
            <a:stCxn id="79" idx="1"/>
            <a:endCxn id="77" idx="0"/>
          </p:cNvCxnSpPr>
          <p:nvPr/>
        </p:nvCxnSpPr>
        <p:spPr>
          <a:xfrm rot="10800000" flipV="1">
            <a:off x="1101150" y="4053746"/>
            <a:ext cx="708375" cy="34048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angular 26">
            <a:extLst>
              <a:ext uri="{FF2B5EF4-FFF2-40B4-BE49-F238E27FC236}">
                <a16:creationId xmlns:a16="http://schemas.microsoft.com/office/drawing/2014/main" id="{52CF7038-A09E-4B86-87AA-0564D5958F30}"/>
              </a:ext>
            </a:extLst>
          </p:cNvPr>
          <p:cNvCxnSpPr>
            <a:cxnSpLocks/>
            <a:stCxn id="77" idx="2"/>
            <a:endCxn id="81" idx="1"/>
          </p:cNvCxnSpPr>
          <p:nvPr/>
        </p:nvCxnSpPr>
        <p:spPr>
          <a:xfrm rot="16200000" flipH="1">
            <a:off x="1392666" y="4609748"/>
            <a:ext cx="125341" cy="70837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2BFFE180-A126-40B8-8319-55BE82E425B4}"/>
              </a:ext>
            </a:extLst>
          </p:cNvPr>
          <p:cNvCxnSpPr>
            <a:cxnSpLocks/>
          </p:cNvCxnSpPr>
          <p:nvPr/>
        </p:nvCxnSpPr>
        <p:spPr>
          <a:xfrm>
            <a:off x="3224151" y="5026605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Conector recto de flecha 97">
            <a:extLst>
              <a:ext uri="{FF2B5EF4-FFF2-40B4-BE49-F238E27FC236}">
                <a16:creationId xmlns:a16="http://schemas.microsoft.com/office/drawing/2014/main" id="{29219E3A-2656-4335-B04A-6087A4C0D27E}"/>
              </a:ext>
            </a:extLst>
          </p:cNvPr>
          <p:cNvCxnSpPr>
            <a:cxnSpLocks/>
          </p:cNvCxnSpPr>
          <p:nvPr/>
        </p:nvCxnSpPr>
        <p:spPr>
          <a:xfrm flipH="1">
            <a:off x="3211361" y="4053746"/>
            <a:ext cx="32101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Marcador de pie de página 2">
            <a:extLst>
              <a:ext uri="{FF2B5EF4-FFF2-40B4-BE49-F238E27FC236}">
                <a16:creationId xmlns:a16="http://schemas.microsoft.com/office/drawing/2014/main" id="{A47CFC7E-047E-48A8-9DF3-E45410ADE013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Nota: (1) Resaltados en azul nuevos roles y/o responsabilidades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27" name="Flecha: pentágono 26">
            <a:extLst>
              <a:ext uri="{FF2B5EF4-FFF2-40B4-BE49-F238E27FC236}">
                <a16:creationId xmlns:a16="http://schemas.microsoft.com/office/drawing/2014/main" id="{2CB90966-A55D-4B3A-BE1F-A02E69C3B66B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3"/>
          </a:solidFill>
          <a:ln>
            <a:solidFill>
              <a:schemeClr val="accent3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Ajustado</a:t>
            </a:r>
          </a:p>
        </p:txBody>
      </p:sp>
      <p:pic>
        <p:nvPicPr>
          <p:cNvPr id="28" name="Imagen 2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22106A7D-C371-4618-8F92-8C83891725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6450" y="1124317"/>
            <a:ext cx="162000" cy="162000"/>
          </a:xfrm>
          <a:prstGeom prst="rect">
            <a:avLst/>
          </a:prstGeom>
        </p:spPr>
      </p:pic>
      <p:sp>
        <p:nvSpPr>
          <p:cNvPr id="25" name="Rectángulo 24">
            <a:extLst>
              <a:ext uri="{FF2B5EF4-FFF2-40B4-BE49-F238E27FC236}">
                <a16:creationId xmlns:a16="http://schemas.microsoft.com/office/drawing/2014/main" id="{F1BAF5B6-595B-4427-93B8-C5C5C6508701}"/>
              </a:ext>
            </a:extLst>
          </p:cNvPr>
          <p:cNvSpPr/>
          <p:nvPr/>
        </p:nvSpPr>
        <p:spPr>
          <a:xfrm>
            <a:off x="435449" y="1378843"/>
            <a:ext cx="1738853" cy="19206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i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Ajustes resaltados en azul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6994E7DA-34A1-440F-87B2-2163075F965B}"/>
              </a:ext>
            </a:extLst>
          </p:cNvPr>
          <p:cNvSpPr/>
          <p:nvPr/>
        </p:nvSpPr>
        <p:spPr>
          <a:xfrm>
            <a:off x="10591800" y="4470017"/>
            <a:ext cx="1091262" cy="5444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D. de Rentabilidad y Costos</a:t>
            </a:r>
          </a:p>
        </p:txBody>
      </p:sp>
      <p:cxnSp>
        <p:nvCxnSpPr>
          <p:cNvPr id="76" name="Conector angular 37">
            <a:extLst>
              <a:ext uri="{FF2B5EF4-FFF2-40B4-BE49-F238E27FC236}">
                <a16:creationId xmlns:a16="http://schemas.microsoft.com/office/drawing/2014/main" id="{AA0FF5DB-D1CD-4488-B6F0-5C3F1CA852F4}"/>
              </a:ext>
            </a:extLst>
          </p:cNvPr>
          <p:cNvCxnSpPr>
            <a:cxnSpLocks/>
            <a:stCxn id="75" idx="2"/>
            <a:endCxn id="83" idx="3"/>
          </p:cNvCxnSpPr>
          <p:nvPr/>
        </p:nvCxnSpPr>
        <p:spPr>
          <a:xfrm rot="5400000">
            <a:off x="10740130" y="4686484"/>
            <a:ext cx="69333" cy="7252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ector angular 32">
            <a:extLst>
              <a:ext uri="{FF2B5EF4-FFF2-40B4-BE49-F238E27FC236}">
                <a16:creationId xmlns:a16="http://schemas.microsoft.com/office/drawing/2014/main" id="{502115F9-459E-4D1A-8AB6-8F16201ED5D1}"/>
              </a:ext>
            </a:extLst>
          </p:cNvPr>
          <p:cNvCxnSpPr>
            <a:cxnSpLocks/>
            <a:stCxn id="80" idx="3"/>
            <a:endCxn id="75" idx="0"/>
          </p:cNvCxnSpPr>
          <p:nvPr/>
        </p:nvCxnSpPr>
        <p:spPr>
          <a:xfrm>
            <a:off x="10412161" y="4330350"/>
            <a:ext cx="725270" cy="13966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Marcador de contenido 5">
            <a:extLst>
              <a:ext uri="{FF2B5EF4-FFF2-40B4-BE49-F238E27FC236}">
                <a16:creationId xmlns:a16="http://schemas.microsoft.com/office/drawing/2014/main" id="{ECD85A62-C958-4DBD-BA89-CD525C958BD8}"/>
              </a:ext>
            </a:extLst>
          </p:cNvPr>
          <p:cNvSpPr txBox="1">
            <a:spLocks/>
          </p:cNvSpPr>
          <p:nvPr/>
        </p:nvSpPr>
        <p:spPr>
          <a:xfrm>
            <a:off x="8772265" y="4003529"/>
            <a:ext cx="1639896" cy="65364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y alineación en la construcción de modelos financieros</a:t>
            </a:r>
          </a:p>
        </p:txBody>
      </p:sp>
      <p:sp>
        <p:nvSpPr>
          <p:cNvPr id="83" name="Marcador de contenido 5">
            <a:extLst>
              <a:ext uri="{FF2B5EF4-FFF2-40B4-BE49-F238E27FC236}">
                <a16:creationId xmlns:a16="http://schemas.microsoft.com/office/drawing/2014/main" id="{F8514175-7E9A-4D8F-B9E8-B711A62E8429}"/>
              </a:ext>
            </a:extLst>
          </p:cNvPr>
          <p:cNvSpPr txBox="1">
            <a:spLocks/>
          </p:cNvSpPr>
          <p:nvPr/>
        </p:nvSpPr>
        <p:spPr>
          <a:xfrm>
            <a:off x="8772265" y="4756965"/>
            <a:ext cx="1639896" cy="65364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y alineación en la construcción de modelos financieros</a:t>
            </a:r>
          </a:p>
        </p:txBody>
      </p:sp>
      <p:cxnSp>
        <p:nvCxnSpPr>
          <p:cNvPr id="84" name="Conector recto de flecha 83">
            <a:extLst>
              <a:ext uri="{FF2B5EF4-FFF2-40B4-BE49-F238E27FC236}">
                <a16:creationId xmlns:a16="http://schemas.microsoft.com/office/drawing/2014/main" id="{199617E2-4F1B-4AA3-A0EC-B5AB486FBD84}"/>
              </a:ext>
            </a:extLst>
          </p:cNvPr>
          <p:cNvCxnSpPr>
            <a:cxnSpLocks/>
          </p:cNvCxnSpPr>
          <p:nvPr/>
        </p:nvCxnSpPr>
        <p:spPr>
          <a:xfrm flipH="1">
            <a:off x="8476636" y="5098613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ector recto de flecha 84">
            <a:extLst>
              <a:ext uri="{FF2B5EF4-FFF2-40B4-BE49-F238E27FC236}">
                <a16:creationId xmlns:a16="http://schemas.microsoft.com/office/drawing/2014/main" id="{477FB161-827D-475D-9636-DAD39DEF7370}"/>
              </a:ext>
            </a:extLst>
          </p:cNvPr>
          <p:cNvCxnSpPr>
            <a:cxnSpLocks/>
          </p:cNvCxnSpPr>
          <p:nvPr/>
        </p:nvCxnSpPr>
        <p:spPr>
          <a:xfrm>
            <a:off x="8476636" y="4330350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4B11B79-06B5-4A4C-8701-C92D68467441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6AC7B50-77CC-40CD-8B43-13714CDCA846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96479142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de Rentabilidad y Costos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67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Liderar la identificación de palancas de rentabilización en los diferentes elementos del negocio a través de la construcción de modelos de rentabilidad y costos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Rentabilidad y Costos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6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identificación de palancas de rentabilización de líneas de negocio y procesos a través de la construcción de modelos de rentabilidad y costos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Construir y gestionar el modelo de rentabilidad y costos de líneas de negocio y procesos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Garantizar la debida asignación de todos los ingresos, costos y gastos en la construcción de los modelos de rentabilidad y costos construidos – información confiable para la toma de decisiones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oportunidades de mejora y palancas de rentabilización de las diferentes líneas de negocio y procesos con base en los modelos de rentabilidad construidos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Trabajar de la mano de los lideres de las diferentes líneas de negocio y procesos en la implementación de oportunidades de mejora y palancas de rentabilización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+mn-lt"/>
              <a:cs typeface="Calibri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728250"/>
            <a:ext cx="4918780" cy="7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TBD</a:t>
            </a:r>
          </a:p>
        </p:txBody>
      </p: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1578076"/>
            <a:ext cx="740148" cy="12115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677906" y="2021096"/>
            <a:ext cx="1533456" cy="367639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Modelo de costos construido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65902" y="1792912"/>
            <a:ext cx="83860" cy="74014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 flipV="1">
            <a:off x="3224152" y="1578076"/>
            <a:ext cx="321011" cy="7127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1699232"/>
            <a:ext cx="1008000" cy="421824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Jefe de Costos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677906" y="1443076"/>
            <a:ext cx="1546246" cy="27000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sp>
        <p:nvSpPr>
          <p:cNvPr id="24" name="Marcador de contenido 5">
            <a:extLst>
              <a:ext uri="{FF2B5EF4-FFF2-40B4-BE49-F238E27FC236}">
                <a16:creationId xmlns:a16="http://schemas.microsoft.com/office/drawing/2014/main" id="{9A28C9FE-E861-4569-B24C-337BD2093D2B}"/>
              </a:ext>
            </a:extLst>
          </p:cNvPr>
          <p:cNvSpPr txBox="1">
            <a:spLocks/>
          </p:cNvSpPr>
          <p:nvPr/>
        </p:nvSpPr>
        <p:spPr>
          <a:xfrm>
            <a:off x="8772265" y="1452630"/>
            <a:ext cx="1440110" cy="7629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Oportunidades de mejora y palancas de rentabilización líneas de negocio/ procesos</a:t>
            </a:r>
            <a:endParaRPr lang="es-CO" sz="11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103F230A-A8C3-46F5-A58D-E3D1D21DA2EC}"/>
              </a:ext>
            </a:extLst>
          </p:cNvPr>
          <p:cNvSpPr/>
          <p:nvPr/>
        </p:nvSpPr>
        <p:spPr>
          <a:xfrm>
            <a:off x="10331203" y="2661164"/>
            <a:ext cx="1351859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Financiero y Administrativo</a:t>
            </a:r>
          </a:p>
        </p:txBody>
      </p:sp>
      <p:cxnSp>
        <p:nvCxnSpPr>
          <p:cNvPr id="26" name="Conector angular 32">
            <a:extLst>
              <a:ext uri="{FF2B5EF4-FFF2-40B4-BE49-F238E27FC236}">
                <a16:creationId xmlns:a16="http://schemas.microsoft.com/office/drawing/2014/main" id="{CF781DAC-2DDF-4D72-A201-4B5DAD737D26}"/>
              </a:ext>
            </a:extLst>
          </p:cNvPr>
          <p:cNvCxnSpPr>
            <a:cxnSpLocks/>
            <a:stCxn id="24" idx="3"/>
            <a:endCxn id="25" idx="0"/>
          </p:cNvCxnSpPr>
          <p:nvPr/>
        </p:nvCxnSpPr>
        <p:spPr>
          <a:xfrm>
            <a:off x="10212375" y="1834126"/>
            <a:ext cx="794758" cy="82703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Marcador de contenido 5">
            <a:extLst>
              <a:ext uri="{FF2B5EF4-FFF2-40B4-BE49-F238E27FC236}">
                <a16:creationId xmlns:a16="http://schemas.microsoft.com/office/drawing/2014/main" id="{075F0805-823A-4E6A-B5C2-D40FC86213C2}"/>
              </a:ext>
            </a:extLst>
          </p:cNvPr>
          <p:cNvSpPr txBox="1">
            <a:spLocks/>
          </p:cNvSpPr>
          <p:nvPr/>
        </p:nvSpPr>
        <p:spPr>
          <a:xfrm>
            <a:off x="8772265" y="2823453"/>
            <a:ext cx="1440110" cy="67867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Objetivos de rentabilización de líneas de negocio/procesos</a:t>
            </a:r>
          </a:p>
        </p:txBody>
      </p:sp>
      <p:cxnSp>
        <p:nvCxnSpPr>
          <p:cNvPr id="28" name="Conector angular 37">
            <a:extLst>
              <a:ext uri="{FF2B5EF4-FFF2-40B4-BE49-F238E27FC236}">
                <a16:creationId xmlns:a16="http://schemas.microsoft.com/office/drawing/2014/main" id="{4CEEBAF1-1275-40F3-A195-E8897A3254ED}"/>
              </a:ext>
            </a:extLst>
          </p:cNvPr>
          <p:cNvCxnSpPr>
            <a:cxnSpLocks/>
            <a:stCxn id="25" idx="2"/>
            <a:endCxn id="27" idx="3"/>
          </p:cNvCxnSpPr>
          <p:nvPr/>
        </p:nvCxnSpPr>
        <p:spPr>
          <a:xfrm rot="5400000">
            <a:off x="10541503" y="2697160"/>
            <a:ext cx="136503" cy="79475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ector recto de flecha 28">
            <a:extLst>
              <a:ext uri="{FF2B5EF4-FFF2-40B4-BE49-F238E27FC236}">
                <a16:creationId xmlns:a16="http://schemas.microsoft.com/office/drawing/2014/main" id="{FB767C01-AFC3-4A0A-BD1D-C99167BFAFC9}"/>
              </a:ext>
            </a:extLst>
          </p:cNvPr>
          <p:cNvCxnSpPr>
            <a:cxnSpLocks/>
            <a:stCxn id="27" idx="1"/>
          </p:cNvCxnSpPr>
          <p:nvPr/>
        </p:nvCxnSpPr>
        <p:spPr>
          <a:xfrm flipH="1">
            <a:off x="8476636" y="3162791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ector recto de flecha 29">
            <a:extLst>
              <a:ext uri="{FF2B5EF4-FFF2-40B4-BE49-F238E27FC236}">
                <a16:creationId xmlns:a16="http://schemas.microsoft.com/office/drawing/2014/main" id="{FF66F5C2-17D8-425D-BD5E-88BECD9A6A8A}"/>
              </a:ext>
            </a:extLst>
          </p:cNvPr>
          <p:cNvCxnSpPr>
            <a:cxnSpLocks/>
            <a:endCxn id="24" idx="1"/>
          </p:cNvCxnSpPr>
          <p:nvPr/>
        </p:nvCxnSpPr>
        <p:spPr>
          <a:xfrm>
            <a:off x="8476636" y="1834125"/>
            <a:ext cx="295629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Marcador de contenido 5">
            <a:extLst>
              <a:ext uri="{FF2B5EF4-FFF2-40B4-BE49-F238E27FC236}">
                <a16:creationId xmlns:a16="http://schemas.microsoft.com/office/drawing/2014/main" id="{8F506827-3897-4585-86C0-511E32789D64}"/>
              </a:ext>
            </a:extLst>
          </p:cNvPr>
          <p:cNvSpPr txBox="1">
            <a:spLocks/>
          </p:cNvSpPr>
          <p:nvPr/>
        </p:nvSpPr>
        <p:spPr>
          <a:xfrm>
            <a:off x="8772265" y="2256628"/>
            <a:ext cx="1440110" cy="44308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34" name="Marcador de contenido 5">
            <a:extLst>
              <a:ext uri="{FF2B5EF4-FFF2-40B4-BE49-F238E27FC236}">
                <a16:creationId xmlns:a16="http://schemas.microsoft.com/office/drawing/2014/main" id="{F93D9DC9-4245-4CE6-9CD5-4FD98E60CCF7}"/>
              </a:ext>
            </a:extLst>
          </p:cNvPr>
          <p:cNvSpPr txBox="1">
            <a:spLocks/>
          </p:cNvSpPr>
          <p:nvPr/>
        </p:nvSpPr>
        <p:spPr>
          <a:xfrm>
            <a:off x="8772265" y="3542033"/>
            <a:ext cx="1440110" cy="270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35" name="Conector angular 37">
            <a:extLst>
              <a:ext uri="{FF2B5EF4-FFF2-40B4-BE49-F238E27FC236}">
                <a16:creationId xmlns:a16="http://schemas.microsoft.com/office/drawing/2014/main" id="{563A1A4F-BB88-46EA-BB9C-5484526FD15E}"/>
              </a:ext>
            </a:extLst>
          </p:cNvPr>
          <p:cNvCxnSpPr>
            <a:cxnSpLocks/>
            <a:stCxn id="25" idx="2"/>
            <a:endCxn id="34" idx="3"/>
          </p:cNvCxnSpPr>
          <p:nvPr/>
        </p:nvCxnSpPr>
        <p:spPr>
          <a:xfrm rot="5400000">
            <a:off x="10284382" y="2954281"/>
            <a:ext cx="650745" cy="79475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ector recto de flecha 35">
            <a:extLst>
              <a:ext uri="{FF2B5EF4-FFF2-40B4-BE49-F238E27FC236}">
                <a16:creationId xmlns:a16="http://schemas.microsoft.com/office/drawing/2014/main" id="{0588837A-71E3-4C89-ACBA-66C7F64965BA}"/>
              </a:ext>
            </a:extLst>
          </p:cNvPr>
          <p:cNvCxnSpPr>
            <a:cxnSpLocks/>
          </p:cNvCxnSpPr>
          <p:nvPr/>
        </p:nvCxnSpPr>
        <p:spPr>
          <a:xfrm flipH="1">
            <a:off x="8476636" y="3711702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de flecha 37">
            <a:extLst>
              <a:ext uri="{FF2B5EF4-FFF2-40B4-BE49-F238E27FC236}">
                <a16:creationId xmlns:a16="http://schemas.microsoft.com/office/drawing/2014/main" id="{527C44CD-388A-414E-89F3-25224998F350}"/>
              </a:ext>
            </a:extLst>
          </p:cNvPr>
          <p:cNvCxnSpPr>
            <a:cxnSpLocks/>
          </p:cNvCxnSpPr>
          <p:nvPr/>
        </p:nvCxnSpPr>
        <p:spPr>
          <a:xfrm>
            <a:off x="8476636" y="2478171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ector angular 32">
            <a:extLst>
              <a:ext uri="{FF2B5EF4-FFF2-40B4-BE49-F238E27FC236}">
                <a16:creationId xmlns:a16="http://schemas.microsoft.com/office/drawing/2014/main" id="{E0303215-4C46-444D-A123-46933F6B1013}"/>
              </a:ext>
            </a:extLst>
          </p:cNvPr>
          <p:cNvCxnSpPr>
            <a:cxnSpLocks/>
            <a:stCxn id="32" idx="3"/>
            <a:endCxn id="25" idx="0"/>
          </p:cNvCxnSpPr>
          <p:nvPr/>
        </p:nvCxnSpPr>
        <p:spPr>
          <a:xfrm>
            <a:off x="10212375" y="2478171"/>
            <a:ext cx="794758" cy="18299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ángulo 47">
            <a:extLst>
              <a:ext uri="{FF2B5EF4-FFF2-40B4-BE49-F238E27FC236}">
                <a16:creationId xmlns:a16="http://schemas.microsoft.com/office/drawing/2014/main" id="{E19516D7-2727-4018-88F2-57D93ED64AF5}"/>
              </a:ext>
            </a:extLst>
          </p:cNvPr>
          <p:cNvSpPr/>
          <p:nvPr/>
        </p:nvSpPr>
        <p:spPr>
          <a:xfrm>
            <a:off x="433758" y="4473431"/>
            <a:ext cx="1008000" cy="740252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Líderes de línea de negocio y/o proceso</a:t>
            </a:r>
          </a:p>
        </p:txBody>
      </p:sp>
      <p:sp>
        <p:nvSpPr>
          <p:cNvPr id="50" name="Marcador de contenido 5">
            <a:extLst>
              <a:ext uri="{FF2B5EF4-FFF2-40B4-BE49-F238E27FC236}">
                <a16:creationId xmlns:a16="http://schemas.microsoft.com/office/drawing/2014/main" id="{AD861595-24D1-4B2B-9A78-673E25D27126}"/>
              </a:ext>
            </a:extLst>
          </p:cNvPr>
          <p:cNvSpPr txBox="1">
            <a:spLocks/>
          </p:cNvSpPr>
          <p:nvPr/>
        </p:nvSpPr>
        <p:spPr>
          <a:xfrm>
            <a:off x="1677906" y="3807042"/>
            <a:ext cx="1533456" cy="91458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Oportunidades de mejora y palancas de rentabilización de la línea de negocio o proceso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E78ABF02-2865-4965-B2ED-6C199836D39D}"/>
              </a:ext>
            </a:extLst>
          </p:cNvPr>
          <p:cNvSpPr txBox="1">
            <a:spLocks/>
          </p:cNvSpPr>
          <p:nvPr/>
        </p:nvSpPr>
        <p:spPr>
          <a:xfrm>
            <a:off x="1677906" y="5046394"/>
            <a:ext cx="1533456" cy="545594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Entendimiento de la línea de negocio/proceso</a:t>
            </a:r>
          </a:p>
        </p:txBody>
      </p:sp>
      <p:cxnSp>
        <p:nvCxnSpPr>
          <p:cNvPr id="52" name="Conector angular 26">
            <a:extLst>
              <a:ext uri="{FF2B5EF4-FFF2-40B4-BE49-F238E27FC236}">
                <a16:creationId xmlns:a16="http://schemas.microsoft.com/office/drawing/2014/main" id="{213B84F2-32D0-4C02-854D-B0EDABBF6BEE}"/>
              </a:ext>
            </a:extLst>
          </p:cNvPr>
          <p:cNvCxnSpPr>
            <a:cxnSpLocks/>
            <a:stCxn id="48" idx="2"/>
            <a:endCxn id="51" idx="1"/>
          </p:cNvCxnSpPr>
          <p:nvPr/>
        </p:nvCxnSpPr>
        <p:spPr>
          <a:xfrm rot="16200000" flipH="1">
            <a:off x="1255078" y="4896363"/>
            <a:ext cx="105508" cy="74014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ctor angular 26">
            <a:extLst>
              <a:ext uri="{FF2B5EF4-FFF2-40B4-BE49-F238E27FC236}">
                <a16:creationId xmlns:a16="http://schemas.microsoft.com/office/drawing/2014/main" id="{7AF0283A-E03C-498C-9C39-2D8FEA5F8BE0}"/>
              </a:ext>
            </a:extLst>
          </p:cNvPr>
          <p:cNvCxnSpPr>
            <a:cxnSpLocks/>
            <a:stCxn id="50" idx="1"/>
            <a:endCxn id="48" idx="0"/>
          </p:cNvCxnSpPr>
          <p:nvPr/>
        </p:nvCxnSpPr>
        <p:spPr>
          <a:xfrm rot="10800000" flipV="1">
            <a:off x="937758" y="4264335"/>
            <a:ext cx="740148" cy="209095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ángulo 111">
            <a:extLst>
              <a:ext uri="{FF2B5EF4-FFF2-40B4-BE49-F238E27FC236}">
                <a16:creationId xmlns:a16="http://schemas.microsoft.com/office/drawing/2014/main" id="{A7DCE39D-21CA-448A-8574-5005D4140412}"/>
              </a:ext>
            </a:extLst>
          </p:cNvPr>
          <p:cNvSpPr/>
          <p:nvPr/>
        </p:nvSpPr>
        <p:spPr>
          <a:xfrm>
            <a:off x="10331203" y="4573541"/>
            <a:ext cx="1351859" cy="365124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D. de Planeación y Control Fin.</a:t>
            </a:r>
          </a:p>
        </p:txBody>
      </p:sp>
      <p:sp>
        <p:nvSpPr>
          <p:cNvPr id="120" name="Marcador de contenido 5">
            <a:extLst>
              <a:ext uri="{FF2B5EF4-FFF2-40B4-BE49-F238E27FC236}">
                <a16:creationId xmlns:a16="http://schemas.microsoft.com/office/drawing/2014/main" id="{7479FEA3-205E-4AEE-99A9-D872093F4012}"/>
              </a:ext>
            </a:extLst>
          </p:cNvPr>
          <p:cNvSpPr txBox="1">
            <a:spLocks/>
          </p:cNvSpPr>
          <p:nvPr/>
        </p:nvSpPr>
        <p:spPr>
          <a:xfrm>
            <a:off x="1677906" y="3027032"/>
            <a:ext cx="1533456" cy="688735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Req. de apoyo en el entendimiento de la línea de negocio/proceso</a:t>
            </a:r>
          </a:p>
        </p:txBody>
      </p:sp>
      <p:cxnSp>
        <p:nvCxnSpPr>
          <p:cNvPr id="134" name="Conector angular 26">
            <a:extLst>
              <a:ext uri="{FF2B5EF4-FFF2-40B4-BE49-F238E27FC236}">
                <a16:creationId xmlns:a16="http://schemas.microsoft.com/office/drawing/2014/main" id="{26E5D1B1-4331-4B5B-8448-F5BB250350C8}"/>
              </a:ext>
            </a:extLst>
          </p:cNvPr>
          <p:cNvCxnSpPr>
            <a:cxnSpLocks/>
            <a:stCxn id="120" idx="1"/>
            <a:endCxn id="48" idx="0"/>
          </p:cNvCxnSpPr>
          <p:nvPr/>
        </p:nvCxnSpPr>
        <p:spPr>
          <a:xfrm rot="10800000" flipV="1">
            <a:off x="937758" y="3371399"/>
            <a:ext cx="740148" cy="1102031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Conector recto de flecha 142">
            <a:extLst>
              <a:ext uri="{FF2B5EF4-FFF2-40B4-BE49-F238E27FC236}">
                <a16:creationId xmlns:a16="http://schemas.microsoft.com/office/drawing/2014/main" id="{AD7AAF6E-2358-4FD8-B4A6-F65C26AB744A}"/>
              </a:ext>
            </a:extLst>
          </p:cNvPr>
          <p:cNvCxnSpPr>
            <a:cxnSpLocks/>
          </p:cNvCxnSpPr>
          <p:nvPr/>
        </p:nvCxnSpPr>
        <p:spPr>
          <a:xfrm flipH="1">
            <a:off x="3211461" y="3358705"/>
            <a:ext cx="29553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5" name="Conector recto de flecha 144">
            <a:extLst>
              <a:ext uri="{FF2B5EF4-FFF2-40B4-BE49-F238E27FC236}">
                <a16:creationId xmlns:a16="http://schemas.microsoft.com/office/drawing/2014/main" id="{0E34B776-B1CB-417A-AB09-D2BF3072D7C4}"/>
              </a:ext>
            </a:extLst>
          </p:cNvPr>
          <p:cNvCxnSpPr>
            <a:cxnSpLocks/>
          </p:cNvCxnSpPr>
          <p:nvPr/>
        </p:nvCxnSpPr>
        <p:spPr>
          <a:xfrm flipH="1">
            <a:off x="3211461" y="4281388"/>
            <a:ext cx="295530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6" name="Conector recto de flecha 145">
            <a:extLst>
              <a:ext uri="{FF2B5EF4-FFF2-40B4-BE49-F238E27FC236}">
                <a16:creationId xmlns:a16="http://schemas.microsoft.com/office/drawing/2014/main" id="{FFAA8B73-71F0-4416-89A6-667F7A5749CA}"/>
              </a:ext>
            </a:extLst>
          </p:cNvPr>
          <p:cNvCxnSpPr>
            <a:cxnSpLocks/>
          </p:cNvCxnSpPr>
          <p:nvPr/>
        </p:nvCxnSpPr>
        <p:spPr>
          <a:xfrm>
            <a:off x="3243238" y="5343174"/>
            <a:ext cx="30192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8" name="Conector angular 37">
            <a:extLst>
              <a:ext uri="{FF2B5EF4-FFF2-40B4-BE49-F238E27FC236}">
                <a16:creationId xmlns:a16="http://schemas.microsoft.com/office/drawing/2014/main" id="{93F08E3E-1368-4C33-A1AC-030B0E461181}"/>
              </a:ext>
            </a:extLst>
          </p:cNvPr>
          <p:cNvCxnSpPr>
            <a:cxnSpLocks/>
            <a:stCxn id="112" idx="2"/>
          </p:cNvCxnSpPr>
          <p:nvPr/>
        </p:nvCxnSpPr>
        <p:spPr>
          <a:xfrm rot="5400000">
            <a:off x="10458458" y="4692582"/>
            <a:ext cx="302592" cy="79475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ector angular 32">
            <a:extLst>
              <a:ext uri="{FF2B5EF4-FFF2-40B4-BE49-F238E27FC236}">
                <a16:creationId xmlns:a16="http://schemas.microsoft.com/office/drawing/2014/main" id="{681BD4C3-BBFE-4DBA-8B9A-81D0D8167F34}"/>
              </a:ext>
            </a:extLst>
          </p:cNvPr>
          <p:cNvCxnSpPr>
            <a:cxnSpLocks/>
            <a:endCxn id="112" idx="0"/>
          </p:cNvCxnSpPr>
          <p:nvPr/>
        </p:nvCxnSpPr>
        <p:spPr>
          <a:xfrm>
            <a:off x="10212375" y="4289179"/>
            <a:ext cx="794758" cy="28436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7" name="Marcador de contenido 5">
            <a:extLst>
              <a:ext uri="{FF2B5EF4-FFF2-40B4-BE49-F238E27FC236}">
                <a16:creationId xmlns:a16="http://schemas.microsoft.com/office/drawing/2014/main" id="{5A40A4D8-6E9C-4EBD-AD01-18CC92CA3D89}"/>
              </a:ext>
            </a:extLst>
          </p:cNvPr>
          <p:cNvSpPr txBox="1">
            <a:spLocks/>
          </p:cNvSpPr>
          <p:nvPr/>
        </p:nvSpPr>
        <p:spPr>
          <a:xfrm>
            <a:off x="8772265" y="4003529"/>
            <a:ext cx="1440110" cy="65364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y alineación en la construcción de modelos financieros</a:t>
            </a:r>
          </a:p>
        </p:txBody>
      </p:sp>
      <p:sp>
        <p:nvSpPr>
          <p:cNvPr id="158" name="Marcador de contenido 5">
            <a:extLst>
              <a:ext uri="{FF2B5EF4-FFF2-40B4-BE49-F238E27FC236}">
                <a16:creationId xmlns:a16="http://schemas.microsoft.com/office/drawing/2014/main" id="{285A3638-4DD5-445A-9B75-065834003CF8}"/>
              </a:ext>
            </a:extLst>
          </p:cNvPr>
          <p:cNvSpPr txBox="1">
            <a:spLocks/>
          </p:cNvSpPr>
          <p:nvPr/>
        </p:nvSpPr>
        <p:spPr>
          <a:xfrm>
            <a:off x="8772265" y="4868987"/>
            <a:ext cx="1440110" cy="653642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Engranaje y alineación en la construcción de modelos financieros</a:t>
            </a:r>
          </a:p>
        </p:txBody>
      </p:sp>
      <p:cxnSp>
        <p:nvCxnSpPr>
          <p:cNvPr id="159" name="Conector recto de flecha 158">
            <a:extLst>
              <a:ext uri="{FF2B5EF4-FFF2-40B4-BE49-F238E27FC236}">
                <a16:creationId xmlns:a16="http://schemas.microsoft.com/office/drawing/2014/main" id="{4EC25F3C-0D30-4F12-8796-0132F40F6ECF}"/>
              </a:ext>
            </a:extLst>
          </p:cNvPr>
          <p:cNvCxnSpPr>
            <a:cxnSpLocks/>
          </p:cNvCxnSpPr>
          <p:nvPr/>
        </p:nvCxnSpPr>
        <p:spPr>
          <a:xfrm flipH="1">
            <a:off x="8476636" y="5210635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ector recto de flecha 159">
            <a:extLst>
              <a:ext uri="{FF2B5EF4-FFF2-40B4-BE49-F238E27FC236}">
                <a16:creationId xmlns:a16="http://schemas.microsoft.com/office/drawing/2014/main" id="{2156213E-7E89-4EA3-B228-A5615E68ED6A}"/>
              </a:ext>
            </a:extLst>
          </p:cNvPr>
          <p:cNvCxnSpPr>
            <a:cxnSpLocks/>
          </p:cNvCxnSpPr>
          <p:nvPr/>
        </p:nvCxnSpPr>
        <p:spPr>
          <a:xfrm>
            <a:off x="8476636" y="4330350"/>
            <a:ext cx="295629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Conector recto de flecha 160">
            <a:extLst>
              <a:ext uri="{FF2B5EF4-FFF2-40B4-BE49-F238E27FC236}">
                <a16:creationId xmlns:a16="http://schemas.microsoft.com/office/drawing/2014/main" id="{ED8B9CCD-6B0A-41ED-AAA8-457A0DC9FC19}"/>
              </a:ext>
            </a:extLst>
          </p:cNvPr>
          <p:cNvCxnSpPr>
            <a:cxnSpLocks/>
          </p:cNvCxnSpPr>
          <p:nvPr/>
        </p:nvCxnSpPr>
        <p:spPr>
          <a:xfrm>
            <a:off x="3243238" y="2661164"/>
            <a:ext cx="30192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6" name="Marcador de contenido 5">
            <a:extLst>
              <a:ext uri="{FF2B5EF4-FFF2-40B4-BE49-F238E27FC236}">
                <a16:creationId xmlns:a16="http://schemas.microsoft.com/office/drawing/2014/main" id="{3353F87A-F0D2-4FD6-A247-97F05240D394}"/>
              </a:ext>
            </a:extLst>
          </p:cNvPr>
          <p:cNvSpPr txBox="1">
            <a:spLocks/>
          </p:cNvSpPr>
          <p:nvPr/>
        </p:nvSpPr>
        <p:spPr>
          <a:xfrm>
            <a:off x="1677906" y="2443184"/>
            <a:ext cx="1533456" cy="367640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71" name="Conector angular 26">
            <a:extLst>
              <a:ext uri="{FF2B5EF4-FFF2-40B4-BE49-F238E27FC236}">
                <a16:creationId xmlns:a16="http://schemas.microsoft.com/office/drawing/2014/main" id="{7080ABF9-784A-44E9-9895-07C6A21763D7}"/>
              </a:ext>
            </a:extLst>
          </p:cNvPr>
          <p:cNvCxnSpPr>
            <a:cxnSpLocks/>
            <a:stCxn id="22" idx="2"/>
            <a:endCxn id="166" idx="1"/>
          </p:cNvCxnSpPr>
          <p:nvPr/>
        </p:nvCxnSpPr>
        <p:spPr>
          <a:xfrm rot="16200000" flipH="1">
            <a:off x="1054858" y="2003956"/>
            <a:ext cx="505948" cy="74014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4" name="Conector recto de flecha 173">
            <a:extLst>
              <a:ext uri="{FF2B5EF4-FFF2-40B4-BE49-F238E27FC236}">
                <a16:creationId xmlns:a16="http://schemas.microsoft.com/office/drawing/2014/main" id="{E453F812-23D5-4500-8731-2E38EC1CEA1D}"/>
              </a:ext>
            </a:extLst>
          </p:cNvPr>
          <p:cNvCxnSpPr>
            <a:cxnSpLocks/>
          </p:cNvCxnSpPr>
          <p:nvPr/>
        </p:nvCxnSpPr>
        <p:spPr>
          <a:xfrm>
            <a:off x="3243238" y="2231742"/>
            <a:ext cx="30192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Flecha: pentágono 175">
            <a:extLst>
              <a:ext uri="{FF2B5EF4-FFF2-40B4-BE49-F238E27FC236}">
                <a16:creationId xmlns:a16="http://schemas.microsoft.com/office/drawing/2014/main" id="{E6261581-318D-4718-B238-B68FF319AE43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1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Nuevo</a:t>
            </a:r>
          </a:p>
        </p:txBody>
      </p:sp>
      <p:sp>
        <p:nvSpPr>
          <p:cNvPr id="178" name="Signo más 177">
            <a:extLst>
              <a:ext uri="{FF2B5EF4-FFF2-40B4-BE49-F238E27FC236}">
                <a16:creationId xmlns:a16="http://schemas.microsoft.com/office/drawing/2014/main" id="{E82D3257-0BE6-416A-866D-8DF11FAF67CF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Plus">
            <a:avLst/>
          </a:prstGeom>
          <a:solidFill>
            <a:schemeClr val="accent6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11C2813-74DB-4E53-92EA-9A3D2E399235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C8BD1389-8C9C-4F29-9184-4F9D2A5D74FF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30170874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Director Tesorería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68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Director de Tesorería administrará la liquidez de la Entidad, asignando recursos a cada una de las áreas de negocio según los lineamientos regulatorios y de negocio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59674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Director de Tesorería</a:t>
            </a:r>
          </a:p>
        </p:txBody>
      </p: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7247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liquidez de la Entidad, asignando recursos a cada una de las áreas de negocio, con el fin de dar cumpliendo a todas las normas y políticas ante los entes reguladores y políticas internas de la Entidad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Controlar el encaje de la entidad buscando que no sobrepase los límites establecidos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Revisar los reportes dirigidos a los diferentes entes de control respecto a la liquidez de la entidad		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Administrar la asignación de recursos dependiendo de las necesidades de la organización y los lineamientos de la presidencia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Activo y el Pasivo de la organización velando por el cumplimiento de los cuadres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Revisar los saldos, flujos de caja y obligaciones realizados por el área contable y administrativa de la organización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Realizar las previsiones de flujos de los presupuestos elaborada por Planeación Financiera y asegurar su cumplimiento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667013"/>
            <a:ext cx="4918780" cy="8704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Optimización de costos de fondeo de corto plazo; (2) Cumplimiento de niveles de liquidez; (3) Rentabilidad del portafolio; (4) ANS cliente interno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797748" y="2073860"/>
            <a:ext cx="1362356" cy="48481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CO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297576" y="2558673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VP Financiero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11" idx="0"/>
          </p:cNvCxnSpPr>
          <p:nvPr/>
        </p:nvCxnSpPr>
        <p:spPr>
          <a:xfrm>
            <a:off x="10160104" y="2316267"/>
            <a:ext cx="641472" cy="24240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797748" y="2987086"/>
            <a:ext cx="1362356" cy="5652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Estratégicos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395329" y="2863448"/>
            <a:ext cx="171023" cy="6414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60178" y="2316267"/>
            <a:ext cx="3375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angular 23">
            <a:extLst>
              <a:ext uri="{FF2B5EF4-FFF2-40B4-BE49-F238E27FC236}">
                <a16:creationId xmlns:a16="http://schemas.microsoft.com/office/drawing/2014/main" id="{666CE81B-008F-4AB7-98B9-1ABBFE7B7F1F}"/>
              </a:ext>
            </a:extLst>
          </p:cNvPr>
          <p:cNvCxnSpPr>
            <a:cxnSpLocks/>
            <a:stCxn id="23" idx="1"/>
            <a:endCxn id="22" idx="0"/>
          </p:cNvCxnSpPr>
          <p:nvPr/>
        </p:nvCxnSpPr>
        <p:spPr>
          <a:xfrm rot="10800000" flipV="1">
            <a:off x="937758" y="2299388"/>
            <a:ext cx="942860" cy="288096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Marcador de contenido 5">
            <a:extLst>
              <a:ext uri="{FF2B5EF4-FFF2-40B4-BE49-F238E27FC236}">
                <a16:creationId xmlns:a16="http://schemas.microsoft.com/office/drawing/2014/main" id="{3A770128-16CF-440D-AB01-181079C259E2}"/>
              </a:ext>
            </a:extLst>
          </p:cNvPr>
          <p:cNvSpPr txBox="1">
            <a:spLocks/>
          </p:cNvSpPr>
          <p:nvPr/>
        </p:nvSpPr>
        <p:spPr>
          <a:xfrm>
            <a:off x="1867828" y="3069684"/>
            <a:ext cx="1343533" cy="545594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de la ejecución</a:t>
            </a:r>
          </a:p>
        </p:txBody>
      </p:sp>
      <p:cxnSp>
        <p:nvCxnSpPr>
          <p:cNvPr id="19" name="Conector angular 26">
            <a:extLst>
              <a:ext uri="{FF2B5EF4-FFF2-40B4-BE49-F238E27FC236}">
                <a16:creationId xmlns:a16="http://schemas.microsoft.com/office/drawing/2014/main" id="{91443205-73AD-48EA-9EB9-08757FE649D1}"/>
              </a:ext>
            </a:extLst>
          </p:cNvPr>
          <p:cNvCxnSpPr>
            <a:cxnSpLocks/>
            <a:stCxn id="22" idx="2"/>
            <a:endCxn id="18" idx="1"/>
          </p:cNvCxnSpPr>
          <p:nvPr/>
        </p:nvCxnSpPr>
        <p:spPr>
          <a:xfrm rot="16200000" flipH="1">
            <a:off x="1295295" y="2769947"/>
            <a:ext cx="214997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FCF115D-A88B-4AC7-B761-1697D0A61242}"/>
              </a:ext>
            </a:extLst>
          </p:cNvPr>
          <p:cNvCxnSpPr>
            <a:cxnSpLocks/>
            <a:endCxn id="23" idx="3"/>
          </p:cNvCxnSpPr>
          <p:nvPr/>
        </p:nvCxnSpPr>
        <p:spPr>
          <a:xfrm flipH="1">
            <a:off x="3224151" y="2299388"/>
            <a:ext cx="308222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ángulo 21">
            <a:extLst>
              <a:ext uri="{FF2B5EF4-FFF2-40B4-BE49-F238E27FC236}">
                <a16:creationId xmlns:a16="http://schemas.microsoft.com/office/drawing/2014/main" id="{6F09430F-6C8F-42DA-A4D5-BE76B0B416A6}"/>
              </a:ext>
            </a:extLst>
          </p:cNvPr>
          <p:cNvSpPr/>
          <p:nvPr/>
        </p:nvSpPr>
        <p:spPr>
          <a:xfrm>
            <a:off x="433758" y="2587484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Equipo de Tesorería</a:t>
            </a:r>
          </a:p>
        </p:txBody>
      </p:sp>
      <p:sp>
        <p:nvSpPr>
          <p:cNvPr id="23" name="Marcador de contenido 5">
            <a:extLst>
              <a:ext uri="{FF2B5EF4-FFF2-40B4-BE49-F238E27FC236}">
                <a16:creationId xmlns:a16="http://schemas.microsoft.com/office/drawing/2014/main" id="{0E6AC82B-B92B-4373-975C-43C3D24A4DF2}"/>
              </a:ext>
            </a:extLst>
          </p:cNvPr>
          <p:cNvSpPr txBox="1">
            <a:spLocks/>
          </p:cNvSpPr>
          <p:nvPr/>
        </p:nvSpPr>
        <p:spPr>
          <a:xfrm>
            <a:off x="1880618" y="2005774"/>
            <a:ext cx="1343533" cy="587227"/>
          </a:xfrm>
          <a:prstGeom prst="rect">
            <a:avLst/>
          </a:prstGeom>
          <a:solidFill>
            <a:schemeClr val="accent4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</a:t>
            </a:r>
          </a:p>
        </p:txBody>
      </p:sp>
      <p:cxnSp>
        <p:nvCxnSpPr>
          <p:cNvPr id="32" name="Conector recto de flecha 31">
            <a:extLst>
              <a:ext uri="{FF2B5EF4-FFF2-40B4-BE49-F238E27FC236}">
                <a16:creationId xmlns:a16="http://schemas.microsoft.com/office/drawing/2014/main" id="{DEE779E6-D2A3-4F7A-8F5D-9C5162E4EDE8}"/>
              </a:ext>
            </a:extLst>
          </p:cNvPr>
          <p:cNvCxnSpPr>
            <a:cxnSpLocks/>
            <a:stCxn id="13" idx="1"/>
          </p:cNvCxnSpPr>
          <p:nvPr/>
        </p:nvCxnSpPr>
        <p:spPr>
          <a:xfrm flipH="1">
            <a:off x="8460178" y="3269696"/>
            <a:ext cx="3375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ector recto de flecha 39">
            <a:extLst>
              <a:ext uri="{FF2B5EF4-FFF2-40B4-BE49-F238E27FC236}">
                <a16:creationId xmlns:a16="http://schemas.microsoft.com/office/drawing/2014/main" id="{B113486F-FD28-4414-B151-B06CC5334589}"/>
              </a:ext>
            </a:extLst>
          </p:cNvPr>
          <p:cNvCxnSpPr>
            <a:cxnSpLocks/>
          </p:cNvCxnSpPr>
          <p:nvPr/>
        </p:nvCxnSpPr>
        <p:spPr>
          <a:xfrm>
            <a:off x="3207593" y="3342481"/>
            <a:ext cx="337570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ectángulo 42">
            <a:extLst>
              <a:ext uri="{FF2B5EF4-FFF2-40B4-BE49-F238E27FC236}">
                <a16:creationId xmlns:a16="http://schemas.microsoft.com/office/drawing/2014/main" id="{EEC2E357-4D26-4FDC-9A82-128137018C43}"/>
              </a:ext>
            </a:extLst>
          </p:cNvPr>
          <p:cNvSpPr/>
          <p:nvPr/>
        </p:nvSpPr>
        <p:spPr>
          <a:xfrm>
            <a:off x="10297576" y="4285378"/>
            <a:ext cx="1008000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/>
              <a:t>Área contable</a:t>
            </a:r>
          </a:p>
        </p:txBody>
      </p:sp>
      <p:sp>
        <p:nvSpPr>
          <p:cNvPr id="45" name="Marcador de contenido 5">
            <a:extLst>
              <a:ext uri="{FF2B5EF4-FFF2-40B4-BE49-F238E27FC236}">
                <a16:creationId xmlns:a16="http://schemas.microsoft.com/office/drawing/2014/main" id="{9ABF390F-CBF9-4D6E-95E0-0FD1F3970D93}"/>
              </a:ext>
            </a:extLst>
          </p:cNvPr>
          <p:cNvSpPr txBox="1">
            <a:spLocks/>
          </p:cNvSpPr>
          <p:nvPr/>
        </p:nvSpPr>
        <p:spPr>
          <a:xfrm>
            <a:off x="8797748" y="3765558"/>
            <a:ext cx="1362356" cy="56522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Reporte Saldos, flujos de caja y obligaciones </a:t>
            </a:r>
          </a:p>
        </p:txBody>
      </p:sp>
      <p:sp>
        <p:nvSpPr>
          <p:cNvPr id="46" name="Marcador de contenido 5">
            <a:extLst>
              <a:ext uri="{FF2B5EF4-FFF2-40B4-BE49-F238E27FC236}">
                <a16:creationId xmlns:a16="http://schemas.microsoft.com/office/drawing/2014/main" id="{7DF5CA6B-1214-4F59-9C60-9424D3B29ADE}"/>
              </a:ext>
            </a:extLst>
          </p:cNvPr>
          <p:cNvSpPr txBox="1">
            <a:spLocks/>
          </p:cNvSpPr>
          <p:nvPr/>
        </p:nvSpPr>
        <p:spPr>
          <a:xfrm>
            <a:off x="8797747" y="4705269"/>
            <a:ext cx="1362357" cy="56522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Saldos, flujos de caja y obligaciones revisados </a:t>
            </a:r>
          </a:p>
        </p:txBody>
      </p:sp>
      <p:sp>
        <p:nvSpPr>
          <p:cNvPr id="51" name="Marcador de contenido 5">
            <a:extLst>
              <a:ext uri="{FF2B5EF4-FFF2-40B4-BE49-F238E27FC236}">
                <a16:creationId xmlns:a16="http://schemas.microsoft.com/office/drawing/2014/main" id="{64452EA4-95E1-43DF-A262-75F33D11DD48}"/>
              </a:ext>
            </a:extLst>
          </p:cNvPr>
          <p:cNvSpPr txBox="1">
            <a:spLocks/>
          </p:cNvSpPr>
          <p:nvPr/>
        </p:nvSpPr>
        <p:spPr>
          <a:xfrm>
            <a:off x="1867828" y="3944873"/>
            <a:ext cx="1318750" cy="56522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Presupuesto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98E98428-74BF-49C5-B934-68B49EBFD262}"/>
              </a:ext>
            </a:extLst>
          </p:cNvPr>
          <p:cNvSpPr/>
          <p:nvPr/>
        </p:nvSpPr>
        <p:spPr>
          <a:xfrm>
            <a:off x="433758" y="4346322"/>
            <a:ext cx="1008000" cy="540000"/>
          </a:xfrm>
          <a:prstGeom prst="rect">
            <a:avLst/>
          </a:prstGeom>
          <a:solidFill>
            <a:schemeClr val="accent1">
              <a:satMod val="110000"/>
            </a:schemeClr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prstClr val="white"/>
                </a:solidFill>
              </a:rPr>
              <a:t>Planeación Financiera</a:t>
            </a:r>
          </a:p>
        </p:txBody>
      </p:sp>
      <p:sp>
        <p:nvSpPr>
          <p:cNvPr id="55" name="Marcador de contenido 5">
            <a:extLst>
              <a:ext uri="{FF2B5EF4-FFF2-40B4-BE49-F238E27FC236}">
                <a16:creationId xmlns:a16="http://schemas.microsoft.com/office/drawing/2014/main" id="{C7A18FC3-AA66-480D-81E1-75E7BA010362}"/>
              </a:ext>
            </a:extLst>
          </p:cNvPr>
          <p:cNvSpPr txBox="1">
            <a:spLocks/>
          </p:cNvSpPr>
          <p:nvPr/>
        </p:nvSpPr>
        <p:spPr>
          <a:xfrm>
            <a:off x="1867828" y="4885552"/>
            <a:ext cx="1318750" cy="565220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Previsiones de flujos del presupuesto</a:t>
            </a:r>
          </a:p>
        </p:txBody>
      </p:sp>
      <p:cxnSp>
        <p:nvCxnSpPr>
          <p:cNvPr id="56" name="Conector angular 23">
            <a:extLst>
              <a:ext uri="{FF2B5EF4-FFF2-40B4-BE49-F238E27FC236}">
                <a16:creationId xmlns:a16="http://schemas.microsoft.com/office/drawing/2014/main" id="{A66F60F2-8AA1-46C4-8275-E7FA3C3BE75E}"/>
              </a:ext>
            </a:extLst>
          </p:cNvPr>
          <p:cNvCxnSpPr>
            <a:cxnSpLocks/>
            <a:stCxn id="51" idx="1"/>
            <a:endCxn id="54" idx="0"/>
          </p:cNvCxnSpPr>
          <p:nvPr/>
        </p:nvCxnSpPr>
        <p:spPr>
          <a:xfrm rot="10800000" flipV="1">
            <a:off x="937758" y="4227482"/>
            <a:ext cx="930070" cy="11883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ector angular 26">
            <a:extLst>
              <a:ext uri="{FF2B5EF4-FFF2-40B4-BE49-F238E27FC236}">
                <a16:creationId xmlns:a16="http://schemas.microsoft.com/office/drawing/2014/main" id="{4A290ECB-561D-400E-B941-7BEE3487C163}"/>
              </a:ext>
            </a:extLst>
          </p:cNvPr>
          <p:cNvCxnSpPr>
            <a:cxnSpLocks/>
            <a:stCxn id="54" idx="2"/>
            <a:endCxn id="55" idx="1"/>
          </p:cNvCxnSpPr>
          <p:nvPr/>
        </p:nvCxnSpPr>
        <p:spPr>
          <a:xfrm rot="16200000" flipH="1">
            <a:off x="1261873" y="4562207"/>
            <a:ext cx="281840" cy="93007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Conector angular 37">
            <a:extLst>
              <a:ext uri="{FF2B5EF4-FFF2-40B4-BE49-F238E27FC236}">
                <a16:creationId xmlns:a16="http://schemas.microsoft.com/office/drawing/2014/main" id="{8EA5DDF6-3E8B-448E-A38C-7C83C924BE80}"/>
              </a:ext>
            </a:extLst>
          </p:cNvPr>
          <p:cNvCxnSpPr>
            <a:cxnSpLocks/>
            <a:stCxn id="43" idx="2"/>
            <a:endCxn id="46" idx="3"/>
          </p:cNvCxnSpPr>
          <p:nvPr/>
        </p:nvCxnSpPr>
        <p:spPr>
          <a:xfrm rot="5400000">
            <a:off x="10399590" y="4585892"/>
            <a:ext cx="162501" cy="641472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Conector angular 32">
            <a:extLst>
              <a:ext uri="{FF2B5EF4-FFF2-40B4-BE49-F238E27FC236}">
                <a16:creationId xmlns:a16="http://schemas.microsoft.com/office/drawing/2014/main" id="{AFF8174C-6AE7-4285-BF68-A360DEC04885}"/>
              </a:ext>
            </a:extLst>
          </p:cNvPr>
          <p:cNvCxnSpPr>
            <a:cxnSpLocks/>
            <a:stCxn id="45" idx="3"/>
            <a:endCxn id="43" idx="0"/>
          </p:cNvCxnSpPr>
          <p:nvPr/>
        </p:nvCxnSpPr>
        <p:spPr>
          <a:xfrm>
            <a:off x="10160104" y="4048168"/>
            <a:ext cx="641472" cy="237210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de flecha 69">
            <a:extLst>
              <a:ext uri="{FF2B5EF4-FFF2-40B4-BE49-F238E27FC236}">
                <a16:creationId xmlns:a16="http://schemas.microsoft.com/office/drawing/2014/main" id="{67410605-99C6-4E15-AB1C-B513E1B478A6}"/>
              </a:ext>
            </a:extLst>
          </p:cNvPr>
          <p:cNvCxnSpPr>
            <a:cxnSpLocks/>
            <a:endCxn id="45" idx="1"/>
          </p:cNvCxnSpPr>
          <p:nvPr/>
        </p:nvCxnSpPr>
        <p:spPr>
          <a:xfrm>
            <a:off x="8431694" y="4048168"/>
            <a:ext cx="36605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7FA5EDFF-EA8C-44DD-894C-3FDEE5E6C000}"/>
              </a:ext>
            </a:extLst>
          </p:cNvPr>
          <p:cNvCxnSpPr>
            <a:cxnSpLocks/>
            <a:stCxn id="46" idx="1"/>
          </p:cNvCxnSpPr>
          <p:nvPr/>
        </p:nvCxnSpPr>
        <p:spPr>
          <a:xfrm flipH="1" flipV="1">
            <a:off x="8431694" y="4987878"/>
            <a:ext cx="366053" cy="1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recto de flecha 75">
            <a:extLst>
              <a:ext uri="{FF2B5EF4-FFF2-40B4-BE49-F238E27FC236}">
                <a16:creationId xmlns:a16="http://schemas.microsoft.com/office/drawing/2014/main" id="{81B3E304-F7A2-4DC8-A847-BBE755004135}"/>
              </a:ext>
            </a:extLst>
          </p:cNvPr>
          <p:cNvCxnSpPr>
            <a:cxnSpLocks/>
            <a:endCxn id="51" idx="3"/>
          </p:cNvCxnSpPr>
          <p:nvPr/>
        </p:nvCxnSpPr>
        <p:spPr>
          <a:xfrm flipH="1" flipV="1">
            <a:off x="3186578" y="4227483"/>
            <a:ext cx="333803" cy="10063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ector recto de flecha 76">
            <a:extLst>
              <a:ext uri="{FF2B5EF4-FFF2-40B4-BE49-F238E27FC236}">
                <a16:creationId xmlns:a16="http://schemas.microsoft.com/office/drawing/2014/main" id="{FBB00C28-781E-4BAA-A6FC-6E87285B1F54}"/>
              </a:ext>
            </a:extLst>
          </p:cNvPr>
          <p:cNvCxnSpPr>
            <a:cxnSpLocks/>
            <a:stCxn id="55" idx="3"/>
          </p:cNvCxnSpPr>
          <p:nvPr/>
        </p:nvCxnSpPr>
        <p:spPr>
          <a:xfrm>
            <a:off x="3186578" y="5168162"/>
            <a:ext cx="345795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lecha: pentágono 23">
            <a:extLst>
              <a:ext uri="{FF2B5EF4-FFF2-40B4-BE49-F238E27FC236}">
                <a16:creationId xmlns:a16="http://schemas.microsoft.com/office/drawing/2014/main" id="{43CEF29F-F502-4512-AAE0-7A3B0A9B0BA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5" name="Es igual a 24">
            <a:extLst>
              <a:ext uri="{FF2B5EF4-FFF2-40B4-BE49-F238E27FC236}">
                <a16:creationId xmlns:a16="http://schemas.microsoft.com/office/drawing/2014/main" id="{93AA16D3-22EE-46C6-BD4F-87657782A31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F878242-3920-4EC1-A036-9683D8A27009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475AEE2A-B7C9-499D-A1DB-0B21D59773EF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21445694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1954A276-8C6E-4104-9D03-C6FEC122DEB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Roles e interacciones clave – Vicepresidente de Financiación Estructurada</a:t>
            </a:r>
          </a:p>
          <a:p>
            <a:endParaRPr lang="es-CO"/>
          </a:p>
        </p:txBody>
      </p:sp>
      <p:sp>
        <p:nvSpPr>
          <p:cNvPr id="2" name="Marcador de número de diapositiva 1">
            <a:extLst>
              <a:ext uri="{FF2B5EF4-FFF2-40B4-BE49-F238E27FC236}">
                <a16:creationId xmlns:a16="http://schemas.microsoft.com/office/drawing/2014/main" id="{98CEC0BA-D0D1-4875-AA45-6A2FECA99F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69</a:t>
            </a:fld>
            <a:endParaRPr lang="es-ES_tradn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012BC7D9-0AFC-49A7-BEFF-7DD31D0D3D7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F0E11AB-A0BE-448E-886A-7178ABF1945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Vicepresidente de Financiación Estructurada liderará la planeación y ejecución de estrategias de fin. internacional. y </a:t>
            </a:r>
            <a:r>
              <a:rPr lang="es-ES" err="1"/>
              <a:t>M&amp;As</a:t>
            </a:r>
            <a:r>
              <a:rPr lang="es-ES"/>
              <a:t> y la relación con entidades de financiación, inversionistas y calificadoras</a:t>
            </a:r>
            <a:endParaRPr lang="es-CO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6443BDF2-C035-4021-A01F-A604EC62B9D1}"/>
              </a:ext>
            </a:extLst>
          </p:cNvPr>
          <p:cNvSpPr/>
          <p:nvPr/>
        </p:nvSpPr>
        <p:spPr>
          <a:xfrm>
            <a:off x="3545163" y="1493442"/>
            <a:ext cx="4918781" cy="391576"/>
          </a:xfrm>
          <a:prstGeom prst="rect">
            <a:avLst/>
          </a:prstGeom>
          <a:solidFill>
            <a:schemeClr val="accent1"/>
          </a:solidFill>
          <a:ln>
            <a:solidFill>
              <a:srgbClr val="4250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400" b="1">
                <a:solidFill>
                  <a:prstClr val="white"/>
                </a:solidFill>
              </a:rPr>
              <a:t>Vicepresidente de Financiación Estructurada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BDE903E0-9B2D-4B84-B888-5CC10BCA7D9F}"/>
              </a:ext>
            </a:extLst>
          </p:cNvPr>
          <p:cNvSpPr txBox="1">
            <a:spLocks/>
          </p:cNvSpPr>
          <p:nvPr/>
        </p:nvSpPr>
        <p:spPr>
          <a:xfrm>
            <a:off x="3545164" y="5836014"/>
            <a:ext cx="4918780" cy="61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Indicadores Clave</a:t>
            </a:r>
          </a:p>
          <a:p>
            <a:pPr marL="271463" indent="-171450" eaLnBrk="0" fontAlgn="auto" hangingPunct="0">
              <a:spcBef>
                <a:spcPts val="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kern="0">
                <a:latin typeface="+mn-lt"/>
                <a:cs typeface="Arial"/>
                <a:sym typeface="Arial"/>
                <a:rtl val="0"/>
              </a:rPr>
              <a:t>(1) Cumplimiento volúmenes de fondeo a LP; (2) Costo Financiero de la deuda de LP; (3) </a:t>
            </a:r>
            <a:r>
              <a:rPr lang="es-ES" sz="1200" kern="0" err="1">
                <a:latin typeface="+mn-lt"/>
                <a:cs typeface="Arial"/>
                <a:sym typeface="Arial"/>
                <a:rtl val="0"/>
              </a:rPr>
              <a:t>Mix</a:t>
            </a:r>
            <a:r>
              <a:rPr lang="es-ES" sz="1200" kern="0">
                <a:latin typeface="+mn-lt"/>
                <a:cs typeface="Arial"/>
                <a:sym typeface="Arial"/>
                <a:rtl val="0"/>
              </a:rPr>
              <a:t>/concentración de los inversionistas</a:t>
            </a:r>
          </a:p>
        </p:txBody>
      </p:sp>
      <p:sp>
        <p:nvSpPr>
          <p:cNvPr id="10" name="Marcador de contenido 5">
            <a:extLst>
              <a:ext uri="{FF2B5EF4-FFF2-40B4-BE49-F238E27FC236}">
                <a16:creationId xmlns:a16="http://schemas.microsoft.com/office/drawing/2014/main" id="{07C04B67-7C34-4E91-B42D-8A059BF9A41E}"/>
              </a:ext>
            </a:extLst>
          </p:cNvPr>
          <p:cNvSpPr txBox="1">
            <a:spLocks/>
          </p:cNvSpPr>
          <p:nvPr/>
        </p:nvSpPr>
        <p:spPr>
          <a:xfrm>
            <a:off x="8844436" y="2348573"/>
            <a:ext cx="1452802" cy="81213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200">
                <a:solidFill>
                  <a:schemeClr val="tx1"/>
                </a:solidFill>
                <a:latin typeface="+mn-lt"/>
              </a:rPr>
              <a:t>Novedades fondeo de largo plazo – estado de los mercados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482096B7-8DC2-447C-A79A-365855EF3F8B}"/>
              </a:ext>
            </a:extLst>
          </p:cNvPr>
          <p:cNvSpPr/>
          <p:nvPr/>
        </p:nvSpPr>
        <p:spPr>
          <a:xfrm>
            <a:off x="10398897" y="4146977"/>
            <a:ext cx="1008000" cy="540000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Comité Financiero</a:t>
            </a:r>
          </a:p>
        </p:txBody>
      </p:sp>
      <p:cxnSp>
        <p:nvCxnSpPr>
          <p:cNvPr id="12" name="Conector angular 32">
            <a:extLst>
              <a:ext uri="{FF2B5EF4-FFF2-40B4-BE49-F238E27FC236}">
                <a16:creationId xmlns:a16="http://schemas.microsoft.com/office/drawing/2014/main" id="{832FEA2E-6EFA-4AA5-B5F2-AF5F9811E5E2}"/>
              </a:ext>
            </a:extLst>
          </p:cNvPr>
          <p:cNvCxnSpPr>
            <a:cxnSpLocks/>
            <a:stCxn id="10" idx="3"/>
            <a:endCxn id="38" idx="0"/>
          </p:cNvCxnSpPr>
          <p:nvPr/>
        </p:nvCxnSpPr>
        <p:spPr>
          <a:xfrm>
            <a:off x="10297238" y="2754638"/>
            <a:ext cx="605659" cy="33269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Marcador de contenido 5">
            <a:extLst>
              <a:ext uri="{FF2B5EF4-FFF2-40B4-BE49-F238E27FC236}">
                <a16:creationId xmlns:a16="http://schemas.microsoft.com/office/drawing/2014/main" id="{F1B380D8-12FA-4533-92FA-017E29A27020}"/>
              </a:ext>
            </a:extLst>
          </p:cNvPr>
          <p:cNvSpPr txBox="1">
            <a:spLocks/>
          </p:cNvSpPr>
          <p:nvPr/>
        </p:nvSpPr>
        <p:spPr>
          <a:xfrm>
            <a:off x="8844436" y="4647292"/>
            <a:ext cx="1398168" cy="53691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200">
                <a:solidFill>
                  <a:schemeClr val="tx1"/>
                </a:solidFill>
                <a:latin typeface="+mn-lt"/>
              </a:rPr>
              <a:t>Estrategia de financiamiento de largo plazo</a:t>
            </a:r>
          </a:p>
        </p:txBody>
      </p:sp>
      <p:cxnSp>
        <p:nvCxnSpPr>
          <p:cNvPr id="14" name="Conector angular 37">
            <a:extLst>
              <a:ext uri="{FF2B5EF4-FFF2-40B4-BE49-F238E27FC236}">
                <a16:creationId xmlns:a16="http://schemas.microsoft.com/office/drawing/2014/main" id="{3A3FD124-E027-4E00-9C1C-2FF57D891686}"/>
              </a:ext>
            </a:extLst>
          </p:cNvPr>
          <p:cNvCxnSpPr>
            <a:cxnSpLocks/>
            <a:stCxn id="11" idx="2"/>
            <a:endCxn id="13" idx="3"/>
          </p:cNvCxnSpPr>
          <p:nvPr/>
        </p:nvCxnSpPr>
        <p:spPr>
          <a:xfrm rot="5400000">
            <a:off x="10458365" y="4471217"/>
            <a:ext cx="228773" cy="660293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A0F08799-F847-4A4C-8217-1E6E13F0B405}"/>
              </a:ext>
            </a:extLst>
          </p:cNvPr>
          <p:cNvCxnSpPr>
            <a:cxnSpLocks/>
            <a:endCxn id="10" idx="1"/>
          </p:cNvCxnSpPr>
          <p:nvPr/>
        </p:nvCxnSpPr>
        <p:spPr>
          <a:xfrm>
            <a:off x="8462492" y="2754638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Marcador de contenido 5">
            <a:extLst>
              <a:ext uri="{FF2B5EF4-FFF2-40B4-BE49-F238E27FC236}">
                <a16:creationId xmlns:a16="http://schemas.microsoft.com/office/drawing/2014/main" id="{AD516EF4-72AE-4167-B3EB-7A34CC8005FC}"/>
              </a:ext>
            </a:extLst>
          </p:cNvPr>
          <p:cNvSpPr txBox="1">
            <a:spLocks/>
          </p:cNvSpPr>
          <p:nvPr/>
        </p:nvSpPr>
        <p:spPr>
          <a:xfrm>
            <a:off x="3545164" y="1853116"/>
            <a:ext cx="4918780" cy="39292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54000" rIns="54000" anchor="t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200"/>
              </a:spcAft>
              <a:buClr>
                <a:srgbClr val="FF6D22"/>
              </a:buClr>
              <a:buFont typeface="Lucida Grande"/>
              <a:buNone/>
            </a:pPr>
            <a:r>
              <a:rPr lang="es-CO" sz="1200" b="1">
                <a:latin typeface="+mn-lt"/>
                <a:cs typeface="Calibri"/>
              </a:rPr>
              <a:t>Misión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Liderar la planeación y ejecución de las estrategias de financiamiento internacional y </a:t>
            </a:r>
            <a:r>
              <a:rPr lang="es-ES" sz="1200" err="1">
                <a:latin typeface="+mn-lt"/>
                <a:cs typeface="Calibri"/>
              </a:rPr>
              <a:t>M&amp;As</a:t>
            </a:r>
            <a:endParaRPr lang="es-ES" sz="1200">
              <a:latin typeface="+mn-lt"/>
              <a:cs typeface="Calibri"/>
            </a:endParaRP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el plan de comunicaciones y la relación con entidades financieras internacionales, inversionistas y calificadoras </a:t>
            </a:r>
          </a:p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</a:pPr>
            <a:r>
              <a:rPr lang="es-CO" sz="1200" b="1">
                <a:latin typeface="+mn-lt"/>
                <a:cs typeface="Calibri"/>
              </a:rPr>
              <a:t>Principales Responsabilidades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Definir, implementar y hacer seguimiento a los resultados de las estrategias de financiamiento internacional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Identificar y proponer nuevas alternativas de financiación de acuerdo con las necesidades de la organización y las metas de crecimiento de cartera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Estructurar, negociar y ejecutar las emisiones internacionales de bonos, notas estructuradas, créditos sintéticos e indexados y créditos con agencias multilaterales, entre otros instrumentos financieros, que permitan obtener financiamiento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Gestionar la relación con las calificadoras de riesgo, entidades financieras internacionales e inversionistas y atender sus requerimientos</a:t>
            </a:r>
          </a:p>
          <a:p>
            <a:pPr marL="266700" indent="-166688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+mn-lt"/>
                <a:cs typeface="Calibri"/>
              </a:rPr>
              <a:t>Evaluar las diferentes alternativas de cobertura de riesgo de tipo de cambio, negociar y ejecutar las operaciones de cobertura</a:t>
            </a:r>
          </a:p>
        </p:txBody>
      </p:sp>
      <p:sp>
        <p:nvSpPr>
          <p:cNvPr id="28" name="Marcador de contenido 5">
            <a:extLst>
              <a:ext uri="{FF2B5EF4-FFF2-40B4-BE49-F238E27FC236}">
                <a16:creationId xmlns:a16="http://schemas.microsoft.com/office/drawing/2014/main" id="{BC7CC7D0-5DA1-486D-B5F9-734F1982B416}"/>
              </a:ext>
            </a:extLst>
          </p:cNvPr>
          <p:cNvSpPr txBox="1">
            <a:spLocks/>
          </p:cNvSpPr>
          <p:nvPr/>
        </p:nvSpPr>
        <p:spPr>
          <a:xfrm>
            <a:off x="1856850" y="3253158"/>
            <a:ext cx="1352872" cy="78351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200" b="1">
                <a:solidFill>
                  <a:schemeClr val="tx1"/>
                </a:solidFill>
                <a:latin typeface="+mn-lt"/>
              </a:rPr>
              <a:t>Requerimientos </a:t>
            </a:r>
          </a:p>
          <a:p>
            <a:pPr marL="92075" indent="-88900"/>
            <a:r>
              <a:rPr lang="es-ES" sz="1200">
                <a:solidFill>
                  <a:schemeClr val="tx1"/>
                </a:solidFill>
                <a:latin typeface="+mn-lt"/>
              </a:rPr>
              <a:t>Fondeo LP</a:t>
            </a:r>
          </a:p>
          <a:p>
            <a:pPr marL="92075" indent="-88900"/>
            <a:r>
              <a:rPr lang="es-ES" sz="1200">
                <a:solidFill>
                  <a:schemeClr val="tx1"/>
                </a:solidFill>
                <a:latin typeface="+mn-lt"/>
              </a:rPr>
              <a:t>Cobertura de riesgo cambiario</a:t>
            </a: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F494296B-B253-4E31-A2F9-59DB8FBFD573}"/>
              </a:ext>
            </a:extLst>
          </p:cNvPr>
          <p:cNvSpPr/>
          <p:nvPr/>
        </p:nvSpPr>
        <p:spPr>
          <a:xfrm>
            <a:off x="629082" y="2751535"/>
            <a:ext cx="993978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VP Financiera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8EB44D2B-0D4C-43FD-B1D8-009ABBA59912}"/>
              </a:ext>
            </a:extLst>
          </p:cNvPr>
          <p:cNvSpPr/>
          <p:nvPr/>
        </p:nvSpPr>
        <p:spPr>
          <a:xfrm>
            <a:off x="10398897" y="3087337"/>
            <a:ext cx="1008000" cy="3695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Presidente JD FI/CV</a:t>
            </a:r>
          </a:p>
        </p:txBody>
      </p:sp>
      <p:sp>
        <p:nvSpPr>
          <p:cNvPr id="48" name="Marcador de contenido 5">
            <a:extLst>
              <a:ext uri="{FF2B5EF4-FFF2-40B4-BE49-F238E27FC236}">
                <a16:creationId xmlns:a16="http://schemas.microsoft.com/office/drawing/2014/main" id="{2E5722D3-3155-4B80-AD05-498CC05062F6}"/>
              </a:ext>
            </a:extLst>
          </p:cNvPr>
          <p:cNvSpPr txBox="1">
            <a:spLocks/>
          </p:cNvSpPr>
          <p:nvPr/>
        </p:nvSpPr>
        <p:spPr>
          <a:xfrm>
            <a:off x="1856122" y="1936458"/>
            <a:ext cx="1353600" cy="24357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200">
                <a:solidFill>
                  <a:schemeClr val="tx1"/>
                </a:solidFill>
                <a:latin typeface="+mn-lt"/>
              </a:rPr>
              <a:t>Fondeo de LP</a:t>
            </a:r>
          </a:p>
        </p:txBody>
      </p:sp>
      <p:sp>
        <p:nvSpPr>
          <p:cNvPr id="49" name="Marcador de contenido 5">
            <a:extLst>
              <a:ext uri="{FF2B5EF4-FFF2-40B4-BE49-F238E27FC236}">
                <a16:creationId xmlns:a16="http://schemas.microsoft.com/office/drawing/2014/main" id="{B4C6DCE4-E6D5-47D4-9781-F7EA3E0BC884}"/>
              </a:ext>
            </a:extLst>
          </p:cNvPr>
          <p:cNvSpPr txBox="1">
            <a:spLocks/>
          </p:cNvSpPr>
          <p:nvPr/>
        </p:nvSpPr>
        <p:spPr>
          <a:xfrm>
            <a:off x="1856122" y="2259486"/>
            <a:ext cx="1353600" cy="56600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200">
                <a:solidFill>
                  <a:schemeClr val="tx1"/>
                </a:solidFill>
                <a:latin typeface="+mn-lt"/>
              </a:rPr>
              <a:t>Mecanismos de cobertura de riesgo cambiario</a:t>
            </a:r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6F85A337-5CFD-4B0F-A662-962B15E3122F}"/>
              </a:ext>
            </a:extLst>
          </p:cNvPr>
          <p:cNvSpPr/>
          <p:nvPr/>
        </p:nvSpPr>
        <p:spPr>
          <a:xfrm>
            <a:off x="10398897" y="3627337"/>
            <a:ext cx="1008000" cy="369512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PresidenteBCF/CV</a:t>
            </a:r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7CF9EE08-B6E1-4666-8004-75803050DF9B}"/>
              </a:ext>
            </a:extLst>
          </p:cNvPr>
          <p:cNvSpPr/>
          <p:nvPr/>
        </p:nvSpPr>
        <p:spPr>
          <a:xfrm>
            <a:off x="629082" y="4838086"/>
            <a:ext cx="993978" cy="54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/>
              <a:t>Dir. Común. Inst.</a:t>
            </a:r>
          </a:p>
        </p:txBody>
      </p:sp>
      <p:sp>
        <p:nvSpPr>
          <p:cNvPr id="64" name="Marcador de contenido 5">
            <a:extLst>
              <a:ext uri="{FF2B5EF4-FFF2-40B4-BE49-F238E27FC236}">
                <a16:creationId xmlns:a16="http://schemas.microsoft.com/office/drawing/2014/main" id="{AC909385-EA4B-43A2-9EBC-818615E45831}"/>
              </a:ext>
            </a:extLst>
          </p:cNvPr>
          <p:cNvSpPr txBox="1">
            <a:spLocks/>
          </p:cNvSpPr>
          <p:nvPr/>
        </p:nvSpPr>
        <p:spPr>
          <a:xfrm>
            <a:off x="1867828" y="4429785"/>
            <a:ext cx="1343533" cy="545594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Resultados gestión de comunicaciones</a:t>
            </a:r>
          </a:p>
        </p:txBody>
      </p:sp>
      <p:sp>
        <p:nvSpPr>
          <p:cNvPr id="66" name="Marcador de contenido 5">
            <a:extLst>
              <a:ext uri="{FF2B5EF4-FFF2-40B4-BE49-F238E27FC236}">
                <a16:creationId xmlns:a16="http://schemas.microsoft.com/office/drawing/2014/main" id="{08FEAE15-5025-4FE7-A229-2CEA2E13B0C2}"/>
              </a:ext>
            </a:extLst>
          </p:cNvPr>
          <p:cNvSpPr txBox="1">
            <a:spLocks/>
          </p:cNvSpPr>
          <p:nvPr/>
        </p:nvSpPr>
        <p:spPr>
          <a:xfrm>
            <a:off x="1880618" y="5279938"/>
            <a:ext cx="1343533" cy="587227"/>
          </a:xfrm>
          <a:prstGeom prst="rect">
            <a:avLst/>
          </a:prstGeom>
          <a:solidFill>
            <a:srgbClr val="D9D9D9"/>
          </a:solidFill>
        </p:spPr>
        <p:txBody>
          <a:bodyPr wrap="square" lIns="54000" rIns="54000" anchor="ctr">
            <a:noAutofit/>
          </a:bodyPr>
          <a:lstStyle>
            <a:defPPr>
              <a:defRPr lang="es-CO"/>
            </a:defPPr>
            <a:lvl1pPr marL="177800" indent="-174625" fontAlgn="base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•"/>
              <a:defRPr sz="1300" b="0">
                <a:solidFill>
                  <a:prstClr val="black"/>
                </a:solidFill>
                <a:latin typeface="Calibri"/>
                <a:ea typeface="ヒラギノ角ゴ Pro W3" charset="0"/>
                <a:cs typeface="Calibri"/>
              </a:defRPr>
            </a:lvl1pPr>
            <a:lvl2pPr marL="444500" indent="-179388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fontAlgn="base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baseline="0"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6pPr>
            <a:lvl7pPr marL="29718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7pPr>
            <a:lvl8pPr marL="34290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8pPr>
            <a:lvl9pPr marL="3886200" indent="-228600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/>
            </a:lvl9pPr>
          </a:lstStyle>
          <a:p>
            <a:pPr marL="3175" indent="0" algn="ctr">
              <a:buNone/>
            </a:pPr>
            <a:r>
              <a:rPr lang="es-ES" sz="1100">
                <a:solidFill>
                  <a:schemeClr val="tx1"/>
                </a:solidFill>
                <a:latin typeface="+mn-lt"/>
              </a:rPr>
              <a:t>Lineamientos Plan de Comunicación</a:t>
            </a:r>
          </a:p>
        </p:txBody>
      </p:sp>
      <p:cxnSp>
        <p:nvCxnSpPr>
          <p:cNvPr id="67" name="Conector angular 32">
            <a:extLst>
              <a:ext uri="{FF2B5EF4-FFF2-40B4-BE49-F238E27FC236}">
                <a16:creationId xmlns:a16="http://schemas.microsoft.com/office/drawing/2014/main" id="{2183062B-EE31-4E28-BC7F-82D6E8B15D36}"/>
              </a:ext>
            </a:extLst>
          </p:cNvPr>
          <p:cNvCxnSpPr>
            <a:cxnSpLocks/>
            <a:stCxn id="48" idx="1"/>
            <a:endCxn id="31" idx="0"/>
          </p:cNvCxnSpPr>
          <p:nvPr/>
        </p:nvCxnSpPr>
        <p:spPr>
          <a:xfrm rot="10800000" flipV="1">
            <a:off x="1126072" y="2058247"/>
            <a:ext cx="730051" cy="693288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0" name="Conector angular 32">
            <a:extLst>
              <a:ext uri="{FF2B5EF4-FFF2-40B4-BE49-F238E27FC236}">
                <a16:creationId xmlns:a16="http://schemas.microsoft.com/office/drawing/2014/main" id="{B1FDFFC6-9ECF-4393-AEEB-AC98128DD3F0}"/>
              </a:ext>
            </a:extLst>
          </p:cNvPr>
          <p:cNvCxnSpPr>
            <a:cxnSpLocks/>
            <a:stCxn id="49" idx="1"/>
            <a:endCxn id="31" idx="0"/>
          </p:cNvCxnSpPr>
          <p:nvPr/>
        </p:nvCxnSpPr>
        <p:spPr>
          <a:xfrm rot="10800000" flipV="1">
            <a:off x="1126072" y="2542487"/>
            <a:ext cx="730051" cy="20904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ector angular 32">
            <a:extLst>
              <a:ext uri="{FF2B5EF4-FFF2-40B4-BE49-F238E27FC236}">
                <a16:creationId xmlns:a16="http://schemas.microsoft.com/office/drawing/2014/main" id="{41FB2F01-1CD5-40C5-A60E-706A4900E77B}"/>
              </a:ext>
            </a:extLst>
          </p:cNvPr>
          <p:cNvCxnSpPr>
            <a:cxnSpLocks/>
            <a:stCxn id="31" idx="2"/>
            <a:endCxn id="28" idx="1"/>
          </p:cNvCxnSpPr>
          <p:nvPr/>
        </p:nvCxnSpPr>
        <p:spPr>
          <a:xfrm rot="16200000" flipH="1">
            <a:off x="1314770" y="3102835"/>
            <a:ext cx="353380" cy="730779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ector angular 32">
            <a:extLst>
              <a:ext uri="{FF2B5EF4-FFF2-40B4-BE49-F238E27FC236}">
                <a16:creationId xmlns:a16="http://schemas.microsoft.com/office/drawing/2014/main" id="{84081C1E-5D08-4918-9021-3770CF04D155}"/>
              </a:ext>
            </a:extLst>
          </p:cNvPr>
          <p:cNvCxnSpPr>
            <a:cxnSpLocks/>
            <a:stCxn id="62" idx="2"/>
            <a:endCxn id="66" idx="1"/>
          </p:cNvCxnSpPr>
          <p:nvPr/>
        </p:nvCxnSpPr>
        <p:spPr>
          <a:xfrm rot="16200000" flipH="1">
            <a:off x="1405611" y="5098545"/>
            <a:ext cx="195466" cy="754547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ector angular 32">
            <a:extLst>
              <a:ext uri="{FF2B5EF4-FFF2-40B4-BE49-F238E27FC236}">
                <a16:creationId xmlns:a16="http://schemas.microsoft.com/office/drawing/2014/main" id="{7BEDB6A7-DE98-4314-A539-F6BCF72ABE7C}"/>
              </a:ext>
            </a:extLst>
          </p:cNvPr>
          <p:cNvCxnSpPr>
            <a:cxnSpLocks/>
            <a:stCxn id="64" idx="1"/>
            <a:endCxn id="62" idx="0"/>
          </p:cNvCxnSpPr>
          <p:nvPr/>
        </p:nvCxnSpPr>
        <p:spPr>
          <a:xfrm rot="10800000" flipV="1">
            <a:off x="1126072" y="4702582"/>
            <a:ext cx="741757" cy="135504"/>
          </a:xfrm>
          <a:prstGeom prst="bentConnector2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Conector recto de flecha 81">
            <a:extLst>
              <a:ext uri="{FF2B5EF4-FFF2-40B4-BE49-F238E27FC236}">
                <a16:creationId xmlns:a16="http://schemas.microsoft.com/office/drawing/2014/main" id="{CDD5F6C4-40B1-4561-8E40-B4F3572A59FA}"/>
              </a:ext>
            </a:extLst>
          </p:cNvPr>
          <p:cNvCxnSpPr>
            <a:cxnSpLocks/>
          </p:cNvCxnSpPr>
          <p:nvPr/>
        </p:nvCxnSpPr>
        <p:spPr>
          <a:xfrm flipH="1">
            <a:off x="8462492" y="4915750"/>
            <a:ext cx="38194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4" name="Conector recto de flecha 83">
            <a:extLst>
              <a:ext uri="{FF2B5EF4-FFF2-40B4-BE49-F238E27FC236}">
                <a16:creationId xmlns:a16="http://schemas.microsoft.com/office/drawing/2014/main" id="{B19D64F1-4F72-4F15-A455-C36E374E93A3}"/>
              </a:ext>
            </a:extLst>
          </p:cNvPr>
          <p:cNvCxnSpPr>
            <a:cxnSpLocks/>
          </p:cNvCxnSpPr>
          <p:nvPr/>
        </p:nvCxnSpPr>
        <p:spPr>
          <a:xfrm>
            <a:off x="3209722" y="3712660"/>
            <a:ext cx="33544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Conector recto de flecha 85">
            <a:extLst>
              <a:ext uri="{FF2B5EF4-FFF2-40B4-BE49-F238E27FC236}">
                <a16:creationId xmlns:a16="http://schemas.microsoft.com/office/drawing/2014/main" id="{B7F3BD61-9595-47A0-A09D-E5DB24E58DEE}"/>
              </a:ext>
            </a:extLst>
          </p:cNvPr>
          <p:cNvCxnSpPr>
            <a:cxnSpLocks/>
          </p:cNvCxnSpPr>
          <p:nvPr/>
        </p:nvCxnSpPr>
        <p:spPr>
          <a:xfrm>
            <a:off x="3209722" y="5573552"/>
            <a:ext cx="335441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7" name="Conector recto de flecha 86">
            <a:extLst>
              <a:ext uri="{FF2B5EF4-FFF2-40B4-BE49-F238E27FC236}">
                <a16:creationId xmlns:a16="http://schemas.microsoft.com/office/drawing/2014/main" id="{7C4823E5-E7BE-4352-A51D-D8B0E47E7362}"/>
              </a:ext>
            </a:extLst>
          </p:cNvPr>
          <p:cNvCxnSpPr>
            <a:cxnSpLocks/>
          </p:cNvCxnSpPr>
          <p:nvPr/>
        </p:nvCxnSpPr>
        <p:spPr>
          <a:xfrm flipH="1">
            <a:off x="3204609" y="4702582"/>
            <a:ext cx="34055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8" name="Conector recto de flecha 87">
            <a:extLst>
              <a:ext uri="{FF2B5EF4-FFF2-40B4-BE49-F238E27FC236}">
                <a16:creationId xmlns:a16="http://schemas.microsoft.com/office/drawing/2014/main" id="{501C4E4B-AF4A-4B22-826D-EEE293CDA846}"/>
              </a:ext>
            </a:extLst>
          </p:cNvPr>
          <p:cNvCxnSpPr>
            <a:cxnSpLocks/>
          </p:cNvCxnSpPr>
          <p:nvPr/>
        </p:nvCxnSpPr>
        <p:spPr>
          <a:xfrm flipH="1">
            <a:off x="3204609" y="2542487"/>
            <a:ext cx="34055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9" name="Conector recto de flecha 88">
            <a:extLst>
              <a:ext uri="{FF2B5EF4-FFF2-40B4-BE49-F238E27FC236}">
                <a16:creationId xmlns:a16="http://schemas.microsoft.com/office/drawing/2014/main" id="{7ACEDED7-852A-4B70-AEE1-B00375754947}"/>
              </a:ext>
            </a:extLst>
          </p:cNvPr>
          <p:cNvCxnSpPr>
            <a:cxnSpLocks/>
          </p:cNvCxnSpPr>
          <p:nvPr/>
        </p:nvCxnSpPr>
        <p:spPr>
          <a:xfrm flipH="1">
            <a:off x="3204609" y="2074041"/>
            <a:ext cx="340554" cy="0"/>
          </a:xfrm>
          <a:prstGeom prst="straightConnector1">
            <a:avLst/>
          </a:prstGeom>
          <a:ln w="19050" cmpd="sng"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Bocadillo: rectángulo con esquinas redondeadas 90">
            <a:extLst>
              <a:ext uri="{FF2B5EF4-FFF2-40B4-BE49-F238E27FC236}">
                <a16:creationId xmlns:a16="http://schemas.microsoft.com/office/drawing/2014/main" id="{9484D9B5-B51D-480A-B981-9997BC512EE4}"/>
              </a:ext>
            </a:extLst>
          </p:cNvPr>
          <p:cNvSpPr/>
          <p:nvPr/>
        </p:nvSpPr>
        <p:spPr>
          <a:xfrm>
            <a:off x="8554367" y="3331746"/>
            <a:ext cx="1766639" cy="680938"/>
          </a:xfrm>
          <a:prstGeom prst="wedgeRoundRectCallout">
            <a:avLst>
              <a:gd name="adj1" fmla="val 57090"/>
              <a:gd name="adj2" fmla="val -67000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Rol de transición, en la configuración funcional objetivo (Q4-22) se elimina esta función</a:t>
            </a:r>
          </a:p>
        </p:txBody>
      </p:sp>
      <p:sp>
        <p:nvSpPr>
          <p:cNvPr id="20" name="Flecha: pentágono 19">
            <a:extLst>
              <a:ext uri="{FF2B5EF4-FFF2-40B4-BE49-F238E27FC236}">
                <a16:creationId xmlns:a16="http://schemas.microsoft.com/office/drawing/2014/main" id="{ACE95C66-C083-44BE-B9AF-496B9B2D481E}"/>
              </a:ext>
            </a:extLst>
          </p:cNvPr>
          <p:cNvSpPr/>
          <p:nvPr/>
        </p:nvSpPr>
        <p:spPr>
          <a:xfrm>
            <a:off x="477981" y="1068347"/>
            <a:ext cx="1728000" cy="288000"/>
          </a:xfrm>
          <a:prstGeom prst="homePlate">
            <a:avLst/>
          </a:prstGeom>
          <a:solidFill>
            <a:schemeClr val="tx2"/>
          </a:solidFill>
          <a:ln>
            <a:solidFill>
              <a:schemeClr val="tx2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lvl="1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Cargo Sin Ajustes</a:t>
            </a:r>
          </a:p>
        </p:txBody>
      </p:sp>
      <p:sp>
        <p:nvSpPr>
          <p:cNvPr id="21" name="Es igual a 20">
            <a:extLst>
              <a:ext uri="{FF2B5EF4-FFF2-40B4-BE49-F238E27FC236}">
                <a16:creationId xmlns:a16="http://schemas.microsoft.com/office/drawing/2014/main" id="{4D8AC21A-D634-479F-AE28-F13712E8FBC1}"/>
              </a:ext>
            </a:extLst>
          </p:cNvPr>
          <p:cNvSpPr/>
          <p:nvPr/>
        </p:nvSpPr>
        <p:spPr>
          <a:xfrm>
            <a:off x="516450" y="1124317"/>
            <a:ext cx="162000" cy="162000"/>
          </a:xfrm>
          <a:prstGeom prst="mathEqual">
            <a:avLst/>
          </a:prstGeo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7E59893-AA8F-4F18-AB44-F508B706CD2B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91C74461-B8EB-4338-9861-2533C9F34271}"/>
              </a:ext>
            </a:extLst>
          </p:cNvPr>
          <p:cNvSpPr/>
          <p:nvPr/>
        </p:nvSpPr>
        <p:spPr>
          <a:xfrm>
            <a:off x="9445083" y="6473795"/>
            <a:ext cx="195335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</p:spTree>
    <p:extLst>
      <p:ext uri="{BB962C8B-B14F-4D97-AF65-F5344CB8AC3E}">
        <p14:creationId xmlns:p14="http://schemas.microsoft.com/office/powerpoint/2010/main" val="232393398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 b="1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226987760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4A134BA0-C681-4B88-8B9D-7E285BE0EFF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71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6C5BB3BF-9EF4-42DE-9E07-335AF16B448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Estrategia – Junta Directiva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Trimestral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Proveer direccionamiento estratégico y línea de acción para la gestión de la organización – definir prioridades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Discutir y aprobar decisiones de alto impacto de la organización – proyectos, alianzas estratégicas, </a:t>
            </a:r>
            <a:r>
              <a:rPr lang="es-ES" sz="1400" err="1">
                <a:latin typeface="+mj-lt"/>
              </a:rPr>
              <a:t>M&amp;As</a:t>
            </a: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al avance consolidado de la ejecución del plan estratégico</a:t>
            </a:r>
          </a:p>
          <a:p>
            <a:pPr marL="0" indent="0">
              <a:spcBef>
                <a:spcPts val="600"/>
              </a:spcBef>
              <a:buClr>
                <a:schemeClr val="tx1"/>
              </a:buClr>
              <a:buNone/>
              <a:defRPr/>
            </a:pPr>
            <a:endParaRPr lang="es-ES" sz="1400">
              <a:latin typeface="+mj-lt"/>
            </a:endParaRP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 JD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2 Miembros JD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 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Innovación y Digitalización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Gestión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Invitados 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Revisión, aprobación y seguimiento del plan estratégico de la organización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Definir la priorización de la ejecución e implementación de las iniciativas y proyectos estratégicos – ajustar prioridades en la marcha 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Evaluar y tomar decisiones en torno a las oportunidades M&amp;A y de alianzas estratégicas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Realizar seguimiento al avance y evaluar lo resultados de los proyectos estratégicos</a:t>
            </a:r>
          </a:p>
        </p:txBody>
      </p:sp>
      <p:sp>
        <p:nvSpPr>
          <p:cNvPr id="17" name="Marcador de pie de página 3">
            <a:extLst>
              <a:ext uri="{FF2B5EF4-FFF2-40B4-BE49-F238E27FC236}">
                <a16:creationId xmlns:a16="http://schemas.microsoft.com/office/drawing/2014/main" id="{29577039-5AAE-463E-9365-642169DA1E1E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5619B51E-4E92-42CF-AF24-0FA4939F1259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F91D27E-25CD-4668-B07C-67312A67E019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43473417-2388-4B13-BB58-AE78B1D4EF17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4E73BD14-FED2-4D4E-91F2-2264B6AD08F2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9B47B1BE-8BDC-4930-8E9C-9328CCC41118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75630083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155E7FC9-C673-4D59-8E4A-E847FC654D9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72</a:t>
            </a:fld>
            <a:endParaRPr lang="es-ES_tradnl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A3CCA113-9168-4327-A9E9-FC829509740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Auditoría Interna – Junta Directiva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Trimestral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altLang="es-ES_tradnl" sz="1400">
                <a:latin typeface="+mj-lt"/>
              </a:rPr>
              <a:t>Apoyar y asesorar a la Junta Directiva y a la Presidencia en la supervisión, análisis y seguimiento de los procedimientos en materia de control interno y análisis de estados financieros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3 Miembros Independientes JD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Auditor Interno – líder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Secretario General 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los informes financieros, Control Interno y Revisoría Fiscal – hallazgos, reconocimientos y planes de acción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los indicadores y avances del plan de mejoramiento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requerimientos Superintendencia Financiera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 b="1">
                <a:latin typeface="+mj-lt"/>
              </a:rPr>
              <a:t>Semestralmente</a:t>
            </a:r>
            <a:r>
              <a:rPr lang="es-ES" sz="1400">
                <a:latin typeface="+mj-lt"/>
              </a:rPr>
              <a:t> – revisar y aprobar la planeación de Auditoría</a:t>
            </a:r>
            <a:endParaRPr lang="es-CO" sz="1400">
              <a:latin typeface="+mj-lt"/>
            </a:endParaRPr>
          </a:p>
        </p:txBody>
      </p:sp>
      <p:sp>
        <p:nvSpPr>
          <p:cNvPr id="17" name="Marcador de pie de página 3">
            <a:extLst>
              <a:ext uri="{FF2B5EF4-FFF2-40B4-BE49-F238E27FC236}">
                <a16:creationId xmlns:a16="http://schemas.microsoft.com/office/drawing/2014/main" id="{D8C35878-6035-4087-B62A-27C2693690C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3" name="Bocadillo: rectángulo 2">
            <a:extLst>
              <a:ext uri="{FF2B5EF4-FFF2-40B4-BE49-F238E27FC236}">
                <a16:creationId xmlns:a16="http://schemas.microsoft.com/office/drawing/2014/main" id="{CB37E86C-BE2A-4CB5-ADC6-7BF576D26408}"/>
              </a:ext>
            </a:extLst>
          </p:cNvPr>
          <p:cNvSpPr/>
          <p:nvPr/>
        </p:nvSpPr>
        <p:spPr>
          <a:xfrm>
            <a:off x="496724" y="894453"/>
            <a:ext cx="3106953" cy="768383"/>
          </a:xfrm>
          <a:prstGeom prst="wedgeRectCallout">
            <a:avLst>
              <a:gd name="adj1" fmla="val 407"/>
              <a:gd name="adj2" fmla="val 74633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Esta instancia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debe realizarse por separado para las dos organizaciones por temas normativos del BCF (Superintendencia Financiera y Marco Internacional)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E5CFA0C3-21C2-4005-BDB7-0418107CA1EE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207FDF7-3C95-487F-9F86-024BB0392D3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DB8CAD82-E6DE-4CF2-A32B-3B24442E226B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3A43C3FD-A907-41C8-A5D3-48525F5C811B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884FE06-91E4-4A89-BFB7-5D7CD5C71DE5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82879591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1E709832-7C09-4084-93AA-4855432B377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73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E3AE065B-C3E5-40D8-8A48-34C29FEADE1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Riesgos – Junta Directiva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Apoyar y asesorar a la Junta Directiva y a la Presidencia de la entidad en la definición de políticas y estrategias de mejoramiento sobre los diversos procesos de administración de riesgo de crédito, operacional, mercado y liquidez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Miembros de la JD</a:t>
            </a:r>
            <a:r>
              <a:rPr lang="es-ES" sz="1400" baseline="30000">
                <a:latin typeface="+mj-lt"/>
              </a:rPr>
              <a:t>2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Riesgo – líder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Riesgos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Proponer a la Junta Directiva las políticas y procedimientos de gestión de riesgos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y evaluar la integridad y la adecuación de la función de gestión de riesgos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los límites de riesgos y los informes sobre riesgos, haciendo las recomendaciones pertinentes a la Junta Directiva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Valorar y analizar la estrategia y las políticas generales de riesgos el establecimiento de límites por tipos de riesgo y de negocio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Analizar y evaluar los sistemas y herramientas de control de riesgos</a:t>
            </a:r>
            <a:endParaRPr lang="es-ES" sz="1200">
              <a:latin typeface="+mj-lt"/>
            </a:endParaRPr>
          </a:p>
        </p:txBody>
      </p:sp>
      <p:sp>
        <p:nvSpPr>
          <p:cNvPr id="17" name="Marcador de pie de página 3">
            <a:extLst>
              <a:ext uri="{FF2B5EF4-FFF2-40B4-BE49-F238E27FC236}">
                <a16:creationId xmlns:a16="http://schemas.microsoft.com/office/drawing/2014/main" id="{BBB6E9F0-624B-4FD0-92A2-EF5A55BF68B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Notas: (1) Sesionan de forma independiente pero consecutiva para BCF y CV por temas normativos del banco, (2) Mínimo 1 – Máximo 2 miembros de JD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126503DE-61B6-4254-BE1F-03119EA2388B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E338DD51-5129-44B5-A49F-9C548A5CDB2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C2E849B8-C746-40A8-A16B-0137B822A3C9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8118286C-FE9A-4404-8D0A-9EE7A2B00EB6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BAFE21B-5245-44FD-A747-C7F85663DF26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Bocadillo: rectángulo 10">
            <a:extLst>
              <a:ext uri="{FF2B5EF4-FFF2-40B4-BE49-F238E27FC236}">
                <a16:creationId xmlns:a16="http://schemas.microsoft.com/office/drawing/2014/main" id="{F294C85F-0C62-4C00-986B-D1221CB07A31}"/>
              </a:ext>
            </a:extLst>
          </p:cNvPr>
          <p:cNvSpPr/>
          <p:nvPr/>
        </p:nvSpPr>
        <p:spPr>
          <a:xfrm>
            <a:off x="496724" y="894453"/>
            <a:ext cx="3106953" cy="768383"/>
          </a:xfrm>
          <a:prstGeom prst="wedgeRectCallout">
            <a:avLst>
              <a:gd name="adj1" fmla="val 407"/>
              <a:gd name="adj2" fmla="val 74633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Esta instancia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debe realizarse por separado para las dos organizaciones por temas normativos del BCF (Superintendencia Financiera y Marco Internacional)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255376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9577BAB8-2E66-4722-A518-B4A24DAABE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74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1B07B87A-315A-4A23-88F1-095193C9E30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Compensación – Junta Directiva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Trimestral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Mantener un sistema de compensación equitativo y competitivo que permita atraer y retener a las personas que requiere la organización para cumplir su misión y sus objetivos estratégicos.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3 Miembros Junta Directiva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Presidencia 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Gerencia Gestión del Talento – líder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periódicamente la política de compensación de la organización, hacer las recomendaciones pertinentes y sugerir su actualización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Analizar la estructura salarial, proponer la elaboración de estudios de compensación y tomar decisiones con base en los resultados obtenidos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periódicamente la estructura organizacional, a fin de garantizar su concordancia con las necesidades internas y las exigencias del entorno y su alineación con la estrategia corporativa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Informar, mínimo una vez al año, a la Junta Directiva y a la Asamblea General de Accionistas sobre los resultados significativos de la gestión realizada por el Comité y atender las cuestiones que les planteen los accionistas en materias de su competencia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1253320A-4341-46C9-8B80-CAA45A97E93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2F9AEB23-027F-4D17-BABF-EFFB8C4912FA}"/>
              </a:ext>
            </a:extLst>
          </p:cNvPr>
          <p:cNvSpPr txBox="1"/>
          <p:nvPr/>
        </p:nvSpPr>
        <p:spPr>
          <a:xfrm>
            <a:off x="9718041" y="6471687"/>
            <a:ext cx="1370349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0EB124FB-E566-4B72-BF83-54D861B8C717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C50DDC2-1F96-4919-A54F-74FE69EF870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E9E9DB7D-ECDC-4A16-9FAC-2285B493CB9A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4D7CF7AF-1DFF-4260-9B35-FFA541F69D18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8B40B89-6B18-4AD0-84FE-C38912297E61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9220589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7C603CF7-97FD-40EA-B050-AAA2677313B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75</a:t>
            </a:fld>
            <a:endParaRPr lang="es-ES_tradnl"/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1623C726-2D30-41B3-9AAB-9CE2D079E98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Presidencia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468748" y="4130843"/>
            <a:ext cx="5627251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2870210" y="5897892"/>
            <a:ext cx="3225790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Semanal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6214762" y="1745867"/>
            <a:ext cx="5508489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468749" y="5897891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anchor="ctr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Servir de foro a la Presidencia para la alineación con su equipo primario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150">
                <a:latin typeface="+mj-lt"/>
              </a:rPr>
              <a:t>Iniciativas y proyectos estratégicos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150">
                <a:latin typeface="+mj-lt"/>
              </a:rPr>
              <a:t>Desempeño de productos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150">
                <a:latin typeface="+mj-lt"/>
              </a:rPr>
              <a:t>Resultados financieros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150">
                <a:latin typeface="+mj-lt"/>
              </a:rPr>
              <a:t>Planes de acción – mes siguiente 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150">
                <a:latin typeface="+mj-lt"/>
              </a:rPr>
              <a:t>Asuntos críticos, cambios regulatorios, entre otros temas de impacto y relevancia para el negocio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468748" y="4454843"/>
            <a:ext cx="5627251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 anchor="ctr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Presidente – líder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Innovación y Digitalización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Comercial y de Servicio</a:t>
            </a:r>
            <a:endParaRPr lang="es-ES" sz="1200">
              <a:latin typeface="+mj-lt"/>
            </a:endParaRP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Riesgos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Financiero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Financiación Estructurada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VP Tecnología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Gerente Operaciones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Gerente Gestión del Talento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Director Gestión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6214836" y="2069866"/>
            <a:ext cx="5508416" cy="4325479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 b="1">
                <a:latin typeface="+mj-lt"/>
              </a:rPr>
              <a:t>Semana 1 del mes – iniciativas y proyectos estratégicos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Construir y proponer plan estratégico a JD – definición de iniciativas y proyectos, priorización y estructuración de casos de negocio 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Realizar seguimiento al avance – asuntos críticos, ajustes y toma de decisiones para impulsar el avance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endParaRPr lang="es-ES" sz="1200">
              <a:latin typeface="+mj-lt"/>
            </a:endParaRPr>
          </a:p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 b="1">
                <a:latin typeface="+mj-lt"/>
              </a:rPr>
              <a:t>Semana 2 del mes – Desempeño productos 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Revisión del desempeño integral de los productos – financiero, comercial, operativo 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Definiciones de planes de mejora y acciones correctivas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endParaRPr lang="es-ES" sz="1200">
              <a:latin typeface="+mj-lt"/>
            </a:endParaRPr>
          </a:p>
          <a:p>
            <a:pPr marL="263525" lvl="1" indent="-263525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 b="1">
                <a:latin typeface="+mj-lt"/>
              </a:rPr>
              <a:t>Semana 3 del mes – Resultados financieros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Revisar y evaluar el desempeño financiero consolidado del negocio – cierre mes anterior y ejecutado en el mes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endParaRPr lang="es-ES" sz="1200">
              <a:latin typeface="+mj-lt"/>
            </a:endParaRPr>
          </a:p>
          <a:p>
            <a:pPr marL="263525" lvl="1" indent="-263525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 b="1">
                <a:latin typeface="+mj-lt"/>
              </a:rPr>
              <a:t>Semana 4 – Plan de acción siguiente mes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150">
                <a:latin typeface="+mj-lt"/>
              </a:rPr>
              <a:t>Discusión de iniciativas tácticas que impulsen el desempeño del negocio – campañas comerciales, productos a lanzar, contrataciones relevantes, alianzas, entre otros</a:t>
            </a:r>
          </a:p>
          <a:p>
            <a:pPr lvl="1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endParaRPr lang="es-ES" sz="1100">
              <a:latin typeface="+mj-lt"/>
            </a:endParaRPr>
          </a:p>
          <a:p>
            <a:pPr marL="263525" lvl="1" indent="-263525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200">
                <a:latin typeface="+mj-lt"/>
              </a:rPr>
              <a:t>Los últimos 30 min de cada sesión se dedicarán a la revisión de </a:t>
            </a:r>
            <a:r>
              <a:rPr lang="es-ES" sz="1200" err="1">
                <a:latin typeface="+mj-lt"/>
              </a:rPr>
              <a:t>KPIs</a:t>
            </a:r>
            <a:r>
              <a:rPr lang="es-ES" sz="1200">
                <a:latin typeface="+mj-lt"/>
              </a:rPr>
              <a:t> consolidados del desempeño del negocio</a:t>
            </a:r>
          </a:p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200" b="1">
              <a:solidFill>
                <a:srgbClr val="FF0000"/>
              </a:solidFill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0528A5B-4C2D-4963-B768-785533E6906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3" name="Bocadillo: rectángulo 2">
            <a:extLst>
              <a:ext uri="{FF2B5EF4-FFF2-40B4-BE49-F238E27FC236}">
                <a16:creationId xmlns:a16="http://schemas.microsoft.com/office/drawing/2014/main" id="{502DF48D-518E-410E-9B50-AE88DE682696}"/>
              </a:ext>
            </a:extLst>
          </p:cNvPr>
          <p:cNvSpPr/>
          <p:nvPr/>
        </p:nvSpPr>
        <p:spPr>
          <a:xfrm>
            <a:off x="10079794" y="2930426"/>
            <a:ext cx="1639349" cy="650352"/>
          </a:xfrm>
          <a:prstGeom prst="wedgeRectCallout">
            <a:avLst>
              <a:gd name="adj1" fmla="val 31595"/>
              <a:gd name="adj2" fmla="val -93056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  <a:defRPr/>
            </a:pPr>
            <a:r>
              <a:rPr lang="es-ES" sz="1150">
                <a:latin typeface="+mj-lt"/>
              </a:rPr>
              <a:t>Incluye oportunidades de Transformación Digital interna</a:t>
            </a:r>
          </a:p>
        </p:txBody>
      </p:sp>
      <p:sp>
        <p:nvSpPr>
          <p:cNvPr id="19" name="Bocadillo: rectángulo 18">
            <a:extLst>
              <a:ext uri="{FF2B5EF4-FFF2-40B4-BE49-F238E27FC236}">
                <a16:creationId xmlns:a16="http://schemas.microsoft.com/office/drawing/2014/main" id="{D3C146AB-E482-402D-B9DC-BC9246451986}"/>
              </a:ext>
            </a:extLst>
          </p:cNvPr>
          <p:cNvSpPr/>
          <p:nvPr/>
        </p:nvSpPr>
        <p:spPr>
          <a:xfrm>
            <a:off x="4250138" y="5709344"/>
            <a:ext cx="1964661" cy="933571"/>
          </a:xfrm>
          <a:prstGeom prst="wedgeRectCallout">
            <a:avLst>
              <a:gd name="adj1" fmla="val 56332"/>
              <a:gd name="adj2" fmla="val 10347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  <a:defRPr/>
            </a:pPr>
            <a:r>
              <a:rPr lang="es-ES" sz="1150">
                <a:latin typeface="+mj-lt"/>
              </a:rPr>
              <a:t>El informe con los principales </a:t>
            </a:r>
            <a:r>
              <a:rPr lang="es-ES" sz="1150" err="1">
                <a:latin typeface="+mj-lt"/>
              </a:rPr>
              <a:t>KPI’s</a:t>
            </a:r>
            <a:r>
              <a:rPr lang="es-ES" sz="1150">
                <a:latin typeface="+mj-lt"/>
              </a:rPr>
              <a:t> se envía con antelación a los líderes para asegurar la lectura y revisión anticipada</a:t>
            </a:r>
          </a:p>
        </p:txBody>
      </p:sp>
      <p:sp>
        <p:nvSpPr>
          <p:cNvPr id="8" name="Bocadillo: rectángulo 7">
            <a:extLst>
              <a:ext uri="{FF2B5EF4-FFF2-40B4-BE49-F238E27FC236}">
                <a16:creationId xmlns:a16="http://schemas.microsoft.com/office/drawing/2014/main" id="{CC3EFC8B-4866-47B0-8DBE-AD8941B03EBD}"/>
              </a:ext>
            </a:extLst>
          </p:cNvPr>
          <p:cNvSpPr/>
          <p:nvPr/>
        </p:nvSpPr>
        <p:spPr>
          <a:xfrm>
            <a:off x="5364743" y="831439"/>
            <a:ext cx="2123857" cy="794612"/>
          </a:xfrm>
          <a:prstGeom prst="wedgeRectCallout">
            <a:avLst>
              <a:gd name="adj1" fmla="val 52214"/>
              <a:gd name="adj2" fmla="val 90351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  <a:defRPr/>
            </a:pPr>
            <a:r>
              <a:rPr lang="es-ES" sz="1150">
                <a:latin typeface="+mj-lt"/>
              </a:rPr>
              <a:t>La agenda es dinámica y la temática tratada depende del momento del mes en que se lleve a cabo la sesión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C09E63A1-CE6A-4ABB-8603-8331DBBE3923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1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78ACFD5-931B-419D-831E-65DE85233F6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58A0DF0C-A93D-4B34-B1B3-C2AE5EBCA3ED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49F68742-2F48-4E47-8ECB-DA16CD8C906F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27960E6-93F8-417F-9778-5B98FFF3D83D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29463731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8BC8A5B9-1BAF-4B57-BC2A-5FE48F02DBD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76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C9F874C7-E4EA-442F-8FE3-75778E5029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Innovación (Proyectos)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600"/>
              </a:spcBef>
              <a:buClr>
                <a:schemeClr val="tx1"/>
              </a:buClr>
              <a:buNone/>
              <a:defRPr/>
            </a:pPr>
            <a:r>
              <a:rPr lang="es-ES" sz="1400" b="1">
                <a:latin typeface="+mj-lt"/>
              </a:rPr>
              <a:t>Iniciativas y Proyectos a proponer en JD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Estructurar la propuesta de estrategia digital y orden de prioridades</a:t>
            </a:r>
          </a:p>
          <a:p>
            <a:pPr marL="0" indent="0">
              <a:spcBef>
                <a:spcPts val="600"/>
              </a:spcBef>
              <a:buClr>
                <a:schemeClr val="tx1"/>
              </a:buClr>
              <a:buNone/>
              <a:defRPr/>
            </a:pPr>
            <a:r>
              <a:rPr lang="es-ES" sz="1400" b="1">
                <a:latin typeface="+mj-lt"/>
              </a:rPr>
              <a:t>Portafolio de proyectos aprobados (</a:t>
            </a:r>
            <a:r>
              <a:rPr lang="es-ES" sz="1400" b="1" err="1">
                <a:latin typeface="+mj-lt"/>
              </a:rPr>
              <a:t>Go</a:t>
            </a:r>
            <a:r>
              <a:rPr lang="es-ES" sz="1400" b="1">
                <a:latin typeface="+mj-lt"/>
              </a:rPr>
              <a:t> de JD)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al avance y desarrollo de los proyectos – diseño UE – UI</a:t>
            </a:r>
            <a:r>
              <a:rPr lang="es-ES" sz="1400" baseline="30000">
                <a:latin typeface="+mj-lt"/>
              </a:rPr>
              <a:t>1</a:t>
            </a:r>
            <a:r>
              <a:rPr lang="es-ES" sz="1400">
                <a:latin typeface="+mj-lt"/>
              </a:rPr>
              <a:t>, seguridad, riesgos, pruebas de usuario, aspectos regulatorios relevantes, entre otros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 anchor="ctr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Innovación y </a:t>
            </a:r>
            <a:r>
              <a:rPr lang="es-ES" sz="1400" err="1">
                <a:latin typeface="+mj-lt"/>
              </a:rPr>
              <a:t>Dig</a:t>
            </a:r>
            <a:r>
              <a:rPr lang="es-ES" sz="1400">
                <a:latin typeface="+mj-lt"/>
              </a:rPr>
              <a:t>.–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</a:t>
            </a: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Comercial y de Servicio</a:t>
            </a: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Tecnología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Riesgo – Por demanda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Estructurar la propuesta de estrategia digital y orden de priorización – se eleva a comité de Presidencia y Comité Estrategia JD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y discusión de los casos de negocio de las iniciativas digitales y de innovación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Coordinación de las diferentes áreas del Banco para el desarrollo de las gestiones asociadas a los proyectos aprobados por el comité – definir recursos necesarios internos y externos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Seguimiento al avance (ejecución) de las iniciativas/proyectos digitales que conforman el portafolio estratégico de la organización – proyectos – diseño UE – UI</a:t>
            </a:r>
            <a:r>
              <a:rPr lang="es-ES" sz="1400" baseline="30000">
                <a:latin typeface="+mj-lt"/>
              </a:rPr>
              <a:t>1</a:t>
            </a:r>
            <a:r>
              <a:rPr lang="es-ES" sz="1400">
                <a:latin typeface="+mj-lt"/>
              </a:rPr>
              <a:t>, seguridad, riesgos, pruebas de usuario, aspectos regulatorios relevantes, entre otros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Temas relevantes o asuntos críticos que deban ser elevados a la alta gerencia</a:t>
            </a:r>
          </a:p>
        </p:txBody>
      </p:sp>
      <p:sp>
        <p:nvSpPr>
          <p:cNvPr id="21" name="Marcador de pie de página 3">
            <a:extLst>
              <a:ext uri="{FF2B5EF4-FFF2-40B4-BE49-F238E27FC236}">
                <a16:creationId xmlns:a16="http://schemas.microsoft.com/office/drawing/2014/main" id="{EC0A1F66-4CBE-4492-9885-94B38D4859B0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Notas: (1) UE - Experiencia de Usuario, UI – Interfaz de usuario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DE5B78AE-4D7B-4A56-A442-248D1B302BD1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E27356B1-2224-437E-8E07-EE0222182270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593425B-87A3-49DA-AAC7-AC538E33BF42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9183BCE9-719B-4E61-8C13-DEAE23C8B546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3A3CAF44-CEFE-4709-A474-307CD8D75110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7A12505-B360-41CC-A88A-BD2307F1E77B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44452249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D84FE47C-5B85-4B49-BBE9-E85FE36BBDD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77</a:t>
            </a:fld>
            <a:endParaRPr lang="es-ES_tradnl"/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21D1A3B-B2E0-41C8-8F4A-6A43C27AD0F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Producto Integral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Quincenal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integral a los </a:t>
            </a:r>
            <a:r>
              <a:rPr lang="es-ES" sz="1400" err="1">
                <a:latin typeface="+mj-lt"/>
              </a:rPr>
              <a:t>KPI´s</a:t>
            </a:r>
            <a:r>
              <a:rPr lang="es-ES" sz="1400">
                <a:latin typeface="+mj-lt"/>
              </a:rPr>
              <a:t> relevantes por producto – comercial, financiero, operativo y de riesgo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altLang="es-ES_tradnl" sz="1400">
                <a:latin typeface="+mj-lt"/>
              </a:rPr>
              <a:t>Revisar asuntos críticos y/o relevantes – Ej. Alianzas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Definir acciones correctivas y de mejora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Producto – líder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Gerentes Regionales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 err="1">
                <a:latin typeface="+mj-lt"/>
              </a:rPr>
              <a:t>Gte</a:t>
            </a:r>
            <a:r>
              <a:rPr lang="es-ES" sz="1400">
                <a:latin typeface="+mj-lt"/>
              </a:rPr>
              <a:t>. Alianzas y Créditos de Consumo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Mercadeo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Gerencia Cobranza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Dirección Fábrica de Crédito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Dirección SAC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Jefe Riesgo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CO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los </a:t>
            </a:r>
            <a:r>
              <a:rPr lang="es-ES" sz="1400" err="1">
                <a:latin typeface="+mj-lt"/>
              </a:rPr>
              <a:t>KPIs</a:t>
            </a:r>
            <a:r>
              <a:rPr lang="es-ES" sz="1400">
                <a:latin typeface="+mj-lt"/>
              </a:rPr>
              <a:t> relevantes por área – c</a:t>
            </a: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omercial, servicio</a:t>
            </a:r>
            <a:r>
              <a:rPr lang="es-ES" sz="1400">
                <a:latin typeface="+mj-lt"/>
              </a:rPr>
              <a:t>, innovación y producto, operaciones, riesgos, cobranza y fábrica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Profundización en desviaciones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Formulación de acciones para corregir resultado y asignación de responsables</a:t>
            </a: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4B036672-8E3C-4CDB-9126-85970E6C5A1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8" name="Bocadillo: rectángulo 7">
            <a:extLst>
              <a:ext uri="{FF2B5EF4-FFF2-40B4-BE49-F238E27FC236}">
                <a16:creationId xmlns:a16="http://schemas.microsoft.com/office/drawing/2014/main" id="{5F5C1397-717B-47DD-BF35-2277F64314E4}"/>
              </a:ext>
            </a:extLst>
          </p:cNvPr>
          <p:cNvSpPr/>
          <p:nvPr/>
        </p:nvSpPr>
        <p:spPr>
          <a:xfrm>
            <a:off x="7415567" y="5052599"/>
            <a:ext cx="4219709" cy="1182963"/>
          </a:xfrm>
          <a:prstGeom prst="wedgeRectCallout">
            <a:avLst>
              <a:gd name="adj1" fmla="val 37983"/>
              <a:gd name="adj2" fmla="val -69272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Se realizarán sesiones para las siguientes categorías: </a:t>
            </a:r>
          </a:p>
          <a:p>
            <a:pPr marL="171450" indent="-171450" algn="l">
              <a:lnSpc>
                <a:spcPct val="90000"/>
              </a:lnSpc>
              <a:spcBef>
                <a:spcPts val="30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Captación - ahorro/cuenta corriente/CDT</a:t>
            </a:r>
          </a:p>
          <a:p>
            <a:pPr marL="171450" indent="-171450" algn="l">
              <a:lnSpc>
                <a:spcPct val="90000"/>
              </a:lnSpc>
              <a:spcBef>
                <a:spcPts val="30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Libranzas - inicialmente no es necesario separarlo en digital y tradicional</a:t>
            </a:r>
          </a:p>
          <a:p>
            <a:pPr marL="171450" indent="-171450" algn="l">
              <a:lnSpc>
                <a:spcPct val="90000"/>
              </a:lnSpc>
              <a:spcBef>
                <a:spcPts val="30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Microcrédito</a:t>
            </a:r>
          </a:p>
          <a:p>
            <a:pPr marL="171450" indent="-171450" algn="l">
              <a:lnSpc>
                <a:spcPct val="90000"/>
              </a:lnSpc>
              <a:spcBef>
                <a:spcPts val="300"/>
              </a:spcBef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Crédito con aliados – Tigo, Tarjetas, Pólizas, Otros</a:t>
            </a:r>
            <a:endParaRPr lang="es-CO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F07FB8F-CE90-497B-A17B-BD9A3FB61229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903AAC2B-68A5-49F6-B4DB-2C6E1F58786B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11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A62DDD8-D2FD-41C3-BA44-EC46B19FF85A}"/>
              </a:ext>
            </a:extLst>
          </p:cNvPr>
          <p:cNvSpPr/>
          <p:nvPr/>
        </p:nvSpPr>
        <p:spPr>
          <a:xfrm rot="10800000">
            <a:off x="9032330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1998D4A2-5379-4B8C-B6B0-841F04A23DAB}"/>
              </a:ext>
            </a:extLst>
          </p:cNvPr>
          <p:cNvSpPr/>
          <p:nvPr/>
        </p:nvSpPr>
        <p:spPr>
          <a:xfrm>
            <a:off x="8150263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A8FFA85F-7D09-4F56-BFB9-5318B52D0782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F9153016-F678-4CDB-99EC-B6C9E26DA134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B5F35C42-7780-4081-9B33-E89087F8E870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410004371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7BD038A7-45CC-4AC8-B6A1-50ABE0C28F1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498328E-63BE-9341-ACB2-52541FC4565E}" type="slidenum">
              <a:rPr lang="es-ES_tradnl" smtClean="0"/>
              <a:pPr/>
              <a:t>78</a:t>
            </a:fld>
            <a:endParaRPr lang="es-ES_tradnl"/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52FAF22F-F046-4581-A294-E150336713F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Comercial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Definición y seguimiento de las estrategias comerciales por producto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del desempeño comercial del negocio –  visión por producto y canal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al status de la relación con terceros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</a:t>
            </a: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Comercial y de Servicio – Líder canales Trad.</a:t>
            </a:r>
            <a:endParaRPr lang="es-ES" sz="1400">
              <a:latin typeface="+mj-lt"/>
            </a:endParaRP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 Innovación y Digitalización – Líder canales </a:t>
            </a:r>
            <a:r>
              <a:rPr lang="es-ES" sz="1400" err="1">
                <a:latin typeface="+mj-lt"/>
              </a:rPr>
              <a:t>Dig</a:t>
            </a:r>
            <a:r>
              <a:rPr lang="es-ES" sz="1400">
                <a:latin typeface="+mj-lt"/>
              </a:rPr>
              <a:t>.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Riesgos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Gerentes de Producto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 err="1">
                <a:latin typeface="+mj-lt"/>
              </a:rPr>
              <a:t>Gte</a:t>
            </a:r>
            <a:r>
              <a:rPr lang="es-ES" sz="1400">
                <a:latin typeface="+mj-lt"/>
              </a:rPr>
              <a:t>. Alianzas y Créditos de Consumo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indicadores clave de desempeño del negocio consolidado y por producto – desembolsos, tasas, productividad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al status de la relación con terceros – aliados, pagadurías, distribuidores, otros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Revisar, evaluar y ajustar las estrategias comerciales por producto </a:t>
            </a:r>
          </a:p>
          <a:p>
            <a:pPr marL="263525" lvl="1" indent="-263525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Discusión de asuntos críticos – definición de planes de acción y asignación de responsables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99757D8-085D-47E2-8EFE-6DE0147AF9E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619D64E-AFAA-42C1-9BC6-A1850F5E8498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24025CCF-2E12-4705-836F-AEBC9C32E6E4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4C77C6DB-9F58-4DB2-AC6F-353974B52609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55C103F2-A3B0-4C6E-B2D2-72D1B1911CC2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AE1AE2D-30E8-4B20-A9E3-956ED8AEA322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81649712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7BD038A7-45CC-4AC8-B6A1-50ABE0C28F1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498328E-63BE-9341-ACB2-52541FC4565E}" type="slidenum">
              <a:rPr lang="es-ES_tradnl" smtClean="0"/>
              <a:pPr/>
              <a:t>79</a:t>
            </a:fld>
            <a:endParaRPr lang="es-ES_tradnl"/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52FAF22F-F046-4581-A294-E150336713F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SAC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Trimestral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la gestión integral del modelo de atención al consumidor financiero  contemplando variables de impacto, regulatoria y normativas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Presidencia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Comercial y de Servicio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Jurídico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Riesgos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Auditoria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SAC - Líder 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Definición  de indicadores claves del negocio asociados a servicio que requieren intervención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Seguimiento de compromisos para gestión de cara a los procesos normativos enmarcados en el SAC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Presentación de hallazgos de planes de auditoria conforme cronograma definido para disminución de brechas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Gestión de hallazgos de revisoría  según cronograma para  definición de plan de trabajo con las áreas requeridas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requerimientos entes de control para definición de alcance y participantes para dar respuesta en los términos definidos por entes de control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99757D8-085D-47E2-8EFE-6DE0147AF9E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Notas: (1) Sesiona para BCF e</a:t>
            </a:r>
            <a:r>
              <a:rPr lang="es-ES"/>
              <a:t>n cumplimiento de la Circular Externa 015 2010 “Sistema de Atención al Consumidor Financiero” </a:t>
            </a:r>
            <a:endParaRPr lang="es-ES_tradnl"/>
          </a:p>
          <a:p>
            <a:r>
              <a:rPr lang="es-ES_tradnl"/>
              <a:t>Fuente: Análisis Oval</a:t>
            </a:r>
          </a:p>
        </p:txBody>
      </p:sp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199329F-B837-4B64-B3A1-7123FB09996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5CB4DA54-5CD6-4F6C-BD78-74F2D1D59728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FED5DC6C-C013-465B-9EE5-2A50BFD3993C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B2EE1552-0D0E-4FD8-98AD-5095CBEDCBA6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9E550F8-873D-4883-8651-B5C36A16C0CD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20344718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7BD038A7-45CC-4AC8-B6A1-50ABE0C28F1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498328E-63BE-9341-ACB2-52541FC4565E}" type="slidenum">
              <a:rPr lang="es-ES_tradnl" smtClean="0"/>
              <a:pPr/>
              <a:t>80</a:t>
            </a:fld>
            <a:endParaRPr lang="es-ES_tradnl"/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52FAF22F-F046-4581-A294-E150336713F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de Convenios – Libranza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Quincenal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principales indicadores de las pagadurías y revisión y aprobación de convenios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Vicepresidente de Riesgos – Por demanda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Gerencia de Operaciones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Operaciones Libranza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Producto Libranza – líder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Jefe Gestión Convenios 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Cobranzas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Jefe de Riesgos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del estado de las pagadurías, bloqueo y desbloqueo de pagadurías, nuevos convenios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y aprobación de nuevos convenios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99757D8-085D-47E2-8EFE-6DE0147AF9E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Notas: (1) Sesiona para BCF e</a:t>
            </a:r>
            <a:r>
              <a:rPr lang="es-ES"/>
              <a:t>n cumplimiento de la Circular Externa 015 2010 “Sistema de Atención al Consumidor Financiero” </a:t>
            </a:r>
            <a:endParaRPr lang="es-ES_tradnl"/>
          </a:p>
          <a:p>
            <a:r>
              <a:rPr lang="es-ES_tradnl"/>
              <a:t>Fuente: Análisis Oval</a:t>
            </a:r>
          </a:p>
        </p:txBody>
      </p:sp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1DDA91D-AD20-4B78-BBA0-3CD6D04178D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AC6EE619-9D52-460D-AFB9-CEE148594906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5CC4B380-C116-4B05-897F-7F91F720D116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5B893676-C6FE-4CF5-A7D5-1B75CB666857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B5DD1D9-56B1-4D9C-A046-6DA927294D6C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03745519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24D05759-DEA4-48A2-9FF1-43D5A2B8C4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81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28146368-0279-42C9-A78E-DED08292F80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Cartera y Cobranza 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Presentar los resultados de cartera de cada uno de los productos de las dos entidades del mes inmediatamente anterior</a:t>
            </a:r>
          </a:p>
          <a:p>
            <a:pPr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los análisis y propuestas de riesgos sobre las cosechas y cartera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Riesgo – líder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</a:t>
            </a: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Comercial y de Servicio</a:t>
            </a:r>
            <a:endParaRPr lang="es-ES" sz="1400">
              <a:latin typeface="+mj-lt"/>
            </a:endParaRP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Financiación Estructurada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Tecnología – por demanda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Cobranzas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Gerentes Producto</a:t>
            </a:r>
          </a:p>
          <a:p>
            <a:pPr>
              <a:spcBef>
                <a:spcPts val="4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Cobranzas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los resultados del cierre de cartera del mes anterior para cada uno de los productos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Toma de decisiones y definición de acciones para la ejecución de las propuestas de riesgos sobre las cosechas y cartera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C2465A53-24B5-4A5C-85A1-7B43D628BE6D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7D8A9EE-97A1-4EA8-AE0D-7F1B07486C5E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06BC66-0CCB-4F4B-88EA-EA2B2F3909CF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6DA5DEA8-D948-4173-8465-9E4560B907EE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78FE3B44-057F-42CC-8609-5D176F81CF3D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EDF9296-A7D7-4939-BB73-60574851DB75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84570379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EC798896-FA9B-439B-AE5F-7428AFF0D5D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82</a:t>
            </a:fld>
            <a:endParaRPr lang="es-ES_tradnl"/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2DC53999-90D3-4857-AE6C-03D33BB0A79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Riesgo Operativo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 la gestión llevada a cabo sobre el Sistema de Administración de Riesgo Operativo y Seguridad del negocio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de Riesgo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Riesgo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Riesgo Operativo y Seguridad Bancaria – líder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 err="1">
                <a:latin typeface="+mj-lt"/>
              </a:rPr>
              <a:t>ReProponer</a:t>
            </a:r>
            <a:r>
              <a:rPr lang="es-ES" sz="1400">
                <a:latin typeface="+mj-lt"/>
              </a:rPr>
              <a:t> a la Junta Directiva las políticas y procedimientos de gestión de riesgo operativo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 la visar y evaluar la integridad y la adecuación de la función de gestión de riesgos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los límites de riesgos y los informes sobre riesgos y definir acciones y responsables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 la estrategia y las políticas generales de riesgos y el establecimiento de límites por tipos de riesgo y de negocio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 los sistemas y herramientas de control de riesgos</a:t>
            </a: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8DAAE95-5FAF-45EA-9EFC-4CC2FC06E920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19" name="Bocadillo: rectángulo 18">
            <a:extLst>
              <a:ext uri="{FF2B5EF4-FFF2-40B4-BE49-F238E27FC236}">
                <a16:creationId xmlns:a16="http://schemas.microsoft.com/office/drawing/2014/main" id="{43031D03-1D7D-4065-B84F-3F1D0653435C}"/>
              </a:ext>
            </a:extLst>
          </p:cNvPr>
          <p:cNvSpPr/>
          <p:nvPr/>
        </p:nvSpPr>
        <p:spPr>
          <a:xfrm>
            <a:off x="472856" y="748823"/>
            <a:ext cx="2711668" cy="680080"/>
          </a:xfrm>
          <a:prstGeom prst="wedgeRectCallout">
            <a:avLst>
              <a:gd name="adj1" fmla="val 38962"/>
              <a:gd name="adj2" fmla="val 92673"/>
            </a:avLst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spcBef>
                <a:spcPts val="0"/>
              </a:spcBef>
              <a:spcAft>
                <a:spcPts val="200"/>
              </a:spcAft>
              <a:buClr>
                <a:schemeClr val="tx1"/>
              </a:buClr>
              <a:buNone/>
              <a:defRPr/>
            </a:pPr>
            <a:r>
              <a:rPr lang="es-ES" sz="1150">
                <a:latin typeface="+mj-lt"/>
              </a:rPr>
              <a:t>Se propone incluir en la agenda al BCF – actualmente en esta sesión solo se revisan temas de CV</a:t>
            </a:r>
          </a:p>
        </p:txBody>
      </p:sp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F01633A-6A71-4BF5-B444-41A9806AB67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2E1A14B8-7120-4E3C-A931-554165B36D59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8A1D6E59-9E10-4782-8CDA-9665739CABA2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12417D74-43E3-4B89-BB9A-CE32D33A776A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1C1FE67-EB14-490E-A1D7-26DE06E94A5F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402601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C271EE3-AD97-4ACC-82A1-C40193E6DF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83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96E92136-36A9-4414-929A-01084781C0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Operaciones &amp; TI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Discutir y evaluar oportunidades de mejora en los modelos operativo y tecnológico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Solucionar asuntos críticos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Tecnología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 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Gerentes de Producto – por demanda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Discutir y evaluar oportunidades de mejora en los modelos operativo y tecnológico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Revisar y evaluar los impactos a nivel de operaciones y tecnología de los cambios o ajustes en la gestión operativa de los productos – definir planes de acción y responsables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Solucionar asuntos críticos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F8075870-77E4-4B3F-B5E7-C2F8CCB44CF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668C812-CD91-4FD0-B3B1-0FC66784E188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F12F7FC4-2A1A-4D1C-A104-176D27B48F75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066F8359-9481-4218-B1A4-5F17E40595C1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4B0E6EF4-BF74-4FA0-9A0D-D7D6AAD32166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CFC7D8A-7731-42B6-8F72-9214F35DBFF7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58408208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9577BAB8-2E66-4722-A518-B4A24DAABE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84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1B07B87A-315A-4A23-88F1-095193C9E30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Gestión del Talento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Realizar seguimiento al plan de gestión del talento y desarrollo organizacional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del desempeño reciente del área – </a:t>
            </a:r>
            <a:r>
              <a:rPr lang="es-ES" sz="1400" err="1">
                <a:latin typeface="+mj-lt"/>
              </a:rPr>
              <a:t>KPIs</a:t>
            </a:r>
            <a:r>
              <a:rPr lang="es-ES" sz="1400">
                <a:latin typeface="+mj-lt"/>
              </a:rPr>
              <a:t> relevantes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Presidencia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</a:t>
            </a:r>
          </a:p>
          <a:p>
            <a:pPr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Gerencia Gestión del Talento – líder</a:t>
            </a:r>
            <a:endParaRPr lang="es-CO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del desempeño reciente e indicadores clave – clima, rotación, compensación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Toma de decisiones en torno a: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200">
                <a:latin typeface="+mj-lt"/>
              </a:rPr>
              <a:t>Costos – política de compensación, incrementos salariales, promociones de cargo, auxilios educativos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200">
                <a:latin typeface="+mj-lt"/>
              </a:rPr>
              <a:t>Cesiones de contrato y/o sustituciones patronales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200">
                <a:latin typeface="+mj-lt"/>
              </a:rPr>
              <a:t>Modificaciones a la estructura organizacional 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Courier New" panose="02070309020205020404" pitchFamily="49" charset="0"/>
              <a:buChar char="−"/>
              <a:defRPr/>
            </a:pPr>
            <a:r>
              <a:rPr lang="es-ES" sz="1200">
                <a:latin typeface="+mj-lt"/>
              </a:rPr>
              <a:t>Retiro de cargos estratégicos</a:t>
            </a:r>
          </a:p>
          <a:p>
            <a:pPr marL="263525" lvl="1" indent="-263525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Discusión de asuntos críticos – definición de planes de acción y asignación de responsables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1253320A-4341-46C9-8B80-CAA45A97E93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2F9AEB23-027F-4D17-BABF-EFFB8C4912FA}"/>
              </a:ext>
            </a:extLst>
          </p:cNvPr>
          <p:cNvSpPr txBox="1"/>
          <p:nvPr/>
        </p:nvSpPr>
        <p:spPr>
          <a:xfrm>
            <a:off x="9718041" y="6471687"/>
            <a:ext cx="1370349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0EB124FB-E566-4B72-BF83-54D861B8C717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C50DDC2-1F96-4919-A54F-74FE69EF870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E9E9DB7D-ECDC-4A16-9FAC-2285B493CB9A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4D7CF7AF-1DFF-4260-9B35-FFA541F69D18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8B40B89-6B18-4AD0-84FE-C38912297E61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93062101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1522985-2CEC-4313-8DD8-B0B2351BC51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85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9D50BF7B-B279-4737-9552-A3FB46C89D8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Financiero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Semanal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Establecer y monitorear los recursos de la compañía de acuerdo a los planes estratégicos y financieros, revisión flujo de caja, margen financiero, tasas 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 – Líder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Financiación Estructurada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Planeación Financiera y Control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Tesorería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Contabilidad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CO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Definir y aprobar las políticas de gestión financiera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Aprobar el presupuesto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Dar seguimiento a la ejecución presupuestal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Controlar el estado de liquidez de la compañía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Monitorear la estructura de fondeo de la compañía</a:t>
            </a:r>
          </a:p>
          <a:p>
            <a:pPr marL="263525" lvl="1" indent="-263525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Discusión de asuntos críticos – definición de planes de acción y asignación de responsables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F879DF82-F397-439F-925B-FE3683EE8164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7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BAD870E-B78C-4151-95F1-C28FB13E1516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FD833C20-FBEC-407D-953E-F24DAD6145CE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D7E47176-82E6-4F3A-AB0E-831FA4D2EB29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F0F25890-BC67-4196-99A5-53B1F6B0A829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DF78FCA-B8E6-42E8-848E-C7144173BA1C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82763269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29E0199D-E293-4307-9953-1812EA5D04C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86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27191831-1E00-47A9-BCDA-6AE903A115C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Económico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altLang="es-ES_tradnl" sz="1400">
                <a:latin typeface="+mj-lt"/>
              </a:rPr>
              <a:t>Revisión de Resultados P&amp;G mensual por compañía y por producto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altLang="es-ES_tradnl" sz="1400">
                <a:latin typeface="+mj-lt"/>
              </a:rPr>
              <a:t>Definición y seguimiento de palancas de rentabilización clave de los productos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altLang="es-ES_tradnl" sz="1400">
                <a:latin typeface="+mj-lt"/>
              </a:rPr>
              <a:t>Control presupuestal</a:t>
            </a:r>
            <a:endParaRPr lang="es-ES" sz="1400">
              <a:latin typeface="+mj-lt"/>
            </a:endParaRP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 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Comercial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Gerentes de Producto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de Contabilidad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Planeación Financiera y Control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Dir. Rentabilización y Costos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CO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Resultados P&amp;G mensual por compañía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de Resultados P&amp;G mensual por producto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Definición y seguimiento de palancas de rentabilización clave de los productos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Control presupuestal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2078589C-98CB-403F-85F7-8DCA91265BB9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8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909DC89-C95D-4D8C-892C-2761AD9144CD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4FCD72F3-B924-452E-9E22-1B7552DF2AFA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14D263FB-ED35-4F34-8C21-CAA3BD44703D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915A6D6C-95A8-4645-A6AD-EE01F956D4E0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3E0D5E4-8CD9-442D-9662-2413A53FB7F5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14247232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C271EE3-AD97-4ACC-82A1-C40193E6DF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87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96E92136-36A9-4414-929A-01084781C0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Control de Gastos y Eficiencias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Monitorear la ejecución de gastos y avances del plan de ahorros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Evaluar la ejecución presupuestal de la compañía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Discutir y aprobar las iniciativas del plan de ahorros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 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Gerencia Gestión del Talento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Planeación Financiera y Control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Dir. Rentabilización y Costos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Dirección Administrativa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Revisión de los gastos y presupuesto – personal, administrativos, otros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CO" sz="1400">
                <a:latin typeface="+mj-lt"/>
              </a:rPr>
              <a:t>Revisión de avances en la ejecución del plan de ahorros</a:t>
            </a:r>
          </a:p>
          <a:p>
            <a:pPr marL="263525" lvl="1" indent="-263525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Discusión de asuntos críticos – definición de planes de acción y asignación de responsables</a:t>
            </a:r>
          </a:p>
          <a:p>
            <a:pPr lvl="1"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F8075870-77E4-4B3F-B5E7-C2F8CCB44CF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CF0B9B3A-2302-4376-9C76-6CA118B613EC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30050588-86FB-448D-A153-1D034B0E1B33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C8567A72-6546-4D23-8C49-539D9F418DE1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02447F5C-5599-42CA-867E-370250876E53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D02033B-30F3-4722-B4A2-60E76FF2FEFB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59501062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C271EE3-AD97-4ACC-82A1-C40193E6DF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88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96E92136-36A9-4414-929A-01084781C0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ALCO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Gestión estructural de los activos, pasivos y posiciones fuera de balance de BCF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Estimación y control del grado de exposición a los principales riesgos de mercado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 – líder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Riesgos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Planeación Fin y Con.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Riesgo 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Director de Tesorería</a:t>
            </a:r>
            <a:endParaRPr lang="es-CO" sz="1400">
              <a:latin typeface="+mj-lt"/>
            </a:endParaRP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Apoyar y asesorar a la Junta Directiva y a la Presidencia en la definición de políticas y estrategias de mejoramiento sobre los diversos procesos de administración de tasas, posición de activos y pasivos, riesgos de mercado y liquidez, para su seguimiento y control periódico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Revisión y establecimiento de las tasas de interés activas y pasivas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Analizar y aprobar las propuestas de nuevos productos y negocios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Analizar y aprobar estrategias de mercado propuestas para las distintas variables de mercado y su impacto en los resultados de la entidad</a:t>
            </a:r>
            <a:endParaRPr lang="es-ES" sz="1200">
              <a:latin typeface="+mj-lt"/>
            </a:endParaRP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F8075870-77E4-4B3F-B5E7-C2F8CCB44CF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B5DDE496-1825-4A85-8F9C-208EE1589903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25420C6F-3CE4-41CB-BB12-BB3A5E3E3277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25EA19E5-DABD-450D-81FE-40428C4CF82E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FF976B90-3114-40A8-B5B7-AC3DEE89C2D0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AEF36CDE-F605-4DE3-8F3E-4DB553A20F33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83205476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C271EE3-AD97-4ACC-82A1-C40193E6DF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s-CO"/>
          </a:p>
        </p:txBody>
      </p:sp>
      <p:sp>
        <p:nvSpPr>
          <p:cNvPr id="2" name="1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smtClean="0"/>
              <a:pPr>
                <a:defRPr/>
              </a:pPr>
              <a:t>89</a:t>
            </a:fld>
            <a:endParaRPr lang="es-ES_tradn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96E92136-36A9-4414-929A-01084781C03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Comité Compras</a:t>
            </a:r>
          </a:p>
        </p:txBody>
      </p:sp>
      <p:sp>
        <p:nvSpPr>
          <p:cNvPr id="965637" name="Rectangle 5"/>
          <p:cNvSpPr>
            <a:spLocks noChangeArrowheads="1"/>
          </p:cNvSpPr>
          <p:nvPr/>
        </p:nvSpPr>
        <p:spPr bwMode="auto">
          <a:xfrm>
            <a:off x="473007" y="1745867"/>
            <a:ext cx="5625123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Objetivo</a:t>
            </a:r>
          </a:p>
        </p:txBody>
      </p:sp>
      <p:sp>
        <p:nvSpPr>
          <p:cNvPr id="965639" name="Rectangle 7"/>
          <p:cNvSpPr>
            <a:spLocks noChangeArrowheads="1"/>
          </p:cNvSpPr>
          <p:nvPr/>
        </p:nvSpPr>
        <p:spPr bwMode="auto">
          <a:xfrm>
            <a:off x="6214836" y="1745867"/>
            <a:ext cx="5508416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rgbClr val="FFFFFF"/>
                </a:solidFill>
                <a:latin typeface="+mj-lt"/>
              </a:rPr>
              <a:t>Integrantes</a:t>
            </a: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8616298" y="3512916"/>
            <a:ext cx="3106954" cy="497454"/>
          </a:xfrm>
          <a:prstGeom prst="rect">
            <a:avLst/>
          </a:prstGeom>
          <a:solidFill>
            <a:schemeClr val="bg1"/>
          </a:solidFill>
          <a:ln w="6350" cmpd="sng">
            <a:solidFill>
              <a:srgbClr val="42508E"/>
            </a:solidFill>
            <a:miter lim="800000"/>
            <a:headEnd/>
            <a:tailEnd/>
          </a:ln>
          <a:effectLst/>
        </p:spPr>
        <p:txBody>
          <a:bodyPr lIns="72000" tIns="36000" rIns="72000" bIns="36000" anchor="ctr"/>
          <a:lstStyle/>
          <a:p>
            <a:pPr marL="285750" indent="-285750" algn="just">
              <a:spcBef>
                <a:spcPts val="1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 panose="020B0604020202020204" pitchFamily="34" charset="0"/>
              <a:buChar char="•"/>
            </a:pPr>
            <a:r>
              <a:rPr lang="es-CO" sz="1400">
                <a:latin typeface="+mj-lt"/>
              </a:rPr>
              <a:t>Mensual</a:t>
            </a: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472856" y="4094671"/>
            <a:ext cx="11250395" cy="324000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Alcance y Atribuciones</a:t>
            </a:r>
          </a:p>
        </p:txBody>
      </p:sp>
      <p:sp>
        <p:nvSpPr>
          <p:cNvPr id="22" name="Rectangle 5"/>
          <p:cNvSpPr>
            <a:spLocks noChangeArrowheads="1"/>
          </p:cNvSpPr>
          <p:nvPr/>
        </p:nvSpPr>
        <p:spPr bwMode="auto">
          <a:xfrm>
            <a:off x="6214836" y="3512915"/>
            <a:ext cx="2401462" cy="514187"/>
          </a:xfrm>
          <a:prstGeom prst="rect">
            <a:avLst/>
          </a:prstGeom>
          <a:solidFill>
            <a:schemeClr val="accent1"/>
          </a:solidFill>
          <a:ln w="6350" cmpd="sng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18000" tIns="10800" rIns="0" bIns="10800" anchor="ctr"/>
          <a:lstStyle/>
          <a:p>
            <a:pPr marL="88900" indent="-88900" algn="ctr">
              <a:lnSpc>
                <a:spcPct val="90000"/>
              </a:lnSpc>
              <a:spcBef>
                <a:spcPct val="5000"/>
              </a:spcBef>
            </a:pPr>
            <a:r>
              <a:rPr lang="es-CO" sz="1400" b="1">
                <a:solidFill>
                  <a:schemeClr val="bg1"/>
                </a:solidFill>
                <a:latin typeface="+mj-lt"/>
              </a:rPr>
              <a:t>Frecuencia</a:t>
            </a:r>
          </a:p>
        </p:txBody>
      </p:sp>
      <p:sp>
        <p:nvSpPr>
          <p:cNvPr id="13" name="2 Marcador de contenido"/>
          <p:cNvSpPr txBox="1">
            <a:spLocks/>
          </p:cNvSpPr>
          <p:nvPr/>
        </p:nvSpPr>
        <p:spPr>
          <a:xfrm>
            <a:off x="472857" y="2069866"/>
            <a:ext cx="5625274" cy="195723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Solicitar, analizar alternativas para la adquisición de bienes y servicios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Aprobación de solicitudes de compra y adiciones presupuestales</a:t>
            </a:r>
          </a:p>
        </p:txBody>
      </p:sp>
      <p:sp>
        <p:nvSpPr>
          <p:cNvPr id="14" name="2 Marcador de contenido"/>
          <p:cNvSpPr txBox="1">
            <a:spLocks/>
          </p:cNvSpPr>
          <p:nvPr/>
        </p:nvSpPr>
        <p:spPr>
          <a:xfrm>
            <a:off x="6214836" y="2069867"/>
            <a:ext cx="5508416" cy="1390876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 numCol="2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Presidente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Financiero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Riesgos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</a:t>
            </a:r>
            <a:r>
              <a:rPr lang="es-ES" sz="1400">
                <a:latin typeface="Arial" panose="020B0604020202020204" pitchFamily="34" charset="0"/>
                <a:cs typeface="Arial" panose="020B0604020202020204" pitchFamily="34" charset="0"/>
              </a:rPr>
              <a:t>Comercial y de Servicio</a:t>
            </a:r>
            <a:endParaRPr lang="es-ES" sz="1400">
              <a:latin typeface="+mj-lt"/>
            </a:endParaRP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Innovación y Digitalización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VP TI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Operaciones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Gerente Gestión del Talento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Dir. Administrativa – líder</a:t>
            </a:r>
          </a:p>
        </p:txBody>
      </p:sp>
      <p:sp>
        <p:nvSpPr>
          <p:cNvPr id="15" name="2 Marcador de contenido"/>
          <p:cNvSpPr txBox="1">
            <a:spLocks/>
          </p:cNvSpPr>
          <p:nvPr/>
        </p:nvSpPr>
        <p:spPr>
          <a:xfrm>
            <a:off x="473007" y="4431515"/>
            <a:ext cx="11250245" cy="1877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lIns="54000" rIns="54000">
            <a:noAutofit/>
          </a:bodyPr>
          <a:lstStyle>
            <a:lvl1pPr marL="263525" indent="-263525" algn="l" rtl="0" eaLnBrk="1" fontAlgn="base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+"/>
              <a:defRPr sz="1600" b="0" kern="120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1pPr>
            <a:lvl2pPr marL="444500" indent="-179388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Lucida Grande"/>
              <a:buChar char="−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2pPr>
            <a:lvl3pPr marL="648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3pPr>
            <a:lvl4pPr marL="864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4pPr>
            <a:lvl5pPr marL="1080000" indent="-180000" algn="l" rtl="0" eaLnBrk="1" fontAlgn="base" hangingPunct="1">
              <a:spcBef>
                <a:spcPts val="200"/>
              </a:spcBef>
              <a:spcAft>
                <a:spcPts val="0"/>
              </a:spcAft>
              <a:buClr>
                <a:schemeClr val="tx2"/>
              </a:buClr>
              <a:buSzPct val="80000"/>
              <a:buFont typeface="Arial"/>
              <a:buChar char="•"/>
              <a:defRPr sz="1500" kern="1200" baseline="0">
                <a:solidFill>
                  <a:schemeClr val="tx1"/>
                </a:solidFill>
                <a:latin typeface="Calibri"/>
                <a:ea typeface="ヒラギノ角ゴ Pro W3" charset="0"/>
                <a:cs typeface="ヒラギノ角ゴ Pro W3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Font typeface="Arial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Recomendar la selección de determinados proveedores teniendo en cuenta las especificaciones y los procesos de la organización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Orientar los procesos administrativos y técnicos relacionados con la administración de compras y contrataciones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Aprobación de solicitudes de compra y adiciones presupuestales</a:t>
            </a:r>
          </a:p>
          <a:p>
            <a:pPr>
              <a:spcBef>
                <a:spcPts val="600"/>
              </a:spcBef>
              <a:buClr>
                <a:schemeClr val="tx1"/>
              </a:buClr>
              <a:buFont typeface="Arial" panose="020B0604020202020204" pitchFamily="34" charset="0"/>
              <a:buChar char="•"/>
              <a:defRPr/>
            </a:pPr>
            <a:r>
              <a:rPr lang="es-ES" sz="1400">
                <a:latin typeface="+mj-lt"/>
              </a:rPr>
              <a:t>Verificar que se hayan cumplido las condiciones generales establecidas en el manual de contratación</a:t>
            </a:r>
          </a:p>
        </p:txBody>
      </p:sp>
      <p:sp>
        <p:nvSpPr>
          <p:cNvPr id="16" name="Marcador de pie de página 3">
            <a:extLst>
              <a:ext uri="{FF2B5EF4-FFF2-40B4-BE49-F238E27FC236}">
                <a16:creationId xmlns:a16="http://schemas.microsoft.com/office/drawing/2014/main" id="{F8075870-77E4-4B3F-B5E7-C2F8CCB44CF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BDA11AA-BD90-4D03-BB7E-00443B49AAA1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4795E58A-2633-4948-A24A-AE6AAF3ADEBB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8F8E4C11-3167-4539-A599-D51F71EEEB47}"/>
              </a:ext>
            </a:extLst>
          </p:cNvPr>
          <p:cNvSpPr txBox="1"/>
          <p:nvPr/>
        </p:nvSpPr>
        <p:spPr>
          <a:xfrm>
            <a:off x="9849874" y="1456523"/>
            <a:ext cx="1836000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Buenas Prácticas Comités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A5743217-D49F-4244-9ED4-22A787C70231}"/>
              </a:ext>
            </a:extLst>
          </p:cNvPr>
          <p:cNvSpPr/>
          <p:nvPr/>
        </p:nvSpPr>
        <p:spPr>
          <a:xfrm>
            <a:off x="9849874" y="1458633"/>
            <a:ext cx="1872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CDA41848-BD1A-4A38-9E4D-E22EEB599F65}"/>
              </a:ext>
            </a:extLst>
          </p:cNvPr>
          <p:cNvSpPr/>
          <p:nvPr/>
        </p:nvSpPr>
        <p:spPr>
          <a:xfrm>
            <a:off x="11461276" y="1498151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21281559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B584B77-44BC-412B-991F-A90D676C2D6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Buenas Prácticas de Manejo de Comités</a:t>
            </a:r>
          </a:p>
          <a:p>
            <a:r>
              <a:rPr lang="es-CO"/>
              <a:t>	</a:t>
            </a:r>
          </a:p>
        </p:txBody>
      </p:sp>
      <p:sp>
        <p:nvSpPr>
          <p:cNvPr id="7" name="Marcador de contenido 6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pPr>
              <a:spcBef>
                <a:spcPts val="0"/>
              </a:spcBef>
              <a:spcAft>
                <a:spcPts val="600"/>
              </a:spcAft>
            </a:pPr>
            <a:r>
              <a:rPr lang="es-CO" b="1">
                <a:solidFill>
                  <a:schemeClr val="accent1"/>
                </a:solidFill>
              </a:rPr>
              <a:t>Asignación de roles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Todo comité debe contar con un líder y un encargado del registro de los compromisos acordados en el acta 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El responsable de las decisiones tomadas durante el comité es el líder del mismo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s-CO" b="1">
                <a:solidFill>
                  <a:schemeClr val="accent1"/>
                </a:solidFill>
              </a:rPr>
              <a:t>Dinámica de la discusión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Al inicio de la sesión debe revisarse el cumplimiento de las tareas y compromisos pendientes de la sesión anterior 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Todas las discusiones durante la reunión deberán ser públicas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Al momento de escalar un asunto crítico, éste debe contar con una propuesta de solución para discutirla durante las reuniones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Todos los integrantes de los comités deben llegar preparados a los mismos – este es un espacio de presentación de resultados y no sesiones de trabajo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Al finalizar la sesión, el acta de compromisos se envía a los participantes con el fin de asegurar que todos se encuentren alineados en cuanto a tareas y responsabilidades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s-CO" b="1">
                <a:solidFill>
                  <a:schemeClr val="accent1"/>
                </a:solidFill>
              </a:rPr>
              <a:t>Normas de conducta</a:t>
            </a:r>
            <a:r>
              <a:rPr lang="es-CO">
                <a:solidFill>
                  <a:schemeClr val="accent1"/>
                </a:solidFill>
              </a:rPr>
              <a:t> 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Acudir puntualmente a las diferentes reuniones, con el fin de lograr cubrir la totalidad de la agenda y respetar el tiempo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Los teléfonos celulares deberán estar en silencio o en modo “vibrar” – no responder mensajes durante la sesión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En caso de tener que atender una llamada, se le solicita salir de la sala de la reunión y volver una vez la llamada haya finalizado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El uso de los computadores debe estar enfocado en consultas del tema que se está tratando – no se debe trabajar en otros temas durante la sesión</a:t>
            </a:r>
          </a:p>
          <a:p>
            <a:pPr lvl="1">
              <a:spcBef>
                <a:spcPts val="0"/>
              </a:spcBef>
              <a:spcAft>
                <a:spcPts val="600"/>
              </a:spcAft>
            </a:pPr>
            <a:r>
              <a:rPr lang="es-CO"/>
              <a:t>Evitar salidas y entradas innecesarias/frecuentes de la sala</a:t>
            </a:r>
          </a:p>
        </p:txBody>
      </p:sp>
      <p:sp>
        <p:nvSpPr>
          <p:cNvPr id="2" name="Marcador de número de diapositiva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498328E-63BE-9341-ACB2-52541FC4565E}" type="slidenum">
              <a:rPr lang="es-ES_tradnl" noProof="0" smtClean="0"/>
              <a:pPr>
                <a:defRPr/>
              </a:pPr>
              <a:t>90</a:t>
            </a:fld>
            <a:endParaRPr lang="es-ES_tradnl" noProof="0"/>
          </a:p>
        </p:txBody>
      </p:sp>
      <p:sp>
        <p:nvSpPr>
          <p:cNvPr id="8" name="Marcador de texto 7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Planteamos una serie de reglas simples que permitirán asegurar la efectividad de las reuniones</a:t>
            </a:r>
          </a:p>
        </p:txBody>
      </p:sp>
      <p:sp>
        <p:nvSpPr>
          <p:cNvPr id="10" name="Marcador de pie de página 4">
            <a:extLst>
              <a:ext uri="{FF2B5EF4-FFF2-40B4-BE49-F238E27FC236}">
                <a16:creationId xmlns:a16="http://schemas.microsoft.com/office/drawing/2014/main" id="{5A2D7687-1EDA-41C2-A8A3-C83412F6706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Oval</a:t>
            </a:r>
          </a:p>
        </p:txBody>
      </p:sp>
    </p:spTree>
    <p:extLst>
      <p:ext uri="{BB962C8B-B14F-4D97-AF65-F5344CB8AC3E}">
        <p14:creationId xmlns:p14="http://schemas.microsoft.com/office/powerpoint/2010/main" val="21783975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 b="1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226341468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Utilidad antes de impuestos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200772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79544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7954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67545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Medir los resultados financieros consolidados de la organización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569086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857086"/>
            <a:ext cx="4552406" cy="7002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Unidades de negocio, Presidencia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2532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13320"/>
            <a:ext cx="4552406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25320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13320"/>
            <a:ext cx="5347250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8199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69994"/>
            <a:ext cx="4552406" cy="103105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En la medida en que el banco tenga un mayor margen financiero y sea más eficiente en sus operaciones el indicador tendrá una tendencia a la alza</a:t>
            </a:r>
          </a:p>
          <a:p>
            <a:pPr marL="7207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531679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200772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Utilidad antes de impuestos (UAI)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531679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531679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531679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Financiero, Comité Económico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67544"/>
            <a:ext cx="5347250" cy="338974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D6AF6C4-1FE3-4017-BB5D-EAFEF0B6F22D}"/>
              </a:ext>
            </a:extLst>
          </p:cNvPr>
          <p:cNvSpPr/>
          <p:nvPr/>
        </p:nvSpPr>
        <p:spPr>
          <a:xfrm>
            <a:off x="6000577" y="3622273"/>
            <a:ext cx="1099081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UAI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1EC8F56F-508E-4ADE-BD44-63B8ED3C800C}"/>
              </a:ext>
            </a:extLst>
          </p:cNvPr>
          <p:cNvSpPr/>
          <p:nvPr/>
        </p:nvSpPr>
        <p:spPr>
          <a:xfrm>
            <a:off x="7587905" y="2860737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NIM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3B6929FC-206F-49F6-BAA5-BE75091FA2BD}"/>
              </a:ext>
            </a:extLst>
          </p:cNvPr>
          <p:cNvSpPr/>
          <p:nvPr/>
        </p:nvSpPr>
        <p:spPr>
          <a:xfrm>
            <a:off x="7587905" y="3622273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6170B4BB-0078-4B32-B6AC-81C48C546327}"/>
              </a:ext>
            </a:extLst>
          </p:cNvPr>
          <p:cNvSpPr/>
          <p:nvPr/>
        </p:nvSpPr>
        <p:spPr>
          <a:xfrm>
            <a:off x="7587904" y="4382762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Gasto</a:t>
            </a:r>
          </a:p>
        </p:txBody>
      </p:sp>
      <p:sp>
        <p:nvSpPr>
          <p:cNvPr id="50" name="Rectángulo 49">
            <a:extLst>
              <a:ext uri="{FF2B5EF4-FFF2-40B4-BE49-F238E27FC236}">
                <a16:creationId xmlns:a16="http://schemas.microsoft.com/office/drawing/2014/main" id="{4ACFD6A1-26F0-4CE8-9BCB-566146AC69F6}"/>
              </a:ext>
            </a:extLst>
          </p:cNvPr>
          <p:cNvSpPr/>
          <p:nvPr/>
        </p:nvSpPr>
        <p:spPr>
          <a:xfrm>
            <a:off x="9067614" y="2928741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Costo finan. CP</a:t>
            </a: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3DC31B06-1DB1-4B09-B8CF-4CBD35EDAB68}"/>
              </a:ext>
            </a:extLst>
          </p:cNvPr>
          <p:cNvSpPr/>
          <p:nvPr/>
        </p:nvSpPr>
        <p:spPr>
          <a:xfrm>
            <a:off x="9067614" y="2518497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(+)Cartera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0003B825-538C-4738-8BFE-8C4CB22C9B57}"/>
              </a:ext>
            </a:extLst>
          </p:cNvPr>
          <p:cNvSpPr/>
          <p:nvPr/>
        </p:nvSpPr>
        <p:spPr>
          <a:xfrm>
            <a:off x="9067614" y="2723619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(x) Tasa colocación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FC596B6A-AD71-4C4D-81F0-8916343EADF6}"/>
              </a:ext>
            </a:extLst>
          </p:cNvPr>
          <p:cNvSpPr/>
          <p:nvPr/>
        </p:nvSpPr>
        <p:spPr>
          <a:xfrm>
            <a:off x="9067614" y="3133863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Costo finan. LP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CD77EB5A-CF4C-4164-B04A-05D99BEF9864}"/>
              </a:ext>
            </a:extLst>
          </p:cNvPr>
          <p:cNvSpPr/>
          <p:nvPr/>
        </p:nvSpPr>
        <p:spPr>
          <a:xfrm>
            <a:off x="9067614" y="3338985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Provisiones</a:t>
            </a:r>
          </a:p>
        </p:txBody>
      </p:sp>
      <p:sp>
        <p:nvSpPr>
          <p:cNvPr id="59" name="Cerrar llave 58">
            <a:extLst>
              <a:ext uri="{FF2B5EF4-FFF2-40B4-BE49-F238E27FC236}">
                <a16:creationId xmlns:a16="http://schemas.microsoft.com/office/drawing/2014/main" id="{FC004299-AD4E-44CC-A2E9-AAD6FB101EF9}"/>
              </a:ext>
            </a:extLst>
          </p:cNvPr>
          <p:cNvSpPr/>
          <p:nvPr/>
        </p:nvSpPr>
        <p:spPr>
          <a:xfrm rot="10800000">
            <a:off x="8881748" y="2526360"/>
            <a:ext cx="123911" cy="1001980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F5AE3A22-859C-400C-B75A-7D548EE10028}"/>
              </a:ext>
            </a:extLst>
          </p:cNvPr>
          <p:cNvSpPr/>
          <p:nvPr/>
        </p:nvSpPr>
        <p:spPr>
          <a:xfrm>
            <a:off x="9067614" y="4242882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Gasto de venta</a:t>
            </a:r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354A0D09-4066-4FAB-930F-B25204087F60}"/>
              </a:ext>
            </a:extLst>
          </p:cNvPr>
          <p:cNvSpPr/>
          <p:nvPr/>
        </p:nvSpPr>
        <p:spPr>
          <a:xfrm>
            <a:off x="9067614" y="4453577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Gasto Operativo</a:t>
            </a:r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158B3AAF-74D6-4CC7-A462-EDF14AAB24FA}"/>
              </a:ext>
            </a:extLst>
          </p:cNvPr>
          <p:cNvSpPr/>
          <p:nvPr/>
        </p:nvSpPr>
        <p:spPr>
          <a:xfrm>
            <a:off x="9067614" y="4664272"/>
            <a:ext cx="1692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</a:t>
            </a:r>
            <a:r>
              <a:rPr lang="es-CO" sz="1300" err="1">
                <a:solidFill>
                  <a:schemeClr val="accent1"/>
                </a:solidFill>
              </a:rPr>
              <a:t>Overhead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63" name="Cerrar llave 62">
            <a:extLst>
              <a:ext uri="{FF2B5EF4-FFF2-40B4-BE49-F238E27FC236}">
                <a16:creationId xmlns:a16="http://schemas.microsoft.com/office/drawing/2014/main" id="{895AF5A5-BA47-4203-A45D-8A11CF52376C}"/>
              </a:ext>
            </a:extLst>
          </p:cNvPr>
          <p:cNvSpPr/>
          <p:nvPr/>
        </p:nvSpPr>
        <p:spPr>
          <a:xfrm rot="10800000">
            <a:off x="8920843" y="4253095"/>
            <a:ext cx="61956" cy="612000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cxnSp>
        <p:nvCxnSpPr>
          <p:cNvPr id="65" name="Conector: angular 64">
            <a:extLst>
              <a:ext uri="{FF2B5EF4-FFF2-40B4-BE49-F238E27FC236}">
                <a16:creationId xmlns:a16="http://schemas.microsoft.com/office/drawing/2014/main" id="{F3FD98C0-46FE-4606-9DFE-34AE9F0B7539}"/>
              </a:ext>
            </a:extLst>
          </p:cNvPr>
          <p:cNvCxnSpPr>
            <a:stCxn id="3" idx="3"/>
            <a:endCxn id="27" idx="1"/>
          </p:cNvCxnSpPr>
          <p:nvPr/>
        </p:nvCxnSpPr>
        <p:spPr>
          <a:xfrm flipV="1">
            <a:off x="7099658" y="3027125"/>
            <a:ext cx="488247" cy="761536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Conector: angular 66">
            <a:extLst>
              <a:ext uri="{FF2B5EF4-FFF2-40B4-BE49-F238E27FC236}">
                <a16:creationId xmlns:a16="http://schemas.microsoft.com/office/drawing/2014/main" id="{AD134C60-00A9-438E-8D03-F1EE631E8DDF}"/>
              </a:ext>
            </a:extLst>
          </p:cNvPr>
          <p:cNvCxnSpPr>
            <a:cxnSpLocks/>
            <a:stCxn id="3" idx="3"/>
            <a:endCxn id="29" idx="1"/>
          </p:cNvCxnSpPr>
          <p:nvPr/>
        </p:nvCxnSpPr>
        <p:spPr>
          <a:xfrm>
            <a:off x="7099658" y="3788661"/>
            <a:ext cx="488246" cy="76048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2" name="Conector recto 71">
            <a:extLst>
              <a:ext uri="{FF2B5EF4-FFF2-40B4-BE49-F238E27FC236}">
                <a16:creationId xmlns:a16="http://schemas.microsoft.com/office/drawing/2014/main" id="{F5903043-F72A-4973-BE86-9553F3662023}"/>
              </a:ext>
            </a:extLst>
          </p:cNvPr>
          <p:cNvCxnSpPr>
            <a:stCxn id="3" idx="3"/>
            <a:endCxn id="28" idx="1"/>
          </p:cNvCxnSpPr>
          <p:nvPr/>
        </p:nvCxnSpPr>
        <p:spPr>
          <a:xfrm>
            <a:off x="7099658" y="3788661"/>
            <a:ext cx="488247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4" name="Signo más 73">
            <a:extLst>
              <a:ext uri="{FF2B5EF4-FFF2-40B4-BE49-F238E27FC236}">
                <a16:creationId xmlns:a16="http://schemas.microsoft.com/office/drawing/2014/main" id="{4F4B57EC-84D6-4778-B02E-587E2A115053}"/>
              </a:ext>
            </a:extLst>
          </p:cNvPr>
          <p:cNvSpPr/>
          <p:nvPr/>
        </p:nvSpPr>
        <p:spPr>
          <a:xfrm>
            <a:off x="7995480" y="3241962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5" name="Signo menos 74">
            <a:extLst>
              <a:ext uri="{FF2B5EF4-FFF2-40B4-BE49-F238E27FC236}">
                <a16:creationId xmlns:a16="http://schemas.microsoft.com/office/drawing/2014/main" id="{09FE4630-8D0A-4410-AC73-E68485E4C856}"/>
              </a:ext>
            </a:extLst>
          </p:cNvPr>
          <p:cNvSpPr/>
          <p:nvPr/>
        </p:nvSpPr>
        <p:spPr>
          <a:xfrm>
            <a:off x="7995411" y="4124090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534002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estratégico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estratégico de la organización,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Presidencia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estratégico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Estrategia JD, Comité de Presidencia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325598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Total de hitos del plan estratégico</a:t>
            </a: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568657"/>
            <a:ext cx="146964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del plan estratégico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805436" y="3180103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50261" y="312931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435988"/>
            <a:ext cx="429356" cy="42282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58816"/>
            <a:ext cx="429356" cy="40149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Rectángulo 2">
            <a:extLst>
              <a:ext uri="{FF2B5EF4-FFF2-40B4-BE49-F238E27FC236}">
                <a16:creationId xmlns:a16="http://schemas.microsoft.com/office/drawing/2014/main" id="{B2B08E04-899B-4C26-9B1F-6D2BC8F84B1F}"/>
              </a:ext>
            </a:extLst>
          </p:cNvPr>
          <p:cNvSpPr/>
          <p:nvPr/>
        </p:nvSpPr>
        <p:spPr>
          <a:xfrm>
            <a:off x="9623413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3BA7771-F297-402D-8AE5-DA51BB74C525}"/>
              </a:ext>
            </a:extLst>
          </p:cNvPr>
          <p:cNvSpPr/>
          <p:nvPr/>
        </p:nvSpPr>
        <p:spPr>
          <a:xfrm rot="10800000">
            <a:off x="1083346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79688244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Margen de intermediación</a:t>
            </a:r>
          </a:p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Rentabilidad sobre los activos (ROA)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200772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79544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7954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67545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la eficiencia en el uso de los activos para la generación de utilidades 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2019: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0.85%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2020: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0.92%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569086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857086"/>
            <a:ext cx="4552406" cy="7002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Presidencia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2532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13320"/>
            <a:ext cx="4552406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Anual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25320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13320"/>
            <a:ext cx="5347250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8199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69994"/>
            <a:ext cx="4552406" cy="103105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Banco tenga una mayor proporción de activos productivos rentables, el indicador tendrá una tendencia al alza</a:t>
            </a:r>
          </a:p>
          <a:p>
            <a:pPr marL="7207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531679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200772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Rentabilidad sobre los activos (ROA)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531679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531679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531679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Financiero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67544"/>
            <a:ext cx="5347250" cy="338974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D6AF6C4-1FE3-4017-BB5D-EAFEF0B6F22D}"/>
              </a:ext>
            </a:extLst>
          </p:cNvPr>
          <p:cNvSpPr/>
          <p:nvPr/>
        </p:nvSpPr>
        <p:spPr>
          <a:xfrm>
            <a:off x="7186230" y="3622273"/>
            <a:ext cx="900000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UAI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1EC8F56F-508E-4ADE-BD44-63B8ED3C800C}"/>
              </a:ext>
            </a:extLst>
          </p:cNvPr>
          <p:cNvSpPr/>
          <p:nvPr/>
        </p:nvSpPr>
        <p:spPr>
          <a:xfrm>
            <a:off x="8426984" y="2906532"/>
            <a:ext cx="900000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NIM</a:t>
            </a:r>
            <a:r>
              <a:rPr lang="es-CO" sz="1300" baseline="30000">
                <a:solidFill>
                  <a:schemeClr val="accent1"/>
                </a:solidFill>
              </a:rPr>
              <a:t>1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3B6929FC-206F-49F6-BAA5-BE75091FA2BD}"/>
              </a:ext>
            </a:extLst>
          </p:cNvPr>
          <p:cNvSpPr/>
          <p:nvPr/>
        </p:nvSpPr>
        <p:spPr>
          <a:xfrm>
            <a:off x="8426984" y="3622273"/>
            <a:ext cx="900000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6170B4BB-0078-4B32-B6AC-81C48C546327}"/>
              </a:ext>
            </a:extLst>
          </p:cNvPr>
          <p:cNvSpPr/>
          <p:nvPr/>
        </p:nvSpPr>
        <p:spPr>
          <a:xfrm>
            <a:off x="8426984" y="4382762"/>
            <a:ext cx="900000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Gasto</a:t>
            </a:r>
          </a:p>
        </p:txBody>
      </p:sp>
      <p:sp>
        <p:nvSpPr>
          <p:cNvPr id="50" name="Rectángulo 49">
            <a:extLst>
              <a:ext uri="{FF2B5EF4-FFF2-40B4-BE49-F238E27FC236}">
                <a16:creationId xmlns:a16="http://schemas.microsoft.com/office/drawing/2014/main" id="{4ACFD6A1-26F0-4CE8-9BCB-566146AC69F6}"/>
              </a:ext>
            </a:extLst>
          </p:cNvPr>
          <p:cNvSpPr/>
          <p:nvPr/>
        </p:nvSpPr>
        <p:spPr>
          <a:xfrm>
            <a:off x="9667738" y="2914001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Costo finan. CP</a:t>
            </a: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3DC31B06-1DB1-4B09-B8CF-4CBD35EDAB68}"/>
              </a:ext>
            </a:extLst>
          </p:cNvPr>
          <p:cNvSpPr/>
          <p:nvPr/>
        </p:nvSpPr>
        <p:spPr>
          <a:xfrm>
            <a:off x="9667738" y="2326381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(+)Cartera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0003B825-538C-4738-8BFE-8C4CB22C9B57}"/>
              </a:ext>
            </a:extLst>
          </p:cNvPr>
          <p:cNvSpPr/>
          <p:nvPr/>
        </p:nvSpPr>
        <p:spPr>
          <a:xfrm>
            <a:off x="9667738" y="2530191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(x) Tasa colocación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FC596B6A-AD71-4C4D-81F0-8916343EADF6}"/>
              </a:ext>
            </a:extLst>
          </p:cNvPr>
          <p:cNvSpPr/>
          <p:nvPr/>
        </p:nvSpPr>
        <p:spPr>
          <a:xfrm>
            <a:off x="9667738" y="3297811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Costo finan. LP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CD77EB5A-CF4C-4164-B04A-05D99BEF9864}"/>
              </a:ext>
            </a:extLst>
          </p:cNvPr>
          <p:cNvSpPr/>
          <p:nvPr/>
        </p:nvSpPr>
        <p:spPr>
          <a:xfrm>
            <a:off x="9667738" y="3681621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Provisiones</a:t>
            </a:r>
          </a:p>
        </p:txBody>
      </p:sp>
      <p:sp>
        <p:nvSpPr>
          <p:cNvPr id="59" name="Cerrar llave 58">
            <a:extLst>
              <a:ext uri="{FF2B5EF4-FFF2-40B4-BE49-F238E27FC236}">
                <a16:creationId xmlns:a16="http://schemas.microsoft.com/office/drawing/2014/main" id="{FC004299-AD4E-44CC-A2E9-AAD6FB101EF9}"/>
              </a:ext>
            </a:extLst>
          </p:cNvPr>
          <p:cNvSpPr/>
          <p:nvPr/>
        </p:nvSpPr>
        <p:spPr>
          <a:xfrm rot="10800000">
            <a:off x="9450894" y="2351466"/>
            <a:ext cx="185867" cy="1481885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F5AE3A22-859C-400C-B75A-7D548EE10028}"/>
              </a:ext>
            </a:extLst>
          </p:cNvPr>
          <p:cNvSpPr/>
          <p:nvPr/>
        </p:nvSpPr>
        <p:spPr>
          <a:xfrm>
            <a:off x="9667738" y="4097544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Gasto de venta</a:t>
            </a:r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354A0D09-4066-4FAB-930F-B25204087F60}"/>
              </a:ext>
            </a:extLst>
          </p:cNvPr>
          <p:cNvSpPr/>
          <p:nvPr/>
        </p:nvSpPr>
        <p:spPr>
          <a:xfrm>
            <a:off x="9667738" y="4477315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Gasto Operativo</a:t>
            </a:r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158B3AAF-74D6-4CC7-A462-EDF14AAB24FA}"/>
              </a:ext>
            </a:extLst>
          </p:cNvPr>
          <p:cNvSpPr/>
          <p:nvPr/>
        </p:nvSpPr>
        <p:spPr>
          <a:xfrm>
            <a:off x="9667738" y="4857086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</a:t>
            </a:r>
            <a:r>
              <a:rPr lang="es-CO" sz="1300" err="1">
                <a:solidFill>
                  <a:schemeClr val="accent1"/>
                </a:solidFill>
              </a:rPr>
              <a:t>Overhead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63" name="Cerrar llave 62">
            <a:extLst>
              <a:ext uri="{FF2B5EF4-FFF2-40B4-BE49-F238E27FC236}">
                <a16:creationId xmlns:a16="http://schemas.microsoft.com/office/drawing/2014/main" id="{895AF5A5-BA47-4203-A45D-8A11CF52376C}"/>
              </a:ext>
            </a:extLst>
          </p:cNvPr>
          <p:cNvSpPr/>
          <p:nvPr/>
        </p:nvSpPr>
        <p:spPr>
          <a:xfrm rot="10800000">
            <a:off x="9537202" y="4114742"/>
            <a:ext cx="45719" cy="922343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cxnSp>
        <p:nvCxnSpPr>
          <p:cNvPr id="65" name="Conector: angular 64">
            <a:extLst>
              <a:ext uri="{FF2B5EF4-FFF2-40B4-BE49-F238E27FC236}">
                <a16:creationId xmlns:a16="http://schemas.microsoft.com/office/drawing/2014/main" id="{F3FD98C0-46FE-4606-9DFE-34AE9F0B7539}"/>
              </a:ext>
            </a:extLst>
          </p:cNvPr>
          <p:cNvCxnSpPr>
            <a:cxnSpLocks/>
            <a:stCxn id="3" idx="3"/>
            <a:endCxn id="27" idx="1"/>
          </p:cNvCxnSpPr>
          <p:nvPr/>
        </p:nvCxnSpPr>
        <p:spPr>
          <a:xfrm flipV="1">
            <a:off x="8086230" y="3072920"/>
            <a:ext cx="340754" cy="715741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Conector: angular 66">
            <a:extLst>
              <a:ext uri="{FF2B5EF4-FFF2-40B4-BE49-F238E27FC236}">
                <a16:creationId xmlns:a16="http://schemas.microsoft.com/office/drawing/2014/main" id="{AD134C60-00A9-438E-8D03-F1EE631E8DDF}"/>
              </a:ext>
            </a:extLst>
          </p:cNvPr>
          <p:cNvCxnSpPr>
            <a:cxnSpLocks/>
            <a:stCxn id="3" idx="3"/>
            <a:endCxn id="29" idx="1"/>
          </p:cNvCxnSpPr>
          <p:nvPr/>
        </p:nvCxnSpPr>
        <p:spPr>
          <a:xfrm>
            <a:off x="8086230" y="3788661"/>
            <a:ext cx="340754" cy="76048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2" name="Conector recto 71">
            <a:extLst>
              <a:ext uri="{FF2B5EF4-FFF2-40B4-BE49-F238E27FC236}">
                <a16:creationId xmlns:a16="http://schemas.microsoft.com/office/drawing/2014/main" id="{F5903043-F72A-4973-BE86-9553F3662023}"/>
              </a:ext>
            </a:extLst>
          </p:cNvPr>
          <p:cNvCxnSpPr>
            <a:cxnSpLocks/>
            <a:stCxn id="3" idx="3"/>
            <a:endCxn id="28" idx="1"/>
          </p:cNvCxnSpPr>
          <p:nvPr/>
        </p:nvCxnSpPr>
        <p:spPr>
          <a:xfrm>
            <a:off x="8086230" y="3788661"/>
            <a:ext cx="340754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4" name="Signo más 73">
            <a:extLst>
              <a:ext uri="{FF2B5EF4-FFF2-40B4-BE49-F238E27FC236}">
                <a16:creationId xmlns:a16="http://schemas.microsoft.com/office/drawing/2014/main" id="{4F4B57EC-84D6-4778-B02E-587E2A115053}"/>
              </a:ext>
            </a:extLst>
          </p:cNvPr>
          <p:cNvSpPr/>
          <p:nvPr/>
        </p:nvSpPr>
        <p:spPr>
          <a:xfrm>
            <a:off x="8729106" y="3269133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5" name="Signo menos 74">
            <a:extLst>
              <a:ext uri="{FF2B5EF4-FFF2-40B4-BE49-F238E27FC236}">
                <a16:creationId xmlns:a16="http://schemas.microsoft.com/office/drawing/2014/main" id="{09FE4630-8D0A-4410-AC73-E68485E4C856}"/>
              </a:ext>
            </a:extLst>
          </p:cNvPr>
          <p:cNvSpPr/>
          <p:nvPr/>
        </p:nvSpPr>
        <p:spPr>
          <a:xfrm>
            <a:off x="8729037" y="4151261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4" name="Rectángulo 63">
            <a:extLst>
              <a:ext uri="{FF2B5EF4-FFF2-40B4-BE49-F238E27FC236}">
                <a16:creationId xmlns:a16="http://schemas.microsoft.com/office/drawing/2014/main" id="{EEE82F20-F274-402E-8044-62B033212F90}"/>
              </a:ext>
            </a:extLst>
          </p:cNvPr>
          <p:cNvSpPr/>
          <p:nvPr/>
        </p:nvSpPr>
        <p:spPr>
          <a:xfrm>
            <a:off x="7186230" y="4295345"/>
            <a:ext cx="900000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Activos promedio</a:t>
            </a:r>
          </a:p>
        </p:txBody>
      </p:sp>
      <p:sp>
        <p:nvSpPr>
          <p:cNvPr id="66" name="Rectángulo 65">
            <a:extLst>
              <a:ext uri="{FF2B5EF4-FFF2-40B4-BE49-F238E27FC236}">
                <a16:creationId xmlns:a16="http://schemas.microsoft.com/office/drawing/2014/main" id="{4A9B2BB0-EE25-4FE1-8141-31CB1D8E9FCA}"/>
              </a:ext>
            </a:extLst>
          </p:cNvPr>
          <p:cNvSpPr/>
          <p:nvPr/>
        </p:nvSpPr>
        <p:spPr>
          <a:xfrm>
            <a:off x="5945476" y="3963851"/>
            <a:ext cx="900000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ROA</a:t>
            </a:r>
          </a:p>
        </p:txBody>
      </p:sp>
      <p:sp>
        <p:nvSpPr>
          <p:cNvPr id="48" name="Signo de división 47">
            <a:extLst>
              <a:ext uri="{FF2B5EF4-FFF2-40B4-BE49-F238E27FC236}">
                <a16:creationId xmlns:a16="http://schemas.microsoft.com/office/drawing/2014/main" id="{B40D1023-29AE-42D8-8D53-F42B19C64296}"/>
              </a:ext>
            </a:extLst>
          </p:cNvPr>
          <p:cNvSpPr/>
          <p:nvPr/>
        </p:nvSpPr>
        <p:spPr>
          <a:xfrm>
            <a:off x="7479630" y="396385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8" name="Conector: angular 67">
            <a:extLst>
              <a:ext uri="{FF2B5EF4-FFF2-40B4-BE49-F238E27FC236}">
                <a16:creationId xmlns:a16="http://schemas.microsoft.com/office/drawing/2014/main" id="{00298441-DC97-49C0-8F8F-CDC57C875EA1}"/>
              </a:ext>
            </a:extLst>
          </p:cNvPr>
          <p:cNvCxnSpPr>
            <a:cxnSpLocks/>
            <a:stCxn id="66" idx="3"/>
            <a:endCxn id="3" idx="1"/>
          </p:cNvCxnSpPr>
          <p:nvPr/>
        </p:nvCxnSpPr>
        <p:spPr>
          <a:xfrm flipV="1">
            <a:off x="6845476" y="3788661"/>
            <a:ext cx="340754" cy="341578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0" name="Conector: angular 69">
            <a:extLst>
              <a:ext uri="{FF2B5EF4-FFF2-40B4-BE49-F238E27FC236}">
                <a16:creationId xmlns:a16="http://schemas.microsoft.com/office/drawing/2014/main" id="{5ED9DD59-CC3D-45A9-9334-E247B7E671DF}"/>
              </a:ext>
            </a:extLst>
          </p:cNvPr>
          <p:cNvCxnSpPr>
            <a:cxnSpLocks/>
            <a:stCxn id="66" idx="3"/>
            <a:endCxn id="64" idx="1"/>
          </p:cNvCxnSpPr>
          <p:nvPr/>
        </p:nvCxnSpPr>
        <p:spPr>
          <a:xfrm>
            <a:off x="6845476" y="4130239"/>
            <a:ext cx="340754" cy="33149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Rectángulo 1">
            <a:extLst>
              <a:ext uri="{FF2B5EF4-FFF2-40B4-BE49-F238E27FC236}">
                <a16:creationId xmlns:a16="http://schemas.microsoft.com/office/drawing/2014/main" id="{B7D8CF74-0E3E-4EE7-8BF1-B42EB8E59735}"/>
              </a:ext>
            </a:extLst>
          </p:cNvPr>
          <p:cNvSpPr/>
          <p:nvPr/>
        </p:nvSpPr>
        <p:spPr>
          <a:xfrm>
            <a:off x="9623404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F1F3DBC-1141-43B3-8F5A-39F2F127ADFA}"/>
              </a:ext>
            </a:extLst>
          </p:cNvPr>
          <p:cNvSpPr/>
          <p:nvPr/>
        </p:nvSpPr>
        <p:spPr>
          <a:xfrm rot="10800000">
            <a:off x="10833460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76614387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(1) Reporte de calificación Credivalores (2019, BRC Standard &amp; Pools); (2) (1) </a:t>
            </a:r>
            <a:r>
              <a:rPr lang="es-ES"/>
              <a:t>Créditos Y Ahorros </a:t>
            </a:r>
            <a:r>
              <a:rPr lang="es-ES" err="1"/>
              <a:t>Credifinanciera</a:t>
            </a:r>
            <a:r>
              <a:rPr lang="es-ES"/>
              <a:t> S. A </a:t>
            </a:r>
            <a:r>
              <a:rPr lang="es-ES_tradnl"/>
              <a:t>(2019, BRC Standard &amp; Pools); </a:t>
            </a:r>
            <a:br>
              <a:rPr lang="es-ES_tradnl"/>
            </a:br>
            <a:r>
              <a:rPr lang="es-ES_tradnl"/>
              <a:t>(2) </a:t>
            </a:r>
            <a:r>
              <a:rPr lang="es-ES"/>
              <a:t>Metodología De Calificación De Riesgo De Instituciones Financieras Y Bancos (Class</a:t>
            </a:r>
            <a:r>
              <a:rPr lang="es-ES_tradnl"/>
              <a:t> International Rating, 2016);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Calificación de riesgo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200772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79544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  <a:r>
              <a:rPr lang="es-CO" sz="1400" baseline="30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s-CO" sz="140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7954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67545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Medir la solvencia y capacidad para administrar riesgos con terceros y cumplir las obligaciones con el público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2019 BCF</a:t>
            </a:r>
            <a:r>
              <a:rPr lang="es-CO" sz="1200" b="1" baseline="3000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A+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2019 CV</a:t>
            </a:r>
            <a:r>
              <a:rPr lang="es-CO" sz="1200" b="1" baseline="30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AA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43032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718325"/>
            <a:ext cx="4552406" cy="7002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8288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Presidencia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5066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794630"/>
            <a:ext cx="4552406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Trimestral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506630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794630"/>
            <a:ext cx="5347250" cy="45596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Entidad calificadora de riesgo definida por la organización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8199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69995"/>
            <a:ext cx="4552406" cy="87192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987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En la medida en que la organización tenga una adecuada gestión de riesgos, la calificación tendrá una tendencia a la alza 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531679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5417" y="1200772"/>
            <a:ext cx="8972366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Calificación de riesgo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5417" y="1531679"/>
            <a:ext cx="3501206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531679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531679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Riesgo, Comité Junta Directiva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67544"/>
            <a:ext cx="5347250" cy="325851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" name="Tabla 14">
            <a:extLst>
              <a:ext uri="{FF2B5EF4-FFF2-40B4-BE49-F238E27FC236}">
                <a16:creationId xmlns:a16="http://schemas.microsoft.com/office/drawing/2014/main" id="{A0957870-BBD8-4354-B049-8BB3EB2591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675101"/>
              </p:ext>
            </p:extLst>
          </p:nvPr>
        </p:nvGraphicFramePr>
        <p:xfrm>
          <a:off x="9000357" y="2479109"/>
          <a:ext cx="1944000" cy="2482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000">
                  <a:extLst>
                    <a:ext uri="{9D8B030D-6E8A-4147-A177-3AD203B41FA5}">
                      <a16:colId xmlns:a16="http://schemas.microsoft.com/office/drawing/2014/main" val="259268675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54804339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s-CO" sz="1200" b="1">
                          <a:solidFill>
                            <a:schemeClr val="accent1"/>
                          </a:solidFill>
                        </a:rPr>
                        <a:t>Riesgo muy bajo a bajo riesgo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AAA</a:t>
                      </a:r>
                    </a:p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AA</a:t>
                      </a:r>
                    </a:p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A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797944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s-CO" sz="1200" b="1">
                          <a:solidFill>
                            <a:schemeClr val="accent1"/>
                          </a:solidFill>
                        </a:rPr>
                        <a:t>Poco riesgo a riesgo moderado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BBB</a:t>
                      </a:r>
                      <a:br>
                        <a:rPr lang="es-CO" sz="1200" b="0">
                          <a:solidFill>
                            <a:schemeClr val="accent1"/>
                          </a:solidFill>
                        </a:rPr>
                      </a:br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BB</a:t>
                      </a:r>
                      <a:br>
                        <a:rPr lang="es-CO" sz="1200" b="0">
                          <a:solidFill>
                            <a:schemeClr val="accent1"/>
                          </a:solidFill>
                        </a:rPr>
                      </a:br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B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364639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s-CO" sz="1200" b="1">
                          <a:solidFill>
                            <a:schemeClr val="accent1"/>
                          </a:solidFill>
                        </a:rPr>
                        <a:t>Riesgo moderado a riesgo muy alto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CCC</a:t>
                      </a:r>
                      <a:br>
                        <a:rPr lang="es-CO" sz="1200" b="0">
                          <a:solidFill>
                            <a:schemeClr val="accent1"/>
                          </a:solidFill>
                        </a:rPr>
                      </a:br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CC</a:t>
                      </a:r>
                      <a:br>
                        <a:rPr lang="es-CO" sz="1200" b="0">
                          <a:solidFill>
                            <a:schemeClr val="accent1"/>
                          </a:solidFill>
                        </a:rPr>
                      </a:br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C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91889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s-CO" sz="1200" b="1">
                          <a:solidFill>
                            <a:schemeClr val="accent1"/>
                          </a:solidFill>
                        </a:rPr>
                        <a:t>En suspensión de pagos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DDD</a:t>
                      </a:r>
                      <a:br>
                        <a:rPr lang="es-CO" sz="1200" b="0">
                          <a:solidFill>
                            <a:schemeClr val="accent1"/>
                          </a:solidFill>
                        </a:rPr>
                      </a:br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DD</a:t>
                      </a:r>
                    </a:p>
                    <a:p>
                      <a:pPr algn="ctr"/>
                      <a:r>
                        <a:rPr lang="es-CO" sz="1200" b="0">
                          <a:solidFill>
                            <a:schemeClr val="accent1"/>
                          </a:solidFill>
                        </a:rPr>
                        <a:t>D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9010034"/>
                  </a:ext>
                </a:extLst>
              </a:tr>
            </a:tbl>
          </a:graphicData>
        </a:graphic>
      </p:graphicFrame>
      <p:sp>
        <p:nvSpPr>
          <p:cNvPr id="32" name="CuadroTexto 31">
            <a:extLst>
              <a:ext uri="{FF2B5EF4-FFF2-40B4-BE49-F238E27FC236}">
                <a16:creationId xmlns:a16="http://schemas.microsoft.com/office/drawing/2014/main" id="{B38F6EFE-F8E0-424D-9AB7-76ECE2199F0C}"/>
              </a:ext>
            </a:extLst>
          </p:cNvPr>
          <p:cNvSpPr txBox="1"/>
          <p:nvPr/>
        </p:nvSpPr>
        <p:spPr>
          <a:xfrm>
            <a:off x="6596823" y="3254138"/>
            <a:ext cx="1191301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Dictamen y opinión independiente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C2271ED1-FA39-4A4F-8B1E-7368B6FB0AAF}"/>
              </a:ext>
            </a:extLst>
          </p:cNvPr>
          <p:cNvSpPr/>
          <p:nvPr/>
        </p:nvSpPr>
        <p:spPr>
          <a:xfrm>
            <a:off x="5881450" y="2474610"/>
            <a:ext cx="2531030" cy="653727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>
                <a:solidFill>
                  <a:schemeClr val="accent1"/>
                </a:solidFill>
              </a:rPr>
              <a:t>Estudio, análisis y evaluación técnica, de aspectos cualitativos y cifras cuantitativas del banco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5" name="Flecha: a la derecha 34">
            <a:extLst>
              <a:ext uri="{FF2B5EF4-FFF2-40B4-BE49-F238E27FC236}">
                <a16:creationId xmlns:a16="http://schemas.microsoft.com/office/drawing/2014/main" id="{8A5716FB-2B7B-4547-8EB6-1A58CD4AE00A}"/>
              </a:ext>
            </a:extLst>
          </p:cNvPr>
          <p:cNvSpPr/>
          <p:nvPr/>
        </p:nvSpPr>
        <p:spPr>
          <a:xfrm rot="5400000">
            <a:off x="6106860" y="3377059"/>
            <a:ext cx="553653" cy="302362"/>
          </a:xfrm>
          <a:prstGeom prst="rightArrow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F9D93949-CCA0-4E58-843A-A72AEC5843D4}"/>
              </a:ext>
            </a:extLst>
          </p:cNvPr>
          <p:cNvSpPr/>
          <p:nvPr/>
        </p:nvSpPr>
        <p:spPr>
          <a:xfrm>
            <a:off x="5881449" y="3949064"/>
            <a:ext cx="2531031" cy="101260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>
                <a:solidFill>
                  <a:schemeClr val="accent1"/>
                </a:solidFill>
              </a:rPr>
              <a:t>Calificación de riesgo sobre la capacidad para responder sus obligaciones con el público y para administrar riesgos con terceros; y, sobre la solvencia de la entidad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8" name="Flecha: a la derecha 37">
            <a:extLst>
              <a:ext uri="{FF2B5EF4-FFF2-40B4-BE49-F238E27FC236}">
                <a16:creationId xmlns:a16="http://schemas.microsoft.com/office/drawing/2014/main" id="{342164EF-D2E2-4E4F-AA1C-22533BE21888}"/>
              </a:ext>
            </a:extLst>
          </p:cNvPr>
          <p:cNvSpPr/>
          <p:nvPr/>
        </p:nvSpPr>
        <p:spPr>
          <a:xfrm rot="5400000">
            <a:off x="7662478" y="3377060"/>
            <a:ext cx="553653" cy="302362"/>
          </a:xfrm>
          <a:prstGeom prst="rightArrow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Flecha: a la derecha 38">
            <a:extLst>
              <a:ext uri="{FF2B5EF4-FFF2-40B4-BE49-F238E27FC236}">
                <a16:creationId xmlns:a16="http://schemas.microsoft.com/office/drawing/2014/main" id="{A7037BCB-B88E-486F-88F1-0119C60ABC5B}"/>
              </a:ext>
            </a:extLst>
          </p:cNvPr>
          <p:cNvSpPr/>
          <p:nvPr/>
        </p:nvSpPr>
        <p:spPr>
          <a:xfrm>
            <a:off x="8475683" y="4321008"/>
            <a:ext cx="461470" cy="302362"/>
          </a:xfrm>
          <a:prstGeom prst="rightArrow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77D617C2-1637-48D2-A6CA-7B15485BE4B7}"/>
              </a:ext>
            </a:extLst>
          </p:cNvPr>
          <p:cNvSpPr/>
          <p:nvPr/>
        </p:nvSpPr>
        <p:spPr>
          <a:xfrm>
            <a:off x="9623413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6E20454-079D-443E-BB24-39B7AD685756}"/>
              </a:ext>
            </a:extLst>
          </p:cNvPr>
          <p:cNvSpPr/>
          <p:nvPr/>
        </p:nvSpPr>
        <p:spPr>
          <a:xfrm rot="10800000">
            <a:off x="1083346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13519762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8" name="Conector: angular 117">
            <a:extLst>
              <a:ext uri="{FF2B5EF4-FFF2-40B4-BE49-F238E27FC236}">
                <a16:creationId xmlns:a16="http://schemas.microsoft.com/office/drawing/2014/main" id="{59C23CB1-3EAB-473E-89EE-7F345A1DC326}"/>
              </a:ext>
            </a:extLst>
          </p:cNvPr>
          <p:cNvCxnSpPr>
            <a:cxnSpLocks/>
            <a:stCxn id="2" idx="2"/>
          </p:cNvCxnSpPr>
          <p:nvPr/>
        </p:nvCxnSpPr>
        <p:spPr>
          <a:xfrm rot="5400000">
            <a:off x="7794391" y="2362404"/>
            <a:ext cx="66508" cy="1319720"/>
          </a:xfrm>
          <a:prstGeom prst="bentConnector4">
            <a:avLst>
              <a:gd name="adj1" fmla="val 243138"/>
              <a:gd name="adj2" fmla="val 4569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de los reportes directos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2933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cumplimiento de los reportes directos de Presidencia y monitorear su contribución al logro de los resultados compañía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Presidencia, Reportes Directos de Presidencia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Trimestral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35469"/>
            <a:ext cx="4552406" cy="30067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23467"/>
            <a:ext cx="4552406" cy="132328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cumplimiento agregado de los reportes, es decir:</a:t>
            </a:r>
          </a:p>
          <a:p>
            <a:pPr marL="4508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90%: no se alcanzó el cumplimiento esperado </a:t>
            </a:r>
          </a:p>
          <a:p>
            <a:pPr marL="4508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&gt;= 90% y &lt; 100% el cumplimiento se encuentra dentro de los niveles esperados</a:t>
            </a:r>
          </a:p>
          <a:p>
            <a:pPr marL="4508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&gt;100% el equipo sobre cumplió la expectativa 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% Cumplimiento reportes directos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D7AC6EC6-1842-46EC-A6A3-02BCF6235F05}"/>
              </a:ext>
            </a:extLst>
          </p:cNvPr>
          <p:cNvSpPr/>
          <p:nvPr/>
        </p:nvSpPr>
        <p:spPr>
          <a:xfrm>
            <a:off x="8042457" y="2593010"/>
            <a:ext cx="890095" cy="39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Presidente</a:t>
            </a: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CF07EAD-D209-4727-9F12-622A8752E7FE}"/>
              </a:ext>
            </a:extLst>
          </p:cNvPr>
          <p:cNvSpPr/>
          <p:nvPr/>
        </p:nvSpPr>
        <p:spPr>
          <a:xfrm>
            <a:off x="5848065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14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Innova. y </a:t>
            </a:r>
            <a:r>
              <a:rPr lang="es-CO" sz="1100" b="1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Dig</a:t>
            </a: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37E52B85-78F3-4D5C-8609-E1764A724959}"/>
              </a:ext>
            </a:extLst>
          </p:cNvPr>
          <p:cNvSpPr/>
          <p:nvPr/>
        </p:nvSpPr>
        <p:spPr>
          <a:xfrm>
            <a:off x="9807225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14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 y Adm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110DF588-D5AC-46FE-B8F9-B9ECE65456DB}"/>
              </a:ext>
            </a:extLst>
          </p:cNvPr>
          <p:cNvSpPr/>
          <p:nvPr/>
        </p:nvSpPr>
        <p:spPr>
          <a:xfrm>
            <a:off x="7167785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14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Riesgos</a:t>
            </a: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66EAA9F0-9251-42F9-B064-57FFB3FAFFC8}"/>
              </a:ext>
            </a:extLst>
          </p:cNvPr>
          <p:cNvSpPr/>
          <p:nvPr/>
        </p:nvSpPr>
        <p:spPr>
          <a:xfrm>
            <a:off x="10467086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14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Fin. </a:t>
            </a:r>
            <a:r>
              <a:rPr lang="es-CO" sz="1100" b="1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Estruct</a:t>
            </a: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26506C79-9A87-48B8-822E-81495F3E9206}"/>
              </a:ext>
            </a:extLst>
          </p:cNvPr>
          <p:cNvSpPr/>
          <p:nvPr/>
        </p:nvSpPr>
        <p:spPr>
          <a:xfrm>
            <a:off x="6507925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Com. y </a:t>
            </a:r>
            <a:r>
              <a:rPr lang="es-ES" sz="1100" b="1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Serv</a:t>
            </a:r>
            <a:r>
              <a:rPr lang="es-ES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es-CO" sz="1100" b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6DBD4516-8A71-46E4-AE57-186EC7E6C9E3}"/>
              </a:ext>
            </a:extLst>
          </p:cNvPr>
          <p:cNvSpPr/>
          <p:nvPr/>
        </p:nvSpPr>
        <p:spPr>
          <a:xfrm>
            <a:off x="7827645" y="3437520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Ops.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327F9690-B66D-40E0-84CF-89B3B8AAF07B}"/>
              </a:ext>
            </a:extLst>
          </p:cNvPr>
          <p:cNvSpPr/>
          <p:nvPr/>
        </p:nvSpPr>
        <p:spPr>
          <a:xfrm>
            <a:off x="9147365" y="3441717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14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Gestión Talento</a:t>
            </a:r>
            <a:endParaRPr lang="es-CO" sz="1100" b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12277D97-D4A4-4D47-B1C0-80AA4CD9177E}"/>
              </a:ext>
            </a:extLst>
          </p:cNvPr>
          <p:cNvSpPr/>
          <p:nvPr/>
        </p:nvSpPr>
        <p:spPr>
          <a:xfrm>
            <a:off x="8487505" y="3441717"/>
            <a:ext cx="576000" cy="39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CuadroTexto 47">
                <a:extLst>
                  <a:ext uri="{FF2B5EF4-FFF2-40B4-BE49-F238E27FC236}">
                    <a16:creationId xmlns:a16="http://schemas.microsoft.com/office/drawing/2014/main" id="{FEE7DF7D-804E-4D15-AF2C-3AA1FCD6D201}"/>
                  </a:ext>
                </a:extLst>
              </p:cNvPr>
              <p:cNvSpPr txBox="1"/>
              <p:nvPr/>
            </p:nvSpPr>
            <p:spPr>
              <a:xfrm>
                <a:off x="6911450" y="4420614"/>
                <a:ext cx="1762021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𝐂𝐮𝐦𝐩𝐥𝐢𝐦𝐢𝐞𝐧𝐭𝐨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</m:oMath>
                    <m:oMath xmlns:m="http://schemas.openxmlformats.org/officeDocument/2006/math"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𝐑𝐞𝐩𝐨𝐫𝐭𝐞𝐬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𝐃𝐢𝐫𝐞𝐜𝐭𝐨𝐬</m:t>
                      </m:r>
                    </m:oMath>
                  </m:oMathPara>
                </a14:m>
                <a:endParaRPr lang="es-CO" sz="1400" b="1">
                  <a:latin typeface="+mj-lt"/>
                </a:endParaRPr>
              </a:p>
            </p:txBody>
          </p:sp>
        </mc:Choice>
        <mc:Fallback xmlns="">
          <p:sp>
            <p:nvSpPr>
              <p:cNvPr id="48" name="CuadroTexto 47">
                <a:extLst>
                  <a:ext uri="{FF2B5EF4-FFF2-40B4-BE49-F238E27FC236}">
                    <a16:creationId xmlns:a16="http://schemas.microsoft.com/office/drawing/2014/main" id="{FEE7DF7D-804E-4D15-AF2C-3AA1FCD6D2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1450" y="4420614"/>
                <a:ext cx="1762021" cy="523220"/>
              </a:xfrm>
              <a:prstGeom prst="rect">
                <a:avLst/>
              </a:prstGeom>
              <a:blipFill>
                <a:blip r:embed="rId2"/>
                <a:stretch>
                  <a:fillRect b="-7143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CuadroTexto 48">
            <a:extLst>
              <a:ext uri="{FF2B5EF4-FFF2-40B4-BE49-F238E27FC236}">
                <a16:creationId xmlns:a16="http://schemas.microsoft.com/office/drawing/2014/main" id="{45245C7C-9802-4435-BEAC-9E7F54E702D4}"/>
              </a:ext>
            </a:extLst>
          </p:cNvPr>
          <p:cNvSpPr txBox="1"/>
          <p:nvPr/>
        </p:nvSpPr>
        <p:spPr>
          <a:xfrm>
            <a:off x="8573229" y="4461708"/>
            <a:ext cx="3642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2400"/>
              <a:t>=</a:t>
            </a:r>
          </a:p>
        </p:txBody>
      </p:sp>
      <p:cxnSp>
        <p:nvCxnSpPr>
          <p:cNvPr id="51" name="Conector: angular 50">
            <a:extLst>
              <a:ext uri="{FF2B5EF4-FFF2-40B4-BE49-F238E27FC236}">
                <a16:creationId xmlns:a16="http://schemas.microsoft.com/office/drawing/2014/main" id="{3C5CDFF4-6B18-435F-A3F6-426CD38C633E}"/>
              </a:ext>
            </a:extLst>
          </p:cNvPr>
          <p:cNvCxnSpPr>
            <a:stCxn id="2" idx="2"/>
            <a:endCxn id="3" idx="0"/>
          </p:cNvCxnSpPr>
          <p:nvPr/>
        </p:nvCxnSpPr>
        <p:spPr>
          <a:xfrm rot="5400000">
            <a:off x="7087530" y="2037545"/>
            <a:ext cx="448510" cy="2351440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" name="Conector: angular 51">
            <a:extLst>
              <a:ext uri="{FF2B5EF4-FFF2-40B4-BE49-F238E27FC236}">
                <a16:creationId xmlns:a16="http://schemas.microsoft.com/office/drawing/2014/main" id="{A27ED331-9050-406F-B5CC-22E299CB9B81}"/>
              </a:ext>
            </a:extLst>
          </p:cNvPr>
          <p:cNvCxnSpPr>
            <a:cxnSpLocks/>
            <a:stCxn id="2" idx="2"/>
            <a:endCxn id="34" idx="0"/>
          </p:cNvCxnSpPr>
          <p:nvPr/>
        </p:nvCxnSpPr>
        <p:spPr>
          <a:xfrm rot="5400000">
            <a:off x="7417460" y="2367475"/>
            <a:ext cx="448510" cy="1691580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Conector: angular 58">
            <a:extLst>
              <a:ext uri="{FF2B5EF4-FFF2-40B4-BE49-F238E27FC236}">
                <a16:creationId xmlns:a16="http://schemas.microsoft.com/office/drawing/2014/main" id="{CC6B71FF-67A3-4C4E-9F1D-AD312E9D1A53}"/>
              </a:ext>
            </a:extLst>
          </p:cNvPr>
          <p:cNvCxnSpPr>
            <a:stCxn id="2" idx="2"/>
            <a:endCxn id="30" idx="0"/>
          </p:cNvCxnSpPr>
          <p:nvPr/>
        </p:nvCxnSpPr>
        <p:spPr>
          <a:xfrm rot="5400000">
            <a:off x="7747390" y="2697405"/>
            <a:ext cx="448510" cy="1031720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Conector: angular 60">
            <a:extLst>
              <a:ext uri="{FF2B5EF4-FFF2-40B4-BE49-F238E27FC236}">
                <a16:creationId xmlns:a16="http://schemas.microsoft.com/office/drawing/2014/main" id="{E78A8DF3-EB8F-4790-82B2-AF92ED74F713}"/>
              </a:ext>
            </a:extLst>
          </p:cNvPr>
          <p:cNvCxnSpPr>
            <a:cxnSpLocks/>
            <a:stCxn id="2" idx="2"/>
            <a:endCxn id="38" idx="0"/>
          </p:cNvCxnSpPr>
          <p:nvPr/>
        </p:nvCxnSpPr>
        <p:spPr>
          <a:xfrm rot="16200000" flipH="1">
            <a:off x="8735082" y="2741433"/>
            <a:ext cx="452707" cy="947860"/>
          </a:xfrm>
          <a:prstGeom prst="bentConnector3">
            <a:avLst>
              <a:gd name="adj1" fmla="val 77234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Conector: angular 66">
            <a:extLst>
              <a:ext uri="{FF2B5EF4-FFF2-40B4-BE49-F238E27FC236}">
                <a16:creationId xmlns:a16="http://schemas.microsoft.com/office/drawing/2014/main" id="{608ECD94-4CB6-4013-A3DF-8316153D583D}"/>
              </a:ext>
            </a:extLst>
          </p:cNvPr>
          <p:cNvCxnSpPr>
            <a:stCxn id="2" idx="2"/>
            <a:endCxn id="36" idx="0"/>
          </p:cNvCxnSpPr>
          <p:nvPr/>
        </p:nvCxnSpPr>
        <p:spPr>
          <a:xfrm rot="5400000">
            <a:off x="8077320" y="3027335"/>
            <a:ext cx="448510" cy="371860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Conector: angular 68">
            <a:extLst>
              <a:ext uri="{FF2B5EF4-FFF2-40B4-BE49-F238E27FC236}">
                <a16:creationId xmlns:a16="http://schemas.microsoft.com/office/drawing/2014/main" id="{A67A71FC-BEE0-4F1E-BEDD-C3C5D77A0113}"/>
              </a:ext>
            </a:extLst>
          </p:cNvPr>
          <p:cNvCxnSpPr>
            <a:cxnSpLocks/>
            <a:stCxn id="2" idx="2"/>
            <a:endCxn id="15" idx="0"/>
          </p:cNvCxnSpPr>
          <p:nvPr/>
        </p:nvCxnSpPr>
        <p:spPr>
          <a:xfrm rot="16200000" flipH="1">
            <a:off x="9067110" y="2409405"/>
            <a:ext cx="448510" cy="1607720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2" name="Conector: angular 71">
            <a:extLst>
              <a:ext uri="{FF2B5EF4-FFF2-40B4-BE49-F238E27FC236}">
                <a16:creationId xmlns:a16="http://schemas.microsoft.com/office/drawing/2014/main" id="{953D3E4C-13FE-474E-8A4C-18EF92539EA0}"/>
              </a:ext>
            </a:extLst>
          </p:cNvPr>
          <p:cNvCxnSpPr>
            <a:cxnSpLocks/>
            <a:stCxn id="2" idx="2"/>
            <a:endCxn id="32" idx="0"/>
          </p:cNvCxnSpPr>
          <p:nvPr/>
        </p:nvCxnSpPr>
        <p:spPr>
          <a:xfrm rot="16200000" flipH="1">
            <a:off x="9397040" y="2079474"/>
            <a:ext cx="448510" cy="2267581"/>
          </a:xfrm>
          <a:prstGeom prst="bentConnector3">
            <a:avLst>
              <a:gd name="adj1" fmla="val 7748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5" name="Conector: angular 74">
            <a:extLst>
              <a:ext uri="{FF2B5EF4-FFF2-40B4-BE49-F238E27FC236}">
                <a16:creationId xmlns:a16="http://schemas.microsoft.com/office/drawing/2014/main" id="{96845937-1ED2-46A6-8656-BCB0CA862221}"/>
              </a:ext>
            </a:extLst>
          </p:cNvPr>
          <p:cNvCxnSpPr>
            <a:cxnSpLocks/>
            <a:stCxn id="2" idx="2"/>
            <a:endCxn id="40" idx="0"/>
          </p:cNvCxnSpPr>
          <p:nvPr/>
        </p:nvCxnSpPr>
        <p:spPr>
          <a:xfrm rot="16200000" flipH="1">
            <a:off x="8405152" y="3071363"/>
            <a:ext cx="452707" cy="288000"/>
          </a:xfrm>
          <a:prstGeom prst="bentConnector3">
            <a:avLst>
              <a:gd name="adj1" fmla="val 77235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CuadroTexto 78">
                <a:extLst>
                  <a:ext uri="{FF2B5EF4-FFF2-40B4-BE49-F238E27FC236}">
                    <a16:creationId xmlns:a16="http://schemas.microsoft.com/office/drawing/2014/main" id="{B2F10033-0811-44BF-9D53-08526DFE6686}"/>
                  </a:ext>
                </a:extLst>
              </p:cNvPr>
              <p:cNvSpPr txBox="1"/>
              <p:nvPr/>
            </p:nvSpPr>
            <p:spPr>
              <a:xfrm>
                <a:off x="5944057" y="3908003"/>
                <a:ext cx="384016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1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79" name="CuadroTexto 78">
                <a:extLst>
                  <a:ext uri="{FF2B5EF4-FFF2-40B4-BE49-F238E27FC236}">
                    <a16:creationId xmlns:a16="http://schemas.microsoft.com/office/drawing/2014/main" id="{B2F10033-0811-44BF-9D53-08526DFE66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44057" y="3908003"/>
                <a:ext cx="384016" cy="232371"/>
              </a:xfrm>
              <a:prstGeom prst="rect">
                <a:avLst/>
              </a:prstGeom>
              <a:blipFill>
                <a:blip r:embed="rId3"/>
                <a:stretch>
                  <a:fillRect l="-6452" r="-9677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CuadroTexto 79">
                <a:extLst>
                  <a:ext uri="{FF2B5EF4-FFF2-40B4-BE49-F238E27FC236}">
                    <a16:creationId xmlns:a16="http://schemas.microsoft.com/office/drawing/2014/main" id="{3A118633-19D8-42BC-BE25-77242FC8A9C1}"/>
                  </a:ext>
                </a:extLst>
              </p:cNvPr>
              <p:cNvSpPr txBox="1"/>
              <p:nvPr/>
            </p:nvSpPr>
            <p:spPr>
              <a:xfrm>
                <a:off x="6620691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2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0" name="CuadroTexto 79">
                <a:extLst>
                  <a:ext uri="{FF2B5EF4-FFF2-40B4-BE49-F238E27FC236}">
                    <a16:creationId xmlns:a16="http://schemas.microsoft.com/office/drawing/2014/main" id="{3A118633-19D8-42BC-BE25-77242FC8A9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20691" y="3908003"/>
                <a:ext cx="387222" cy="232371"/>
              </a:xfrm>
              <a:prstGeom prst="rect">
                <a:avLst/>
              </a:prstGeom>
              <a:blipFill>
                <a:blip r:embed="rId4"/>
                <a:stretch>
                  <a:fillRect l="-6452" r="-9677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CuadroTexto 80">
                <a:extLst>
                  <a:ext uri="{FF2B5EF4-FFF2-40B4-BE49-F238E27FC236}">
                    <a16:creationId xmlns:a16="http://schemas.microsoft.com/office/drawing/2014/main" id="{4013015E-26BF-4F59-A8B3-C0E039AB3A2C}"/>
                  </a:ext>
                </a:extLst>
              </p:cNvPr>
              <p:cNvSpPr txBox="1"/>
              <p:nvPr/>
            </p:nvSpPr>
            <p:spPr>
              <a:xfrm>
                <a:off x="7262174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3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1" name="CuadroTexto 80">
                <a:extLst>
                  <a:ext uri="{FF2B5EF4-FFF2-40B4-BE49-F238E27FC236}">
                    <a16:creationId xmlns:a16="http://schemas.microsoft.com/office/drawing/2014/main" id="{4013015E-26BF-4F59-A8B3-C0E039AB3A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62174" y="3908003"/>
                <a:ext cx="387222" cy="232371"/>
              </a:xfrm>
              <a:prstGeom prst="rect">
                <a:avLst/>
              </a:prstGeom>
              <a:blipFill>
                <a:blip r:embed="rId5"/>
                <a:stretch>
                  <a:fillRect l="-3125" r="-9375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CuadroTexto 81">
                <a:extLst>
                  <a:ext uri="{FF2B5EF4-FFF2-40B4-BE49-F238E27FC236}">
                    <a16:creationId xmlns:a16="http://schemas.microsoft.com/office/drawing/2014/main" id="{A3ED7D34-48B3-4500-B5F3-DA5E39F9556B}"/>
                  </a:ext>
                </a:extLst>
              </p:cNvPr>
              <p:cNvSpPr txBox="1"/>
              <p:nvPr/>
            </p:nvSpPr>
            <p:spPr>
              <a:xfrm>
                <a:off x="7922034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4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2" name="CuadroTexto 81">
                <a:extLst>
                  <a:ext uri="{FF2B5EF4-FFF2-40B4-BE49-F238E27FC236}">
                    <a16:creationId xmlns:a16="http://schemas.microsoft.com/office/drawing/2014/main" id="{A3ED7D34-48B3-4500-B5F3-DA5E39F955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2034" y="3908003"/>
                <a:ext cx="387222" cy="232371"/>
              </a:xfrm>
              <a:prstGeom prst="rect">
                <a:avLst/>
              </a:prstGeom>
              <a:blipFill>
                <a:blip r:embed="rId6"/>
                <a:stretch>
                  <a:fillRect l="-6452" r="-9677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CuadroTexto 82">
                <a:extLst>
                  <a:ext uri="{FF2B5EF4-FFF2-40B4-BE49-F238E27FC236}">
                    <a16:creationId xmlns:a16="http://schemas.microsoft.com/office/drawing/2014/main" id="{97941BC0-DE9F-432A-8FCF-84A84B796187}"/>
                  </a:ext>
                </a:extLst>
              </p:cNvPr>
              <p:cNvSpPr txBox="1"/>
              <p:nvPr/>
            </p:nvSpPr>
            <p:spPr>
              <a:xfrm>
                <a:off x="8581894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5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3" name="CuadroTexto 82">
                <a:extLst>
                  <a:ext uri="{FF2B5EF4-FFF2-40B4-BE49-F238E27FC236}">
                    <a16:creationId xmlns:a16="http://schemas.microsoft.com/office/drawing/2014/main" id="{97941BC0-DE9F-432A-8FCF-84A84B796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1894" y="3908003"/>
                <a:ext cx="387222" cy="232371"/>
              </a:xfrm>
              <a:prstGeom prst="rect">
                <a:avLst/>
              </a:prstGeom>
              <a:blipFill>
                <a:blip r:embed="rId7"/>
                <a:stretch>
                  <a:fillRect l="-6250" r="-9375" b="-5263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CuadroTexto 83">
                <a:extLst>
                  <a:ext uri="{FF2B5EF4-FFF2-40B4-BE49-F238E27FC236}">
                    <a16:creationId xmlns:a16="http://schemas.microsoft.com/office/drawing/2014/main" id="{4E251D5D-617C-475E-892E-111CCACED0CC}"/>
                  </a:ext>
                </a:extLst>
              </p:cNvPr>
              <p:cNvSpPr txBox="1"/>
              <p:nvPr/>
            </p:nvSpPr>
            <p:spPr>
              <a:xfrm>
                <a:off x="9241754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6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4" name="CuadroTexto 83">
                <a:extLst>
                  <a:ext uri="{FF2B5EF4-FFF2-40B4-BE49-F238E27FC236}">
                    <a16:creationId xmlns:a16="http://schemas.microsoft.com/office/drawing/2014/main" id="{4E251D5D-617C-475E-892E-111CCACED0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1754" y="3908003"/>
                <a:ext cx="387222" cy="232371"/>
              </a:xfrm>
              <a:prstGeom prst="rect">
                <a:avLst/>
              </a:prstGeom>
              <a:blipFill>
                <a:blip r:embed="rId8"/>
                <a:stretch>
                  <a:fillRect l="-6250" r="-9375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CuadroTexto 84">
                <a:extLst>
                  <a:ext uri="{FF2B5EF4-FFF2-40B4-BE49-F238E27FC236}">
                    <a16:creationId xmlns:a16="http://schemas.microsoft.com/office/drawing/2014/main" id="{2D47E25A-E47E-4496-9B18-308528BDCEA3}"/>
                  </a:ext>
                </a:extLst>
              </p:cNvPr>
              <p:cNvSpPr txBox="1"/>
              <p:nvPr/>
            </p:nvSpPr>
            <p:spPr>
              <a:xfrm>
                <a:off x="9901614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7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5" name="CuadroTexto 84">
                <a:extLst>
                  <a:ext uri="{FF2B5EF4-FFF2-40B4-BE49-F238E27FC236}">
                    <a16:creationId xmlns:a16="http://schemas.microsoft.com/office/drawing/2014/main" id="{2D47E25A-E47E-4496-9B18-308528BDCE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1614" y="3908003"/>
                <a:ext cx="387222" cy="232371"/>
              </a:xfrm>
              <a:prstGeom prst="rect">
                <a:avLst/>
              </a:prstGeom>
              <a:blipFill>
                <a:blip r:embed="rId9"/>
                <a:stretch>
                  <a:fillRect l="-3125" r="-9375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CuadroTexto 85">
                <a:extLst>
                  <a:ext uri="{FF2B5EF4-FFF2-40B4-BE49-F238E27FC236}">
                    <a16:creationId xmlns:a16="http://schemas.microsoft.com/office/drawing/2014/main" id="{08A528C6-BFF9-4A22-9ED3-3AF6BC6AFFEE}"/>
                  </a:ext>
                </a:extLst>
              </p:cNvPr>
              <p:cNvSpPr txBox="1"/>
              <p:nvPr/>
            </p:nvSpPr>
            <p:spPr>
              <a:xfrm>
                <a:off x="10561475" y="3908003"/>
                <a:ext cx="387222" cy="2323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𝑥</m:t>
                          </m:r>
                        </m:e>
                        <m:sub>
                          <m:r>
                            <a:rPr lang="es-CO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8</m:t>
                          </m:r>
                        </m:sub>
                      </m:sSub>
                      <m:r>
                        <a:rPr lang="es-CO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%</m:t>
                      </m:r>
                    </m:oMath>
                  </m:oMathPara>
                </a14:m>
                <a:endParaRPr lang="es-CO" sz="16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6" name="CuadroTexto 85">
                <a:extLst>
                  <a:ext uri="{FF2B5EF4-FFF2-40B4-BE49-F238E27FC236}">
                    <a16:creationId xmlns:a16="http://schemas.microsoft.com/office/drawing/2014/main" id="{08A528C6-BFF9-4A22-9ED3-3AF6BC6AFF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61475" y="3908003"/>
                <a:ext cx="387222" cy="232371"/>
              </a:xfrm>
              <a:prstGeom prst="rect">
                <a:avLst/>
              </a:prstGeom>
              <a:blipFill>
                <a:blip r:embed="rId10"/>
                <a:stretch>
                  <a:fillRect l="-6250" r="-625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6" name="Grupo 125">
            <a:extLst>
              <a:ext uri="{FF2B5EF4-FFF2-40B4-BE49-F238E27FC236}">
                <a16:creationId xmlns:a16="http://schemas.microsoft.com/office/drawing/2014/main" id="{6B4F4778-39FB-4A06-92D9-DA369920937A}"/>
              </a:ext>
            </a:extLst>
          </p:cNvPr>
          <p:cNvGrpSpPr/>
          <p:nvPr/>
        </p:nvGrpSpPr>
        <p:grpSpPr>
          <a:xfrm>
            <a:off x="8932552" y="4343055"/>
            <a:ext cx="582614" cy="843947"/>
            <a:chOff x="8932552" y="4343055"/>
            <a:chExt cx="582614" cy="84394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CuadroTexto 41">
                  <a:extLst>
                    <a:ext uri="{FF2B5EF4-FFF2-40B4-BE49-F238E27FC236}">
                      <a16:creationId xmlns:a16="http://schemas.microsoft.com/office/drawing/2014/main" id="{87FC20B5-1059-41EB-B8F9-46C8EB718F13}"/>
                    </a:ext>
                  </a:extLst>
                </p:cNvPr>
                <p:cNvSpPr txBox="1"/>
                <p:nvPr/>
              </p:nvSpPr>
              <p:spPr>
                <a:xfrm>
                  <a:off x="9031793" y="4343055"/>
                  <a:ext cx="306622" cy="50539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chemeClr val="tx2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nary>
                          <m:naryPr>
                            <m:chr m:val="∑"/>
                            <m:ctrlPr>
                              <a:rPr lang="es-CO" sz="120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</m:ctrlPr>
                          </m:naryPr>
                          <m:sub>
                            <m:r>
                              <m:rPr>
                                <m:brk m:alnAt="23"/>
                              </m:rPr>
                              <a:rPr lang="es-CO" sz="1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𝑖</m:t>
                            </m:r>
                          </m:sub>
                          <m:sup>
                            <m:r>
                              <a:rPr lang="es-CO" sz="1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8</m:t>
                            </m:r>
                          </m:sup>
                          <m:e>
                            <m:r>
                              <a:rPr lang="es-CO" sz="1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 </m:t>
                            </m:r>
                          </m:e>
                        </m:nary>
                      </m:oMath>
                    </m:oMathPara>
                  </a14:m>
                  <a:endParaRPr lang="es-CO" sz="1200">
                    <a:solidFill>
                      <a:schemeClr val="tx1"/>
                    </a:solidFill>
                    <a:cs typeface="Arial" panose="020B0604020202020204" pitchFamily="34" charset="0"/>
                  </a:endParaRPr>
                </a:p>
              </p:txBody>
            </p:sp>
          </mc:Choice>
          <mc:Fallback xmlns="">
            <p:sp>
              <p:nvSpPr>
                <p:cNvPr id="42" name="CuadroTexto 41">
                  <a:extLst>
                    <a:ext uri="{FF2B5EF4-FFF2-40B4-BE49-F238E27FC236}">
                      <a16:creationId xmlns:a16="http://schemas.microsoft.com/office/drawing/2014/main" id="{87FC20B5-1059-41EB-B8F9-46C8EB718F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1793" y="4343055"/>
                  <a:ext cx="306622" cy="505395"/>
                </a:xfrm>
                <a:prstGeom prst="rect">
                  <a:avLst/>
                </a:prstGeom>
                <a:blipFill>
                  <a:blip r:embed="rId11"/>
                  <a:stretch>
                    <a:fillRect l="-180000" t="-121951" r="-96000" b="-175610"/>
                  </a:stretch>
                </a:blipFill>
              </p:spPr>
              <p:txBody>
                <a:bodyPr/>
                <a:lstStyle/>
                <a:p>
                  <a:r>
                    <a:rPr lang="es-ES_tradnl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6" name="CuadroTexto 45">
              <a:extLst>
                <a:ext uri="{FF2B5EF4-FFF2-40B4-BE49-F238E27FC236}">
                  <a16:creationId xmlns:a16="http://schemas.microsoft.com/office/drawing/2014/main" id="{193B8094-8F0C-414C-BFC6-4CA4CE2920CE}"/>
                </a:ext>
              </a:extLst>
            </p:cNvPr>
            <p:cNvSpPr txBox="1"/>
            <p:nvPr/>
          </p:nvSpPr>
          <p:spPr>
            <a:xfrm>
              <a:off x="8998907" y="4879225"/>
              <a:ext cx="2840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s-CO" sz="1400"/>
                <a:t>8</a:t>
              </a:r>
              <a:endParaRPr lang="es-CO" sz="1400" baseline="-25000"/>
            </a:p>
          </p:txBody>
        </p:sp>
        <p:cxnSp>
          <p:nvCxnSpPr>
            <p:cNvPr id="47" name="Conector recto 46">
              <a:extLst>
                <a:ext uri="{FF2B5EF4-FFF2-40B4-BE49-F238E27FC236}">
                  <a16:creationId xmlns:a16="http://schemas.microsoft.com/office/drawing/2014/main" id="{5EFB7D6F-2E9B-4171-9434-664AEA5A7545}"/>
                </a:ext>
              </a:extLst>
            </p:cNvPr>
            <p:cNvCxnSpPr>
              <a:cxnSpLocks/>
            </p:cNvCxnSpPr>
            <p:nvPr/>
          </p:nvCxnSpPr>
          <p:spPr>
            <a:xfrm>
              <a:off x="8932552" y="4876000"/>
              <a:ext cx="502813" cy="0"/>
            </a:xfrm>
            <a:prstGeom prst="line">
              <a:avLst/>
            </a:prstGeom>
            <a:ln w="19050" cmpd="sng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CuadroTexto 123">
                  <a:extLst>
                    <a:ext uri="{FF2B5EF4-FFF2-40B4-BE49-F238E27FC236}">
                      <a16:creationId xmlns:a16="http://schemas.microsoft.com/office/drawing/2014/main" id="{74DC381C-6409-46FE-B96A-E30BD55296F0}"/>
                    </a:ext>
                  </a:extLst>
                </p:cNvPr>
                <p:cNvSpPr txBox="1"/>
                <p:nvPr/>
              </p:nvSpPr>
              <p:spPr>
                <a:xfrm>
                  <a:off x="9283884" y="4444582"/>
                  <a:ext cx="231282" cy="26007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chemeClr val="tx2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s-CO" sz="1600" i="1" smtClean="0"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</m:ctrlPr>
                          </m:sSubPr>
                          <m:e>
                            <m:r>
                              <a:rPr lang="es-CO" sz="1600" i="1"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s-CO" sz="1600" b="0" i="1" smtClean="0"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𝑖</m:t>
                            </m:r>
                          </m:sub>
                        </m:sSub>
                      </m:oMath>
                    </m:oMathPara>
                  </a14:m>
                  <a:endParaRPr lang="es-CO" sz="1600">
                    <a:solidFill>
                      <a:schemeClr val="tx1"/>
                    </a:solidFill>
                    <a:cs typeface="Arial" panose="020B0604020202020204" pitchFamily="34" charset="0"/>
                  </a:endParaRPr>
                </a:p>
              </p:txBody>
            </p:sp>
          </mc:Choice>
          <mc:Fallback xmlns="">
            <p:sp>
              <p:nvSpPr>
                <p:cNvPr id="124" name="CuadroTexto 123">
                  <a:extLst>
                    <a:ext uri="{FF2B5EF4-FFF2-40B4-BE49-F238E27FC236}">
                      <a16:creationId xmlns:a16="http://schemas.microsoft.com/office/drawing/2014/main" id="{74DC381C-6409-46FE-B96A-E30BD55296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283884" y="4444582"/>
                  <a:ext cx="231282" cy="260071"/>
                </a:xfrm>
                <a:prstGeom prst="rect">
                  <a:avLst/>
                </a:prstGeom>
                <a:blipFill>
                  <a:blip r:embed="rId12"/>
                  <a:stretch>
                    <a:fillRect l="-10526" r="-5263" b="-4545"/>
                  </a:stretch>
                </a:blipFill>
              </p:spPr>
              <p:txBody>
                <a:bodyPr/>
                <a:lstStyle/>
                <a:p>
                  <a:r>
                    <a:rPr lang="es-ES_tradnl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28" name="Bocadillo: rectángulo con esquinas redondeadas 127">
            <a:extLst>
              <a:ext uri="{FF2B5EF4-FFF2-40B4-BE49-F238E27FC236}">
                <a16:creationId xmlns:a16="http://schemas.microsoft.com/office/drawing/2014/main" id="{30FD40B0-0F00-49F9-B951-5A772E28F0DF}"/>
              </a:ext>
            </a:extLst>
          </p:cNvPr>
          <p:cNvSpPr/>
          <p:nvPr/>
        </p:nvSpPr>
        <p:spPr>
          <a:xfrm>
            <a:off x="9621295" y="4966844"/>
            <a:ext cx="1124309" cy="357910"/>
          </a:xfrm>
          <a:prstGeom prst="wedgeRoundRectCallout">
            <a:avLst>
              <a:gd name="adj1" fmla="val -58559"/>
              <a:gd name="adj2" fmla="val -87562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Según estructura propuesta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352EB557-B187-4227-99D1-273508D14769}"/>
              </a:ext>
            </a:extLst>
          </p:cNvPr>
          <p:cNvSpPr/>
          <p:nvPr/>
        </p:nvSpPr>
        <p:spPr>
          <a:xfrm>
            <a:off x="9623413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27" name="Botón de acción: Hacia delante o Siguiente 32">
            <a:hlinkClick r:id="rId13" action="ppaction://hlinksldjump" highlightClick="1"/>
            <a:extLst>
              <a:ext uri="{FF2B5EF4-FFF2-40B4-BE49-F238E27FC236}">
                <a16:creationId xmlns:a16="http://schemas.microsoft.com/office/drawing/2014/main" id="{4680E86A-4716-43D8-AB11-C9E0AB601F2D}"/>
              </a:ext>
            </a:extLst>
          </p:cNvPr>
          <p:cNvSpPr/>
          <p:nvPr/>
        </p:nvSpPr>
        <p:spPr>
          <a:xfrm rot="10800000">
            <a:off x="1083346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97686271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Net Promoter Score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79"/>
            <a:ext cx="4552406" cy="74166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Medir la satisfacción y lealtad de los clientes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2020 BCF: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86%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Línea Base 2019 CV: 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23%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550927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847971"/>
            <a:ext cx="4552406" cy="73500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Presidente, VP Innovación y Digitalización, VP Comercial y de Servicio, VP de Riesgo, VP de TI, G. de Operaciones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Anual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Firma Externa (Hoy Global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Research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295171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239708"/>
            <a:ext cx="4552406" cy="124235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la probabilidad de que una persona recomiende CV/CF a otra persona.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NPS = 100% : todos los clientes son promotores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NPS = -100%: todos los clientes son detractores</a:t>
            </a:r>
          </a:p>
          <a:p>
            <a:pPr marL="265113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La muestra de clientes debe ser aleatoria y estadísticamente representativa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Net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Promoter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Score (NPS)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9"/>
            <a:ext cx="5347250" cy="34607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Imagen 1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BD6266D8-D8C8-4860-978F-D873E69DE130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9020969" y="3144951"/>
            <a:ext cx="360000" cy="360000"/>
          </a:xfrm>
          <a:prstGeom prst="rect">
            <a:avLst/>
          </a:prstGeom>
        </p:spPr>
      </p:pic>
      <p:pic>
        <p:nvPicPr>
          <p:cNvPr id="29" name="Imagen 28" descr="Imagen que contiene dibujo, reloj&#10;&#10;Descripción generada automáticamente">
            <a:extLst>
              <a:ext uri="{FF2B5EF4-FFF2-40B4-BE49-F238E27FC236}">
                <a16:creationId xmlns:a16="http://schemas.microsoft.com/office/drawing/2014/main" id="{F1A906D2-13B2-4E4E-B7FD-F9A301330C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37047" y="3144003"/>
            <a:ext cx="360000" cy="360000"/>
          </a:xfrm>
          <a:prstGeom prst="rect">
            <a:avLst/>
          </a:prstGeom>
        </p:spPr>
      </p:pic>
      <p:pic>
        <p:nvPicPr>
          <p:cNvPr id="31" name="Imagen 30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0F7CC60-90A4-4FD7-A163-4E28B8778432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6272735" y="3160561"/>
            <a:ext cx="360000" cy="360000"/>
          </a:xfrm>
          <a:prstGeom prst="rect">
            <a:avLst/>
          </a:prstGeom>
        </p:spPr>
      </p:pic>
      <p:pic>
        <p:nvPicPr>
          <p:cNvPr id="33" name="Imagen 32" descr="Imagen que contiene dibujo&#10;&#10;Descripción generada automáticamente">
            <a:extLst>
              <a:ext uri="{FF2B5EF4-FFF2-40B4-BE49-F238E27FC236}">
                <a16:creationId xmlns:a16="http://schemas.microsoft.com/office/drawing/2014/main" id="{9DC22AB6-8494-402C-B45A-0641CD24D3E3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6730774" y="3160561"/>
            <a:ext cx="360000" cy="360000"/>
          </a:xfrm>
          <a:prstGeom prst="rect">
            <a:avLst/>
          </a:prstGeom>
        </p:spPr>
      </p:pic>
      <p:pic>
        <p:nvPicPr>
          <p:cNvPr id="34" name="Imagen 33" descr="Imagen que contiene dibujo&#10;&#10;Descripción generada automáticamente">
            <a:extLst>
              <a:ext uri="{FF2B5EF4-FFF2-40B4-BE49-F238E27FC236}">
                <a16:creationId xmlns:a16="http://schemas.microsoft.com/office/drawing/2014/main" id="{6B1C619D-9525-4B28-A986-D126093E17FE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188813" y="3160561"/>
            <a:ext cx="360000" cy="360000"/>
          </a:xfrm>
          <a:prstGeom prst="rect">
            <a:avLst/>
          </a:prstGeom>
        </p:spPr>
      </p:pic>
      <p:pic>
        <p:nvPicPr>
          <p:cNvPr id="35" name="Imagen 3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218E3F84-7A0A-43E3-8F8C-9AF3C52C73AB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646852" y="3160561"/>
            <a:ext cx="360000" cy="360000"/>
          </a:xfrm>
          <a:prstGeom prst="rect">
            <a:avLst/>
          </a:prstGeom>
        </p:spPr>
      </p:pic>
      <p:pic>
        <p:nvPicPr>
          <p:cNvPr id="36" name="Imagen 35" descr="Imagen que contiene dibujo&#10;&#10;Descripción generada automáticamente">
            <a:extLst>
              <a:ext uri="{FF2B5EF4-FFF2-40B4-BE49-F238E27FC236}">
                <a16:creationId xmlns:a16="http://schemas.microsoft.com/office/drawing/2014/main" id="{492031AB-6BE2-4F2D-9C52-DE189C0A6068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8104891" y="3160561"/>
            <a:ext cx="360000" cy="360000"/>
          </a:xfrm>
          <a:prstGeom prst="rect">
            <a:avLst/>
          </a:prstGeom>
        </p:spPr>
      </p:pic>
      <p:pic>
        <p:nvPicPr>
          <p:cNvPr id="37" name="Imagen 3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45F303AA-FF60-4CC5-AF6D-E3048A12C9FD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8562930" y="3160561"/>
            <a:ext cx="360000" cy="360000"/>
          </a:xfrm>
          <a:prstGeom prst="rect">
            <a:avLst/>
          </a:prstGeom>
        </p:spPr>
      </p:pic>
      <p:pic>
        <p:nvPicPr>
          <p:cNvPr id="38" name="Imagen 3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422FC323-CA43-4A5C-85F1-3D33E1FFF200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9479008" y="3144951"/>
            <a:ext cx="360000" cy="360000"/>
          </a:xfrm>
          <a:prstGeom prst="rect">
            <a:avLst/>
          </a:prstGeom>
        </p:spPr>
      </p:pic>
      <p:pic>
        <p:nvPicPr>
          <p:cNvPr id="39" name="Imagen 38" descr="Imagen que contiene dibujo, reloj&#10;&#10;Descripción generada automáticamente">
            <a:extLst>
              <a:ext uri="{FF2B5EF4-FFF2-40B4-BE49-F238E27FC236}">
                <a16:creationId xmlns:a16="http://schemas.microsoft.com/office/drawing/2014/main" id="{9ED71DDE-AB85-43B6-A0EE-40AEF80829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95086" y="3144003"/>
            <a:ext cx="360000" cy="360000"/>
          </a:xfrm>
          <a:prstGeom prst="rect">
            <a:avLst/>
          </a:prstGeom>
        </p:spPr>
      </p:pic>
      <p:sp>
        <p:nvSpPr>
          <p:cNvPr id="40" name="Rectángulo: esquinas redondeadas 39">
            <a:extLst>
              <a:ext uri="{FF2B5EF4-FFF2-40B4-BE49-F238E27FC236}">
                <a16:creationId xmlns:a16="http://schemas.microsoft.com/office/drawing/2014/main" id="{E35A4542-2AB9-4EB6-A7A4-C757487A1BBB}"/>
              </a:ext>
            </a:extLst>
          </p:cNvPr>
          <p:cNvSpPr/>
          <p:nvPr/>
        </p:nvSpPr>
        <p:spPr>
          <a:xfrm>
            <a:off x="6415971" y="3604350"/>
            <a:ext cx="2367456" cy="151200"/>
          </a:xfrm>
          <a:prstGeom prst="roundRect">
            <a:avLst/>
          </a:prstGeom>
          <a:solidFill>
            <a:srgbClr val="B1B1B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Elipse 31">
            <a:extLst>
              <a:ext uri="{FF2B5EF4-FFF2-40B4-BE49-F238E27FC236}">
                <a16:creationId xmlns:a16="http://schemas.microsoft.com/office/drawing/2014/main" id="{94F76521-4DD8-486B-83E0-90BC31C61B19}"/>
              </a:ext>
            </a:extLst>
          </p:cNvPr>
          <p:cNvSpPr/>
          <p:nvPr/>
        </p:nvSpPr>
        <p:spPr>
          <a:xfrm>
            <a:off x="6369138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41" name="Elipse 40">
            <a:extLst>
              <a:ext uri="{FF2B5EF4-FFF2-40B4-BE49-F238E27FC236}">
                <a16:creationId xmlns:a16="http://schemas.microsoft.com/office/drawing/2014/main" id="{99236AD2-EC85-481B-BC79-DAC350DD79F1}"/>
              </a:ext>
            </a:extLst>
          </p:cNvPr>
          <p:cNvSpPr/>
          <p:nvPr/>
        </p:nvSpPr>
        <p:spPr>
          <a:xfrm>
            <a:off x="6827177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42" name="Elipse 41">
            <a:extLst>
              <a:ext uri="{FF2B5EF4-FFF2-40B4-BE49-F238E27FC236}">
                <a16:creationId xmlns:a16="http://schemas.microsoft.com/office/drawing/2014/main" id="{3E94864D-14F5-432F-A077-39518740D441}"/>
              </a:ext>
            </a:extLst>
          </p:cNvPr>
          <p:cNvSpPr/>
          <p:nvPr/>
        </p:nvSpPr>
        <p:spPr>
          <a:xfrm>
            <a:off x="7285216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43" name="Elipse 42">
            <a:extLst>
              <a:ext uri="{FF2B5EF4-FFF2-40B4-BE49-F238E27FC236}">
                <a16:creationId xmlns:a16="http://schemas.microsoft.com/office/drawing/2014/main" id="{71A0FDF1-9B88-43A0-B66F-D49FED0088CA}"/>
              </a:ext>
            </a:extLst>
          </p:cNvPr>
          <p:cNvSpPr/>
          <p:nvPr/>
        </p:nvSpPr>
        <p:spPr>
          <a:xfrm>
            <a:off x="7743255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44" name="Elipse 43">
            <a:extLst>
              <a:ext uri="{FF2B5EF4-FFF2-40B4-BE49-F238E27FC236}">
                <a16:creationId xmlns:a16="http://schemas.microsoft.com/office/drawing/2014/main" id="{2A0973E2-B2D4-4C3D-8797-1F98E73B8BDC}"/>
              </a:ext>
            </a:extLst>
          </p:cNvPr>
          <p:cNvSpPr/>
          <p:nvPr/>
        </p:nvSpPr>
        <p:spPr>
          <a:xfrm>
            <a:off x="8201294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45" name="Elipse 44">
            <a:extLst>
              <a:ext uri="{FF2B5EF4-FFF2-40B4-BE49-F238E27FC236}">
                <a16:creationId xmlns:a16="http://schemas.microsoft.com/office/drawing/2014/main" id="{654F8A5C-201C-4C1B-B422-8D406F5B8B02}"/>
              </a:ext>
            </a:extLst>
          </p:cNvPr>
          <p:cNvSpPr/>
          <p:nvPr/>
        </p:nvSpPr>
        <p:spPr>
          <a:xfrm>
            <a:off x="8659333" y="3596354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</a:p>
        </p:txBody>
      </p:sp>
      <p:sp>
        <p:nvSpPr>
          <p:cNvPr id="51" name="Rectángulo: esquinas redondeadas 50">
            <a:extLst>
              <a:ext uri="{FF2B5EF4-FFF2-40B4-BE49-F238E27FC236}">
                <a16:creationId xmlns:a16="http://schemas.microsoft.com/office/drawing/2014/main" id="{75381DB3-FE0D-4B65-8E13-F5E22BF8EBD5}"/>
              </a:ext>
            </a:extLst>
          </p:cNvPr>
          <p:cNvSpPr/>
          <p:nvPr/>
        </p:nvSpPr>
        <p:spPr>
          <a:xfrm>
            <a:off x="9200968" y="3604350"/>
            <a:ext cx="468133" cy="151200"/>
          </a:xfrm>
          <a:prstGeom prst="round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Elipse 45">
            <a:extLst>
              <a:ext uri="{FF2B5EF4-FFF2-40B4-BE49-F238E27FC236}">
                <a16:creationId xmlns:a16="http://schemas.microsoft.com/office/drawing/2014/main" id="{F26E1A71-532C-4B3C-8601-5FC5A9DF0E51}"/>
              </a:ext>
            </a:extLst>
          </p:cNvPr>
          <p:cNvSpPr/>
          <p:nvPr/>
        </p:nvSpPr>
        <p:spPr>
          <a:xfrm>
            <a:off x="9117372" y="3596354"/>
            <a:ext cx="167193" cy="167193"/>
          </a:xfrm>
          <a:prstGeom prst="ellipse">
            <a:avLst/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</a:p>
        </p:txBody>
      </p:sp>
      <p:sp>
        <p:nvSpPr>
          <p:cNvPr id="47" name="Elipse 46">
            <a:extLst>
              <a:ext uri="{FF2B5EF4-FFF2-40B4-BE49-F238E27FC236}">
                <a16:creationId xmlns:a16="http://schemas.microsoft.com/office/drawing/2014/main" id="{2BA9527E-A116-4EB1-8BEE-A764FAF9F2A0}"/>
              </a:ext>
            </a:extLst>
          </p:cNvPr>
          <p:cNvSpPr/>
          <p:nvPr/>
        </p:nvSpPr>
        <p:spPr>
          <a:xfrm>
            <a:off x="9575411" y="3596354"/>
            <a:ext cx="167193" cy="167193"/>
          </a:xfrm>
          <a:prstGeom prst="ellipse">
            <a:avLst/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</a:t>
            </a:r>
          </a:p>
        </p:txBody>
      </p:sp>
      <p:sp>
        <p:nvSpPr>
          <p:cNvPr id="52" name="Rectángulo: esquinas redondeadas 51">
            <a:extLst>
              <a:ext uri="{FF2B5EF4-FFF2-40B4-BE49-F238E27FC236}">
                <a16:creationId xmlns:a16="http://schemas.microsoft.com/office/drawing/2014/main" id="{E05CA0A1-79FD-4A4B-87F8-FCA6175B4F4A}"/>
              </a:ext>
            </a:extLst>
          </p:cNvPr>
          <p:cNvSpPr/>
          <p:nvPr/>
        </p:nvSpPr>
        <p:spPr>
          <a:xfrm>
            <a:off x="10112000" y="3604350"/>
            <a:ext cx="468133" cy="151200"/>
          </a:xfrm>
          <a:prstGeom prst="round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2B2F67EE-443C-4E67-9F00-E921F7140CE5}"/>
              </a:ext>
            </a:extLst>
          </p:cNvPr>
          <p:cNvSpPr/>
          <p:nvPr/>
        </p:nvSpPr>
        <p:spPr>
          <a:xfrm>
            <a:off x="10033450" y="3596354"/>
            <a:ext cx="167193" cy="167193"/>
          </a:xfrm>
          <a:prstGeom prst="ellipse">
            <a:avLst/>
          </a:prstGeom>
          <a:solidFill>
            <a:schemeClr val="accent6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</a:t>
            </a:r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61157B6-B413-4FB2-899E-9462B62179E0}"/>
              </a:ext>
            </a:extLst>
          </p:cNvPr>
          <p:cNvSpPr/>
          <p:nvPr/>
        </p:nvSpPr>
        <p:spPr>
          <a:xfrm>
            <a:off x="10491489" y="3596354"/>
            <a:ext cx="167193" cy="167193"/>
          </a:xfrm>
          <a:prstGeom prst="ellipse">
            <a:avLst/>
          </a:prstGeom>
          <a:solidFill>
            <a:schemeClr val="accent6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Rectángulo 49">
            <a:extLst>
              <a:ext uri="{FF2B5EF4-FFF2-40B4-BE49-F238E27FC236}">
                <a16:creationId xmlns:a16="http://schemas.microsoft.com/office/drawing/2014/main" id="{62C5D90A-1F33-40FE-976A-021BD50F5B0E}"/>
              </a:ext>
            </a:extLst>
          </p:cNvPr>
          <p:cNvSpPr/>
          <p:nvPr/>
        </p:nvSpPr>
        <p:spPr>
          <a:xfrm>
            <a:off x="7094881" y="3778262"/>
            <a:ext cx="1009636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Detractores</a:t>
            </a: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90577CBE-61E8-4FBE-908B-AD6D3AD8BC82}"/>
              </a:ext>
            </a:extLst>
          </p:cNvPr>
          <p:cNvSpPr/>
          <p:nvPr/>
        </p:nvSpPr>
        <p:spPr>
          <a:xfrm>
            <a:off x="9036978" y="3778262"/>
            <a:ext cx="783952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Neutros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23CD3C85-7BAC-4270-A905-01956427DCB6}"/>
              </a:ext>
            </a:extLst>
          </p:cNvPr>
          <p:cNvSpPr/>
          <p:nvPr/>
        </p:nvSpPr>
        <p:spPr>
          <a:xfrm>
            <a:off x="9860066" y="3778262"/>
            <a:ext cx="972000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Promotores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5F33F3A6-3C34-452C-BEF5-1896DF0C18DF}"/>
              </a:ext>
            </a:extLst>
          </p:cNvPr>
          <p:cNvSpPr/>
          <p:nvPr/>
        </p:nvSpPr>
        <p:spPr>
          <a:xfrm>
            <a:off x="8624968" y="4274843"/>
            <a:ext cx="1152000" cy="288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% promotores</a:t>
            </a:r>
          </a:p>
        </p:txBody>
      </p:sp>
      <p:sp>
        <p:nvSpPr>
          <p:cNvPr id="58" name="Signo menos 57">
            <a:extLst>
              <a:ext uri="{FF2B5EF4-FFF2-40B4-BE49-F238E27FC236}">
                <a16:creationId xmlns:a16="http://schemas.microsoft.com/office/drawing/2014/main" id="{3EB643D2-2FF9-4A8F-B285-0F55670C8DF4}"/>
              </a:ext>
            </a:extLst>
          </p:cNvPr>
          <p:cNvSpPr/>
          <p:nvPr/>
        </p:nvSpPr>
        <p:spPr>
          <a:xfrm>
            <a:off x="9044368" y="4650206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ACF5514B-D4CA-4E6B-A0D8-6E70D2C87C0E}"/>
              </a:ext>
            </a:extLst>
          </p:cNvPr>
          <p:cNvSpPr/>
          <p:nvPr/>
        </p:nvSpPr>
        <p:spPr>
          <a:xfrm>
            <a:off x="7071530" y="4504606"/>
            <a:ext cx="900000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NPS</a:t>
            </a:r>
          </a:p>
        </p:txBody>
      </p:sp>
      <p:sp>
        <p:nvSpPr>
          <p:cNvPr id="63" name="Rectángulo 62">
            <a:extLst>
              <a:ext uri="{FF2B5EF4-FFF2-40B4-BE49-F238E27FC236}">
                <a16:creationId xmlns:a16="http://schemas.microsoft.com/office/drawing/2014/main" id="{57B1C0E5-1923-4A44-912C-CDC6D644419E}"/>
              </a:ext>
            </a:extLst>
          </p:cNvPr>
          <p:cNvSpPr/>
          <p:nvPr/>
        </p:nvSpPr>
        <p:spPr>
          <a:xfrm>
            <a:off x="8624968" y="4847971"/>
            <a:ext cx="1152000" cy="288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% detractores</a:t>
            </a:r>
          </a:p>
        </p:txBody>
      </p:sp>
      <p:sp>
        <p:nvSpPr>
          <p:cNvPr id="67" name="Rectángulo 66">
            <a:extLst>
              <a:ext uri="{FF2B5EF4-FFF2-40B4-BE49-F238E27FC236}">
                <a16:creationId xmlns:a16="http://schemas.microsoft.com/office/drawing/2014/main" id="{537F0514-A17C-4626-8B4A-5616C06CC1D6}"/>
              </a:ext>
            </a:extLst>
          </p:cNvPr>
          <p:cNvSpPr/>
          <p:nvPr/>
        </p:nvSpPr>
        <p:spPr>
          <a:xfrm>
            <a:off x="10488283" y="3590472"/>
            <a:ext cx="163449" cy="179562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10</a:t>
            </a:r>
          </a:p>
        </p:txBody>
      </p:sp>
      <p:cxnSp>
        <p:nvCxnSpPr>
          <p:cNvPr id="68" name="Conector: angular 67">
            <a:extLst>
              <a:ext uri="{FF2B5EF4-FFF2-40B4-BE49-F238E27FC236}">
                <a16:creationId xmlns:a16="http://schemas.microsoft.com/office/drawing/2014/main" id="{829A3DD1-1EB0-4673-B828-CB27B5BA5A47}"/>
              </a:ext>
            </a:extLst>
          </p:cNvPr>
          <p:cNvCxnSpPr>
            <a:cxnSpLocks/>
            <a:stCxn id="60" idx="3"/>
            <a:endCxn id="54" idx="1"/>
          </p:cNvCxnSpPr>
          <p:nvPr/>
        </p:nvCxnSpPr>
        <p:spPr>
          <a:xfrm flipV="1">
            <a:off x="7971530" y="4418843"/>
            <a:ext cx="653438" cy="25215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5B263AFB-AAD7-4E0B-8293-2128273A33A2}"/>
              </a:ext>
            </a:extLst>
          </p:cNvPr>
          <p:cNvCxnSpPr>
            <a:cxnSpLocks/>
            <a:stCxn id="60" idx="3"/>
            <a:endCxn id="63" idx="1"/>
          </p:cNvCxnSpPr>
          <p:nvPr/>
        </p:nvCxnSpPr>
        <p:spPr>
          <a:xfrm>
            <a:off x="7971530" y="4670994"/>
            <a:ext cx="653438" cy="32097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7" name="Rectángulo 76">
            <a:extLst>
              <a:ext uri="{FF2B5EF4-FFF2-40B4-BE49-F238E27FC236}">
                <a16:creationId xmlns:a16="http://schemas.microsoft.com/office/drawing/2014/main" id="{8D9DDC31-FDF5-4E3E-9CFD-D84194BC6EEF}"/>
              </a:ext>
            </a:extLst>
          </p:cNvPr>
          <p:cNvSpPr/>
          <p:nvPr/>
        </p:nvSpPr>
        <p:spPr>
          <a:xfrm>
            <a:off x="6286133" y="2591486"/>
            <a:ext cx="4482351" cy="35305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b="1">
                <a:solidFill>
                  <a:schemeClr val="accent1"/>
                </a:solidFill>
              </a:rPr>
              <a:t>Encuesta a clientes: </a:t>
            </a:r>
            <a:r>
              <a:rPr lang="es-ES" sz="1200">
                <a:solidFill>
                  <a:schemeClr val="accent1"/>
                </a:solidFill>
              </a:rPr>
              <a:t>En una escala de 1 -10 en que medida está dispuesto a recomendar BCF/CV a un familiar o amigo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6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BDE6957F-0639-4E9B-A76D-1ED50E47BE93}"/>
              </a:ext>
            </a:extLst>
          </p:cNvPr>
          <p:cNvSpPr/>
          <p:nvPr/>
        </p:nvSpPr>
        <p:spPr>
          <a:xfrm rot="10800000">
            <a:off x="403005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0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72668DEF-1936-4F7D-A66D-C074EC7821E2}"/>
              </a:ext>
            </a:extLst>
          </p:cNvPr>
          <p:cNvSpPr/>
          <p:nvPr/>
        </p:nvSpPr>
        <p:spPr>
          <a:xfrm rot="10800000">
            <a:off x="10961159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7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924B9514-3CA5-4DFD-B495-EE8660C36A07}"/>
              </a:ext>
            </a:extLst>
          </p:cNvPr>
          <p:cNvSpPr/>
          <p:nvPr/>
        </p:nvSpPr>
        <p:spPr>
          <a:xfrm rot="10800000">
            <a:off x="5295313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7ADCF6C8-F270-4EF4-A463-B76FADD55DAF}"/>
              </a:ext>
            </a:extLst>
          </p:cNvPr>
          <p:cNvSpPr/>
          <p:nvPr/>
        </p:nvSpPr>
        <p:spPr>
          <a:xfrm>
            <a:off x="4419133" y="6471686"/>
            <a:ext cx="117778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</a:t>
            </a:r>
          </a:p>
        </p:txBody>
      </p:sp>
      <p:sp>
        <p:nvSpPr>
          <p:cNvPr id="65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16B7CE1B-C47F-4F4B-94EE-6431952F7E07}"/>
              </a:ext>
            </a:extLst>
          </p:cNvPr>
          <p:cNvSpPr/>
          <p:nvPr/>
        </p:nvSpPr>
        <p:spPr>
          <a:xfrm rot="10800000">
            <a:off x="644400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3" name="Rectángulo 72">
            <a:extLst>
              <a:ext uri="{FF2B5EF4-FFF2-40B4-BE49-F238E27FC236}">
                <a16:creationId xmlns:a16="http://schemas.microsoft.com/office/drawing/2014/main" id="{7DC0A3E5-764C-4739-BC02-0602C5BF4DB0}"/>
              </a:ext>
            </a:extLst>
          </p:cNvPr>
          <p:cNvSpPr/>
          <p:nvPr/>
        </p:nvSpPr>
        <p:spPr>
          <a:xfrm>
            <a:off x="5747387" y="647168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  <p:sp>
        <p:nvSpPr>
          <p:cNvPr id="83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CF10FFB0-23EA-4560-9E7F-BCF5F2CFF88A}"/>
              </a:ext>
            </a:extLst>
          </p:cNvPr>
          <p:cNvSpPr/>
          <p:nvPr/>
        </p:nvSpPr>
        <p:spPr>
          <a:xfrm rot="10800000">
            <a:off x="782439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5" name="Rectángulo 84">
            <a:extLst>
              <a:ext uri="{FF2B5EF4-FFF2-40B4-BE49-F238E27FC236}">
                <a16:creationId xmlns:a16="http://schemas.microsoft.com/office/drawing/2014/main" id="{8DB48894-E501-4F62-90EB-8B0ED2FC05A1}"/>
              </a:ext>
            </a:extLst>
          </p:cNvPr>
          <p:cNvSpPr/>
          <p:nvPr/>
        </p:nvSpPr>
        <p:spPr>
          <a:xfrm>
            <a:off x="6859567" y="6471686"/>
            <a:ext cx="124059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  <p:sp>
        <p:nvSpPr>
          <p:cNvPr id="87" name="Botón de acción: Hacia delante o Siguiente 3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49CE43DD-7C45-442A-B5A5-791CB4458B3F}"/>
              </a:ext>
            </a:extLst>
          </p:cNvPr>
          <p:cNvSpPr/>
          <p:nvPr/>
        </p:nvSpPr>
        <p:spPr>
          <a:xfrm rot="10800000">
            <a:off x="9173461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9" name="Rectángulo 88">
            <a:extLst>
              <a:ext uri="{FF2B5EF4-FFF2-40B4-BE49-F238E27FC236}">
                <a16:creationId xmlns:a16="http://schemas.microsoft.com/office/drawing/2014/main" id="{003F5438-C875-4E66-8883-8E3D7EC2103B}"/>
              </a:ext>
            </a:extLst>
          </p:cNvPr>
          <p:cNvSpPr/>
          <p:nvPr/>
        </p:nvSpPr>
        <p:spPr>
          <a:xfrm>
            <a:off x="8250634" y="6471686"/>
            <a:ext cx="124059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69A909CE-372E-415B-B977-ECE6B538E887}"/>
              </a:ext>
            </a:extLst>
          </p:cNvPr>
          <p:cNvSpPr/>
          <p:nvPr/>
        </p:nvSpPr>
        <p:spPr>
          <a:xfrm>
            <a:off x="1579077" y="6471686"/>
            <a:ext cx="1484370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62" name="Botón de acción: Hacia delante o Siguiente 32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1D3B1F87-C81F-4AF2-B3CF-8712A2A56BCB}"/>
              </a:ext>
            </a:extLst>
          </p:cNvPr>
          <p:cNvSpPr/>
          <p:nvPr/>
        </p:nvSpPr>
        <p:spPr>
          <a:xfrm rot="10800000">
            <a:off x="2823428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76" name="Rectángulo 75">
            <a:extLst>
              <a:ext uri="{FF2B5EF4-FFF2-40B4-BE49-F238E27FC236}">
                <a16:creationId xmlns:a16="http://schemas.microsoft.com/office/drawing/2014/main" id="{0EF9F9FA-8B26-4FE8-8934-581D15B56E93}"/>
              </a:ext>
            </a:extLst>
          </p:cNvPr>
          <p:cNvSpPr/>
          <p:nvPr/>
        </p:nvSpPr>
        <p:spPr>
          <a:xfrm>
            <a:off x="9641699" y="6471686"/>
            <a:ext cx="158113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1C451573-C573-4EC6-B893-06307D65B81D}"/>
              </a:ext>
            </a:extLst>
          </p:cNvPr>
          <p:cNvSpPr/>
          <p:nvPr/>
        </p:nvSpPr>
        <p:spPr>
          <a:xfrm>
            <a:off x="3213919" y="6471686"/>
            <a:ext cx="105474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175728460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de digitalización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6527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de digitalización de la organización,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652302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940301"/>
            <a:ext cx="4552406" cy="64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Innovación, Gerentes de Producto (según producto a cargo)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6331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51311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de digitalización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de Innovación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325598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Total de hitos del plan de digitalización</a:t>
            </a: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568657"/>
            <a:ext cx="146964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del plan de digitalización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805436" y="3180103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50261" y="312931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435988"/>
            <a:ext cx="429356" cy="42282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58816"/>
            <a:ext cx="429356" cy="40149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CuadroTexto 2">
            <a:extLst>
              <a:ext uri="{FF2B5EF4-FFF2-40B4-BE49-F238E27FC236}">
                <a16:creationId xmlns:a16="http://schemas.microsoft.com/office/drawing/2014/main" id="{8CBC7323-413B-4DCA-A580-2009048477B1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172AA499-29E4-4645-995A-B4B3CD564933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26043A4-291E-40E3-82E2-D65D057A1E3F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64670512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99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canal digital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en el canal digital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Innovación y </a:t>
            </a:r>
            <a:r>
              <a:rPr lang="es-CO" sz="1200" err="1">
                <a:latin typeface="Arial" panose="020B0604020202020204" pitchFamily="34" charset="0"/>
                <a:cs typeface="Arial" panose="020B0604020202020204" pitchFamily="34" charset="0"/>
              </a:rPr>
              <a:t>Dig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., G. Mercadeo 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digitalización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del canal digital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8244391" y="3035670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Volumen de venta en el canal digital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8244390" y="4080308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venta en el canal digital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838265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6144419" y="3562468"/>
            <a:ext cx="158345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venta del canal digital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27874" y="3323670"/>
            <a:ext cx="516517" cy="5289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27874" y="3852627"/>
            <a:ext cx="516516" cy="51568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869252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0CEBD855-F800-4E47-965B-3C54D57A47A4}"/>
              </a:ext>
            </a:extLst>
          </p:cNvPr>
          <p:cNvSpPr/>
          <p:nvPr/>
        </p:nvSpPr>
        <p:spPr>
          <a:xfrm>
            <a:off x="9903935" y="3008670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48" name="Cerrar llave 47">
            <a:extLst>
              <a:ext uri="{FF2B5EF4-FFF2-40B4-BE49-F238E27FC236}">
                <a16:creationId xmlns:a16="http://schemas.microsoft.com/office/drawing/2014/main" id="{A98655DF-C4C3-4813-8C22-311BC4CE17CB}"/>
              </a:ext>
            </a:extLst>
          </p:cNvPr>
          <p:cNvSpPr/>
          <p:nvPr/>
        </p:nvSpPr>
        <p:spPr>
          <a:xfrm rot="10800000">
            <a:off x="9869252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D570EFF3-E8C5-4E68-9E28-CD98DBC5C61E}"/>
              </a:ext>
            </a:extLst>
          </p:cNvPr>
          <p:cNvSpPr/>
          <p:nvPr/>
        </p:nvSpPr>
        <p:spPr>
          <a:xfrm>
            <a:off x="9903935" y="4067972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05CA6B39-3222-497B-8237-A22BA749075E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602BCD58-36B6-4D61-A947-D286A2D08486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03753C6-B9B6-489A-9818-1E55A1F6CD43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2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CB7780EE-03D6-4AD1-A385-506B53C47EC4}"/>
              </a:ext>
            </a:extLst>
          </p:cNvPr>
          <p:cNvSpPr/>
          <p:nvPr/>
        </p:nvSpPr>
        <p:spPr>
          <a:xfrm rot="10800000">
            <a:off x="9602084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AAA5932B-1962-4FAB-A033-B9FCD1AA71C0}"/>
              </a:ext>
            </a:extLst>
          </p:cNvPr>
          <p:cNvSpPr/>
          <p:nvPr/>
        </p:nvSpPr>
        <p:spPr>
          <a:xfrm>
            <a:off x="7984039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37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F5B774D-796D-41CD-884A-EEE9AB7A7563}"/>
              </a:ext>
            </a:extLst>
          </p:cNvPr>
          <p:cNvSpPr/>
          <p:nvPr/>
        </p:nvSpPr>
        <p:spPr>
          <a:xfrm rot="10800000">
            <a:off x="7516317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6878BA55-D85A-48DA-9933-689732662247}"/>
              </a:ext>
            </a:extLst>
          </p:cNvPr>
          <p:cNvSpPr/>
          <p:nvPr/>
        </p:nvSpPr>
        <p:spPr>
          <a:xfrm>
            <a:off x="6530613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187962806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Contribución agregada de los canales digitales, alternos y alianzas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 los canales digitales, alternos y alianzas en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Innovación y Digitalización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33271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en que el canal tenga un mayor margen financiero y sea más eficiente en sus operaciones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Contribución agregada de los canales digitales, alternos y alianzas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10E41CC5-EB45-4DAA-B4A0-DCBE3E21CFD8}"/>
              </a:ext>
            </a:extLst>
          </p:cNvPr>
          <p:cNvSpPr/>
          <p:nvPr/>
        </p:nvSpPr>
        <p:spPr>
          <a:xfrm>
            <a:off x="6043560" y="469811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endParaRPr lang="es-CO" sz="1300">
              <a:solidFill>
                <a:schemeClr val="tx1"/>
              </a:solidFill>
            </a:endParaRPr>
          </a:p>
        </p:txBody>
      </p:sp>
      <p:sp>
        <p:nvSpPr>
          <p:cNvPr id="80" name="Bocadillo: rectángulo con esquinas redondeadas 79">
            <a:extLst>
              <a:ext uri="{FF2B5EF4-FFF2-40B4-BE49-F238E27FC236}">
                <a16:creationId xmlns:a16="http://schemas.microsoft.com/office/drawing/2014/main" id="{B29D0F71-BC65-4C14-99B1-FB2CFAB76EFA}"/>
              </a:ext>
            </a:extLst>
          </p:cNvPr>
          <p:cNvSpPr/>
          <p:nvPr/>
        </p:nvSpPr>
        <p:spPr>
          <a:xfrm>
            <a:off x="6113771" y="4298773"/>
            <a:ext cx="1902845" cy="586238"/>
          </a:xfrm>
          <a:prstGeom prst="wedgeRoundRectCallout">
            <a:avLst>
              <a:gd name="adj1" fmla="val 24735"/>
              <a:gd name="adj2" fmla="val -9588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Calculo de la contribución agregada de los canales digitales, alternos y de alianzas</a:t>
            </a: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C2BC0E88-202B-4786-BF63-FA6893A5AE67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B90B97F-E956-4E8F-8EE9-DADA7E587C63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DA6E055-94EF-4409-BA53-2AB1DE810B4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CE5AEF18-0699-43A3-8A77-8269D02DDB4A}"/>
              </a:ext>
            </a:extLst>
          </p:cNvPr>
          <p:cNvSpPr/>
          <p:nvPr/>
        </p:nvSpPr>
        <p:spPr>
          <a:xfrm>
            <a:off x="6857998" y="3580609"/>
            <a:ext cx="1099081" cy="417984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92C8CFEE-2CC0-406E-82BD-D5B2CAA2F927}"/>
              </a:ext>
            </a:extLst>
          </p:cNvPr>
          <p:cNvSpPr/>
          <p:nvPr/>
        </p:nvSpPr>
        <p:spPr>
          <a:xfrm>
            <a:off x="8445326" y="286073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3DDA1558-8A62-4D29-BD52-20F9210A28EA}"/>
              </a:ext>
            </a:extLst>
          </p:cNvPr>
          <p:cNvSpPr/>
          <p:nvPr/>
        </p:nvSpPr>
        <p:spPr>
          <a:xfrm>
            <a:off x="8445326" y="361138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1C30A2AF-6261-4E4A-B5E7-16C50AF8BC04}"/>
              </a:ext>
            </a:extLst>
          </p:cNvPr>
          <p:cNvSpPr/>
          <p:nvPr/>
        </p:nvSpPr>
        <p:spPr>
          <a:xfrm>
            <a:off x="8445325" y="4382761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Gasto operacional</a:t>
            </a:r>
          </a:p>
        </p:txBody>
      </p:sp>
      <p:cxnSp>
        <p:nvCxnSpPr>
          <p:cNvPr id="41" name="Conector: angular 40">
            <a:extLst>
              <a:ext uri="{FF2B5EF4-FFF2-40B4-BE49-F238E27FC236}">
                <a16:creationId xmlns:a16="http://schemas.microsoft.com/office/drawing/2014/main" id="{41666990-60A0-4BDA-947B-C9BD42006C0C}"/>
              </a:ext>
            </a:extLst>
          </p:cNvPr>
          <p:cNvCxnSpPr>
            <a:cxnSpLocks/>
            <a:stCxn id="37" idx="3"/>
            <a:endCxn id="38" idx="1"/>
          </p:cNvCxnSpPr>
          <p:nvPr/>
        </p:nvCxnSpPr>
        <p:spPr>
          <a:xfrm flipV="1">
            <a:off x="7957079" y="3040736"/>
            <a:ext cx="488247" cy="748865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Conector: angular 41">
            <a:extLst>
              <a:ext uri="{FF2B5EF4-FFF2-40B4-BE49-F238E27FC236}">
                <a16:creationId xmlns:a16="http://schemas.microsoft.com/office/drawing/2014/main" id="{50F86E3B-D454-4166-9964-ACE06E2370CC}"/>
              </a:ext>
            </a:extLst>
          </p:cNvPr>
          <p:cNvCxnSpPr>
            <a:cxnSpLocks/>
            <a:stCxn id="37" idx="3"/>
            <a:endCxn id="40" idx="1"/>
          </p:cNvCxnSpPr>
          <p:nvPr/>
        </p:nvCxnSpPr>
        <p:spPr>
          <a:xfrm>
            <a:off x="7957079" y="3789601"/>
            <a:ext cx="488246" cy="77316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 recto 42">
            <a:extLst>
              <a:ext uri="{FF2B5EF4-FFF2-40B4-BE49-F238E27FC236}">
                <a16:creationId xmlns:a16="http://schemas.microsoft.com/office/drawing/2014/main" id="{4D86F4BD-34F0-4A3F-8729-C68F2ACDEB19}"/>
              </a:ext>
            </a:extLst>
          </p:cNvPr>
          <p:cNvCxnSpPr>
            <a:cxnSpLocks/>
            <a:stCxn id="37" idx="3"/>
            <a:endCxn id="39" idx="1"/>
          </p:cNvCxnSpPr>
          <p:nvPr/>
        </p:nvCxnSpPr>
        <p:spPr>
          <a:xfrm>
            <a:off x="7957079" y="3789601"/>
            <a:ext cx="488247" cy="178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8" name="Signo más 47">
            <a:extLst>
              <a:ext uri="{FF2B5EF4-FFF2-40B4-BE49-F238E27FC236}">
                <a16:creationId xmlns:a16="http://schemas.microsoft.com/office/drawing/2014/main" id="{6E748379-D196-4FD9-97AA-1F7F38F28D63}"/>
              </a:ext>
            </a:extLst>
          </p:cNvPr>
          <p:cNvSpPr/>
          <p:nvPr/>
        </p:nvSpPr>
        <p:spPr>
          <a:xfrm>
            <a:off x="8975176" y="3241962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9" name="Signo menos 48">
            <a:extLst>
              <a:ext uri="{FF2B5EF4-FFF2-40B4-BE49-F238E27FC236}">
                <a16:creationId xmlns:a16="http://schemas.microsoft.com/office/drawing/2014/main" id="{2D274B14-4620-44FB-B7EA-241A059611D7}"/>
              </a:ext>
            </a:extLst>
          </p:cNvPr>
          <p:cNvSpPr/>
          <p:nvPr/>
        </p:nvSpPr>
        <p:spPr>
          <a:xfrm>
            <a:off x="8975107" y="4124090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509490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Crecimiento neto del número de clientes activos 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crecimiento neto en la base de clientes activos del negocio, monitoreando los niveles de deserción de clientes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Línea base 2019: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3%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Línea base 2020: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-12%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Innovación y Digitalización, G. Mercadeo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indicador aumenta cuando el número de clientes nuevos es mayor al número de clientes salientes (deserción)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Niveles bajos de retención de clientes presionan el indicador a la baja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Crecimiento neto del número de clientes activos 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1" name="Conector angular 26">
            <a:extLst>
              <a:ext uri="{FF2B5EF4-FFF2-40B4-BE49-F238E27FC236}">
                <a16:creationId xmlns:a16="http://schemas.microsoft.com/office/drawing/2014/main" id="{EBCBFEA8-B2BA-4B0F-9256-3ED700297E9E}"/>
              </a:ext>
            </a:extLst>
          </p:cNvPr>
          <p:cNvCxnSpPr>
            <a:cxnSpLocks/>
          </p:cNvCxnSpPr>
          <p:nvPr/>
        </p:nvCxnSpPr>
        <p:spPr>
          <a:xfrm>
            <a:off x="6652832" y="2486897"/>
            <a:ext cx="3888000" cy="1584000"/>
          </a:xfrm>
          <a:prstGeom prst="bentConnector3">
            <a:avLst>
              <a:gd name="adj1" fmla="val 180"/>
            </a:avLst>
          </a:prstGeom>
          <a:ln w="19050" cmpd="sng">
            <a:solidFill>
              <a:schemeClr val="tx1"/>
            </a:solidFill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CuadroTexto 36">
            <a:extLst>
              <a:ext uri="{FF2B5EF4-FFF2-40B4-BE49-F238E27FC236}">
                <a16:creationId xmlns:a16="http://schemas.microsoft.com/office/drawing/2014/main" id="{B9A903C1-B904-4D61-802D-0A894EC50101}"/>
              </a:ext>
            </a:extLst>
          </p:cNvPr>
          <p:cNvSpPr txBox="1"/>
          <p:nvPr/>
        </p:nvSpPr>
        <p:spPr>
          <a:xfrm rot="16200000">
            <a:off x="5799897" y="3203020"/>
            <a:ext cx="14318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Número de Clientes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0029224C-F042-40DD-8017-3AC5E7FF4EA6}"/>
              </a:ext>
            </a:extLst>
          </p:cNvPr>
          <p:cNvSpPr/>
          <p:nvPr/>
        </p:nvSpPr>
        <p:spPr>
          <a:xfrm>
            <a:off x="6793422" y="3055585"/>
            <a:ext cx="540000" cy="10098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A220C647-3F9D-4EE7-B5F5-4D00DB5DFD0B}"/>
              </a:ext>
            </a:extLst>
          </p:cNvPr>
          <p:cNvSpPr/>
          <p:nvPr/>
        </p:nvSpPr>
        <p:spPr>
          <a:xfrm>
            <a:off x="8333208" y="3296180"/>
            <a:ext cx="540000" cy="769241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D2964C04-2E70-44C6-ACC0-CF11F69B58E0}"/>
              </a:ext>
            </a:extLst>
          </p:cNvPr>
          <p:cNvSpPr/>
          <p:nvPr/>
        </p:nvSpPr>
        <p:spPr>
          <a:xfrm>
            <a:off x="7563315" y="3055585"/>
            <a:ext cx="540000" cy="240596"/>
          </a:xfrm>
          <a:prstGeom prst="rect">
            <a:avLst/>
          </a:prstGeom>
          <a:solidFill>
            <a:schemeClr val="tx1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93B823E3-B216-4D30-B3AC-45303158E464}"/>
              </a:ext>
            </a:extLst>
          </p:cNvPr>
          <p:cNvSpPr/>
          <p:nvPr/>
        </p:nvSpPr>
        <p:spPr>
          <a:xfrm>
            <a:off x="9103101" y="2803761"/>
            <a:ext cx="540000" cy="496641"/>
          </a:xfrm>
          <a:prstGeom prst="rec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93D44956-46E1-4FD1-A17D-A7B21FA4804D}"/>
              </a:ext>
            </a:extLst>
          </p:cNvPr>
          <p:cNvSpPr/>
          <p:nvPr/>
        </p:nvSpPr>
        <p:spPr>
          <a:xfrm>
            <a:off x="9872994" y="2803761"/>
            <a:ext cx="540000" cy="125909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2" name="CuadroTexto 31">
            <a:extLst>
              <a:ext uri="{FF2B5EF4-FFF2-40B4-BE49-F238E27FC236}">
                <a16:creationId xmlns:a16="http://schemas.microsoft.com/office/drawing/2014/main" id="{76A177B4-B87E-4801-8E9C-A839B563D461}"/>
              </a:ext>
            </a:extLst>
          </p:cNvPr>
          <p:cNvSpPr txBox="1"/>
          <p:nvPr/>
        </p:nvSpPr>
        <p:spPr>
          <a:xfrm>
            <a:off x="6666076" y="4065424"/>
            <a:ext cx="87395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Clientes T</a:t>
            </a:r>
            <a:r>
              <a:rPr lang="es-CO" sz="1100" baseline="-25000">
                <a:solidFill>
                  <a:prstClr val="black"/>
                </a:solidFill>
              </a:rPr>
              <a:t>0</a:t>
            </a: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270C0E88-4EDF-4195-87E2-C650D9AC289C}"/>
              </a:ext>
            </a:extLst>
          </p:cNvPr>
          <p:cNvSpPr txBox="1"/>
          <p:nvPr/>
        </p:nvSpPr>
        <p:spPr>
          <a:xfrm>
            <a:off x="8312950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Retención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C1F20A2E-12F2-44B8-9148-B68AF3EA338A}"/>
              </a:ext>
            </a:extLst>
          </p:cNvPr>
          <p:cNvSpPr txBox="1"/>
          <p:nvPr/>
        </p:nvSpPr>
        <p:spPr>
          <a:xfrm>
            <a:off x="7435441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Deserción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5" name="CuadroTexto 34">
            <a:extLst>
              <a:ext uri="{FF2B5EF4-FFF2-40B4-BE49-F238E27FC236}">
                <a16:creationId xmlns:a16="http://schemas.microsoft.com/office/drawing/2014/main" id="{302BD7DA-FD81-4D4C-9391-BED251025458}"/>
              </a:ext>
            </a:extLst>
          </p:cNvPr>
          <p:cNvSpPr txBox="1"/>
          <p:nvPr/>
        </p:nvSpPr>
        <p:spPr>
          <a:xfrm>
            <a:off x="9822717" y="4065424"/>
            <a:ext cx="87395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Clientes T</a:t>
            </a:r>
            <a:r>
              <a:rPr lang="es-CO" sz="1100" baseline="-25000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B5516D94-849F-4B66-A1A3-8ACBAAAACCC9}"/>
              </a:ext>
            </a:extLst>
          </p:cNvPr>
          <p:cNvSpPr txBox="1"/>
          <p:nvPr/>
        </p:nvSpPr>
        <p:spPr>
          <a:xfrm>
            <a:off x="9168780" y="4065424"/>
            <a:ext cx="6639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Nuevos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45" name="CuadroTexto 44">
            <a:extLst>
              <a:ext uri="{FF2B5EF4-FFF2-40B4-BE49-F238E27FC236}">
                <a16:creationId xmlns:a16="http://schemas.microsoft.com/office/drawing/2014/main" id="{346787A4-9828-4A41-8CC4-022BA1A4F718}"/>
              </a:ext>
            </a:extLst>
          </p:cNvPr>
          <p:cNvSpPr txBox="1"/>
          <p:nvPr/>
        </p:nvSpPr>
        <p:spPr>
          <a:xfrm>
            <a:off x="8432691" y="4694393"/>
            <a:ext cx="2032801" cy="4514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400"/>
              <a:t>Clientes T</a:t>
            </a:r>
            <a:r>
              <a:rPr lang="es-CO" sz="1400" baseline="-25000"/>
              <a:t>1 - </a:t>
            </a:r>
            <a:r>
              <a:rPr lang="es-CO" sz="1400"/>
              <a:t>Clientes T</a:t>
            </a:r>
            <a:r>
              <a:rPr lang="es-CO" sz="1400" baseline="-25000"/>
              <a:t>0</a:t>
            </a:r>
          </a:p>
          <a:p>
            <a:endParaRPr lang="es-CO" sz="1400" baseline="-25000"/>
          </a:p>
        </p:txBody>
      </p:sp>
      <p:sp>
        <p:nvSpPr>
          <p:cNvPr id="46" name="CuadroTexto 45">
            <a:extLst>
              <a:ext uri="{FF2B5EF4-FFF2-40B4-BE49-F238E27FC236}">
                <a16:creationId xmlns:a16="http://schemas.microsoft.com/office/drawing/2014/main" id="{64D97DEA-DA54-493D-9A55-156F636E15AE}"/>
              </a:ext>
            </a:extLst>
          </p:cNvPr>
          <p:cNvSpPr txBox="1"/>
          <p:nvPr/>
        </p:nvSpPr>
        <p:spPr>
          <a:xfrm>
            <a:off x="8872958" y="4970618"/>
            <a:ext cx="10550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400"/>
              <a:t>Clientes T</a:t>
            </a:r>
            <a:r>
              <a:rPr lang="es-CO" sz="1400" baseline="-25000"/>
              <a:t>0</a:t>
            </a:r>
          </a:p>
        </p:txBody>
      </p:sp>
      <p:cxnSp>
        <p:nvCxnSpPr>
          <p:cNvPr id="47" name="Conector recto 46">
            <a:extLst>
              <a:ext uri="{FF2B5EF4-FFF2-40B4-BE49-F238E27FC236}">
                <a16:creationId xmlns:a16="http://schemas.microsoft.com/office/drawing/2014/main" id="{63B468BD-9574-47EF-A584-5509AF26858A}"/>
              </a:ext>
            </a:extLst>
          </p:cNvPr>
          <p:cNvCxnSpPr/>
          <p:nvPr/>
        </p:nvCxnSpPr>
        <p:spPr>
          <a:xfrm>
            <a:off x="8383884" y="4977953"/>
            <a:ext cx="1800000" cy="0"/>
          </a:xfrm>
          <a:prstGeom prst="line">
            <a:avLst/>
          </a:prstGeom>
          <a:ln w="1905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CuadroTexto 47">
            <a:extLst>
              <a:ext uri="{FF2B5EF4-FFF2-40B4-BE49-F238E27FC236}">
                <a16:creationId xmlns:a16="http://schemas.microsoft.com/office/drawing/2014/main" id="{9F739AFB-AE94-453A-A217-B7A3C4566BDE}"/>
              </a:ext>
            </a:extLst>
          </p:cNvPr>
          <p:cNvSpPr txBox="1"/>
          <p:nvPr/>
        </p:nvSpPr>
        <p:spPr>
          <a:xfrm>
            <a:off x="6337979" y="4691868"/>
            <a:ext cx="16674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O" sz="1400" b="1"/>
              <a:t>Crecimiento Neto</a:t>
            </a:r>
          </a:p>
          <a:p>
            <a:pPr algn="ctr"/>
            <a:r>
              <a:rPr lang="es-CO" sz="1400" b="1"/>
              <a:t>de Clientes (%)</a:t>
            </a:r>
          </a:p>
        </p:txBody>
      </p:sp>
      <p:sp>
        <p:nvSpPr>
          <p:cNvPr id="49" name="CuadroTexto 48">
            <a:extLst>
              <a:ext uri="{FF2B5EF4-FFF2-40B4-BE49-F238E27FC236}">
                <a16:creationId xmlns:a16="http://schemas.microsoft.com/office/drawing/2014/main" id="{27F4354C-4A03-48E3-B842-E0119B1713D9}"/>
              </a:ext>
            </a:extLst>
          </p:cNvPr>
          <p:cNvSpPr txBox="1"/>
          <p:nvPr/>
        </p:nvSpPr>
        <p:spPr>
          <a:xfrm>
            <a:off x="7952470" y="4732962"/>
            <a:ext cx="3642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2400"/>
              <a:t>=</a:t>
            </a: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7EC8A269-FB3D-4D83-8ECB-5E8780CAD52D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52C8427-D616-43C9-AB89-0177E76534DC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6138CDD-060D-478D-AC8A-0D230D31222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52387816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Top </a:t>
            </a:r>
            <a:r>
              <a:rPr lang="es-CO" sz="2000" err="1">
                <a:latin typeface="Arial" panose="020B0604020202020204" pitchFamily="34" charset="0"/>
                <a:cs typeface="Arial" panose="020B0604020202020204" pitchFamily="34" charset="0"/>
              </a:rPr>
              <a:t>of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sz="2000" err="1">
                <a:latin typeface="Arial" panose="020B0604020202020204" pitchFamily="34" charset="0"/>
                <a:cs typeface="Arial" panose="020B0604020202020204" pitchFamily="34" charset="0"/>
              </a:rPr>
              <a:t>mind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posicionamiento del banco CF y CV entre los consumidores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VP Innovación y Digitalización, G. Mercadeo 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Agencia externa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que los encuestados reconozcan a BCF/CV en las primeras menciones, el valor del indicador será mayor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favorables en este indicador indican una mayor probabilidad de que los productos y servicios de la organización sean considerados antes que los de los competidores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Top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of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mind</a:t>
            </a: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79914DCC-160D-48CC-821B-CD5637C0C053}"/>
              </a:ext>
            </a:extLst>
          </p:cNvPr>
          <p:cNvSpPr/>
          <p:nvPr/>
        </p:nvSpPr>
        <p:spPr>
          <a:xfrm>
            <a:off x="6066795" y="3583116"/>
            <a:ext cx="1645366" cy="619548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>
                <a:solidFill>
                  <a:schemeClr val="accent1"/>
                </a:solidFill>
              </a:rPr>
              <a:t>Encuestas o estudios de investigación de mercado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93D6398A-CA8E-4EE5-A46A-01C292A0B30C}"/>
              </a:ext>
            </a:extLst>
          </p:cNvPr>
          <p:cNvSpPr/>
          <p:nvPr/>
        </p:nvSpPr>
        <p:spPr>
          <a:xfrm>
            <a:off x="8179923" y="2536760"/>
            <a:ext cx="2575163" cy="826126"/>
          </a:xfrm>
          <a:prstGeom prst="rect">
            <a:avLst/>
          </a:prstGeom>
          <a:solidFill>
            <a:schemeClr val="accent4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 b="1">
                <a:solidFill>
                  <a:schemeClr val="accent1"/>
                </a:solidFill>
              </a:rPr>
              <a:t>Top </a:t>
            </a:r>
            <a:r>
              <a:rPr lang="es-ES" sz="1200" b="1" err="1">
                <a:solidFill>
                  <a:schemeClr val="accent1"/>
                </a:solidFill>
              </a:rPr>
              <a:t>of</a:t>
            </a:r>
            <a:r>
              <a:rPr lang="es-ES" sz="1200" b="1">
                <a:solidFill>
                  <a:schemeClr val="accent1"/>
                </a:solidFill>
              </a:rPr>
              <a:t> </a:t>
            </a:r>
            <a:r>
              <a:rPr lang="es-ES" sz="1200" b="1" err="1">
                <a:solidFill>
                  <a:schemeClr val="accent1"/>
                </a:solidFill>
              </a:rPr>
              <a:t>Mind</a:t>
            </a:r>
            <a:r>
              <a:rPr lang="es-ES" sz="1200">
                <a:solidFill>
                  <a:schemeClr val="accent1"/>
                </a:solidFill>
              </a:rPr>
              <a:t>: Marcas de la línea de negocio de BCF/CV conocidas - se toma sólo la primera mención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AC63DDF6-D116-4FA4-818D-DD55B012F909}"/>
              </a:ext>
            </a:extLst>
          </p:cNvPr>
          <p:cNvSpPr/>
          <p:nvPr/>
        </p:nvSpPr>
        <p:spPr>
          <a:xfrm>
            <a:off x="8179922" y="3481352"/>
            <a:ext cx="2575163" cy="82612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 b="1">
                <a:solidFill>
                  <a:schemeClr val="accent1"/>
                </a:solidFill>
              </a:rPr>
              <a:t>Recordación espontanea: </a:t>
            </a:r>
            <a:r>
              <a:rPr lang="es-ES" sz="1200">
                <a:solidFill>
                  <a:schemeClr val="accent1"/>
                </a:solidFill>
              </a:rPr>
              <a:t>Otras marcas de la línea negocio de BCF/CV conocidas - se toma la segunda y tercera mención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64632C38-F162-4A35-8B10-80C8063D1F16}"/>
              </a:ext>
            </a:extLst>
          </p:cNvPr>
          <p:cNvSpPr/>
          <p:nvPr/>
        </p:nvSpPr>
        <p:spPr>
          <a:xfrm>
            <a:off x="8179922" y="4423108"/>
            <a:ext cx="2575163" cy="82612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 b="1">
                <a:solidFill>
                  <a:schemeClr val="accent1"/>
                </a:solidFill>
              </a:rPr>
              <a:t>Recordación asistida: </a:t>
            </a:r>
            <a:r>
              <a:rPr lang="es-ES" sz="1200">
                <a:solidFill>
                  <a:schemeClr val="accent1"/>
                </a:solidFill>
              </a:rPr>
              <a:t>Marcas reconocidas del total de marcas de la línea de negocio de BCF/CV 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2730D4A6-4E25-4E7B-9576-789DE00C6C39}"/>
              </a:ext>
            </a:extLst>
          </p:cNvPr>
          <p:cNvSpPr/>
          <p:nvPr/>
        </p:nvSpPr>
        <p:spPr>
          <a:xfrm>
            <a:off x="8096325" y="2472493"/>
            <a:ext cx="167193" cy="167193"/>
          </a:xfrm>
          <a:prstGeom prst="ellipse">
            <a:avLst/>
          </a:prstGeom>
          <a:solidFill>
            <a:schemeClr val="accent6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34" name="Elipse 33">
            <a:extLst>
              <a:ext uri="{FF2B5EF4-FFF2-40B4-BE49-F238E27FC236}">
                <a16:creationId xmlns:a16="http://schemas.microsoft.com/office/drawing/2014/main" id="{24BD7642-17F4-4538-9B78-3EF646796986}"/>
              </a:ext>
            </a:extLst>
          </p:cNvPr>
          <p:cNvSpPr/>
          <p:nvPr/>
        </p:nvSpPr>
        <p:spPr>
          <a:xfrm>
            <a:off x="8096325" y="3434027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5" name="Elipse 34">
            <a:extLst>
              <a:ext uri="{FF2B5EF4-FFF2-40B4-BE49-F238E27FC236}">
                <a16:creationId xmlns:a16="http://schemas.microsoft.com/office/drawing/2014/main" id="{7C9A4250-899F-47DE-94FC-162AD4E132ED}"/>
              </a:ext>
            </a:extLst>
          </p:cNvPr>
          <p:cNvSpPr/>
          <p:nvPr/>
        </p:nvSpPr>
        <p:spPr>
          <a:xfrm>
            <a:off x="8096325" y="434481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15" name="Cerrar llave 14">
            <a:extLst>
              <a:ext uri="{FF2B5EF4-FFF2-40B4-BE49-F238E27FC236}">
                <a16:creationId xmlns:a16="http://schemas.microsoft.com/office/drawing/2014/main" id="{E0CCDD43-4F9F-40F8-845A-6928CB33B7AD}"/>
              </a:ext>
            </a:extLst>
          </p:cNvPr>
          <p:cNvSpPr/>
          <p:nvPr/>
        </p:nvSpPr>
        <p:spPr>
          <a:xfrm rot="10800000">
            <a:off x="7825396" y="2536758"/>
            <a:ext cx="167193" cy="2712475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391F6971-4309-4177-B75F-9C3D00448074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5A0505E-1FF7-41E3-A5C8-A361AE14354A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0AECBD9-C352-4FEF-858A-9BF68A65C1D9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37873357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Número Leads convertidos (Efectividad)</a:t>
            </a: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la efectividad de las campañas de mercadeo mediante el monitoreo de los leads que se traducen en ventas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Mercadeo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Mercadeo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favorables en este indicador indican una mayor efectividad de la campañas de mercadeo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Número Leads convertidos (Efectividad)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9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oup 3">
            <a:extLst>
              <a:ext uri="{FF2B5EF4-FFF2-40B4-BE49-F238E27FC236}">
                <a16:creationId xmlns:a16="http://schemas.microsoft.com/office/drawing/2014/main" id="{1253D0B2-46B3-4A4D-97C4-41BC0340DE53}"/>
              </a:ext>
            </a:extLst>
          </p:cNvPr>
          <p:cNvGrpSpPr/>
          <p:nvPr/>
        </p:nvGrpSpPr>
        <p:grpSpPr>
          <a:xfrm>
            <a:off x="7178313" y="4053474"/>
            <a:ext cx="945071" cy="510636"/>
            <a:chOff x="3411301" y="4528590"/>
            <a:chExt cx="1698755" cy="917862"/>
          </a:xfrm>
        </p:grpSpPr>
        <p:sp>
          <p:nvSpPr>
            <p:cNvPr id="27" name="Freeform 149">
              <a:extLst>
                <a:ext uri="{FF2B5EF4-FFF2-40B4-BE49-F238E27FC236}">
                  <a16:creationId xmlns:a16="http://schemas.microsoft.com/office/drawing/2014/main" id="{13C6AE21-A6B6-4865-B9E9-1690AABED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262" y="4530483"/>
              <a:ext cx="1684450" cy="915969"/>
            </a:xfrm>
            <a:custGeom>
              <a:avLst/>
              <a:gdLst>
                <a:gd name="T0" fmla="*/ 595 w 597"/>
                <a:gd name="T1" fmla="*/ 53 h 409"/>
                <a:gd name="T2" fmla="*/ 588 w 597"/>
                <a:gd name="T3" fmla="*/ 46 h 409"/>
                <a:gd name="T4" fmla="*/ 577 w 597"/>
                <a:gd name="T5" fmla="*/ 39 h 409"/>
                <a:gd name="T6" fmla="*/ 565 w 597"/>
                <a:gd name="T7" fmla="*/ 34 h 409"/>
                <a:gd name="T8" fmla="*/ 537 w 597"/>
                <a:gd name="T9" fmla="*/ 24 h 409"/>
                <a:gd name="T10" fmla="*/ 518 w 597"/>
                <a:gd name="T11" fmla="*/ 20 h 409"/>
                <a:gd name="T12" fmla="*/ 486 w 597"/>
                <a:gd name="T13" fmla="*/ 13 h 409"/>
                <a:gd name="T14" fmla="*/ 460 w 597"/>
                <a:gd name="T15" fmla="*/ 10 h 409"/>
                <a:gd name="T16" fmla="*/ 425 w 597"/>
                <a:gd name="T17" fmla="*/ 5 h 409"/>
                <a:gd name="T18" fmla="*/ 392 w 597"/>
                <a:gd name="T19" fmla="*/ 3 h 409"/>
                <a:gd name="T20" fmla="*/ 372 w 597"/>
                <a:gd name="T21" fmla="*/ 2 h 409"/>
                <a:gd name="T22" fmla="*/ 353 w 597"/>
                <a:gd name="T23" fmla="*/ 1 h 409"/>
                <a:gd name="T24" fmla="*/ 335 w 597"/>
                <a:gd name="T25" fmla="*/ 0 h 409"/>
                <a:gd name="T26" fmla="*/ 312 w 597"/>
                <a:gd name="T27" fmla="*/ 0 h 409"/>
                <a:gd name="T28" fmla="*/ 289 w 597"/>
                <a:gd name="T29" fmla="*/ 0 h 409"/>
                <a:gd name="T30" fmla="*/ 273 w 597"/>
                <a:gd name="T31" fmla="*/ 0 h 409"/>
                <a:gd name="T32" fmla="*/ 244 w 597"/>
                <a:gd name="T33" fmla="*/ 1 h 409"/>
                <a:gd name="T34" fmla="*/ 203 w 597"/>
                <a:gd name="T35" fmla="*/ 3 h 409"/>
                <a:gd name="T36" fmla="*/ 187 w 597"/>
                <a:gd name="T37" fmla="*/ 4 h 409"/>
                <a:gd name="T38" fmla="*/ 173 w 597"/>
                <a:gd name="T39" fmla="*/ 5 h 409"/>
                <a:gd name="T40" fmla="*/ 155 w 597"/>
                <a:gd name="T41" fmla="*/ 7 h 409"/>
                <a:gd name="T42" fmla="*/ 140 w 597"/>
                <a:gd name="T43" fmla="*/ 9 h 409"/>
                <a:gd name="T44" fmla="*/ 119 w 597"/>
                <a:gd name="T45" fmla="*/ 12 h 409"/>
                <a:gd name="T46" fmla="*/ 103 w 597"/>
                <a:gd name="T47" fmla="*/ 15 h 409"/>
                <a:gd name="T48" fmla="*/ 77 w 597"/>
                <a:gd name="T49" fmla="*/ 20 h 409"/>
                <a:gd name="T50" fmla="*/ 60 w 597"/>
                <a:gd name="T51" fmla="*/ 25 h 409"/>
                <a:gd name="T52" fmla="*/ 42 w 597"/>
                <a:gd name="T53" fmla="*/ 30 h 409"/>
                <a:gd name="T54" fmla="*/ 27 w 597"/>
                <a:gd name="T55" fmla="*/ 36 h 409"/>
                <a:gd name="T56" fmla="*/ 13 w 597"/>
                <a:gd name="T57" fmla="*/ 44 h 409"/>
                <a:gd name="T58" fmla="*/ 4 w 597"/>
                <a:gd name="T59" fmla="*/ 52 h 409"/>
                <a:gd name="T60" fmla="*/ 1 w 597"/>
                <a:gd name="T61" fmla="*/ 59 h 409"/>
                <a:gd name="T62" fmla="*/ 1 w 597"/>
                <a:gd name="T63" fmla="*/ 65 h 409"/>
                <a:gd name="T64" fmla="*/ 139 w 597"/>
                <a:gd name="T65" fmla="*/ 367 h 409"/>
                <a:gd name="T66" fmla="*/ 148 w 597"/>
                <a:gd name="T67" fmla="*/ 384 h 409"/>
                <a:gd name="T68" fmla="*/ 153 w 597"/>
                <a:gd name="T69" fmla="*/ 388 h 409"/>
                <a:gd name="T70" fmla="*/ 161 w 597"/>
                <a:gd name="T71" fmla="*/ 392 h 409"/>
                <a:gd name="T72" fmla="*/ 172 w 597"/>
                <a:gd name="T73" fmla="*/ 396 h 409"/>
                <a:gd name="T74" fmla="*/ 183 w 597"/>
                <a:gd name="T75" fmla="*/ 398 h 409"/>
                <a:gd name="T76" fmla="*/ 197 w 597"/>
                <a:gd name="T77" fmla="*/ 401 h 409"/>
                <a:gd name="T78" fmla="*/ 212 w 597"/>
                <a:gd name="T79" fmla="*/ 404 h 409"/>
                <a:gd name="T80" fmla="*/ 226 w 597"/>
                <a:gd name="T81" fmla="*/ 406 h 409"/>
                <a:gd name="T82" fmla="*/ 243 w 597"/>
                <a:gd name="T83" fmla="*/ 407 h 409"/>
                <a:gd name="T84" fmla="*/ 263 w 597"/>
                <a:gd name="T85" fmla="*/ 408 h 409"/>
                <a:gd name="T86" fmla="*/ 279 w 597"/>
                <a:gd name="T87" fmla="*/ 409 h 409"/>
                <a:gd name="T88" fmla="*/ 307 w 597"/>
                <a:gd name="T89" fmla="*/ 409 h 409"/>
                <a:gd name="T90" fmla="*/ 327 w 597"/>
                <a:gd name="T91" fmla="*/ 409 h 409"/>
                <a:gd name="T92" fmla="*/ 341 w 597"/>
                <a:gd name="T93" fmla="*/ 408 h 409"/>
                <a:gd name="T94" fmla="*/ 362 w 597"/>
                <a:gd name="T95" fmla="*/ 407 h 409"/>
                <a:gd name="T96" fmla="*/ 381 w 597"/>
                <a:gd name="T97" fmla="*/ 404 h 409"/>
                <a:gd name="T98" fmla="*/ 396 w 597"/>
                <a:gd name="T99" fmla="*/ 402 h 409"/>
                <a:gd name="T100" fmla="*/ 407 w 597"/>
                <a:gd name="T101" fmla="*/ 400 h 409"/>
                <a:gd name="T102" fmla="*/ 419 w 597"/>
                <a:gd name="T103" fmla="*/ 397 h 409"/>
                <a:gd name="T104" fmla="*/ 431 w 597"/>
                <a:gd name="T105" fmla="*/ 394 h 409"/>
                <a:gd name="T106" fmla="*/ 440 w 597"/>
                <a:gd name="T107" fmla="*/ 390 h 409"/>
                <a:gd name="T108" fmla="*/ 446 w 597"/>
                <a:gd name="T109" fmla="*/ 387 h 409"/>
                <a:gd name="T110" fmla="*/ 450 w 597"/>
                <a:gd name="T111" fmla="*/ 384 h 409"/>
                <a:gd name="T112" fmla="*/ 453 w 597"/>
                <a:gd name="T113" fmla="*/ 38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409">
                  <a:moveTo>
                    <a:pt x="597" y="60"/>
                  </a:moveTo>
                  <a:cubicBezTo>
                    <a:pt x="597" y="60"/>
                    <a:pt x="597" y="60"/>
                    <a:pt x="597" y="59"/>
                  </a:cubicBezTo>
                  <a:cubicBezTo>
                    <a:pt x="597" y="59"/>
                    <a:pt x="597" y="59"/>
                    <a:pt x="597" y="59"/>
                  </a:cubicBezTo>
                  <a:cubicBezTo>
                    <a:pt x="597" y="58"/>
                    <a:pt x="597" y="58"/>
                    <a:pt x="597" y="57"/>
                  </a:cubicBezTo>
                  <a:cubicBezTo>
                    <a:pt x="597" y="57"/>
                    <a:pt x="597" y="57"/>
                    <a:pt x="597" y="57"/>
                  </a:cubicBezTo>
                  <a:cubicBezTo>
                    <a:pt x="596" y="56"/>
                    <a:pt x="596" y="56"/>
                    <a:pt x="596" y="56"/>
                  </a:cubicBezTo>
                  <a:cubicBezTo>
                    <a:pt x="596" y="55"/>
                    <a:pt x="596" y="55"/>
                    <a:pt x="596" y="55"/>
                  </a:cubicBezTo>
                  <a:cubicBezTo>
                    <a:pt x="595" y="54"/>
                    <a:pt x="595" y="54"/>
                    <a:pt x="595" y="53"/>
                  </a:cubicBezTo>
                  <a:cubicBezTo>
                    <a:pt x="594" y="53"/>
                    <a:pt x="594" y="53"/>
                    <a:pt x="594" y="53"/>
                  </a:cubicBezTo>
                  <a:cubicBezTo>
                    <a:pt x="594" y="53"/>
                    <a:pt x="594" y="52"/>
                    <a:pt x="593" y="52"/>
                  </a:cubicBezTo>
                  <a:cubicBezTo>
                    <a:pt x="593" y="51"/>
                    <a:pt x="593" y="51"/>
                    <a:pt x="593" y="51"/>
                  </a:cubicBezTo>
                  <a:cubicBezTo>
                    <a:pt x="592" y="50"/>
                    <a:pt x="592" y="50"/>
                    <a:pt x="592" y="50"/>
                  </a:cubicBezTo>
                  <a:cubicBezTo>
                    <a:pt x="591" y="49"/>
                    <a:pt x="591" y="49"/>
                    <a:pt x="591" y="49"/>
                  </a:cubicBezTo>
                  <a:cubicBezTo>
                    <a:pt x="591" y="49"/>
                    <a:pt x="591" y="49"/>
                    <a:pt x="590" y="48"/>
                  </a:cubicBezTo>
                  <a:cubicBezTo>
                    <a:pt x="590" y="48"/>
                    <a:pt x="590" y="48"/>
                    <a:pt x="590" y="48"/>
                  </a:cubicBezTo>
                  <a:cubicBezTo>
                    <a:pt x="589" y="47"/>
                    <a:pt x="589" y="47"/>
                    <a:pt x="588" y="46"/>
                  </a:cubicBezTo>
                  <a:cubicBezTo>
                    <a:pt x="588" y="46"/>
                    <a:pt x="588" y="46"/>
                    <a:pt x="588" y="46"/>
                  </a:cubicBezTo>
                  <a:cubicBezTo>
                    <a:pt x="587" y="45"/>
                    <a:pt x="586" y="45"/>
                    <a:pt x="585" y="44"/>
                  </a:cubicBezTo>
                  <a:cubicBezTo>
                    <a:pt x="585" y="44"/>
                    <a:pt x="585" y="44"/>
                    <a:pt x="585" y="44"/>
                  </a:cubicBezTo>
                  <a:cubicBezTo>
                    <a:pt x="584" y="43"/>
                    <a:pt x="584" y="43"/>
                    <a:pt x="583" y="43"/>
                  </a:cubicBezTo>
                  <a:cubicBezTo>
                    <a:pt x="582" y="42"/>
                    <a:pt x="582" y="42"/>
                    <a:pt x="582" y="42"/>
                  </a:cubicBezTo>
                  <a:cubicBezTo>
                    <a:pt x="581" y="42"/>
                    <a:pt x="581" y="41"/>
                    <a:pt x="580" y="41"/>
                  </a:cubicBezTo>
                  <a:cubicBezTo>
                    <a:pt x="579" y="40"/>
                    <a:pt x="579" y="40"/>
                    <a:pt x="579" y="40"/>
                  </a:cubicBezTo>
                  <a:cubicBezTo>
                    <a:pt x="579" y="40"/>
                    <a:pt x="578" y="40"/>
                    <a:pt x="577" y="39"/>
                  </a:cubicBezTo>
                  <a:cubicBezTo>
                    <a:pt x="576" y="39"/>
                    <a:pt x="576" y="39"/>
                    <a:pt x="576" y="39"/>
                  </a:cubicBezTo>
                  <a:cubicBezTo>
                    <a:pt x="576" y="38"/>
                    <a:pt x="575" y="38"/>
                    <a:pt x="574" y="37"/>
                  </a:cubicBezTo>
                  <a:cubicBezTo>
                    <a:pt x="573" y="37"/>
                    <a:pt x="573" y="37"/>
                    <a:pt x="573" y="37"/>
                  </a:cubicBezTo>
                  <a:cubicBezTo>
                    <a:pt x="572" y="37"/>
                    <a:pt x="571" y="36"/>
                    <a:pt x="570" y="36"/>
                  </a:cubicBezTo>
                  <a:cubicBezTo>
                    <a:pt x="569" y="35"/>
                    <a:pt x="569" y="35"/>
                    <a:pt x="569" y="35"/>
                  </a:cubicBezTo>
                  <a:cubicBezTo>
                    <a:pt x="568" y="35"/>
                    <a:pt x="567" y="35"/>
                    <a:pt x="566" y="34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5" y="34"/>
                    <a:pt x="565" y="34"/>
                    <a:pt x="565" y="34"/>
                  </a:cubicBezTo>
                  <a:cubicBezTo>
                    <a:pt x="563" y="33"/>
                    <a:pt x="561" y="32"/>
                    <a:pt x="559" y="31"/>
                  </a:cubicBezTo>
                  <a:cubicBezTo>
                    <a:pt x="558" y="31"/>
                    <a:pt x="558" y="31"/>
                    <a:pt x="558" y="31"/>
                  </a:cubicBezTo>
                  <a:cubicBezTo>
                    <a:pt x="556" y="30"/>
                    <a:pt x="554" y="29"/>
                    <a:pt x="551" y="29"/>
                  </a:cubicBezTo>
                  <a:cubicBezTo>
                    <a:pt x="551" y="28"/>
                    <a:pt x="551" y="28"/>
                    <a:pt x="551" y="28"/>
                  </a:cubicBezTo>
                  <a:cubicBezTo>
                    <a:pt x="550" y="28"/>
                    <a:pt x="550" y="28"/>
                    <a:pt x="550" y="28"/>
                  </a:cubicBezTo>
                  <a:cubicBezTo>
                    <a:pt x="548" y="28"/>
                    <a:pt x="546" y="27"/>
                    <a:pt x="544" y="26"/>
                  </a:cubicBezTo>
                  <a:cubicBezTo>
                    <a:pt x="544" y="26"/>
                    <a:pt x="543" y="26"/>
                    <a:pt x="543" y="26"/>
                  </a:cubicBezTo>
                  <a:cubicBezTo>
                    <a:pt x="541" y="25"/>
                    <a:pt x="539" y="25"/>
                    <a:pt x="537" y="24"/>
                  </a:cubicBezTo>
                  <a:cubicBezTo>
                    <a:pt x="537" y="24"/>
                    <a:pt x="537" y="24"/>
                    <a:pt x="537" y="24"/>
                  </a:cubicBezTo>
                  <a:cubicBezTo>
                    <a:pt x="535" y="24"/>
                    <a:pt x="535" y="24"/>
                    <a:pt x="535" y="24"/>
                  </a:cubicBezTo>
                  <a:cubicBezTo>
                    <a:pt x="534" y="23"/>
                    <a:pt x="532" y="23"/>
                    <a:pt x="531" y="23"/>
                  </a:cubicBezTo>
                  <a:cubicBezTo>
                    <a:pt x="530" y="23"/>
                    <a:pt x="530" y="22"/>
                    <a:pt x="529" y="22"/>
                  </a:cubicBezTo>
                  <a:cubicBezTo>
                    <a:pt x="527" y="22"/>
                    <a:pt x="525" y="21"/>
                    <a:pt x="523" y="21"/>
                  </a:cubicBezTo>
                  <a:cubicBezTo>
                    <a:pt x="523" y="21"/>
                    <a:pt x="523" y="21"/>
                    <a:pt x="523" y="21"/>
                  </a:cubicBezTo>
                  <a:cubicBezTo>
                    <a:pt x="522" y="21"/>
                    <a:pt x="522" y="21"/>
                    <a:pt x="522" y="21"/>
                  </a:cubicBezTo>
                  <a:cubicBezTo>
                    <a:pt x="521" y="20"/>
                    <a:pt x="519" y="20"/>
                    <a:pt x="518" y="20"/>
                  </a:cubicBezTo>
                  <a:cubicBezTo>
                    <a:pt x="517" y="19"/>
                    <a:pt x="516" y="19"/>
                    <a:pt x="516" y="19"/>
                  </a:cubicBezTo>
                  <a:cubicBezTo>
                    <a:pt x="514" y="19"/>
                    <a:pt x="513" y="19"/>
                    <a:pt x="512" y="18"/>
                  </a:cubicBezTo>
                  <a:cubicBezTo>
                    <a:pt x="511" y="18"/>
                    <a:pt x="511" y="18"/>
                    <a:pt x="510" y="18"/>
                  </a:cubicBezTo>
                  <a:cubicBezTo>
                    <a:pt x="510" y="18"/>
                    <a:pt x="510" y="18"/>
                    <a:pt x="510" y="18"/>
                  </a:cubicBezTo>
                  <a:cubicBezTo>
                    <a:pt x="506" y="17"/>
                    <a:pt x="502" y="16"/>
                    <a:pt x="498" y="15"/>
                  </a:cubicBezTo>
                  <a:cubicBezTo>
                    <a:pt x="498" y="15"/>
                    <a:pt x="498" y="15"/>
                    <a:pt x="498" y="15"/>
                  </a:cubicBezTo>
                  <a:cubicBezTo>
                    <a:pt x="497" y="15"/>
                    <a:pt x="497" y="15"/>
                    <a:pt x="497" y="15"/>
                  </a:cubicBezTo>
                  <a:cubicBezTo>
                    <a:pt x="494" y="15"/>
                    <a:pt x="490" y="14"/>
                    <a:pt x="486" y="13"/>
                  </a:cubicBezTo>
                  <a:cubicBezTo>
                    <a:pt x="486" y="13"/>
                    <a:pt x="486" y="13"/>
                    <a:pt x="486" y="13"/>
                  </a:cubicBezTo>
                  <a:cubicBezTo>
                    <a:pt x="485" y="13"/>
                    <a:pt x="485" y="13"/>
                    <a:pt x="485" y="13"/>
                  </a:cubicBezTo>
                  <a:cubicBezTo>
                    <a:pt x="481" y="13"/>
                    <a:pt x="478" y="12"/>
                    <a:pt x="474" y="12"/>
                  </a:cubicBezTo>
                  <a:cubicBezTo>
                    <a:pt x="473" y="11"/>
                    <a:pt x="473" y="11"/>
                    <a:pt x="473" y="11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69" y="11"/>
                    <a:pt x="465" y="10"/>
                    <a:pt x="462" y="10"/>
                  </a:cubicBezTo>
                  <a:cubicBezTo>
                    <a:pt x="461" y="10"/>
                    <a:pt x="461" y="10"/>
                    <a:pt x="461" y="10"/>
                  </a:cubicBezTo>
                  <a:cubicBezTo>
                    <a:pt x="460" y="10"/>
                    <a:pt x="460" y="10"/>
                    <a:pt x="460" y="10"/>
                  </a:cubicBezTo>
                  <a:cubicBezTo>
                    <a:pt x="457" y="9"/>
                    <a:pt x="453" y="9"/>
                    <a:pt x="450" y="8"/>
                  </a:cubicBezTo>
                  <a:cubicBezTo>
                    <a:pt x="449" y="8"/>
                    <a:pt x="449" y="8"/>
                    <a:pt x="449" y="8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45" y="8"/>
                    <a:pt x="441" y="7"/>
                    <a:pt x="438" y="7"/>
                  </a:cubicBezTo>
                  <a:cubicBezTo>
                    <a:pt x="437" y="7"/>
                    <a:pt x="437" y="7"/>
                    <a:pt x="437" y="7"/>
                  </a:cubicBezTo>
                  <a:cubicBezTo>
                    <a:pt x="436" y="7"/>
                    <a:pt x="436" y="7"/>
                    <a:pt x="435" y="7"/>
                  </a:cubicBezTo>
                  <a:cubicBezTo>
                    <a:pt x="432" y="6"/>
                    <a:pt x="429" y="6"/>
                    <a:pt x="426" y="6"/>
                  </a:cubicBezTo>
                  <a:cubicBezTo>
                    <a:pt x="425" y="5"/>
                    <a:pt x="425" y="5"/>
                    <a:pt x="425" y="5"/>
                  </a:cubicBezTo>
                  <a:cubicBezTo>
                    <a:pt x="424" y="5"/>
                    <a:pt x="424" y="5"/>
                    <a:pt x="423" y="5"/>
                  </a:cubicBezTo>
                  <a:cubicBezTo>
                    <a:pt x="420" y="5"/>
                    <a:pt x="417" y="5"/>
                    <a:pt x="414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0" y="4"/>
                    <a:pt x="407" y="4"/>
                    <a:pt x="404" y="4"/>
                  </a:cubicBezTo>
                  <a:cubicBezTo>
                    <a:pt x="403" y="4"/>
                    <a:pt x="403" y="4"/>
                    <a:pt x="402" y="4"/>
                  </a:cubicBezTo>
                  <a:cubicBezTo>
                    <a:pt x="402" y="3"/>
                    <a:pt x="402" y="3"/>
                    <a:pt x="401" y="3"/>
                  </a:cubicBezTo>
                  <a:cubicBezTo>
                    <a:pt x="398" y="3"/>
                    <a:pt x="395" y="3"/>
                    <a:pt x="392" y="3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1" y="3"/>
                    <a:pt x="391" y="3"/>
                    <a:pt x="391" y="3"/>
                  </a:cubicBezTo>
                  <a:cubicBezTo>
                    <a:pt x="389" y="3"/>
                    <a:pt x="387" y="2"/>
                    <a:pt x="384" y="2"/>
                  </a:cubicBezTo>
                  <a:cubicBezTo>
                    <a:pt x="384" y="2"/>
                    <a:pt x="383" y="2"/>
                    <a:pt x="383" y="2"/>
                  </a:cubicBezTo>
                  <a:cubicBezTo>
                    <a:pt x="382" y="2"/>
                    <a:pt x="382" y="2"/>
                    <a:pt x="381" y="2"/>
                  </a:cubicBezTo>
                  <a:cubicBezTo>
                    <a:pt x="380" y="2"/>
                    <a:pt x="378" y="2"/>
                    <a:pt x="376" y="2"/>
                  </a:cubicBezTo>
                  <a:cubicBezTo>
                    <a:pt x="376" y="2"/>
                    <a:pt x="375" y="2"/>
                    <a:pt x="374" y="2"/>
                  </a:cubicBezTo>
                  <a:cubicBezTo>
                    <a:pt x="374" y="2"/>
                    <a:pt x="373" y="2"/>
                    <a:pt x="372" y="2"/>
                  </a:cubicBezTo>
                  <a:cubicBezTo>
                    <a:pt x="372" y="2"/>
                    <a:pt x="371" y="1"/>
                    <a:pt x="370" y="1"/>
                  </a:cubicBezTo>
                  <a:cubicBezTo>
                    <a:pt x="369" y="1"/>
                    <a:pt x="368" y="1"/>
                    <a:pt x="367" y="1"/>
                  </a:cubicBezTo>
                  <a:cubicBezTo>
                    <a:pt x="367" y="1"/>
                    <a:pt x="366" y="1"/>
                    <a:pt x="365" y="1"/>
                  </a:cubicBezTo>
                  <a:cubicBezTo>
                    <a:pt x="364" y="1"/>
                    <a:pt x="363" y="1"/>
                    <a:pt x="362" y="1"/>
                  </a:cubicBezTo>
                  <a:cubicBezTo>
                    <a:pt x="362" y="1"/>
                    <a:pt x="361" y="1"/>
                    <a:pt x="360" y="1"/>
                  </a:cubicBezTo>
                  <a:cubicBezTo>
                    <a:pt x="360" y="1"/>
                    <a:pt x="359" y="1"/>
                    <a:pt x="358" y="1"/>
                  </a:cubicBezTo>
                  <a:cubicBezTo>
                    <a:pt x="357" y="1"/>
                    <a:pt x="356" y="1"/>
                    <a:pt x="355" y="1"/>
                  </a:cubicBezTo>
                  <a:cubicBezTo>
                    <a:pt x="355" y="1"/>
                    <a:pt x="354" y="1"/>
                    <a:pt x="353" y="1"/>
                  </a:cubicBezTo>
                  <a:cubicBezTo>
                    <a:pt x="352" y="1"/>
                    <a:pt x="351" y="1"/>
                    <a:pt x="350" y="1"/>
                  </a:cubicBezTo>
                  <a:cubicBezTo>
                    <a:pt x="349" y="1"/>
                    <a:pt x="349" y="1"/>
                    <a:pt x="349" y="1"/>
                  </a:cubicBezTo>
                  <a:cubicBezTo>
                    <a:pt x="349" y="1"/>
                    <a:pt x="348" y="1"/>
                    <a:pt x="348" y="1"/>
                  </a:cubicBezTo>
                  <a:cubicBezTo>
                    <a:pt x="346" y="0"/>
                    <a:pt x="344" y="0"/>
                    <a:pt x="343" y="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42" y="0"/>
                    <a:pt x="342" y="0"/>
                    <a:pt x="341" y="0"/>
                  </a:cubicBezTo>
                  <a:cubicBezTo>
                    <a:pt x="340" y="0"/>
                    <a:pt x="339" y="0"/>
                    <a:pt x="338" y="0"/>
                  </a:cubicBezTo>
                  <a:cubicBezTo>
                    <a:pt x="337" y="0"/>
                    <a:pt x="336" y="0"/>
                    <a:pt x="335" y="0"/>
                  </a:cubicBezTo>
                  <a:cubicBezTo>
                    <a:pt x="335" y="0"/>
                    <a:pt x="334" y="0"/>
                    <a:pt x="334" y="0"/>
                  </a:cubicBezTo>
                  <a:cubicBezTo>
                    <a:pt x="334" y="0"/>
                    <a:pt x="333" y="0"/>
                    <a:pt x="333" y="0"/>
                  </a:cubicBezTo>
                  <a:cubicBezTo>
                    <a:pt x="331" y="0"/>
                    <a:pt x="329" y="0"/>
                    <a:pt x="328" y="0"/>
                  </a:cubicBezTo>
                  <a:cubicBezTo>
                    <a:pt x="326" y="0"/>
                    <a:pt x="325" y="0"/>
                    <a:pt x="324" y="0"/>
                  </a:cubicBezTo>
                  <a:cubicBezTo>
                    <a:pt x="322" y="0"/>
                    <a:pt x="321" y="0"/>
                    <a:pt x="320" y="0"/>
                  </a:cubicBezTo>
                  <a:cubicBezTo>
                    <a:pt x="318" y="0"/>
                    <a:pt x="317" y="0"/>
                    <a:pt x="316" y="0"/>
                  </a:cubicBezTo>
                  <a:cubicBezTo>
                    <a:pt x="314" y="0"/>
                    <a:pt x="313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0" y="0"/>
                    <a:pt x="309" y="0"/>
                    <a:pt x="308" y="0"/>
                  </a:cubicBezTo>
                  <a:cubicBezTo>
                    <a:pt x="306" y="0"/>
                    <a:pt x="305" y="0"/>
                    <a:pt x="304" y="0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2" y="0"/>
                    <a:pt x="301" y="0"/>
                    <a:pt x="300" y="0"/>
                  </a:cubicBezTo>
                  <a:cubicBezTo>
                    <a:pt x="299" y="0"/>
                    <a:pt x="298" y="0"/>
                    <a:pt x="296" y="0"/>
                  </a:cubicBezTo>
                  <a:cubicBezTo>
                    <a:pt x="295" y="0"/>
                    <a:pt x="294" y="0"/>
                    <a:pt x="293" y="0"/>
                  </a:cubicBezTo>
                  <a:cubicBezTo>
                    <a:pt x="292" y="0"/>
                    <a:pt x="290" y="0"/>
                    <a:pt x="2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0"/>
                    <a:pt x="287" y="0"/>
                    <a:pt x="286" y="0"/>
                  </a:cubicBezTo>
                  <a:cubicBezTo>
                    <a:pt x="284" y="0"/>
                    <a:pt x="283" y="0"/>
                    <a:pt x="282" y="0"/>
                  </a:cubicBezTo>
                  <a:cubicBezTo>
                    <a:pt x="281" y="0"/>
                    <a:pt x="280" y="0"/>
                    <a:pt x="278" y="0"/>
                  </a:cubicBezTo>
                  <a:cubicBezTo>
                    <a:pt x="277" y="0"/>
                    <a:pt x="275" y="0"/>
                    <a:pt x="274" y="0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73" y="0"/>
                    <a:pt x="273" y="0"/>
                  </a:cubicBezTo>
                  <a:cubicBezTo>
                    <a:pt x="272" y="0"/>
                    <a:pt x="271" y="0"/>
                    <a:pt x="270" y="0"/>
                  </a:cubicBezTo>
                  <a:cubicBezTo>
                    <a:pt x="269" y="0"/>
                    <a:pt x="267" y="0"/>
                    <a:pt x="266" y="0"/>
                  </a:cubicBezTo>
                  <a:cubicBezTo>
                    <a:pt x="264" y="0"/>
                    <a:pt x="263" y="0"/>
                    <a:pt x="262" y="0"/>
                  </a:cubicBezTo>
                  <a:cubicBezTo>
                    <a:pt x="261" y="0"/>
                    <a:pt x="260" y="0"/>
                    <a:pt x="259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6" y="0"/>
                    <a:pt x="254" y="0"/>
                    <a:pt x="252" y="0"/>
                  </a:cubicBezTo>
                  <a:cubicBezTo>
                    <a:pt x="249" y="1"/>
                    <a:pt x="247" y="1"/>
                    <a:pt x="244" y="1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37" y="1"/>
                    <a:pt x="230" y="1"/>
                    <a:pt x="223" y="2"/>
                  </a:cubicBezTo>
                  <a:cubicBezTo>
                    <a:pt x="223" y="2"/>
                    <a:pt x="223" y="2"/>
                    <a:pt x="223" y="2"/>
                  </a:cubicBezTo>
                  <a:cubicBezTo>
                    <a:pt x="219" y="2"/>
                    <a:pt x="215" y="2"/>
                    <a:pt x="211" y="2"/>
                  </a:cubicBezTo>
                  <a:cubicBezTo>
                    <a:pt x="210" y="2"/>
                    <a:pt x="210" y="2"/>
                    <a:pt x="209" y="3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208" y="3"/>
                    <a:pt x="207" y="3"/>
                    <a:pt x="207" y="3"/>
                  </a:cubicBezTo>
                  <a:cubicBezTo>
                    <a:pt x="206" y="3"/>
                    <a:pt x="205" y="3"/>
                    <a:pt x="203" y="3"/>
                  </a:cubicBezTo>
                  <a:cubicBezTo>
                    <a:pt x="203" y="3"/>
                    <a:pt x="203" y="3"/>
                    <a:pt x="202" y="3"/>
                  </a:cubicBezTo>
                  <a:cubicBezTo>
                    <a:pt x="201" y="3"/>
                    <a:pt x="200" y="3"/>
                    <a:pt x="199" y="3"/>
                  </a:cubicBezTo>
                  <a:cubicBezTo>
                    <a:pt x="199" y="3"/>
                    <a:pt x="198" y="3"/>
                    <a:pt x="197" y="3"/>
                  </a:cubicBezTo>
                  <a:cubicBezTo>
                    <a:pt x="197" y="3"/>
                    <a:pt x="196" y="3"/>
                    <a:pt x="196" y="3"/>
                  </a:cubicBezTo>
                  <a:cubicBezTo>
                    <a:pt x="195" y="4"/>
                    <a:pt x="194" y="4"/>
                    <a:pt x="193" y="4"/>
                  </a:cubicBezTo>
                  <a:cubicBezTo>
                    <a:pt x="192" y="4"/>
                    <a:pt x="192" y="4"/>
                    <a:pt x="191" y="4"/>
                  </a:cubicBezTo>
                  <a:cubicBezTo>
                    <a:pt x="191" y="4"/>
                    <a:pt x="190" y="4"/>
                    <a:pt x="189" y="4"/>
                  </a:cubicBezTo>
                  <a:cubicBezTo>
                    <a:pt x="188" y="4"/>
                    <a:pt x="188" y="4"/>
                    <a:pt x="187" y="4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5" y="4"/>
                    <a:pt x="183" y="5"/>
                    <a:pt x="182" y="5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0" y="5"/>
                    <a:pt x="179" y="5"/>
                    <a:pt x="178" y="5"/>
                  </a:cubicBezTo>
                  <a:cubicBezTo>
                    <a:pt x="177" y="5"/>
                    <a:pt x="176" y="5"/>
                    <a:pt x="175" y="5"/>
                  </a:cubicBezTo>
                  <a:cubicBezTo>
                    <a:pt x="175" y="5"/>
                    <a:pt x="174" y="5"/>
                    <a:pt x="174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2" y="6"/>
                    <a:pt x="171" y="6"/>
                    <a:pt x="169" y="6"/>
                  </a:cubicBezTo>
                  <a:cubicBezTo>
                    <a:pt x="169" y="6"/>
                    <a:pt x="168" y="6"/>
                    <a:pt x="168" y="6"/>
                  </a:cubicBezTo>
                  <a:cubicBezTo>
                    <a:pt x="168" y="6"/>
                    <a:pt x="168" y="6"/>
                    <a:pt x="168" y="6"/>
                  </a:cubicBezTo>
                  <a:cubicBezTo>
                    <a:pt x="167" y="6"/>
                    <a:pt x="166" y="6"/>
                    <a:pt x="165" y="6"/>
                  </a:cubicBezTo>
                  <a:cubicBezTo>
                    <a:pt x="164" y="6"/>
                    <a:pt x="163" y="7"/>
                    <a:pt x="161" y="7"/>
                  </a:cubicBezTo>
                  <a:cubicBezTo>
                    <a:pt x="160" y="7"/>
                    <a:pt x="159" y="7"/>
                    <a:pt x="157" y="7"/>
                  </a:cubicBezTo>
                  <a:cubicBezTo>
                    <a:pt x="157" y="7"/>
                    <a:pt x="156" y="7"/>
                    <a:pt x="155" y="7"/>
                  </a:cubicBezTo>
                  <a:cubicBezTo>
                    <a:pt x="155" y="7"/>
                    <a:pt x="155" y="7"/>
                    <a:pt x="155" y="7"/>
                  </a:cubicBezTo>
                  <a:cubicBezTo>
                    <a:pt x="154" y="7"/>
                    <a:pt x="154" y="8"/>
                    <a:pt x="153" y="8"/>
                  </a:cubicBezTo>
                  <a:cubicBezTo>
                    <a:pt x="152" y="8"/>
                    <a:pt x="151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7" y="8"/>
                    <a:pt x="146" y="8"/>
                    <a:pt x="145" y="9"/>
                  </a:cubicBezTo>
                  <a:cubicBezTo>
                    <a:pt x="145" y="9"/>
                    <a:pt x="144" y="9"/>
                    <a:pt x="144" y="9"/>
                  </a:cubicBezTo>
                  <a:cubicBezTo>
                    <a:pt x="143" y="9"/>
                    <a:pt x="142" y="9"/>
                    <a:pt x="141" y="9"/>
                  </a:cubicBezTo>
                  <a:cubicBezTo>
                    <a:pt x="141" y="9"/>
                    <a:pt x="140" y="9"/>
                    <a:pt x="140" y="9"/>
                  </a:cubicBezTo>
                  <a:cubicBezTo>
                    <a:pt x="139" y="9"/>
                    <a:pt x="139" y="9"/>
                    <a:pt x="138" y="9"/>
                  </a:cubicBezTo>
                  <a:cubicBezTo>
                    <a:pt x="137" y="10"/>
                    <a:pt x="137" y="10"/>
                    <a:pt x="136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4" y="10"/>
                    <a:pt x="133" y="10"/>
                    <a:pt x="132" y="10"/>
                  </a:cubicBezTo>
                  <a:cubicBezTo>
                    <a:pt x="130" y="11"/>
                    <a:pt x="129" y="11"/>
                    <a:pt x="128" y="11"/>
                  </a:cubicBezTo>
                  <a:cubicBezTo>
                    <a:pt x="127" y="11"/>
                    <a:pt x="126" y="11"/>
                    <a:pt x="125" y="11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3" y="12"/>
                    <a:pt x="121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17" y="12"/>
                    <a:pt x="117" y="13"/>
                  </a:cubicBezTo>
                  <a:cubicBezTo>
                    <a:pt x="115" y="13"/>
                    <a:pt x="114" y="13"/>
                    <a:pt x="112" y="13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111" y="13"/>
                    <a:pt x="111" y="14"/>
                    <a:pt x="111" y="14"/>
                  </a:cubicBezTo>
                  <a:cubicBezTo>
                    <a:pt x="109" y="14"/>
                    <a:pt x="107" y="14"/>
                    <a:pt x="105" y="15"/>
                  </a:cubicBezTo>
                  <a:cubicBezTo>
                    <a:pt x="105" y="15"/>
                    <a:pt x="104" y="15"/>
                    <a:pt x="104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0" y="15"/>
                    <a:pt x="98" y="16"/>
                    <a:pt x="95" y="16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0" y="17"/>
                    <a:pt x="87" y="18"/>
                    <a:pt x="84" y="19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2" y="19"/>
                    <a:pt x="80" y="20"/>
                    <a:pt x="79" y="20"/>
                  </a:cubicBezTo>
                  <a:cubicBezTo>
                    <a:pt x="78" y="20"/>
                    <a:pt x="78" y="20"/>
                    <a:pt x="77" y="20"/>
                  </a:cubicBezTo>
                  <a:cubicBezTo>
                    <a:pt x="76" y="21"/>
                    <a:pt x="74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0" y="22"/>
                    <a:pt x="68" y="22"/>
                    <a:pt x="67" y="23"/>
                  </a:cubicBezTo>
                  <a:cubicBezTo>
                    <a:pt x="66" y="23"/>
                    <a:pt x="66" y="23"/>
                    <a:pt x="65" y="23"/>
                  </a:cubicBezTo>
                  <a:cubicBezTo>
                    <a:pt x="64" y="23"/>
                    <a:pt x="63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59" y="25"/>
                    <a:pt x="58" y="25"/>
                    <a:pt x="56" y="26"/>
                  </a:cubicBezTo>
                  <a:cubicBezTo>
                    <a:pt x="56" y="26"/>
                    <a:pt x="56" y="26"/>
                    <a:pt x="55" y="26"/>
                  </a:cubicBezTo>
                  <a:cubicBezTo>
                    <a:pt x="54" y="26"/>
                    <a:pt x="52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49" y="28"/>
                    <a:pt x="48" y="28"/>
                    <a:pt x="46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4" y="29"/>
                    <a:pt x="43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39" y="31"/>
                    <a:pt x="37" y="32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2" y="34"/>
                    <a:pt x="30" y="35"/>
                    <a:pt x="28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5" y="37"/>
                    <a:pt x="24" y="38"/>
                    <a:pt x="22" y="38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0" y="40"/>
                    <a:pt x="18" y="40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2"/>
                    <a:pt x="14" y="43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5"/>
                    <a:pt x="10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8"/>
                    <a:pt x="7" y="49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5" y="51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3" y="54"/>
                    <a:pt x="2" y="54"/>
                    <a:pt x="2" y="55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" y="57"/>
                    <a:pt x="1" y="57"/>
                    <a:pt x="1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9"/>
                    <a:pt x="0" y="60"/>
                    <a:pt x="0" y="6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7"/>
                    <a:pt x="2" y="68"/>
                  </a:cubicBezTo>
                  <a:cubicBezTo>
                    <a:pt x="35" y="141"/>
                    <a:pt x="35" y="141"/>
                    <a:pt x="35" y="141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66" y="208"/>
                    <a:pt x="70" y="216"/>
                    <a:pt x="73" y="224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92" y="264"/>
                    <a:pt x="100" y="281"/>
                    <a:pt x="107" y="297"/>
                  </a:cubicBezTo>
                  <a:cubicBezTo>
                    <a:pt x="113" y="309"/>
                    <a:pt x="113" y="309"/>
                    <a:pt x="113" y="309"/>
                  </a:cubicBezTo>
                  <a:cubicBezTo>
                    <a:pt x="122" y="329"/>
                    <a:pt x="131" y="349"/>
                    <a:pt x="139" y="367"/>
                  </a:cubicBezTo>
                  <a:cubicBezTo>
                    <a:pt x="141" y="372"/>
                    <a:pt x="143" y="376"/>
                    <a:pt x="145" y="380"/>
                  </a:cubicBezTo>
                  <a:cubicBezTo>
                    <a:pt x="146" y="381"/>
                    <a:pt x="146" y="381"/>
                    <a:pt x="146" y="381"/>
                  </a:cubicBezTo>
                  <a:cubicBezTo>
                    <a:pt x="146" y="382"/>
                    <a:pt x="146" y="382"/>
                    <a:pt x="146" y="382"/>
                  </a:cubicBezTo>
                  <a:cubicBezTo>
                    <a:pt x="146" y="382"/>
                    <a:pt x="146" y="382"/>
                    <a:pt x="146" y="382"/>
                  </a:cubicBezTo>
                  <a:cubicBezTo>
                    <a:pt x="147" y="383"/>
                    <a:pt x="147" y="383"/>
                    <a:pt x="147" y="383"/>
                  </a:cubicBezTo>
                  <a:cubicBezTo>
                    <a:pt x="147" y="383"/>
                    <a:pt x="147" y="383"/>
                    <a:pt x="147" y="383"/>
                  </a:cubicBezTo>
                  <a:cubicBezTo>
                    <a:pt x="147" y="383"/>
                    <a:pt x="147" y="383"/>
                    <a:pt x="147" y="383"/>
                  </a:cubicBezTo>
                  <a:cubicBezTo>
                    <a:pt x="148" y="384"/>
                    <a:pt x="148" y="384"/>
                    <a:pt x="148" y="384"/>
                  </a:cubicBezTo>
                  <a:cubicBezTo>
                    <a:pt x="148" y="384"/>
                    <a:pt x="148" y="384"/>
                    <a:pt x="148" y="384"/>
                  </a:cubicBezTo>
                  <a:cubicBezTo>
                    <a:pt x="149" y="385"/>
                    <a:pt x="149" y="385"/>
                    <a:pt x="149" y="385"/>
                  </a:cubicBezTo>
                  <a:cubicBezTo>
                    <a:pt x="150" y="385"/>
                    <a:pt x="150" y="385"/>
                    <a:pt x="150" y="385"/>
                  </a:cubicBezTo>
                  <a:cubicBezTo>
                    <a:pt x="150" y="386"/>
                    <a:pt x="150" y="386"/>
                    <a:pt x="150" y="386"/>
                  </a:cubicBezTo>
                  <a:cubicBezTo>
                    <a:pt x="151" y="386"/>
                    <a:pt x="151" y="386"/>
                    <a:pt x="151" y="386"/>
                  </a:cubicBezTo>
                  <a:cubicBezTo>
                    <a:pt x="151" y="387"/>
                    <a:pt x="151" y="387"/>
                    <a:pt x="151" y="387"/>
                  </a:cubicBezTo>
                  <a:cubicBezTo>
                    <a:pt x="152" y="387"/>
                    <a:pt x="152" y="387"/>
                    <a:pt x="153" y="388"/>
                  </a:cubicBezTo>
                  <a:cubicBezTo>
                    <a:pt x="153" y="388"/>
                    <a:pt x="153" y="388"/>
                    <a:pt x="153" y="388"/>
                  </a:cubicBezTo>
                  <a:cubicBezTo>
                    <a:pt x="154" y="388"/>
                    <a:pt x="154" y="388"/>
                    <a:pt x="154" y="388"/>
                  </a:cubicBezTo>
                  <a:cubicBezTo>
                    <a:pt x="154" y="388"/>
                    <a:pt x="155" y="389"/>
                    <a:pt x="155" y="389"/>
                  </a:cubicBezTo>
                  <a:cubicBezTo>
                    <a:pt x="156" y="389"/>
                    <a:pt x="156" y="389"/>
                    <a:pt x="156" y="389"/>
                  </a:cubicBezTo>
                  <a:cubicBezTo>
                    <a:pt x="157" y="390"/>
                    <a:pt x="157" y="390"/>
                    <a:pt x="157" y="390"/>
                  </a:cubicBezTo>
                  <a:cubicBezTo>
                    <a:pt x="157" y="390"/>
                    <a:pt x="158" y="390"/>
                    <a:pt x="158" y="390"/>
                  </a:cubicBezTo>
                  <a:cubicBezTo>
                    <a:pt x="159" y="391"/>
                    <a:pt x="159" y="391"/>
                    <a:pt x="159" y="391"/>
                  </a:cubicBezTo>
                  <a:cubicBezTo>
                    <a:pt x="160" y="391"/>
                    <a:pt x="160" y="391"/>
                    <a:pt x="160" y="391"/>
                  </a:cubicBezTo>
                  <a:cubicBezTo>
                    <a:pt x="160" y="391"/>
                    <a:pt x="161" y="392"/>
                    <a:pt x="161" y="392"/>
                  </a:cubicBezTo>
                  <a:cubicBezTo>
                    <a:pt x="162" y="392"/>
                    <a:pt x="162" y="392"/>
                    <a:pt x="163" y="392"/>
                  </a:cubicBezTo>
                  <a:cubicBezTo>
                    <a:pt x="164" y="393"/>
                    <a:pt x="164" y="393"/>
                    <a:pt x="164" y="393"/>
                  </a:cubicBezTo>
                  <a:cubicBezTo>
                    <a:pt x="165" y="393"/>
                    <a:pt x="165" y="393"/>
                    <a:pt x="165" y="393"/>
                  </a:cubicBezTo>
                  <a:cubicBezTo>
                    <a:pt x="165" y="393"/>
                    <a:pt x="166" y="393"/>
                    <a:pt x="166" y="394"/>
                  </a:cubicBezTo>
                  <a:cubicBezTo>
                    <a:pt x="167" y="394"/>
                    <a:pt x="167" y="394"/>
                    <a:pt x="168" y="394"/>
                  </a:cubicBezTo>
                  <a:cubicBezTo>
                    <a:pt x="169" y="394"/>
                    <a:pt x="169" y="394"/>
                    <a:pt x="169" y="394"/>
                  </a:cubicBezTo>
                  <a:cubicBezTo>
                    <a:pt x="169" y="395"/>
                    <a:pt x="170" y="395"/>
                    <a:pt x="170" y="395"/>
                  </a:cubicBezTo>
                  <a:cubicBezTo>
                    <a:pt x="171" y="395"/>
                    <a:pt x="172" y="395"/>
                    <a:pt x="172" y="396"/>
                  </a:cubicBezTo>
                  <a:cubicBezTo>
                    <a:pt x="173" y="396"/>
                    <a:pt x="173" y="396"/>
                    <a:pt x="173" y="396"/>
                  </a:cubicBezTo>
                  <a:cubicBezTo>
                    <a:pt x="174" y="396"/>
                    <a:pt x="174" y="396"/>
                    <a:pt x="174" y="396"/>
                  </a:cubicBezTo>
                  <a:cubicBezTo>
                    <a:pt x="175" y="396"/>
                    <a:pt x="176" y="397"/>
                    <a:pt x="177" y="397"/>
                  </a:cubicBezTo>
                  <a:cubicBezTo>
                    <a:pt x="177" y="397"/>
                    <a:pt x="178" y="397"/>
                    <a:pt x="178" y="397"/>
                  </a:cubicBezTo>
                  <a:cubicBezTo>
                    <a:pt x="179" y="397"/>
                    <a:pt x="179" y="397"/>
                    <a:pt x="179" y="397"/>
                  </a:cubicBezTo>
                  <a:cubicBezTo>
                    <a:pt x="179" y="397"/>
                    <a:pt x="179" y="397"/>
                    <a:pt x="179" y="397"/>
                  </a:cubicBezTo>
                  <a:cubicBezTo>
                    <a:pt x="180" y="398"/>
                    <a:pt x="180" y="398"/>
                    <a:pt x="181" y="398"/>
                  </a:cubicBezTo>
                  <a:cubicBezTo>
                    <a:pt x="182" y="398"/>
                    <a:pt x="183" y="398"/>
                    <a:pt x="183" y="398"/>
                  </a:cubicBezTo>
                  <a:cubicBezTo>
                    <a:pt x="184" y="399"/>
                    <a:pt x="184" y="399"/>
                    <a:pt x="184" y="399"/>
                  </a:cubicBezTo>
                  <a:cubicBezTo>
                    <a:pt x="185" y="399"/>
                    <a:pt x="185" y="399"/>
                    <a:pt x="186" y="399"/>
                  </a:cubicBezTo>
                  <a:cubicBezTo>
                    <a:pt x="187" y="399"/>
                    <a:pt x="188" y="399"/>
                    <a:pt x="188" y="400"/>
                  </a:cubicBezTo>
                  <a:cubicBezTo>
                    <a:pt x="189" y="400"/>
                    <a:pt x="189" y="400"/>
                    <a:pt x="189" y="400"/>
                  </a:cubicBezTo>
                  <a:cubicBezTo>
                    <a:pt x="190" y="400"/>
                    <a:pt x="191" y="400"/>
                    <a:pt x="191" y="400"/>
                  </a:cubicBezTo>
                  <a:cubicBezTo>
                    <a:pt x="192" y="400"/>
                    <a:pt x="193" y="400"/>
                    <a:pt x="193" y="401"/>
                  </a:cubicBezTo>
                  <a:cubicBezTo>
                    <a:pt x="194" y="401"/>
                    <a:pt x="194" y="401"/>
                    <a:pt x="195" y="401"/>
                  </a:cubicBezTo>
                  <a:cubicBezTo>
                    <a:pt x="196" y="401"/>
                    <a:pt x="196" y="401"/>
                    <a:pt x="197" y="401"/>
                  </a:cubicBezTo>
                  <a:cubicBezTo>
                    <a:pt x="198" y="401"/>
                    <a:pt x="198" y="402"/>
                    <a:pt x="199" y="402"/>
                  </a:cubicBezTo>
                  <a:cubicBezTo>
                    <a:pt x="200" y="402"/>
                    <a:pt x="200" y="402"/>
                    <a:pt x="201" y="402"/>
                  </a:cubicBezTo>
                  <a:cubicBezTo>
                    <a:pt x="202" y="402"/>
                    <a:pt x="203" y="402"/>
                    <a:pt x="203" y="402"/>
                  </a:cubicBezTo>
                  <a:cubicBezTo>
                    <a:pt x="204" y="403"/>
                    <a:pt x="204" y="403"/>
                    <a:pt x="204" y="403"/>
                  </a:cubicBezTo>
                  <a:cubicBezTo>
                    <a:pt x="205" y="403"/>
                    <a:pt x="206" y="403"/>
                    <a:pt x="206" y="403"/>
                  </a:cubicBezTo>
                  <a:cubicBezTo>
                    <a:pt x="207" y="403"/>
                    <a:pt x="208" y="403"/>
                    <a:pt x="209" y="403"/>
                  </a:cubicBezTo>
                  <a:cubicBezTo>
                    <a:pt x="210" y="403"/>
                    <a:pt x="210" y="403"/>
                    <a:pt x="210" y="403"/>
                  </a:cubicBezTo>
                  <a:cubicBezTo>
                    <a:pt x="211" y="404"/>
                    <a:pt x="212" y="404"/>
                    <a:pt x="212" y="404"/>
                  </a:cubicBezTo>
                  <a:cubicBezTo>
                    <a:pt x="214" y="404"/>
                    <a:pt x="215" y="404"/>
                    <a:pt x="216" y="404"/>
                  </a:cubicBezTo>
                  <a:cubicBezTo>
                    <a:pt x="217" y="404"/>
                    <a:pt x="217" y="404"/>
                    <a:pt x="217" y="404"/>
                  </a:cubicBezTo>
                  <a:cubicBezTo>
                    <a:pt x="217" y="404"/>
                    <a:pt x="217" y="404"/>
                    <a:pt x="217" y="404"/>
                  </a:cubicBezTo>
                  <a:cubicBezTo>
                    <a:pt x="217" y="404"/>
                    <a:pt x="218" y="404"/>
                    <a:pt x="218" y="405"/>
                  </a:cubicBezTo>
                  <a:cubicBezTo>
                    <a:pt x="219" y="405"/>
                    <a:pt x="219" y="405"/>
                    <a:pt x="219" y="405"/>
                  </a:cubicBezTo>
                  <a:cubicBezTo>
                    <a:pt x="220" y="405"/>
                    <a:pt x="221" y="405"/>
                    <a:pt x="222" y="405"/>
                  </a:cubicBezTo>
                  <a:cubicBezTo>
                    <a:pt x="223" y="405"/>
                    <a:pt x="224" y="405"/>
                    <a:pt x="225" y="405"/>
                  </a:cubicBezTo>
                  <a:cubicBezTo>
                    <a:pt x="225" y="405"/>
                    <a:pt x="226" y="405"/>
                    <a:pt x="226" y="406"/>
                  </a:cubicBezTo>
                  <a:cubicBezTo>
                    <a:pt x="227" y="406"/>
                    <a:pt x="228" y="406"/>
                    <a:pt x="229" y="406"/>
                  </a:cubicBezTo>
                  <a:cubicBezTo>
                    <a:pt x="230" y="406"/>
                    <a:pt x="231" y="406"/>
                    <a:pt x="231" y="406"/>
                  </a:cubicBezTo>
                  <a:cubicBezTo>
                    <a:pt x="232" y="406"/>
                    <a:pt x="233" y="406"/>
                    <a:pt x="234" y="406"/>
                  </a:cubicBezTo>
                  <a:cubicBezTo>
                    <a:pt x="234" y="406"/>
                    <a:pt x="234" y="406"/>
                    <a:pt x="234" y="406"/>
                  </a:cubicBezTo>
                  <a:cubicBezTo>
                    <a:pt x="235" y="406"/>
                    <a:pt x="235" y="406"/>
                    <a:pt x="235" y="406"/>
                  </a:cubicBezTo>
                  <a:cubicBezTo>
                    <a:pt x="236" y="407"/>
                    <a:pt x="237" y="407"/>
                    <a:pt x="238" y="407"/>
                  </a:cubicBezTo>
                  <a:cubicBezTo>
                    <a:pt x="239" y="407"/>
                    <a:pt x="240" y="407"/>
                    <a:pt x="241" y="407"/>
                  </a:cubicBezTo>
                  <a:cubicBezTo>
                    <a:pt x="242" y="407"/>
                    <a:pt x="242" y="407"/>
                    <a:pt x="243" y="407"/>
                  </a:cubicBezTo>
                  <a:cubicBezTo>
                    <a:pt x="243" y="407"/>
                    <a:pt x="244" y="407"/>
                    <a:pt x="245" y="407"/>
                  </a:cubicBezTo>
                  <a:cubicBezTo>
                    <a:pt x="246" y="407"/>
                    <a:pt x="247" y="407"/>
                    <a:pt x="248" y="408"/>
                  </a:cubicBezTo>
                  <a:cubicBezTo>
                    <a:pt x="249" y="408"/>
                    <a:pt x="249" y="408"/>
                    <a:pt x="250" y="408"/>
                  </a:cubicBezTo>
                  <a:cubicBezTo>
                    <a:pt x="250" y="408"/>
                    <a:pt x="250" y="408"/>
                    <a:pt x="250" y="408"/>
                  </a:cubicBezTo>
                  <a:cubicBezTo>
                    <a:pt x="251" y="408"/>
                    <a:pt x="251" y="408"/>
                    <a:pt x="252" y="408"/>
                  </a:cubicBezTo>
                  <a:cubicBezTo>
                    <a:pt x="253" y="408"/>
                    <a:pt x="254" y="408"/>
                    <a:pt x="256" y="408"/>
                  </a:cubicBezTo>
                  <a:cubicBezTo>
                    <a:pt x="257" y="408"/>
                    <a:pt x="258" y="408"/>
                    <a:pt x="259" y="408"/>
                  </a:cubicBezTo>
                  <a:cubicBezTo>
                    <a:pt x="260" y="408"/>
                    <a:pt x="262" y="408"/>
                    <a:pt x="263" y="408"/>
                  </a:cubicBezTo>
                  <a:cubicBezTo>
                    <a:pt x="263" y="408"/>
                    <a:pt x="264" y="408"/>
                    <a:pt x="264" y="408"/>
                  </a:cubicBezTo>
                  <a:cubicBezTo>
                    <a:pt x="265" y="408"/>
                    <a:pt x="265" y="408"/>
                    <a:pt x="265" y="408"/>
                  </a:cubicBezTo>
                  <a:cubicBezTo>
                    <a:pt x="265" y="408"/>
                    <a:pt x="265" y="408"/>
                    <a:pt x="265" y="408"/>
                  </a:cubicBezTo>
                  <a:cubicBezTo>
                    <a:pt x="265" y="409"/>
                    <a:pt x="266" y="409"/>
                    <a:pt x="266" y="409"/>
                  </a:cubicBezTo>
                  <a:cubicBezTo>
                    <a:pt x="268" y="409"/>
                    <a:pt x="269" y="409"/>
                    <a:pt x="270" y="409"/>
                  </a:cubicBezTo>
                  <a:cubicBezTo>
                    <a:pt x="271" y="409"/>
                    <a:pt x="272" y="409"/>
                    <a:pt x="273" y="409"/>
                  </a:cubicBezTo>
                  <a:cubicBezTo>
                    <a:pt x="275" y="409"/>
                    <a:pt x="277" y="409"/>
                    <a:pt x="278" y="409"/>
                  </a:cubicBezTo>
                  <a:cubicBezTo>
                    <a:pt x="278" y="409"/>
                    <a:pt x="279" y="409"/>
                    <a:pt x="279" y="409"/>
                  </a:cubicBezTo>
                  <a:cubicBezTo>
                    <a:pt x="280" y="409"/>
                    <a:pt x="280" y="409"/>
                    <a:pt x="280" y="409"/>
                  </a:cubicBezTo>
                  <a:cubicBezTo>
                    <a:pt x="280" y="409"/>
                    <a:pt x="280" y="409"/>
                    <a:pt x="280" y="409"/>
                  </a:cubicBezTo>
                  <a:cubicBezTo>
                    <a:pt x="281" y="409"/>
                    <a:pt x="281" y="409"/>
                    <a:pt x="281" y="409"/>
                  </a:cubicBezTo>
                  <a:cubicBezTo>
                    <a:pt x="283" y="409"/>
                    <a:pt x="284" y="409"/>
                    <a:pt x="286" y="409"/>
                  </a:cubicBezTo>
                  <a:cubicBezTo>
                    <a:pt x="287" y="409"/>
                    <a:pt x="288" y="409"/>
                    <a:pt x="289" y="409"/>
                  </a:cubicBezTo>
                  <a:cubicBezTo>
                    <a:pt x="291" y="409"/>
                    <a:pt x="294" y="409"/>
                    <a:pt x="296" y="409"/>
                  </a:cubicBezTo>
                  <a:cubicBezTo>
                    <a:pt x="299" y="409"/>
                    <a:pt x="301" y="409"/>
                    <a:pt x="304" y="409"/>
                  </a:cubicBezTo>
                  <a:cubicBezTo>
                    <a:pt x="305" y="409"/>
                    <a:pt x="306" y="409"/>
                    <a:pt x="307" y="409"/>
                  </a:cubicBezTo>
                  <a:cubicBezTo>
                    <a:pt x="308" y="409"/>
                    <a:pt x="310" y="409"/>
                    <a:pt x="312" y="409"/>
                  </a:cubicBezTo>
                  <a:cubicBezTo>
                    <a:pt x="313" y="409"/>
                    <a:pt x="313" y="409"/>
                    <a:pt x="314" y="409"/>
                  </a:cubicBezTo>
                  <a:cubicBezTo>
                    <a:pt x="315" y="409"/>
                    <a:pt x="315" y="409"/>
                    <a:pt x="315" y="409"/>
                  </a:cubicBezTo>
                  <a:cubicBezTo>
                    <a:pt x="316" y="409"/>
                    <a:pt x="316" y="409"/>
                    <a:pt x="316" y="409"/>
                  </a:cubicBezTo>
                  <a:cubicBezTo>
                    <a:pt x="317" y="409"/>
                    <a:pt x="318" y="409"/>
                    <a:pt x="319" y="409"/>
                  </a:cubicBezTo>
                  <a:cubicBezTo>
                    <a:pt x="320" y="409"/>
                    <a:pt x="321" y="409"/>
                    <a:pt x="322" y="409"/>
                  </a:cubicBezTo>
                  <a:cubicBezTo>
                    <a:pt x="324" y="409"/>
                    <a:pt x="325" y="409"/>
                    <a:pt x="327" y="409"/>
                  </a:cubicBezTo>
                  <a:cubicBezTo>
                    <a:pt x="327" y="409"/>
                    <a:pt x="327" y="409"/>
                    <a:pt x="327" y="409"/>
                  </a:cubicBezTo>
                  <a:cubicBezTo>
                    <a:pt x="327" y="409"/>
                    <a:pt x="327" y="409"/>
                    <a:pt x="327" y="409"/>
                  </a:cubicBezTo>
                  <a:cubicBezTo>
                    <a:pt x="328" y="409"/>
                    <a:pt x="329" y="409"/>
                    <a:pt x="330" y="409"/>
                  </a:cubicBezTo>
                  <a:cubicBezTo>
                    <a:pt x="331" y="409"/>
                    <a:pt x="333" y="409"/>
                    <a:pt x="334" y="408"/>
                  </a:cubicBezTo>
                  <a:cubicBezTo>
                    <a:pt x="335" y="408"/>
                    <a:pt x="336" y="408"/>
                    <a:pt x="337" y="408"/>
                  </a:cubicBezTo>
                  <a:cubicBezTo>
                    <a:pt x="338" y="408"/>
                    <a:pt x="338" y="408"/>
                    <a:pt x="339" y="408"/>
                  </a:cubicBezTo>
                  <a:cubicBezTo>
                    <a:pt x="339" y="408"/>
                    <a:pt x="339" y="408"/>
                    <a:pt x="339" y="408"/>
                  </a:cubicBezTo>
                  <a:cubicBezTo>
                    <a:pt x="340" y="408"/>
                    <a:pt x="340" y="408"/>
                    <a:pt x="340" y="408"/>
                  </a:cubicBezTo>
                  <a:cubicBezTo>
                    <a:pt x="340" y="408"/>
                    <a:pt x="341" y="408"/>
                    <a:pt x="341" y="408"/>
                  </a:cubicBezTo>
                  <a:cubicBezTo>
                    <a:pt x="342" y="408"/>
                    <a:pt x="343" y="408"/>
                    <a:pt x="345" y="408"/>
                  </a:cubicBezTo>
                  <a:cubicBezTo>
                    <a:pt x="345" y="408"/>
                    <a:pt x="346" y="408"/>
                    <a:pt x="347" y="408"/>
                  </a:cubicBezTo>
                  <a:cubicBezTo>
                    <a:pt x="348" y="408"/>
                    <a:pt x="348" y="408"/>
                    <a:pt x="348" y="408"/>
                  </a:cubicBezTo>
                  <a:cubicBezTo>
                    <a:pt x="349" y="408"/>
                    <a:pt x="350" y="407"/>
                    <a:pt x="352" y="407"/>
                  </a:cubicBezTo>
                  <a:cubicBezTo>
                    <a:pt x="352" y="407"/>
                    <a:pt x="353" y="407"/>
                    <a:pt x="354" y="407"/>
                  </a:cubicBezTo>
                  <a:cubicBezTo>
                    <a:pt x="355" y="407"/>
                    <a:pt x="355" y="407"/>
                    <a:pt x="356" y="407"/>
                  </a:cubicBezTo>
                  <a:cubicBezTo>
                    <a:pt x="357" y="407"/>
                    <a:pt x="357" y="407"/>
                    <a:pt x="358" y="407"/>
                  </a:cubicBezTo>
                  <a:cubicBezTo>
                    <a:pt x="359" y="407"/>
                    <a:pt x="361" y="407"/>
                    <a:pt x="362" y="407"/>
                  </a:cubicBezTo>
                  <a:cubicBezTo>
                    <a:pt x="362" y="406"/>
                    <a:pt x="362" y="406"/>
                    <a:pt x="363" y="406"/>
                  </a:cubicBezTo>
                  <a:cubicBezTo>
                    <a:pt x="364" y="406"/>
                    <a:pt x="364" y="406"/>
                    <a:pt x="365" y="406"/>
                  </a:cubicBezTo>
                  <a:cubicBezTo>
                    <a:pt x="366" y="406"/>
                    <a:pt x="367" y="406"/>
                    <a:pt x="368" y="406"/>
                  </a:cubicBezTo>
                  <a:cubicBezTo>
                    <a:pt x="369" y="406"/>
                    <a:pt x="369" y="406"/>
                    <a:pt x="370" y="406"/>
                  </a:cubicBezTo>
                  <a:cubicBezTo>
                    <a:pt x="370" y="406"/>
                    <a:pt x="371" y="406"/>
                    <a:pt x="372" y="406"/>
                  </a:cubicBezTo>
                  <a:cubicBezTo>
                    <a:pt x="373" y="405"/>
                    <a:pt x="374" y="405"/>
                    <a:pt x="375" y="405"/>
                  </a:cubicBezTo>
                  <a:cubicBezTo>
                    <a:pt x="376" y="405"/>
                    <a:pt x="377" y="405"/>
                    <a:pt x="378" y="405"/>
                  </a:cubicBezTo>
                  <a:cubicBezTo>
                    <a:pt x="379" y="405"/>
                    <a:pt x="380" y="404"/>
                    <a:pt x="381" y="404"/>
                  </a:cubicBezTo>
                  <a:cubicBezTo>
                    <a:pt x="382" y="404"/>
                    <a:pt x="383" y="404"/>
                    <a:pt x="383" y="404"/>
                  </a:cubicBezTo>
                  <a:cubicBezTo>
                    <a:pt x="384" y="404"/>
                    <a:pt x="384" y="404"/>
                    <a:pt x="384" y="404"/>
                  </a:cubicBezTo>
                  <a:cubicBezTo>
                    <a:pt x="385" y="404"/>
                    <a:pt x="386" y="404"/>
                    <a:pt x="387" y="403"/>
                  </a:cubicBezTo>
                  <a:cubicBezTo>
                    <a:pt x="388" y="403"/>
                    <a:pt x="389" y="403"/>
                    <a:pt x="390" y="403"/>
                  </a:cubicBezTo>
                  <a:cubicBezTo>
                    <a:pt x="390" y="403"/>
                    <a:pt x="390" y="403"/>
                    <a:pt x="390" y="403"/>
                  </a:cubicBezTo>
                  <a:cubicBezTo>
                    <a:pt x="391" y="403"/>
                    <a:pt x="392" y="403"/>
                    <a:pt x="393" y="403"/>
                  </a:cubicBezTo>
                  <a:cubicBezTo>
                    <a:pt x="394" y="402"/>
                    <a:pt x="395" y="402"/>
                    <a:pt x="396" y="402"/>
                  </a:cubicBezTo>
                  <a:cubicBezTo>
                    <a:pt x="396" y="402"/>
                    <a:pt x="396" y="402"/>
                    <a:pt x="396" y="402"/>
                  </a:cubicBezTo>
                  <a:cubicBezTo>
                    <a:pt x="397" y="402"/>
                    <a:pt x="397" y="402"/>
                    <a:pt x="397" y="402"/>
                  </a:cubicBezTo>
                  <a:cubicBezTo>
                    <a:pt x="397" y="402"/>
                    <a:pt x="397" y="402"/>
                    <a:pt x="398" y="402"/>
                  </a:cubicBezTo>
                  <a:cubicBezTo>
                    <a:pt x="399" y="402"/>
                    <a:pt x="399" y="402"/>
                    <a:pt x="400" y="401"/>
                  </a:cubicBezTo>
                  <a:cubicBezTo>
                    <a:pt x="401" y="401"/>
                    <a:pt x="401" y="401"/>
                    <a:pt x="401" y="401"/>
                  </a:cubicBezTo>
                  <a:cubicBezTo>
                    <a:pt x="402" y="401"/>
                    <a:pt x="402" y="401"/>
                    <a:pt x="402" y="401"/>
                  </a:cubicBezTo>
                  <a:cubicBezTo>
                    <a:pt x="402" y="401"/>
                    <a:pt x="403" y="401"/>
                    <a:pt x="403" y="401"/>
                  </a:cubicBezTo>
                  <a:cubicBezTo>
                    <a:pt x="404" y="401"/>
                    <a:pt x="405" y="400"/>
                    <a:pt x="406" y="40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407" y="400"/>
                    <a:pt x="408" y="400"/>
                    <a:pt x="408" y="400"/>
                  </a:cubicBezTo>
                  <a:cubicBezTo>
                    <a:pt x="409" y="400"/>
                    <a:pt x="410" y="399"/>
                    <a:pt x="411" y="399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2" y="399"/>
                    <a:pt x="413" y="399"/>
                    <a:pt x="413" y="399"/>
                  </a:cubicBezTo>
                  <a:cubicBezTo>
                    <a:pt x="414" y="399"/>
                    <a:pt x="414" y="399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8"/>
                    <a:pt x="416" y="398"/>
                    <a:pt x="417" y="398"/>
                  </a:cubicBezTo>
                  <a:cubicBezTo>
                    <a:pt x="418" y="398"/>
                    <a:pt x="418" y="397"/>
                    <a:pt x="419" y="397"/>
                  </a:cubicBezTo>
                  <a:cubicBezTo>
                    <a:pt x="420" y="397"/>
                    <a:pt x="420" y="397"/>
                    <a:pt x="421" y="397"/>
                  </a:cubicBezTo>
                  <a:cubicBezTo>
                    <a:pt x="421" y="397"/>
                    <a:pt x="421" y="397"/>
                    <a:pt x="421" y="397"/>
                  </a:cubicBezTo>
                  <a:cubicBezTo>
                    <a:pt x="423" y="396"/>
                    <a:pt x="424" y="396"/>
                    <a:pt x="426" y="396"/>
                  </a:cubicBezTo>
                  <a:cubicBezTo>
                    <a:pt x="426" y="395"/>
                    <a:pt x="426" y="395"/>
                    <a:pt x="426" y="395"/>
                  </a:cubicBezTo>
                  <a:cubicBezTo>
                    <a:pt x="427" y="395"/>
                    <a:pt x="427" y="395"/>
                    <a:pt x="427" y="395"/>
                  </a:cubicBezTo>
                  <a:cubicBezTo>
                    <a:pt x="428" y="395"/>
                    <a:pt x="429" y="395"/>
                    <a:pt x="430" y="394"/>
                  </a:cubicBezTo>
                  <a:cubicBezTo>
                    <a:pt x="430" y="394"/>
                    <a:pt x="430" y="394"/>
                    <a:pt x="430" y="394"/>
                  </a:cubicBezTo>
                  <a:cubicBezTo>
                    <a:pt x="430" y="394"/>
                    <a:pt x="431" y="394"/>
                    <a:pt x="431" y="394"/>
                  </a:cubicBezTo>
                  <a:cubicBezTo>
                    <a:pt x="432" y="393"/>
                    <a:pt x="433" y="393"/>
                    <a:pt x="433" y="393"/>
                  </a:cubicBezTo>
                  <a:cubicBezTo>
                    <a:pt x="434" y="393"/>
                    <a:pt x="434" y="393"/>
                    <a:pt x="434" y="393"/>
                  </a:cubicBezTo>
                  <a:cubicBezTo>
                    <a:pt x="434" y="393"/>
                    <a:pt x="434" y="393"/>
                    <a:pt x="434" y="393"/>
                  </a:cubicBezTo>
                  <a:cubicBezTo>
                    <a:pt x="435" y="392"/>
                    <a:pt x="435" y="392"/>
                    <a:pt x="435" y="392"/>
                  </a:cubicBezTo>
                  <a:cubicBezTo>
                    <a:pt x="436" y="392"/>
                    <a:pt x="436" y="392"/>
                    <a:pt x="437" y="392"/>
                  </a:cubicBezTo>
                  <a:cubicBezTo>
                    <a:pt x="437" y="391"/>
                    <a:pt x="437" y="391"/>
                    <a:pt x="437" y="391"/>
                  </a:cubicBezTo>
                  <a:cubicBezTo>
                    <a:pt x="438" y="391"/>
                    <a:pt x="438" y="391"/>
                    <a:pt x="439" y="391"/>
                  </a:cubicBezTo>
                  <a:cubicBezTo>
                    <a:pt x="439" y="391"/>
                    <a:pt x="439" y="390"/>
                    <a:pt x="440" y="390"/>
                  </a:cubicBezTo>
                  <a:cubicBezTo>
                    <a:pt x="441" y="390"/>
                    <a:pt x="441" y="390"/>
                    <a:pt x="441" y="390"/>
                  </a:cubicBezTo>
                  <a:cubicBezTo>
                    <a:pt x="441" y="390"/>
                    <a:pt x="441" y="390"/>
                    <a:pt x="441" y="390"/>
                  </a:cubicBezTo>
                  <a:cubicBezTo>
                    <a:pt x="442" y="389"/>
                    <a:pt x="442" y="389"/>
                    <a:pt x="442" y="389"/>
                  </a:cubicBezTo>
                  <a:cubicBezTo>
                    <a:pt x="442" y="389"/>
                    <a:pt x="442" y="389"/>
                    <a:pt x="443" y="389"/>
                  </a:cubicBezTo>
                  <a:cubicBezTo>
                    <a:pt x="443" y="389"/>
                    <a:pt x="443" y="389"/>
                    <a:pt x="443" y="389"/>
                  </a:cubicBezTo>
                  <a:cubicBezTo>
                    <a:pt x="444" y="388"/>
                    <a:pt x="444" y="388"/>
                    <a:pt x="444" y="388"/>
                  </a:cubicBezTo>
                  <a:cubicBezTo>
                    <a:pt x="445" y="387"/>
                    <a:pt x="445" y="387"/>
                    <a:pt x="445" y="387"/>
                  </a:cubicBezTo>
                  <a:cubicBezTo>
                    <a:pt x="446" y="387"/>
                    <a:pt x="446" y="387"/>
                    <a:pt x="446" y="387"/>
                  </a:cubicBezTo>
                  <a:cubicBezTo>
                    <a:pt x="446" y="387"/>
                    <a:pt x="446" y="387"/>
                    <a:pt x="446" y="387"/>
                  </a:cubicBezTo>
                  <a:cubicBezTo>
                    <a:pt x="447" y="387"/>
                    <a:pt x="447" y="387"/>
                    <a:pt x="447" y="387"/>
                  </a:cubicBezTo>
                  <a:cubicBezTo>
                    <a:pt x="447" y="386"/>
                    <a:pt x="447" y="386"/>
                    <a:pt x="447" y="386"/>
                  </a:cubicBezTo>
                  <a:cubicBezTo>
                    <a:pt x="448" y="385"/>
                    <a:pt x="448" y="385"/>
                    <a:pt x="448" y="385"/>
                  </a:cubicBezTo>
                  <a:cubicBezTo>
                    <a:pt x="449" y="385"/>
                    <a:pt x="449" y="385"/>
                    <a:pt x="449" y="385"/>
                  </a:cubicBezTo>
                  <a:cubicBezTo>
                    <a:pt x="449" y="384"/>
                    <a:pt x="449" y="384"/>
                    <a:pt x="449" y="384"/>
                  </a:cubicBezTo>
                  <a:cubicBezTo>
                    <a:pt x="450" y="384"/>
                    <a:pt x="450" y="384"/>
                    <a:pt x="450" y="384"/>
                  </a:cubicBezTo>
                  <a:cubicBezTo>
                    <a:pt x="450" y="384"/>
                    <a:pt x="450" y="384"/>
                    <a:pt x="450" y="384"/>
                  </a:cubicBezTo>
                  <a:cubicBezTo>
                    <a:pt x="450" y="383"/>
                    <a:pt x="450" y="383"/>
                    <a:pt x="450" y="383"/>
                  </a:cubicBezTo>
                  <a:cubicBezTo>
                    <a:pt x="450" y="383"/>
                    <a:pt x="450" y="383"/>
                    <a:pt x="450" y="383"/>
                  </a:cubicBezTo>
                  <a:cubicBezTo>
                    <a:pt x="451" y="383"/>
                    <a:pt x="451" y="383"/>
                    <a:pt x="451" y="383"/>
                  </a:cubicBezTo>
                  <a:cubicBezTo>
                    <a:pt x="451" y="382"/>
                    <a:pt x="451" y="382"/>
                    <a:pt x="451" y="382"/>
                  </a:cubicBezTo>
                  <a:cubicBezTo>
                    <a:pt x="452" y="382"/>
                    <a:pt x="452" y="382"/>
                    <a:pt x="452" y="382"/>
                  </a:cubicBezTo>
                  <a:cubicBezTo>
                    <a:pt x="452" y="381"/>
                    <a:pt x="452" y="381"/>
                    <a:pt x="452" y="381"/>
                  </a:cubicBezTo>
                  <a:cubicBezTo>
                    <a:pt x="452" y="381"/>
                    <a:pt x="452" y="381"/>
                    <a:pt x="452" y="381"/>
                  </a:cubicBezTo>
                  <a:cubicBezTo>
                    <a:pt x="453" y="380"/>
                    <a:pt x="453" y="380"/>
                    <a:pt x="453" y="380"/>
                  </a:cubicBezTo>
                  <a:cubicBezTo>
                    <a:pt x="455" y="376"/>
                    <a:pt x="457" y="372"/>
                    <a:pt x="459" y="367"/>
                  </a:cubicBezTo>
                  <a:cubicBezTo>
                    <a:pt x="493" y="292"/>
                    <a:pt x="528" y="216"/>
                    <a:pt x="563" y="141"/>
                  </a:cubicBezTo>
                  <a:cubicBezTo>
                    <a:pt x="574" y="116"/>
                    <a:pt x="585" y="92"/>
                    <a:pt x="596" y="68"/>
                  </a:cubicBezTo>
                  <a:cubicBezTo>
                    <a:pt x="597" y="66"/>
                    <a:pt x="597" y="64"/>
                    <a:pt x="597" y="63"/>
                  </a:cubicBezTo>
                  <a:cubicBezTo>
                    <a:pt x="597" y="62"/>
                    <a:pt x="597" y="62"/>
                    <a:pt x="597" y="61"/>
                  </a:cubicBezTo>
                  <a:cubicBezTo>
                    <a:pt x="597" y="60"/>
                    <a:pt x="597" y="60"/>
                    <a:pt x="597" y="6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  <p:sp>
          <p:nvSpPr>
            <p:cNvPr id="28" name="Freeform 150">
              <a:extLst>
                <a:ext uri="{FF2B5EF4-FFF2-40B4-BE49-F238E27FC236}">
                  <a16:creationId xmlns:a16="http://schemas.microsoft.com/office/drawing/2014/main" id="{A40E0B8C-1D62-49C6-8D99-29BE28DEB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301" y="4528590"/>
              <a:ext cx="1698755" cy="280090"/>
            </a:xfrm>
            <a:custGeom>
              <a:avLst/>
              <a:gdLst>
                <a:gd name="T0" fmla="*/ 599 w 602"/>
                <a:gd name="T1" fmla="*/ 64 h 125"/>
                <a:gd name="T2" fmla="*/ 296 w 602"/>
                <a:gd name="T3" fmla="*/ 125 h 125"/>
                <a:gd name="T4" fmla="*/ 2 w 602"/>
                <a:gd name="T5" fmla="*/ 62 h 125"/>
                <a:gd name="T6" fmla="*/ 306 w 602"/>
                <a:gd name="T7" fmla="*/ 1 h 125"/>
                <a:gd name="T8" fmla="*/ 599 w 602"/>
                <a:gd name="T9" fmla="*/ 6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2" h="125">
                  <a:moveTo>
                    <a:pt x="599" y="64"/>
                  </a:moveTo>
                  <a:cubicBezTo>
                    <a:pt x="597" y="98"/>
                    <a:pt x="461" y="125"/>
                    <a:pt x="296" y="125"/>
                  </a:cubicBezTo>
                  <a:cubicBezTo>
                    <a:pt x="131" y="124"/>
                    <a:pt x="0" y="96"/>
                    <a:pt x="2" y="62"/>
                  </a:cubicBezTo>
                  <a:cubicBezTo>
                    <a:pt x="5" y="27"/>
                    <a:pt x="141" y="0"/>
                    <a:pt x="306" y="1"/>
                  </a:cubicBezTo>
                  <a:cubicBezTo>
                    <a:pt x="471" y="1"/>
                    <a:pt x="602" y="30"/>
                    <a:pt x="599" y="64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</p:grpSp>
      <p:grpSp>
        <p:nvGrpSpPr>
          <p:cNvPr id="29" name="Group 17">
            <a:extLst>
              <a:ext uri="{FF2B5EF4-FFF2-40B4-BE49-F238E27FC236}">
                <a16:creationId xmlns:a16="http://schemas.microsoft.com/office/drawing/2014/main" id="{3CD9DDA9-8B95-4E64-BF6D-1B1E5635C775}"/>
              </a:ext>
            </a:extLst>
          </p:cNvPr>
          <p:cNvGrpSpPr/>
          <p:nvPr/>
        </p:nvGrpSpPr>
        <p:grpSpPr>
          <a:xfrm>
            <a:off x="6922314" y="3493487"/>
            <a:ext cx="1457068" cy="594338"/>
            <a:chOff x="2951147" y="3594643"/>
            <a:chExt cx="2619062" cy="1068314"/>
          </a:xfrm>
        </p:grpSpPr>
        <p:sp>
          <p:nvSpPr>
            <p:cNvPr id="30" name="Freeform 155">
              <a:extLst>
                <a:ext uri="{FF2B5EF4-FFF2-40B4-BE49-F238E27FC236}">
                  <a16:creationId xmlns:a16="http://schemas.microsoft.com/office/drawing/2014/main" id="{8EF9529D-82C4-450B-A93D-9CB92D5C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068" y="3597481"/>
              <a:ext cx="2595220" cy="1065476"/>
            </a:xfrm>
            <a:custGeom>
              <a:avLst/>
              <a:gdLst>
                <a:gd name="T0" fmla="*/ 913 w 920"/>
                <a:gd name="T1" fmla="*/ 79 h 476"/>
                <a:gd name="T2" fmla="*/ 897 w 920"/>
                <a:gd name="T3" fmla="*/ 66 h 476"/>
                <a:gd name="T4" fmla="*/ 872 w 920"/>
                <a:gd name="T5" fmla="*/ 53 h 476"/>
                <a:gd name="T6" fmla="*/ 847 w 920"/>
                <a:gd name="T7" fmla="*/ 44 h 476"/>
                <a:gd name="T8" fmla="*/ 805 w 920"/>
                <a:gd name="T9" fmla="*/ 32 h 476"/>
                <a:gd name="T10" fmla="*/ 766 w 920"/>
                <a:gd name="T11" fmla="*/ 24 h 476"/>
                <a:gd name="T12" fmla="*/ 728 w 920"/>
                <a:gd name="T13" fmla="*/ 18 h 476"/>
                <a:gd name="T14" fmla="*/ 671 w 920"/>
                <a:gd name="T15" fmla="*/ 10 h 476"/>
                <a:gd name="T16" fmla="*/ 591 w 920"/>
                <a:gd name="T17" fmla="*/ 3 h 476"/>
                <a:gd name="T18" fmla="*/ 554 w 920"/>
                <a:gd name="T19" fmla="*/ 2 h 476"/>
                <a:gd name="T20" fmla="*/ 520 w 920"/>
                <a:gd name="T21" fmla="*/ 0 h 476"/>
                <a:gd name="T22" fmla="*/ 492 w 920"/>
                <a:gd name="T23" fmla="*/ 0 h 476"/>
                <a:gd name="T24" fmla="*/ 445 w 920"/>
                <a:gd name="T25" fmla="*/ 0 h 476"/>
                <a:gd name="T26" fmla="*/ 403 w 920"/>
                <a:gd name="T27" fmla="*/ 0 h 476"/>
                <a:gd name="T28" fmla="*/ 322 w 920"/>
                <a:gd name="T29" fmla="*/ 4 h 476"/>
                <a:gd name="T30" fmla="*/ 289 w 920"/>
                <a:gd name="T31" fmla="*/ 6 h 476"/>
                <a:gd name="T32" fmla="*/ 261 w 920"/>
                <a:gd name="T33" fmla="*/ 9 h 476"/>
                <a:gd name="T34" fmla="*/ 223 w 920"/>
                <a:gd name="T35" fmla="*/ 13 h 476"/>
                <a:gd name="T36" fmla="*/ 193 w 920"/>
                <a:gd name="T37" fmla="*/ 17 h 476"/>
                <a:gd name="T38" fmla="*/ 159 w 920"/>
                <a:gd name="T39" fmla="*/ 23 h 476"/>
                <a:gd name="T40" fmla="*/ 119 w 920"/>
                <a:gd name="T41" fmla="*/ 31 h 476"/>
                <a:gd name="T42" fmla="*/ 84 w 920"/>
                <a:gd name="T43" fmla="*/ 40 h 476"/>
                <a:gd name="T44" fmla="*/ 56 w 920"/>
                <a:gd name="T45" fmla="*/ 49 h 476"/>
                <a:gd name="T46" fmla="*/ 36 w 920"/>
                <a:gd name="T47" fmla="*/ 58 h 476"/>
                <a:gd name="T48" fmla="*/ 21 w 920"/>
                <a:gd name="T49" fmla="*/ 67 h 476"/>
                <a:gd name="T50" fmla="*/ 9 w 920"/>
                <a:gd name="T51" fmla="*/ 76 h 476"/>
                <a:gd name="T52" fmla="*/ 3 w 920"/>
                <a:gd name="T53" fmla="*/ 86 h 476"/>
                <a:gd name="T54" fmla="*/ 0 w 920"/>
                <a:gd name="T55" fmla="*/ 97 h 476"/>
                <a:gd name="T56" fmla="*/ 146 w 920"/>
                <a:gd name="T57" fmla="*/ 417 h 476"/>
                <a:gd name="T58" fmla="*/ 150 w 920"/>
                <a:gd name="T59" fmla="*/ 423 h 476"/>
                <a:gd name="T60" fmla="*/ 157 w 920"/>
                <a:gd name="T61" fmla="*/ 429 h 476"/>
                <a:gd name="T62" fmla="*/ 166 w 920"/>
                <a:gd name="T63" fmla="*/ 435 h 476"/>
                <a:gd name="T64" fmla="*/ 178 w 920"/>
                <a:gd name="T65" fmla="*/ 440 h 476"/>
                <a:gd name="T66" fmla="*/ 192 w 920"/>
                <a:gd name="T67" fmla="*/ 445 h 476"/>
                <a:gd name="T68" fmla="*/ 207 w 920"/>
                <a:gd name="T69" fmla="*/ 450 h 476"/>
                <a:gd name="T70" fmla="*/ 226 w 920"/>
                <a:gd name="T71" fmla="*/ 454 h 476"/>
                <a:gd name="T72" fmla="*/ 246 w 920"/>
                <a:gd name="T73" fmla="*/ 459 h 476"/>
                <a:gd name="T74" fmla="*/ 269 w 920"/>
                <a:gd name="T75" fmla="*/ 463 h 476"/>
                <a:gd name="T76" fmla="*/ 293 w 920"/>
                <a:gd name="T77" fmla="*/ 466 h 476"/>
                <a:gd name="T78" fmla="*/ 329 w 920"/>
                <a:gd name="T79" fmla="*/ 470 h 476"/>
                <a:gd name="T80" fmla="*/ 366 w 920"/>
                <a:gd name="T81" fmla="*/ 473 h 476"/>
                <a:gd name="T82" fmla="*/ 396 w 920"/>
                <a:gd name="T83" fmla="*/ 475 h 476"/>
                <a:gd name="T84" fmla="*/ 437 w 920"/>
                <a:gd name="T85" fmla="*/ 476 h 476"/>
                <a:gd name="T86" fmla="*/ 486 w 920"/>
                <a:gd name="T87" fmla="*/ 476 h 476"/>
                <a:gd name="T88" fmla="*/ 518 w 920"/>
                <a:gd name="T89" fmla="*/ 475 h 476"/>
                <a:gd name="T90" fmla="*/ 558 w 920"/>
                <a:gd name="T91" fmla="*/ 473 h 476"/>
                <a:gd name="T92" fmla="*/ 599 w 920"/>
                <a:gd name="T93" fmla="*/ 469 h 476"/>
                <a:gd name="T94" fmla="*/ 632 w 920"/>
                <a:gd name="T95" fmla="*/ 465 h 476"/>
                <a:gd name="T96" fmla="*/ 659 w 920"/>
                <a:gd name="T97" fmla="*/ 461 h 476"/>
                <a:gd name="T98" fmla="*/ 686 w 920"/>
                <a:gd name="T99" fmla="*/ 456 h 476"/>
                <a:gd name="T100" fmla="*/ 707 w 920"/>
                <a:gd name="T101" fmla="*/ 451 h 476"/>
                <a:gd name="T102" fmla="*/ 720 w 920"/>
                <a:gd name="T103" fmla="*/ 448 h 476"/>
                <a:gd name="T104" fmla="*/ 736 w 920"/>
                <a:gd name="T105" fmla="*/ 442 h 476"/>
                <a:gd name="T106" fmla="*/ 750 w 920"/>
                <a:gd name="T107" fmla="*/ 436 h 476"/>
                <a:gd name="T108" fmla="*/ 759 w 920"/>
                <a:gd name="T109" fmla="*/ 431 h 476"/>
                <a:gd name="T110" fmla="*/ 767 w 920"/>
                <a:gd name="T111" fmla="*/ 426 h 476"/>
                <a:gd name="T112" fmla="*/ 772 w 920"/>
                <a:gd name="T113" fmla="*/ 420 h 476"/>
                <a:gd name="T114" fmla="*/ 919 w 920"/>
                <a:gd name="T115" fmla="*/ 9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20" h="476">
                  <a:moveTo>
                    <a:pt x="919" y="93"/>
                  </a:moveTo>
                  <a:cubicBezTo>
                    <a:pt x="919" y="93"/>
                    <a:pt x="919" y="92"/>
                    <a:pt x="919" y="91"/>
                  </a:cubicBezTo>
                  <a:cubicBezTo>
                    <a:pt x="919" y="90"/>
                    <a:pt x="919" y="90"/>
                    <a:pt x="919" y="90"/>
                  </a:cubicBezTo>
                  <a:cubicBezTo>
                    <a:pt x="919" y="90"/>
                    <a:pt x="919" y="89"/>
                    <a:pt x="918" y="88"/>
                  </a:cubicBezTo>
                  <a:cubicBezTo>
                    <a:pt x="918" y="87"/>
                    <a:pt x="918" y="87"/>
                    <a:pt x="918" y="87"/>
                  </a:cubicBezTo>
                  <a:cubicBezTo>
                    <a:pt x="918" y="87"/>
                    <a:pt x="918" y="86"/>
                    <a:pt x="917" y="86"/>
                  </a:cubicBezTo>
                  <a:cubicBezTo>
                    <a:pt x="917" y="85"/>
                    <a:pt x="917" y="85"/>
                    <a:pt x="917" y="85"/>
                  </a:cubicBezTo>
                  <a:cubicBezTo>
                    <a:pt x="916" y="84"/>
                    <a:pt x="916" y="83"/>
                    <a:pt x="915" y="82"/>
                  </a:cubicBezTo>
                  <a:cubicBezTo>
                    <a:pt x="915" y="82"/>
                    <a:pt x="915" y="82"/>
                    <a:pt x="915" y="82"/>
                  </a:cubicBezTo>
                  <a:cubicBezTo>
                    <a:pt x="914" y="81"/>
                    <a:pt x="914" y="80"/>
                    <a:pt x="913" y="79"/>
                  </a:cubicBezTo>
                  <a:cubicBezTo>
                    <a:pt x="913" y="79"/>
                    <a:pt x="913" y="79"/>
                    <a:pt x="913" y="79"/>
                  </a:cubicBezTo>
                  <a:cubicBezTo>
                    <a:pt x="912" y="78"/>
                    <a:pt x="912" y="77"/>
                    <a:pt x="911" y="77"/>
                  </a:cubicBezTo>
                  <a:cubicBezTo>
                    <a:pt x="910" y="76"/>
                    <a:pt x="910" y="76"/>
                    <a:pt x="910" y="76"/>
                  </a:cubicBezTo>
                  <a:cubicBezTo>
                    <a:pt x="910" y="75"/>
                    <a:pt x="909" y="75"/>
                    <a:pt x="908" y="74"/>
                  </a:cubicBezTo>
                  <a:cubicBezTo>
                    <a:pt x="907" y="73"/>
                    <a:pt x="907" y="73"/>
                    <a:pt x="907" y="73"/>
                  </a:cubicBezTo>
                  <a:cubicBezTo>
                    <a:pt x="907" y="73"/>
                    <a:pt x="906" y="72"/>
                    <a:pt x="905" y="71"/>
                  </a:cubicBezTo>
                  <a:cubicBezTo>
                    <a:pt x="904" y="71"/>
                    <a:pt x="904" y="71"/>
                    <a:pt x="904" y="71"/>
                  </a:cubicBezTo>
                  <a:cubicBezTo>
                    <a:pt x="903" y="70"/>
                    <a:pt x="902" y="69"/>
                    <a:pt x="901" y="68"/>
                  </a:cubicBezTo>
                  <a:cubicBezTo>
                    <a:pt x="900" y="67"/>
                    <a:pt x="900" y="67"/>
                    <a:pt x="900" y="67"/>
                  </a:cubicBezTo>
                  <a:cubicBezTo>
                    <a:pt x="899" y="67"/>
                    <a:pt x="898" y="66"/>
                    <a:pt x="897" y="66"/>
                  </a:cubicBezTo>
                  <a:cubicBezTo>
                    <a:pt x="897" y="65"/>
                    <a:pt x="896" y="65"/>
                    <a:pt x="896" y="65"/>
                  </a:cubicBezTo>
                  <a:cubicBezTo>
                    <a:pt x="895" y="64"/>
                    <a:pt x="894" y="64"/>
                    <a:pt x="893" y="63"/>
                  </a:cubicBezTo>
                  <a:cubicBezTo>
                    <a:pt x="893" y="63"/>
                    <a:pt x="892" y="63"/>
                    <a:pt x="891" y="62"/>
                  </a:cubicBezTo>
                  <a:cubicBezTo>
                    <a:pt x="891" y="62"/>
                    <a:pt x="890" y="61"/>
                    <a:pt x="889" y="61"/>
                  </a:cubicBezTo>
                  <a:cubicBezTo>
                    <a:pt x="888" y="60"/>
                    <a:pt x="888" y="60"/>
                    <a:pt x="887" y="60"/>
                  </a:cubicBezTo>
                  <a:cubicBezTo>
                    <a:pt x="886" y="59"/>
                    <a:pt x="884" y="58"/>
                    <a:pt x="883" y="58"/>
                  </a:cubicBezTo>
                  <a:cubicBezTo>
                    <a:pt x="882" y="57"/>
                    <a:pt x="882" y="57"/>
                    <a:pt x="882" y="57"/>
                  </a:cubicBezTo>
                  <a:cubicBezTo>
                    <a:pt x="881" y="57"/>
                    <a:pt x="879" y="56"/>
                    <a:pt x="877" y="55"/>
                  </a:cubicBezTo>
                  <a:cubicBezTo>
                    <a:pt x="877" y="55"/>
                    <a:pt x="876" y="54"/>
                    <a:pt x="875" y="54"/>
                  </a:cubicBezTo>
                  <a:cubicBezTo>
                    <a:pt x="874" y="54"/>
                    <a:pt x="873" y="53"/>
                    <a:pt x="872" y="53"/>
                  </a:cubicBezTo>
                  <a:cubicBezTo>
                    <a:pt x="871" y="52"/>
                    <a:pt x="871" y="52"/>
                    <a:pt x="871" y="52"/>
                  </a:cubicBezTo>
                  <a:cubicBezTo>
                    <a:pt x="870" y="52"/>
                    <a:pt x="870" y="52"/>
                    <a:pt x="869" y="52"/>
                  </a:cubicBezTo>
                  <a:cubicBezTo>
                    <a:pt x="868" y="51"/>
                    <a:pt x="868" y="51"/>
                    <a:pt x="867" y="51"/>
                  </a:cubicBezTo>
                  <a:cubicBezTo>
                    <a:pt x="866" y="50"/>
                    <a:pt x="865" y="50"/>
                    <a:pt x="864" y="50"/>
                  </a:cubicBezTo>
                  <a:cubicBezTo>
                    <a:pt x="863" y="49"/>
                    <a:pt x="862" y="49"/>
                    <a:pt x="861" y="48"/>
                  </a:cubicBezTo>
                  <a:cubicBezTo>
                    <a:pt x="860" y="48"/>
                    <a:pt x="859" y="48"/>
                    <a:pt x="858" y="47"/>
                  </a:cubicBezTo>
                  <a:cubicBezTo>
                    <a:pt x="857" y="47"/>
                    <a:pt x="856" y="47"/>
                    <a:pt x="855" y="46"/>
                  </a:cubicBezTo>
                  <a:cubicBezTo>
                    <a:pt x="854" y="46"/>
                    <a:pt x="853" y="46"/>
                    <a:pt x="853" y="45"/>
                  </a:cubicBezTo>
                  <a:cubicBezTo>
                    <a:pt x="851" y="45"/>
                    <a:pt x="850" y="45"/>
                    <a:pt x="849" y="44"/>
                  </a:cubicBezTo>
                  <a:cubicBezTo>
                    <a:pt x="849" y="44"/>
                    <a:pt x="848" y="44"/>
                    <a:pt x="847" y="44"/>
                  </a:cubicBezTo>
                  <a:cubicBezTo>
                    <a:pt x="847" y="43"/>
                    <a:pt x="847" y="43"/>
                    <a:pt x="847" y="43"/>
                  </a:cubicBezTo>
                  <a:cubicBezTo>
                    <a:pt x="844" y="43"/>
                    <a:pt x="841" y="42"/>
                    <a:pt x="838" y="41"/>
                  </a:cubicBezTo>
                  <a:cubicBezTo>
                    <a:pt x="837" y="40"/>
                    <a:pt x="836" y="40"/>
                    <a:pt x="836" y="40"/>
                  </a:cubicBezTo>
                  <a:cubicBezTo>
                    <a:pt x="833" y="39"/>
                    <a:pt x="829" y="38"/>
                    <a:pt x="826" y="37"/>
                  </a:cubicBezTo>
                  <a:cubicBezTo>
                    <a:pt x="826" y="37"/>
                    <a:pt x="826" y="37"/>
                    <a:pt x="826" y="37"/>
                  </a:cubicBezTo>
                  <a:cubicBezTo>
                    <a:pt x="825" y="37"/>
                    <a:pt x="825" y="37"/>
                    <a:pt x="824" y="37"/>
                  </a:cubicBezTo>
                  <a:cubicBezTo>
                    <a:pt x="822" y="36"/>
                    <a:pt x="820" y="36"/>
                    <a:pt x="817" y="35"/>
                  </a:cubicBezTo>
                  <a:cubicBezTo>
                    <a:pt x="816" y="35"/>
                    <a:pt x="815" y="35"/>
                    <a:pt x="815" y="34"/>
                  </a:cubicBezTo>
                  <a:cubicBezTo>
                    <a:pt x="812" y="34"/>
                    <a:pt x="809" y="33"/>
                    <a:pt x="805" y="32"/>
                  </a:cubicBezTo>
                  <a:cubicBezTo>
                    <a:pt x="805" y="32"/>
                    <a:pt x="805" y="32"/>
                    <a:pt x="805" y="32"/>
                  </a:cubicBezTo>
                  <a:cubicBezTo>
                    <a:pt x="804" y="32"/>
                    <a:pt x="804" y="32"/>
                    <a:pt x="804" y="32"/>
                  </a:cubicBezTo>
                  <a:cubicBezTo>
                    <a:pt x="802" y="31"/>
                    <a:pt x="799" y="31"/>
                    <a:pt x="797" y="30"/>
                  </a:cubicBezTo>
                  <a:cubicBezTo>
                    <a:pt x="796" y="30"/>
                    <a:pt x="795" y="30"/>
                    <a:pt x="794" y="29"/>
                  </a:cubicBezTo>
                  <a:cubicBezTo>
                    <a:pt x="792" y="29"/>
                    <a:pt x="789" y="28"/>
                    <a:pt x="787" y="28"/>
                  </a:cubicBezTo>
                  <a:cubicBezTo>
                    <a:pt x="787" y="28"/>
                    <a:pt x="786" y="28"/>
                    <a:pt x="785" y="28"/>
                  </a:cubicBezTo>
                  <a:cubicBezTo>
                    <a:pt x="785" y="28"/>
                    <a:pt x="785" y="27"/>
                    <a:pt x="784" y="27"/>
                  </a:cubicBezTo>
                  <a:cubicBezTo>
                    <a:pt x="782" y="27"/>
                    <a:pt x="780" y="27"/>
                    <a:pt x="778" y="26"/>
                  </a:cubicBezTo>
                  <a:cubicBezTo>
                    <a:pt x="777" y="26"/>
                    <a:pt x="776" y="26"/>
                    <a:pt x="775" y="26"/>
                  </a:cubicBezTo>
                  <a:cubicBezTo>
                    <a:pt x="772" y="25"/>
                    <a:pt x="769" y="24"/>
                    <a:pt x="766" y="24"/>
                  </a:cubicBezTo>
                  <a:cubicBezTo>
                    <a:pt x="766" y="24"/>
                    <a:pt x="766" y="24"/>
                    <a:pt x="766" y="24"/>
                  </a:cubicBezTo>
                  <a:cubicBezTo>
                    <a:pt x="765" y="24"/>
                    <a:pt x="765" y="24"/>
                    <a:pt x="764" y="23"/>
                  </a:cubicBezTo>
                  <a:cubicBezTo>
                    <a:pt x="762" y="23"/>
                    <a:pt x="760" y="23"/>
                    <a:pt x="758" y="22"/>
                  </a:cubicBezTo>
                  <a:cubicBezTo>
                    <a:pt x="756" y="22"/>
                    <a:pt x="755" y="22"/>
                    <a:pt x="754" y="22"/>
                  </a:cubicBezTo>
                  <a:cubicBezTo>
                    <a:pt x="752" y="21"/>
                    <a:pt x="750" y="21"/>
                    <a:pt x="748" y="21"/>
                  </a:cubicBezTo>
                  <a:cubicBezTo>
                    <a:pt x="747" y="21"/>
                    <a:pt x="747" y="21"/>
                    <a:pt x="747" y="21"/>
                  </a:cubicBezTo>
                  <a:cubicBezTo>
                    <a:pt x="746" y="20"/>
                    <a:pt x="746" y="20"/>
                    <a:pt x="745" y="20"/>
                  </a:cubicBezTo>
                  <a:cubicBezTo>
                    <a:pt x="743" y="20"/>
                    <a:pt x="741" y="20"/>
                    <a:pt x="739" y="19"/>
                  </a:cubicBezTo>
                  <a:cubicBezTo>
                    <a:pt x="738" y="19"/>
                    <a:pt x="737" y="19"/>
                    <a:pt x="735" y="19"/>
                  </a:cubicBezTo>
                  <a:cubicBezTo>
                    <a:pt x="734" y="18"/>
                    <a:pt x="732" y="18"/>
                    <a:pt x="730" y="18"/>
                  </a:cubicBezTo>
                  <a:cubicBezTo>
                    <a:pt x="730" y="18"/>
                    <a:pt x="729" y="18"/>
                    <a:pt x="728" y="18"/>
                  </a:cubicBezTo>
                  <a:cubicBezTo>
                    <a:pt x="728" y="17"/>
                    <a:pt x="728" y="17"/>
                    <a:pt x="727" y="17"/>
                  </a:cubicBezTo>
                  <a:cubicBezTo>
                    <a:pt x="722" y="17"/>
                    <a:pt x="716" y="16"/>
                    <a:pt x="710" y="15"/>
                  </a:cubicBezTo>
                  <a:cubicBezTo>
                    <a:pt x="709" y="15"/>
                    <a:pt x="709" y="15"/>
                    <a:pt x="709" y="15"/>
                  </a:cubicBezTo>
                  <a:cubicBezTo>
                    <a:pt x="708" y="15"/>
                    <a:pt x="708" y="15"/>
                    <a:pt x="708" y="15"/>
                  </a:cubicBezTo>
                  <a:cubicBezTo>
                    <a:pt x="703" y="14"/>
                    <a:pt x="698" y="13"/>
                    <a:pt x="692" y="13"/>
                  </a:cubicBezTo>
                  <a:cubicBezTo>
                    <a:pt x="692" y="13"/>
                    <a:pt x="691" y="13"/>
                    <a:pt x="691" y="12"/>
                  </a:cubicBezTo>
                  <a:cubicBezTo>
                    <a:pt x="690" y="12"/>
                    <a:pt x="690" y="12"/>
                    <a:pt x="690" y="12"/>
                  </a:cubicBezTo>
                  <a:cubicBezTo>
                    <a:pt x="684" y="12"/>
                    <a:pt x="679" y="11"/>
                    <a:pt x="673" y="10"/>
                  </a:cubicBezTo>
                  <a:cubicBezTo>
                    <a:pt x="672" y="10"/>
                    <a:pt x="672" y="10"/>
                    <a:pt x="672" y="10"/>
                  </a:cubicBezTo>
                  <a:cubicBezTo>
                    <a:pt x="672" y="10"/>
                    <a:pt x="671" y="10"/>
                    <a:pt x="671" y="10"/>
                  </a:cubicBezTo>
                  <a:cubicBezTo>
                    <a:pt x="666" y="10"/>
                    <a:pt x="660" y="9"/>
                    <a:pt x="655" y="9"/>
                  </a:cubicBezTo>
                  <a:cubicBezTo>
                    <a:pt x="654" y="8"/>
                    <a:pt x="654" y="8"/>
                    <a:pt x="654" y="8"/>
                  </a:cubicBezTo>
                  <a:cubicBezTo>
                    <a:pt x="653" y="8"/>
                    <a:pt x="653" y="8"/>
                    <a:pt x="652" y="8"/>
                  </a:cubicBezTo>
                  <a:cubicBezTo>
                    <a:pt x="642" y="7"/>
                    <a:pt x="631" y="6"/>
                    <a:pt x="621" y="6"/>
                  </a:cubicBezTo>
                  <a:cubicBezTo>
                    <a:pt x="620" y="6"/>
                    <a:pt x="620" y="5"/>
                    <a:pt x="619" y="5"/>
                  </a:cubicBezTo>
                  <a:cubicBezTo>
                    <a:pt x="619" y="5"/>
                    <a:pt x="618" y="5"/>
                    <a:pt x="617" y="5"/>
                  </a:cubicBezTo>
                  <a:cubicBezTo>
                    <a:pt x="613" y="5"/>
                    <a:pt x="609" y="5"/>
                    <a:pt x="604" y="4"/>
                  </a:cubicBezTo>
                  <a:cubicBezTo>
                    <a:pt x="604" y="4"/>
                    <a:pt x="604" y="4"/>
                    <a:pt x="604" y="4"/>
                  </a:cubicBezTo>
                  <a:cubicBezTo>
                    <a:pt x="603" y="4"/>
                    <a:pt x="603" y="4"/>
                    <a:pt x="602" y="4"/>
                  </a:cubicBezTo>
                  <a:cubicBezTo>
                    <a:pt x="598" y="4"/>
                    <a:pt x="595" y="4"/>
                    <a:pt x="591" y="3"/>
                  </a:cubicBezTo>
                  <a:cubicBezTo>
                    <a:pt x="591" y="3"/>
                    <a:pt x="590" y="3"/>
                    <a:pt x="589" y="3"/>
                  </a:cubicBezTo>
                  <a:cubicBezTo>
                    <a:pt x="588" y="3"/>
                    <a:pt x="587" y="3"/>
                    <a:pt x="587" y="3"/>
                  </a:cubicBezTo>
                  <a:cubicBezTo>
                    <a:pt x="584" y="3"/>
                    <a:pt x="581" y="3"/>
                    <a:pt x="579" y="3"/>
                  </a:cubicBezTo>
                  <a:cubicBezTo>
                    <a:pt x="578" y="3"/>
                    <a:pt x="577" y="3"/>
                    <a:pt x="576" y="3"/>
                  </a:cubicBezTo>
                  <a:cubicBezTo>
                    <a:pt x="575" y="3"/>
                    <a:pt x="574" y="3"/>
                    <a:pt x="573" y="2"/>
                  </a:cubicBezTo>
                  <a:cubicBezTo>
                    <a:pt x="572" y="2"/>
                    <a:pt x="570" y="2"/>
                    <a:pt x="569" y="2"/>
                  </a:cubicBezTo>
                  <a:cubicBezTo>
                    <a:pt x="568" y="2"/>
                    <a:pt x="566" y="2"/>
                    <a:pt x="565" y="2"/>
                  </a:cubicBezTo>
                  <a:cubicBezTo>
                    <a:pt x="564" y="2"/>
                    <a:pt x="563" y="2"/>
                    <a:pt x="563" y="2"/>
                  </a:cubicBezTo>
                  <a:cubicBezTo>
                    <a:pt x="561" y="2"/>
                    <a:pt x="559" y="2"/>
                    <a:pt x="557" y="2"/>
                  </a:cubicBezTo>
                  <a:cubicBezTo>
                    <a:pt x="556" y="2"/>
                    <a:pt x="555" y="2"/>
                    <a:pt x="554" y="2"/>
                  </a:cubicBezTo>
                  <a:cubicBezTo>
                    <a:pt x="554" y="2"/>
                    <a:pt x="553" y="1"/>
                    <a:pt x="552" y="1"/>
                  </a:cubicBezTo>
                  <a:cubicBezTo>
                    <a:pt x="550" y="1"/>
                    <a:pt x="548" y="1"/>
                    <a:pt x="546" y="1"/>
                  </a:cubicBezTo>
                  <a:cubicBezTo>
                    <a:pt x="545" y="1"/>
                    <a:pt x="544" y="1"/>
                    <a:pt x="543" y="1"/>
                  </a:cubicBezTo>
                  <a:cubicBezTo>
                    <a:pt x="542" y="1"/>
                    <a:pt x="541" y="1"/>
                    <a:pt x="540" y="1"/>
                  </a:cubicBezTo>
                  <a:cubicBezTo>
                    <a:pt x="539" y="1"/>
                    <a:pt x="538" y="1"/>
                    <a:pt x="537" y="1"/>
                  </a:cubicBezTo>
                  <a:cubicBezTo>
                    <a:pt x="536" y="1"/>
                    <a:pt x="536" y="1"/>
                    <a:pt x="535" y="1"/>
                  </a:cubicBezTo>
                  <a:cubicBezTo>
                    <a:pt x="533" y="1"/>
                    <a:pt x="530" y="1"/>
                    <a:pt x="527" y="1"/>
                  </a:cubicBezTo>
                  <a:cubicBezTo>
                    <a:pt x="527" y="1"/>
                    <a:pt x="527" y="1"/>
                    <a:pt x="527" y="1"/>
                  </a:cubicBezTo>
                  <a:cubicBezTo>
                    <a:pt x="526" y="1"/>
                    <a:pt x="526" y="1"/>
                    <a:pt x="526" y="1"/>
                  </a:cubicBezTo>
                  <a:cubicBezTo>
                    <a:pt x="524" y="0"/>
                    <a:pt x="522" y="0"/>
                    <a:pt x="520" y="0"/>
                  </a:cubicBezTo>
                  <a:cubicBezTo>
                    <a:pt x="519" y="0"/>
                    <a:pt x="518" y="0"/>
                    <a:pt x="516" y="0"/>
                  </a:cubicBezTo>
                  <a:cubicBezTo>
                    <a:pt x="516" y="0"/>
                    <a:pt x="515" y="0"/>
                    <a:pt x="514" y="0"/>
                  </a:cubicBezTo>
                  <a:cubicBezTo>
                    <a:pt x="513" y="0"/>
                    <a:pt x="512" y="0"/>
                    <a:pt x="51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09" y="0"/>
                    <a:pt x="507" y="0"/>
                    <a:pt x="504" y="0"/>
                  </a:cubicBezTo>
                  <a:cubicBezTo>
                    <a:pt x="504" y="0"/>
                    <a:pt x="504" y="0"/>
                    <a:pt x="504" y="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01" y="0"/>
                    <a:pt x="500" y="0"/>
                    <a:pt x="498" y="0"/>
                  </a:cubicBezTo>
                  <a:cubicBezTo>
                    <a:pt x="496" y="0"/>
                    <a:pt x="494" y="0"/>
                    <a:pt x="492" y="0"/>
                  </a:cubicBezTo>
                  <a:cubicBezTo>
                    <a:pt x="492" y="0"/>
                    <a:pt x="492" y="0"/>
                    <a:pt x="492" y="0"/>
                  </a:cubicBezTo>
                  <a:cubicBezTo>
                    <a:pt x="490" y="0"/>
                    <a:pt x="488" y="0"/>
                    <a:pt x="486" y="0"/>
                  </a:cubicBezTo>
                  <a:cubicBezTo>
                    <a:pt x="484" y="0"/>
                    <a:pt x="482" y="0"/>
                    <a:pt x="480" y="0"/>
                  </a:cubicBezTo>
                  <a:cubicBezTo>
                    <a:pt x="478" y="0"/>
                    <a:pt x="475" y="0"/>
                    <a:pt x="473" y="0"/>
                  </a:cubicBezTo>
                  <a:cubicBezTo>
                    <a:pt x="472" y="0"/>
                    <a:pt x="470" y="0"/>
                    <a:pt x="468" y="0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465" y="0"/>
                    <a:pt x="464" y="0"/>
                    <a:pt x="462" y="0"/>
                  </a:cubicBezTo>
                  <a:cubicBezTo>
                    <a:pt x="460" y="0"/>
                    <a:pt x="458" y="0"/>
                    <a:pt x="456" y="0"/>
                  </a:cubicBezTo>
                  <a:cubicBezTo>
                    <a:pt x="454" y="0"/>
                    <a:pt x="452" y="0"/>
                    <a:pt x="451" y="0"/>
                  </a:cubicBezTo>
                  <a:cubicBezTo>
                    <a:pt x="449" y="0"/>
                    <a:pt x="447" y="0"/>
                    <a:pt x="445" y="0"/>
                  </a:cubicBezTo>
                  <a:cubicBezTo>
                    <a:pt x="445" y="0"/>
                    <a:pt x="445" y="0"/>
                    <a:pt x="445" y="0"/>
                  </a:cubicBezTo>
                  <a:cubicBezTo>
                    <a:pt x="444" y="0"/>
                    <a:pt x="444" y="0"/>
                    <a:pt x="444" y="0"/>
                  </a:cubicBezTo>
                  <a:cubicBezTo>
                    <a:pt x="442" y="0"/>
                    <a:pt x="441" y="0"/>
                    <a:pt x="439" y="0"/>
                  </a:cubicBezTo>
                  <a:cubicBezTo>
                    <a:pt x="438" y="0"/>
                    <a:pt x="436" y="0"/>
                    <a:pt x="434" y="0"/>
                  </a:cubicBezTo>
                  <a:cubicBezTo>
                    <a:pt x="432" y="0"/>
                    <a:pt x="430" y="0"/>
                    <a:pt x="428" y="0"/>
                  </a:cubicBezTo>
                  <a:cubicBezTo>
                    <a:pt x="426" y="0"/>
                    <a:pt x="424" y="0"/>
                    <a:pt x="422" y="0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19" y="0"/>
                    <a:pt x="417" y="0"/>
                    <a:pt x="415" y="0"/>
                  </a:cubicBezTo>
                  <a:cubicBezTo>
                    <a:pt x="413" y="0"/>
                    <a:pt x="411" y="0"/>
                    <a:pt x="409" y="0"/>
                  </a:cubicBezTo>
                  <a:cubicBezTo>
                    <a:pt x="407" y="0"/>
                    <a:pt x="405" y="0"/>
                    <a:pt x="403" y="0"/>
                  </a:cubicBezTo>
                  <a:cubicBezTo>
                    <a:pt x="401" y="0"/>
                    <a:pt x="400" y="0"/>
                    <a:pt x="398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7" y="0"/>
                    <a:pt x="397" y="0"/>
                    <a:pt x="396" y="0"/>
                  </a:cubicBezTo>
                  <a:cubicBezTo>
                    <a:pt x="393" y="1"/>
                    <a:pt x="390" y="1"/>
                    <a:pt x="387" y="1"/>
                  </a:cubicBezTo>
                  <a:cubicBezTo>
                    <a:pt x="383" y="1"/>
                    <a:pt x="379" y="1"/>
                    <a:pt x="375" y="1"/>
                  </a:cubicBezTo>
                  <a:cubicBezTo>
                    <a:pt x="374" y="1"/>
                    <a:pt x="372" y="1"/>
                    <a:pt x="370" y="1"/>
                  </a:cubicBezTo>
                  <a:cubicBezTo>
                    <a:pt x="361" y="2"/>
                    <a:pt x="352" y="2"/>
                    <a:pt x="344" y="3"/>
                  </a:cubicBezTo>
                  <a:cubicBezTo>
                    <a:pt x="343" y="3"/>
                    <a:pt x="343" y="3"/>
                    <a:pt x="342" y="3"/>
                  </a:cubicBezTo>
                  <a:cubicBezTo>
                    <a:pt x="336" y="3"/>
                    <a:pt x="330" y="3"/>
                    <a:pt x="324" y="4"/>
                  </a:cubicBezTo>
                  <a:cubicBezTo>
                    <a:pt x="323" y="4"/>
                    <a:pt x="323" y="4"/>
                    <a:pt x="322" y="4"/>
                  </a:cubicBezTo>
                  <a:cubicBezTo>
                    <a:pt x="322" y="4"/>
                    <a:pt x="321" y="4"/>
                    <a:pt x="321" y="4"/>
                  </a:cubicBezTo>
                  <a:cubicBezTo>
                    <a:pt x="320" y="4"/>
                    <a:pt x="319" y="4"/>
                    <a:pt x="318" y="4"/>
                  </a:cubicBezTo>
                  <a:cubicBezTo>
                    <a:pt x="316" y="4"/>
                    <a:pt x="314" y="4"/>
                    <a:pt x="313" y="5"/>
                  </a:cubicBezTo>
                  <a:cubicBezTo>
                    <a:pt x="312" y="5"/>
                    <a:pt x="311" y="5"/>
                    <a:pt x="310" y="5"/>
                  </a:cubicBezTo>
                  <a:cubicBezTo>
                    <a:pt x="310" y="5"/>
                    <a:pt x="309" y="5"/>
                    <a:pt x="308" y="5"/>
                  </a:cubicBezTo>
                  <a:cubicBezTo>
                    <a:pt x="306" y="5"/>
                    <a:pt x="305" y="5"/>
                    <a:pt x="303" y="5"/>
                  </a:cubicBezTo>
                  <a:cubicBezTo>
                    <a:pt x="302" y="5"/>
                    <a:pt x="301" y="5"/>
                    <a:pt x="300" y="5"/>
                  </a:cubicBezTo>
                  <a:cubicBezTo>
                    <a:pt x="299" y="6"/>
                    <a:pt x="298" y="6"/>
                    <a:pt x="298" y="6"/>
                  </a:cubicBezTo>
                  <a:cubicBezTo>
                    <a:pt x="296" y="6"/>
                    <a:pt x="295" y="6"/>
                    <a:pt x="294" y="6"/>
                  </a:cubicBezTo>
                  <a:cubicBezTo>
                    <a:pt x="293" y="6"/>
                    <a:pt x="291" y="6"/>
                    <a:pt x="289" y="6"/>
                  </a:cubicBezTo>
                  <a:cubicBezTo>
                    <a:pt x="289" y="6"/>
                    <a:pt x="288" y="6"/>
                    <a:pt x="288" y="6"/>
                  </a:cubicBezTo>
                  <a:cubicBezTo>
                    <a:pt x="287" y="7"/>
                    <a:pt x="287" y="7"/>
                    <a:pt x="286" y="7"/>
                  </a:cubicBezTo>
                  <a:cubicBezTo>
                    <a:pt x="284" y="7"/>
                    <a:pt x="282" y="7"/>
                    <a:pt x="280" y="7"/>
                  </a:cubicBezTo>
                  <a:cubicBezTo>
                    <a:pt x="279" y="7"/>
                    <a:pt x="279" y="7"/>
                    <a:pt x="278" y="7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6" y="7"/>
                    <a:pt x="275" y="8"/>
                    <a:pt x="273" y="8"/>
                  </a:cubicBezTo>
                  <a:cubicBezTo>
                    <a:pt x="272" y="8"/>
                    <a:pt x="270" y="8"/>
                    <a:pt x="269" y="8"/>
                  </a:cubicBezTo>
                  <a:cubicBezTo>
                    <a:pt x="268" y="8"/>
                    <a:pt x="268" y="8"/>
                    <a:pt x="268" y="8"/>
                  </a:cubicBezTo>
                  <a:cubicBezTo>
                    <a:pt x="267" y="8"/>
                    <a:pt x="267" y="8"/>
                    <a:pt x="267" y="8"/>
                  </a:cubicBezTo>
                  <a:cubicBezTo>
                    <a:pt x="265" y="9"/>
                    <a:pt x="263" y="9"/>
                    <a:pt x="261" y="9"/>
                  </a:cubicBezTo>
                  <a:cubicBezTo>
                    <a:pt x="260" y="9"/>
                    <a:pt x="259" y="9"/>
                    <a:pt x="259" y="9"/>
                  </a:cubicBezTo>
                  <a:cubicBezTo>
                    <a:pt x="258" y="9"/>
                    <a:pt x="258" y="9"/>
                    <a:pt x="257" y="9"/>
                  </a:cubicBezTo>
                  <a:cubicBezTo>
                    <a:pt x="256" y="9"/>
                    <a:pt x="255" y="10"/>
                    <a:pt x="254" y="10"/>
                  </a:cubicBezTo>
                  <a:cubicBezTo>
                    <a:pt x="252" y="10"/>
                    <a:pt x="250" y="10"/>
                    <a:pt x="248" y="10"/>
                  </a:cubicBezTo>
                  <a:cubicBezTo>
                    <a:pt x="246" y="11"/>
                    <a:pt x="244" y="11"/>
                    <a:pt x="242" y="11"/>
                  </a:cubicBezTo>
                  <a:cubicBezTo>
                    <a:pt x="241" y="11"/>
                    <a:pt x="240" y="11"/>
                    <a:pt x="239" y="11"/>
                  </a:cubicBezTo>
                  <a:cubicBezTo>
                    <a:pt x="238" y="11"/>
                    <a:pt x="238" y="11"/>
                    <a:pt x="238" y="11"/>
                  </a:cubicBezTo>
                  <a:cubicBezTo>
                    <a:pt x="237" y="12"/>
                    <a:pt x="236" y="12"/>
                    <a:pt x="236" y="12"/>
                  </a:cubicBezTo>
                  <a:cubicBezTo>
                    <a:pt x="234" y="12"/>
                    <a:pt x="231" y="12"/>
                    <a:pt x="229" y="12"/>
                  </a:cubicBezTo>
                  <a:cubicBezTo>
                    <a:pt x="227" y="13"/>
                    <a:pt x="225" y="13"/>
                    <a:pt x="223" y="13"/>
                  </a:cubicBezTo>
                  <a:cubicBezTo>
                    <a:pt x="222" y="13"/>
                    <a:pt x="221" y="13"/>
                    <a:pt x="220" y="14"/>
                  </a:cubicBezTo>
                  <a:cubicBezTo>
                    <a:pt x="219" y="14"/>
                    <a:pt x="219" y="14"/>
                    <a:pt x="218" y="14"/>
                  </a:cubicBezTo>
                  <a:cubicBezTo>
                    <a:pt x="217" y="14"/>
                    <a:pt x="216" y="14"/>
                    <a:pt x="215" y="14"/>
                  </a:cubicBezTo>
                  <a:cubicBezTo>
                    <a:pt x="214" y="14"/>
                    <a:pt x="213" y="14"/>
                    <a:pt x="212" y="15"/>
                  </a:cubicBezTo>
                  <a:cubicBezTo>
                    <a:pt x="211" y="15"/>
                    <a:pt x="210" y="15"/>
                    <a:pt x="209" y="15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5" y="16"/>
                    <a:pt x="203" y="16"/>
                    <a:pt x="201" y="16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0" y="16"/>
                    <a:pt x="199" y="16"/>
                    <a:pt x="199" y="16"/>
                  </a:cubicBezTo>
                  <a:cubicBezTo>
                    <a:pt x="197" y="17"/>
                    <a:pt x="195" y="17"/>
                    <a:pt x="193" y="17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89" y="18"/>
                    <a:pt x="186" y="18"/>
                    <a:pt x="182" y="19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1" y="19"/>
                    <a:pt x="181" y="19"/>
                    <a:pt x="180" y="19"/>
                  </a:cubicBezTo>
                  <a:cubicBezTo>
                    <a:pt x="177" y="20"/>
                    <a:pt x="175" y="20"/>
                    <a:pt x="173" y="20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1" y="21"/>
                    <a:pt x="171" y="21"/>
                    <a:pt x="170" y="21"/>
                  </a:cubicBezTo>
                  <a:cubicBezTo>
                    <a:pt x="167" y="21"/>
                    <a:pt x="164" y="22"/>
                    <a:pt x="161" y="23"/>
                  </a:cubicBezTo>
                  <a:cubicBezTo>
                    <a:pt x="161" y="23"/>
                    <a:pt x="160" y="23"/>
                    <a:pt x="160" y="23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5" y="24"/>
                    <a:pt x="150" y="24"/>
                    <a:pt x="146" y="25"/>
                  </a:cubicBezTo>
                  <a:cubicBezTo>
                    <a:pt x="146" y="25"/>
                    <a:pt x="146" y="25"/>
                    <a:pt x="145" y="25"/>
                  </a:cubicBezTo>
                  <a:cubicBezTo>
                    <a:pt x="144" y="26"/>
                    <a:pt x="144" y="26"/>
                    <a:pt x="143" y="26"/>
                  </a:cubicBezTo>
                  <a:cubicBezTo>
                    <a:pt x="142" y="26"/>
                    <a:pt x="140" y="26"/>
                    <a:pt x="139" y="27"/>
                  </a:cubicBezTo>
                  <a:cubicBezTo>
                    <a:pt x="137" y="27"/>
                    <a:pt x="136" y="27"/>
                    <a:pt x="135" y="28"/>
                  </a:cubicBezTo>
                  <a:cubicBezTo>
                    <a:pt x="133" y="28"/>
                    <a:pt x="132" y="28"/>
                    <a:pt x="131" y="28"/>
                  </a:cubicBezTo>
                  <a:cubicBezTo>
                    <a:pt x="130" y="29"/>
                    <a:pt x="129" y="29"/>
                    <a:pt x="128" y="29"/>
                  </a:cubicBezTo>
                  <a:cubicBezTo>
                    <a:pt x="128" y="29"/>
                    <a:pt x="128" y="29"/>
                    <a:pt x="127" y="29"/>
                  </a:cubicBezTo>
                  <a:cubicBezTo>
                    <a:pt x="125" y="30"/>
                    <a:pt x="123" y="30"/>
                    <a:pt x="122" y="30"/>
                  </a:cubicBezTo>
                  <a:cubicBezTo>
                    <a:pt x="121" y="31"/>
                    <a:pt x="120" y="31"/>
                    <a:pt x="119" y="31"/>
                  </a:cubicBezTo>
                  <a:cubicBezTo>
                    <a:pt x="116" y="32"/>
                    <a:pt x="114" y="32"/>
                    <a:pt x="112" y="33"/>
                  </a:cubicBezTo>
                  <a:cubicBezTo>
                    <a:pt x="112" y="33"/>
                    <a:pt x="111" y="33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8" y="34"/>
                    <a:pt x="105" y="34"/>
                    <a:pt x="103" y="35"/>
                  </a:cubicBezTo>
                  <a:cubicBezTo>
                    <a:pt x="102" y="35"/>
                    <a:pt x="101" y="35"/>
                    <a:pt x="100" y="36"/>
                  </a:cubicBezTo>
                  <a:cubicBezTo>
                    <a:pt x="98" y="36"/>
                    <a:pt x="96" y="37"/>
                    <a:pt x="95" y="37"/>
                  </a:cubicBezTo>
                  <a:cubicBezTo>
                    <a:pt x="94" y="37"/>
                    <a:pt x="94" y="37"/>
                    <a:pt x="93" y="37"/>
                  </a:cubicBezTo>
                  <a:cubicBezTo>
                    <a:pt x="93" y="38"/>
                    <a:pt x="92" y="38"/>
                    <a:pt x="92" y="38"/>
                  </a:cubicBezTo>
                  <a:cubicBezTo>
                    <a:pt x="90" y="38"/>
                    <a:pt x="89" y="39"/>
                    <a:pt x="87" y="39"/>
                  </a:cubicBezTo>
                  <a:cubicBezTo>
                    <a:pt x="86" y="39"/>
                    <a:pt x="85" y="40"/>
                    <a:pt x="84" y="40"/>
                  </a:cubicBezTo>
                  <a:cubicBezTo>
                    <a:pt x="83" y="41"/>
                    <a:pt x="81" y="41"/>
                    <a:pt x="79" y="42"/>
                  </a:cubicBezTo>
                  <a:cubicBezTo>
                    <a:pt x="79" y="42"/>
                    <a:pt x="78" y="42"/>
                    <a:pt x="78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5" y="43"/>
                    <a:pt x="73" y="43"/>
                    <a:pt x="71" y="44"/>
                  </a:cubicBezTo>
                  <a:cubicBezTo>
                    <a:pt x="70" y="44"/>
                    <a:pt x="70" y="45"/>
                    <a:pt x="69" y="45"/>
                  </a:cubicBezTo>
                  <a:cubicBezTo>
                    <a:pt x="67" y="45"/>
                    <a:pt x="66" y="46"/>
                    <a:pt x="65" y="46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3" y="47"/>
                    <a:pt x="63" y="47"/>
                    <a:pt x="62" y="47"/>
                  </a:cubicBezTo>
                  <a:cubicBezTo>
                    <a:pt x="61" y="48"/>
                    <a:pt x="60" y="48"/>
                    <a:pt x="59" y="48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5" y="50"/>
                    <a:pt x="54" y="50"/>
                    <a:pt x="53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1"/>
                    <a:pt x="51" y="51"/>
                    <a:pt x="51" y="52"/>
                  </a:cubicBezTo>
                  <a:cubicBezTo>
                    <a:pt x="50" y="52"/>
                    <a:pt x="49" y="52"/>
                    <a:pt x="48" y="53"/>
                  </a:cubicBezTo>
                  <a:cubicBezTo>
                    <a:pt x="47" y="53"/>
                    <a:pt x="46" y="53"/>
                    <a:pt x="46" y="54"/>
                  </a:cubicBezTo>
                  <a:cubicBezTo>
                    <a:pt x="45" y="54"/>
                    <a:pt x="44" y="54"/>
                    <a:pt x="43" y="55"/>
                  </a:cubicBezTo>
                  <a:cubicBezTo>
                    <a:pt x="43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6"/>
                  </a:cubicBezTo>
                  <a:cubicBezTo>
                    <a:pt x="40" y="56"/>
                    <a:pt x="39" y="57"/>
                    <a:pt x="39" y="57"/>
                  </a:cubicBezTo>
                  <a:cubicBezTo>
                    <a:pt x="38" y="57"/>
                    <a:pt x="37" y="58"/>
                    <a:pt x="36" y="58"/>
                  </a:cubicBezTo>
                  <a:cubicBezTo>
                    <a:pt x="36" y="58"/>
                    <a:pt x="35" y="59"/>
                    <a:pt x="34" y="59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2" y="60"/>
                    <a:pt x="32" y="60"/>
                  </a:cubicBezTo>
                  <a:cubicBezTo>
                    <a:pt x="31" y="60"/>
                    <a:pt x="31" y="61"/>
                    <a:pt x="30" y="61"/>
                  </a:cubicBezTo>
                  <a:cubicBezTo>
                    <a:pt x="30" y="62"/>
                    <a:pt x="29" y="62"/>
                    <a:pt x="28" y="62"/>
                  </a:cubicBezTo>
                  <a:cubicBezTo>
                    <a:pt x="28" y="63"/>
                    <a:pt x="27" y="63"/>
                    <a:pt x="26" y="63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5" y="64"/>
                    <a:pt x="25" y="64"/>
                    <a:pt x="24" y="64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2" y="66"/>
                    <a:pt x="22" y="66"/>
                    <a:pt x="21" y="67"/>
                  </a:cubicBezTo>
                  <a:cubicBezTo>
                    <a:pt x="21" y="67"/>
                    <a:pt x="20" y="67"/>
                    <a:pt x="20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8"/>
                    <a:pt x="18" y="69"/>
                    <a:pt x="18" y="69"/>
                  </a:cubicBezTo>
                  <a:cubicBezTo>
                    <a:pt x="17" y="69"/>
                    <a:pt x="17" y="70"/>
                    <a:pt x="17" y="70"/>
                  </a:cubicBezTo>
                  <a:cubicBezTo>
                    <a:pt x="16" y="70"/>
                    <a:pt x="15" y="71"/>
                    <a:pt x="15" y="71"/>
                  </a:cubicBezTo>
                  <a:cubicBezTo>
                    <a:pt x="15" y="71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3"/>
                    <a:pt x="13" y="73"/>
                    <a:pt x="12" y="73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5"/>
                    <a:pt x="10" y="76"/>
                    <a:pt x="9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7"/>
                    <a:pt x="8" y="78"/>
                    <a:pt x="7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6" y="80"/>
                    <a:pt x="6" y="80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2"/>
                    <a:pt x="4" y="83"/>
                    <a:pt x="4" y="8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86"/>
                    <a:pt x="2" y="87"/>
                    <a:pt x="2" y="87"/>
                  </a:cubicBezTo>
                  <a:cubicBezTo>
                    <a:pt x="2" y="87"/>
                    <a:pt x="2" y="88"/>
                    <a:pt x="2" y="8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1"/>
                    <a:pt x="0" y="92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7"/>
                  </a:cubicBezTo>
                  <a:cubicBezTo>
                    <a:pt x="0" y="97"/>
                    <a:pt x="1" y="98"/>
                    <a:pt x="1" y="98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" y="102"/>
                    <a:pt x="1" y="102"/>
                    <a:pt x="1" y="102"/>
                  </a:cubicBezTo>
                  <a:cubicBezTo>
                    <a:pt x="2" y="103"/>
                    <a:pt x="2" y="103"/>
                    <a:pt x="2" y="104"/>
                  </a:cubicBezTo>
                  <a:cubicBezTo>
                    <a:pt x="15" y="132"/>
                    <a:pt x="28" y="160"/>
                    <a:pt x="41" y="188"/>
                  </a:cubicBezTo>
                  <a:cubicBezTo>
                    <a:pt x="75" y="263"/>
                    <a:pt x="110" y="339"/>
                    <a:pt x="145" y="414"/>
                  </a:cubicBezTo>
                  <a:cubicBezTo>
                    <a:pt x="145" y="415"/>
                    <a:pt x="145" y="416"/>
                    <a:pt x="146" y="417"/>
                  </a:cubicBezTo>
                  <a:cubicBezTo>
                    <a:pt x="146" y="417"/>
                    <a:pt x="146" y="417"/>
                    <a:pt x="146" y="417"/>
                  </a:cubicBezTo>
                  <a:cubicBezTo>
                    <a:pt x="146" y="418"/>
                    <a:pt x="146" y="418"/>
                    <a:pt x="147" y="418"/>
                  </a:cubicBezTo>
                  <a:cubicBezTo>
                    <a:pt x="147" y="419"/>
                    <a:pt x="147" y="419"/>
                    <a:pt x="147" y="419"/>
                  </a:cubicBezTo>
                  <a:cubicBezTo>
                    <a:pt x="148" y="420"/>
                    <a:pt x="148" y="420"/>
                    <a:pt x="148" y="420"/>
                  </a:cubicBezTo>
                  <a:cubicBezTo>
                    <a:pt x="148" y="420"/>
                    <a:pt x="148" y="420"/>
                    <a:pt x="148" y="420"/>
                  </a:cubicBezTo>
                  <a:cubicBezTo>
                    <a:pt x="148" y="420"/>
                    <a:pt x="148" y="420"/>
                    <a:pt x="148" y="420"/>
                  </a:cubicBezTo>
                  <a:cubicBezTo>
                    <a:pt x="148" y="421"/>
                    <a:pt x="148" y="421"/>
                    <a:pt x="148" y="421"/>
                  </a:cubicBezTo>
                  <a:cubicBezTo>
                    <a:pt x="149" y="421"/>
                    <a:pt x="149" y="422"/>
                    <a:pt x="150" y="422"/>
                  </a:cubicBezTo>
                  <a:cubicBezTo>
                    <a:pt x="150" y="423"/>
                    <a:pt x="150" y="423"/>
                    <a:pt x="150" y="423"/>
                  </a:cubicBezTo>
                  <a:cubicBezTo>
                    <a:pt x="150" y="423"/>
                    <a:pt x="150" y="423"/>
                    <a:pt x="150" y="423"/>
                  </a:cubicBezTo>
                  <a:cubicBezTo>
                    <a:pt x="150" y="423"/>
                    <a:pt x="150" y="423"/>
                    <a:pt x="150" y="423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5"/>
                    <a:pt x="152" y="425"/>
                    <a:pt x="152" y="425"/>
                  </a:cubicBezTo>
                  <a:cubicBezTo>
                    <a:pt x="153" y="426"/>
                    <a:pt x="153" y="426"/>
                    <a:pt x="153" y="426"/>
                  </a:cubicBezTo>
                  <a:cubicBezTo>
                    <a:pt x="153" y="426"/>
                    <a:pt x="153" y="426"/>
                    <a:pt x="153" y="426"/>
                  </a:cubicBezTo>
                  <a:cubicBezTo>
                    <a:pt x="153" y="426"/>
                    <a:pt x="153" y="426"/>
                    <a:pt x="153" y="426"/>
                  </a:cubicBezTo>
                  <a:cubicBezTo>
                    <a:pt x="154" y="427"/>
                    <a:pt x="154" y="427"/>
                    <a:pt x="154" y="427"/>
                  </a:cubicBezTo>
                  <a:cubicBezTo>
                    <a:pt x="155" y="427"/>
                    <a:pt x="155" y="427"/>
                    <a:pt x="156" y="428"/>
                  </a:cubicBezTo>
                  <a:cubicBezTo>
                    <a:pt x="156" y="429"/>
                    <a:pt x="156" y="429"/>
                    <a:pt x="156" y="429"/>
                  </a:cubicBezTo>
                  <a:cubicBezTo>
                    <a:pt x="157" y="429"/>
                    <a:pt x="157" y="429"/>
                    <a:pt x="157" y="429"/>
                  </a:cubicBezTo>
                  <a:cubicBezTo>
                    <a:pt x="157" y="429"/>
                    <a:pt x="157" y="429"/>
                    <a:pt x="157" y="429"/>
                  </a:cubicBezTo>
                  <a:cubicBezTo>
                    <a:pt x="158" y="430"/>
                    <a:pt x="158" y="430"/>
                    <a:pt x="158" y="430"/>
                  </a:cubicBezTo>
                  <a:cubicBezTo>
                    <a:pt x="159" y="430"/>
                    <a:pt x="159" y="430"/>
                    <a:pt x="159" y="430"/>
                  </a:cubicBezTo>
                  <a:cubicBezTo>
                    <a:pt x="160" y="431"/>
                    <a:pt x="160" y="431"/>
                    <a:pt x="161" y="431"/>
                  </a:cubicBezTo>
                  <a:cubicBezTo>
                    <a:pt x="161" y="431"/>
                    <a:pt x="161" y="431"/>
                    <a:pt x="161" y="431"/>
                  </a:cubicBezTo>
                  <a:cubicBezTo>
                    <a:pt x="161" y="432"/>
                    <a:pt x="161" y="432"/>
                    <a:pt x="161" y="432"/>
                  </a:cubicBezTo>
                  <a:cubicBezTo>
                    <a:pt x="162" y="432"/>
                    <a:pt x="162" y="432"/>
                    <a:pt x="162" y="432"/>
                  </a:cubicBezTo>
                  <a:cubicBezTo>
                    <a:pt x="162" y="432"/>
                    <a:pt x="163" y="433"/>
                    <a:pt x="164" y="434"/>
                  </a:cubicBezTo>
                  <a:cubicBezTo>
                    <a:pt x="165" y="434"/>
                    <a:pt x="165" y="434"/>
                    <a:pt x="165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6" y="435"/>
                    <a:pt x="166" y="435"/>
                    <a:pt x="166" y="435"/>
                  </a:cubicBezTo>
                  <a:cubicBezTo>
                    <a:pt x="167" y="435"/>
                    <a:pt x="167" y="435"/>
                    <a:pt x="167" y="435"/>
                  </a:cubicBezTo>
                  <a:cubicBezTo>
                    <a:pt x="168" y="435"/>
                    <a:pt x="168" y="436"/>
                    <a:pt x="169" y="436"/>
                  </a:cubicBezTo>
                  <a:cubicBezTo>
                    <a:pt x="169" y="436"/>
                    <a:pt x="170" y="436"/>
                    <a:pt x="171" y="437"/>
                  </a:cubicBezTo>
                  <a:cubicBezTo>
                    <a:pt x="171" y="437"/>
                    <a:pt x="171" y="437"/>
                    <a:pt x="171" y="437"/>
                  </a:cubicBezTo>
                  <a:cubicBezTo>
                    <a:pt x="172" y="437"/>
                    <a:pt x="172" y="437"/>
                    <a:pt x="172" y="437"/>
                  </a:cubicBezTo>
                  <a:cubicBezTo>
                    <a:pt x="172" y="437"/>
                    <a:pt x="172" y="437"/>
                    <a:pt x="172" y="437"/>
                  </a:cubicBezTo>
                  <a:cubicBezTo>
                    <a:pt x="173" y="438"/>
                    <a:pt x="174" y="438"/>
                    <a:pt x="174" y="438"/>
                  </a:cubicBezTo>
                  <a:cubicBezTo>
                    <a:pt x="175" y="439"/>
                    <a:pt x="175" y="439"/>
                    <a:pt x="176" y="439"/>
                  </a:cubicBezTo>
                  <a:cubicBezTo>
                    <a:pt x="176" y="439"/>
                    <a:pt x="177" y="439"/>
                    <a:pt x="177" y="440"/>
                  </a:cubicBezTo>
                  <a:cubicBezTo>
                    <a:pt x="178" y="440"/>
                    <a:pt x="178" y="440"/>
                    <a:pt x="178" y="440"/>
                  </a:cubicBezTo>
                  <a:cubicBezTo>
                    <a:pt x="179" y="440"/>
                    <a:pt x="179" y="440"/>
                    <a:pt x="180" y="441"/>
                  </a:cubicBezTo>
                  <a:cubicBezTo>
                    <a:pt x="180" y="441"/>
                    <a:pt x="182" y="441"/>
                    <a:pt x="183" y="442"/>
                  </a:cubicBezTo>
                  <a:cubicBezTo>
                    <a:pt x="183" y="442"/>
                    <a:pt x="183" y="442"/>
                    <a:pt x="183" y="442"/>
                  </a:cubicBezTo>
                  <a:cubicBezTo>
                    <a:pt x="184" y="442"/>
                    <a:pt x="184" y="442"/>
                    <a:pt x="184" y="442"/>
                  </a:cubicBezTo>
                  <a:cubicBezTo>
                    <a:pt x="185" y="443"/>
                    <a:pt x="185" y="443"/>
                    <a:pt x="185" y="443"/>
                  </a:cubicBezTo>
                  <a:cubicBezTo>
                    <a:pt x="186" y="443"/>
                    <a:pt x="187" y="443"/>
                    <a:pt x="188" y="444"/>
                  </a:cubicBezTo>
                  <a:cubicBezTo>
                    <a:pt x="188" y="444"/>
                    <a:pt x="188" y="444"/>
                    <a:pt x="189" y="444"/>
                  </a:cubicBezTo>
                  <a:cubicBezTo>
                    <a:pt x="190" y="444"/>
                    <a:pt x="191" y="445"/>
                    <a:pt x="191" y="445"/>
                  </a:cubicBezTo>
                  <a:cubicBezTo>
                    <a:pt x="192" y="445"/>
                    <a:pt x="192" y="445"/>
                    <a:pt x="192" y="445"/>
                  </a:cubicBezTo>
                  <a:cubicBezTo>
                    <a:pt x="192" y="445"/>
                    <a:pt x="192" y="445"/>
                    <a:pt x="192" y="445"/>
                  </a:cubicBezTo>
                  <a:cubicBezTo>
                    <a:pt x="192" y="445"/>
                    <a:pt x="193" y="446"/>
                    <a:pt x="194" y="446"/>
                  </a:cubicBezTo>
                  <a:cubicBezTo>
                    <a:pt x="195" y="446"/>
                    <a:pt x="195" y="446"/>
                    <a:pt x="196" y="447"/>
                  </a:cubicBezTo>
                  <a:cubicBezTo>
                    <a:pt x="197" y="447"/>
                    <a:pt x="198" y="447"/>
                    <a:pt x="198" y="447"/>
                  </a:cubicBezTo>
                  <a:cubicBezTo>
                    <a:pt x="199" y="447"/>
                    <a:pt x="199" y="447"/>
                    <a:pt x="199" y="447"/>
                  </a:cubicBezTo>
                  <a:cubicBezTo>
                    <a:pt x="199" y="448"/>
                    <a:pt x="199" y="448"/>
                    <a:pt x="199" y="448"/>
                  </a:cubicBezTo>
                  <a:cubicBezTo>
                    <a:pt x="200" y="448"/>
                    <a:pt x="200" y="448"/>
                    <a:pt x="201" y="448"/>
                  </a:cubicBezTo>
                  <a:cubicBezTo>
                    <a:pt x="202" y="448"/>
                    <a:pt x="202" y="448"/>
                    <a:pt x="203" y="449"/>
                  </a:cubicBezTo>
                  <a:cubicBezTo>
                    <a:pt x="204" y="449"/>
                    <a:pt x="205" y="449"/>
                    <a:pt x="206" y="450"/>
                  </a:cubicBezTo>
                  <a:cubicBezTo>
                    <a:pt x="207" y="450"/>
                    <a:pt x="207" y="450"/>
                    <a:pt x="207" y="450"/>
                  </a:cubicBezTo>
                  <a:cubicBezTo>
                    <a:pt x="207" y="450"/>
                    <a:pt x="207" y="450"/>
                    <a:pt x="207" y="450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10" y="450"/>
                    <a:pt x="211" y="451"/>
                    <a:pt x="213" y="451"/>
                  </a:cubicBezTo>
                  <a:cubicBezTo>
                    <a:pt x="213" y="451"/>
                    <a:pt x="214" y="452"/>
                    <a:pt x="214" y="452"/>
                  </a:cubicBezTo>
                  <a:cubicBezTo>
                    <a:pt x="215" y="452"/>
                    <a:pt x="215" y="452"/>
                    <a:pt x="215" y="452"/>
                  </a:cubicBezTo>
                  <a:cubicBezTo>
                    <a:pt x="216" y="452"/>
                    <a:pt x="216" y="452"/>
                    <a:pt x="217" y="452"/>
                  </a:cubicBezTo>
                  <a:cubicBezTo>
                    <a:pt x="217" y="452"/>
                    <a:pt x="218" y="453"/>
                    <a:pt x="218" y="453"/>
                  </a:cubicBezTo>
                  <a:cubicBezTo>
                    <a:pt x="219" y="453"/>
                    <a:pt x="220" y="453"/>
                    <a:pt x="220" y="453"/>
                  </a:cubicBezTo>
                  <a:cubicBezTo>
                    <a:pt x="221" y="453"/>
                    <a:pt x="223" y="454"/>
                    <a:pt x="224" y="454"/>
                  </a:cubicBezTo>
                  <a:cubicBezTo>
                    <a:pt x="224" y="454"/>
                    <a:pt x="225" y="454"/>
                    <a:pt x="225" y="454"/>
                  </a:cubicBezTo>
                  <a:cubicBezTo>
                    <a:pt x="226" y="454"/>
                    <a:pt x="226" y="454"/>
                    <a:pt x="226" y="454"/>
                  </a:cubicBezTo>
                  <a:cubicBezTo>
                    <a:pt x="226" y="455"/>
                    <a:pt x="226" y="455"/>
                    <a:pt x="226" y="455"/>
                  </a:cubicBezTo>
                  <a:cubicBezTo>
                    <a:pt x="227" y="455"/>
                    <a:pt x="228" y="455"/>
                    <a:pt x="229" y="455"/>
                  </a:cubicBezTo>
                  <a:cubicBezTo>
                    <a:pt x="230" y="455"/>
                    <a:pt x="231" y="456"/>
                    <a:pt x="232" y="456"/>
                  </a:cubicBezTo>
                  <a:cubicBezTo>
                    <a:pt x="233" y="456"/>
                    <a:pt x="233" y="456"/>
                    <a:pt x="234" y="456"/>
                  </a:cubicBezTo>
                  <a:cubicBezTo>
                    <a:pt x="235" y="456"/>
                    <a:pt x="235" y="457"/>
                    <a:pt x="236" y="457"/>
                  </a:cubicBezTo>
                  <a:cubicBezTo>
                    <a:pt x="236" y="457"/>
                    <a:pt x="237" y="457"/>
                    <a:pt x="238" y="457"/>
                  </a:cubicBezTo>
                  <a:cubicBezTo>
                    <a:pt x="239" y="457"/>
                    <a:pt x="240" y="458"/>
                    <a:pt x="242" y="458"/>
                  </a:cubicBezTo>
                  <a:cubicBezTo>
                    <a:pt x="242" y="458"/>
                    <a:pt x="243" y="458"/>
                    <a:pt x="244" y="458"/>
                  </a:cubicBezTo>
                  <a:cubicBezTo>
                    <a:pt x="245" y="458"/>
                    <a:pt x="245" y="458"/>
                    <a:pt x="245" y="458"/>
                  </a:cubicBezTo>
                  <a:cubicBezTo>
                    <a:pt x="245" y="459"/>
                    <a:pt x="245" y="459"/>
                    <a:pt x="246" y="459"/>
                  </a:cubicBezTo>
                  <a:cubicBezTo>
                    <a:pt x="247" y="459"/>
                    <a:pt x="248" y="459"/>
                    <a:pt x="250" y="459"/>
                  </a:cubicBezTo>
                  <a:cubicBezTo>
                    <a:pt x="250" y="460"/>
                    <a:pt x="251" y="460"/>
                    <a:pt x="252" y="460"/>
                  </a:cubicBezTo>
                  <a:cubicBezTo>
                    <a:pt x="253" y="460"/>
                    <a:pt x="254" y="460"/>
                    <a:pt x="255" y="460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7" y="461"/>
                    <a:pt x="258" y="461"/>
                    <a:pt x="259" y="461"/>
                  </a:cubicBezTo>
                  <a:cubicBezTo>
                    <a:pt x="260" y="461"/>
                    <a:pt x="261" y="461"/>
                    <a:pt x="262" y="462"/>
                  </a:cubicBezTo>
                  <a:cubicBezTo>
                    <a:pt x="263" y="462"/>
                    <a:pt x="264" y="462"/>
                    <a:pt x="265" y="462"/>
                  </a:cubicBezTo>
                  <a:cubicBezTo>
                    <a:pt x="266" y="462"/>
                    <a:pt x="266" y="462"/>
                    <a:pt x="266" y="462"/>
                  </a:cubicBezTo>
                  <a:cubicBezTo>
                    <a:pt x="267" y="462"/>
                    <a:pt x="267" y="462"/>
                    <a:pt x="267" y="462"/>
                  </a:cubicBezTo>
                  <a:cubicBezTo>
                    <a:pt x="267" y="462"/>
                    <a:pt x="268" y="463"/>
                    <a:pt x="269" y="463"/>
                  </a:cubicBezTo>
                  <a:cubicBezTo>
                    <a:pt x="270" y="463"/>
                    <a:pt x="271" y="463"/>
                    <a:pt x="272" y="463"/>
                  </a:cubicBezTo>
                  <a:cubicBezTo>
                    <a:pt x="273" y="463"/>
                    <a:pt x="274" y="464"/>
                    <a:pt x="276" y="464"/>
                  </a:cubicBezTo>
                  <a:cubicBezTo>
                    <a:pt x="277" y="464"/>
                    <a:pt x="278" y="464"/>
                    <a:pt x="278" y="464"/>
                  </a:cubicBezTo>
                  <a:cubicBezTo>
                    <a:pt x="280" y="464"/>
                    <a:pt x="282" y="465"/>
                    <a:pt x="284" y="465"/>
                  </a:cubicBezTo>
                  <a:cubicBezTo>
                    <a:pt x="285" y="465"/>
                    <a:pt x="285" y="465"/>
                    <a:pt x="286" y="465"/>
                  </a:cubicBezTo>
                  <a:cubicBezTo>
                    <a:pt x="287" y="465"/>
                    <a:pt x="288" y="466"/>
                    <a:pt x="289" y="466"/>
                  </a:cubicBezTo>
                  <a:cubicBezTo>
                    <a:pt x="289" y="466"/>
                    <a:pt x="290" y="466"/>
                    <a:pt x="290" y="466"/>
                  </a:cubicBezTo>
                  <a:cubicBezTo>
                    <a:pt x="291" y="466"/>
                    <a:pt x="291" y="466"/>
                    <a:pt x="292" y="466"/>
                  </a:cubicBezTo>
                  <a:cubicBezTo>
                    <a:pt x="293" y="466"/>
                    <a:pt x="293" y="466"/>
                    <a:pt x="293" y="466"/>
                  </a:cubicBezTo>
                  <a:cubicBezTo>
                    <a:pt x="293" y="466"/>
                    <a:pt x="293" y="466"/>
                    <a:pt x="293" y="466"/>
                  </a:cubicBezTo>
                  <a:cubicBezTo>
                    <a:pt x="296" y="467"/>
                    <a:pt x="298" y="467"/>
                    <a:pt x="301" y="467"/>
                  </a:cubicBezTo>
                  <a:cubicBezTo>
                    <a:pt x="301" y="467"/>
                    <a:pt x="302" y="467"/>
                    <a:pt x="302" y="467"/>
                  </a:cubicBezTo>
                  <a:cubicBezTo>
                    <a:pt x="305" y="468"/>
                    <a:pt x="307" y="468"/>
                    <a:pt x="309" y="468"/>
                  </a:cubicBezTo>
                  <a:cubicBezTo>
                    <a:pt x="311" y="468"/>
                    <a:pt x="311" y="468"/>
                    <a:pt x="311" y="468"/>
                  </a:cubicBezTo>
                  <a:cubicBezTo>
                    <a:pt x="311" y="468"/>
                    <a:pt x="312" y="469"/>
                    <a:pt x="313" y="469"/>
                  </a:cubicBezTo>
                  <a:cubicBezTo>
                    <a:pt x="314" y="469"/>
                    <a:pt x="314" y="469"/>
                    <a:pt x="315" y="469"/>
                  </a:cubicBezTo>
                  <a:cubicBezTo>
                    <a:pt x="319" y="469"/>
                    <a:pt x="322" y="470"/>
                    <a:pt x="326" y="470"/>
                  </a:cubicBezTo>
                  <a:cubicBezTo>
                    <a:pt x="327" y="470"/>
                    <a:pt x="327" y="470"/>
                    <a:pt x="328" y="470"/>
                  </a:cubicBezTo>
                  <a:cubicBezTo>
                    <a:pt x="328" y="470"/>
                    <a:pt x="328" y="470"/>
                    <a:pt x="328" y="470"/>
                  </a:cubicBezTo>
                  <a:cubicBezTo>
                    <a:pt x="329" y="470"/>
                    <a:pt x="329" y="470"/>
                    <a:pt x="329" y="470"/>
                  </a:cubicBezTo>
                  <a:cubicBezTo>
                    <a:pt x="333" y="471"/>
                    <a:pt x="336" y="471"/>
                    <a:pt x="340" y="471"/>
                  </a:cubicBezTo>
                  <a:cubicBezTo>
                    <a:pt x="341" y="471"/>
                    <a:pt x="341" y="471"/>
                    <a:pt x="341" y="471"/>
                  </a:cubicBezTo>
                  <a:cubicBezTo>
                    <a:pt x="341" y="471"/>
                    <a:pt x="342" y="471"/>
                    <a:pt x="343" y="471"/>
                  </a:cubicBezTo>
                  <a:cubicBezTo>
                    <a:pt x="343" y="472"/>
                    <a:pt x="344" y="472"/>
                    <a:pt x="344" y="472"/>
                  </a:cubicBezTo>
                  <a:cubicBezTo>
                    <a:pt x="347" y="472"/>
                    <a:pt x="350" y="472"/>
                    <a:pt x="353" y="472"/>
                  </a:cubicBezTo>
                  <a:cubicBezTo>
                    <a:pt x="353" y="472"/>
                    <a:pt x="353" y="472"/>
                    <a:pt x="353" y="472"/>
                  </a:cubicBezTo>
                  <a:cubicBezTo>
                    <a:pt x="355" y="472"/>
                    <a:pt x="357" y="473"/>
                    <a:pt x="359" y="473"/>
                  </a:cubicBezTo>
                  <a:cubicBezTo>
                    <a:pt x="360" y="473"/>
                    <a:pt x="360" y="473"/>
                    <a:pt x="360" y="473"/>
                  </a:cubicBezTo>
                  <a:cubicBezTo>
                    <a:pt x="360" y="473"/>
                    <a:pt x="360" y="473"/>
                    <a:pt x="360" y="473"/>
                  </a:cubicBezTo>
                  <a:cubicBezTo>
                    <a:pt x="362" y="473"/>
                    <a:pt x="364" y="473"/>
                    <a:pt x="366" y="473"/>
                  </a:cubicBezTo>
                  <a:cubicBezTo>
                    <a:pt x="367" y="473"/>
                    <a:pt x="367" y="473"/>
                    <a:pt x="367" y="473"/>
                  </a:cubicBezTo>
                  <a:cubicBezTo>
                    <a:pt x="370" y="473"/>
                    <a:pt x="372" y="474"/>
                    <a:pt x="374" y="474"/>
                  </a:cubicBezTo>
                  <a:cubicBezTo>
                    <a:pt x="374" y="474"/>
                    <a:pt x="375" y="474"/>
                    <a:pt x="375" y="474"/>
                  </a:cubicBezTo>
                  <a:cubicBezTo>
                    <a:pt x="377" y="474"/>
                    <a:pt x="378" y="474"/>
                    <a:pt x="380" y="474"/>
                  </a:cubicBezTo>
                  <a:cubicBezTo>
                    <a:pt x="381" y="474"/>
                    <a:pt x="381" y="474"/>
                    <a:pt x="382" y="474"/>
                  </a:cubicBezTo>
                  <a:cubicBezTo>
                    <a:pt x="384" y="474"/>
                    <a:pt x="387" y="474"/>
                    <a:pt x="389" y="474"/>
                  </a:cubicBezTo>
                  <a:cubicBezTo>
                    <a:pt x="390" y="475"/>
                    <a:pt x="390" y="475"/>
                    <a:pt x="390" y="475"/>
                  </a:cubicBezTo>
                  <a:cubicBezTo>
                    <a:pt x="390" y="475"/>
                    <a:pt x="390" y="475"/>
                    <a:pt x="390" y="475"/>
                  </a:cubicBezTo>
                  <a:cubicBezTo>
                    <a:pt x="391" y="475"/>
                    <a:pt x="393" y="475"/>
                    <a:pt x="394" y="475"/>
                  </a:cubicBezTo>
                  <a:cubicBezTo>
                    <a:pt x="395" y="475"/>
                    <a:pt x="396" y="475"/>
                    <a:pt x="396" y="475"/>
                  </a:cubicBezTo>
                  <a:cubicBezTo>
                    <a:pt x="399" y="475"/>
                    <a:pt x="402" y="475"/>
                    <a:pt x="404" y="475"/>
                  </a:cubicBezTo>
                  <a:cubicBezTo>
                    <a:pt x="405" y="475"/>
                    <a:pt x="405" y="475"/>
                    <a:pt x="406" y="475"/>
                  </a:cubicBezTo>
                  <a:cubicBezTo>
                    <a:pt x="407" y="475"/>
                    <a:pt x="408" y="475"/>
                    <a:pt x="409" y="475"/>
                  </a:cubicBezTo>
                  <a:cubicBezTo>
                    <a:pt x="409" y="475"/>
                    <a:pt x="410" y="475"/>
                    <a:pt x="411" y="475"/>
                  </a:cubicBezTo>
                  <a:cubicBezTo>
                    <a:pt x="414" y="475"/>
                    <a:pt x="417" y="476"/>
                    <a:pt x="420" y="476"/>
                  </a:cubicBezTo>
                  <a:cubicBezTo>
                    <a:pt x="421" y="476"/>
                    <a:pt x="421" y="476"/>
                    <a:pt x="421" y="476"/>
                  </a:cubicBezTo>
                  <a:cubicBezTo>
                    <a:pt x="421" y="476"/>
                    <a:pt x="421" y="476"/>
                    <a:pt x="421" y="476"/>
                  </a:cubicBezTo>
                  <a:cubicBezTo>
                    <a:pt x="422" y="476"/>
                    <a:pt x="423" y="476"/>
                    <a:pt x="424" y="476"/>
                  </a:cubicBezTo>
                  <a:cubicBezTo>
                    <a:pt x="424" y="476"/>
                    <a:pt x="425" y="476"/>
                    <a:pt x="426" y="476"/>
                  </a:cubicBezTo>
                  <a:cubicBezTo>
                    <a:pt x="429" y="476"/>
                    <a:pt x="433" y="476"/>
                    <a:pt x="437" y="476"/>
                  </a:cubicBezTo>
                  <a:cubicBezTo>
                    <a:pt x="437" y="476"/>
                    <a:pt x="437" y="476"/>
                    <a:pt x="437" y="476"/>
                  </a:cubicBezTo>
                  <a:cubicBezTo>
                    <a:pt x="438" y="476"/>
                    <a:pt x="438" y="476"/>
                    <a:pt x="439" y="476"/>
                  </a:cubicBezTo>
                  <a:cubicBezTo>
                    <a:pt x="439" y="476"/>
                    <a:pt x="440" y="476"/>
                    <a:pt x="440" y="476"/>
                  </a:cubicBezTo>
                  <a:cubicBezTo>
                    <a:pt x="445" y="476"/>
                    <a:pt x="450" y="476"/>
                    <a:pt x="454" y="476"/>
                  </a:cubicBezTo>
                  <a:cubicBezTo>
                    <a:pt x="459" y="476"/>
                    <a:pt x="464" y="476"/>
                    <a:pt x="469" y="476"/>
                  </a:cubicBezTo>
                  <a:cubicBezTo>
                    <a:pt x="470" y="476"/>
                    <a:pt x="470" y="476"/>
                    <a:pt x="470" y="476"/>
                  </a:cubicBezTo>
                  <a:cubicBezTo>
                    <a:pt x="471" y="476"/>
                    <a:pt x="472" y="476"/>
                    <a:pt x="473" y="476"/>
                  </a:cubicBezTo>
                  <a:cubicBezTo>
                    <a:pt x="473" y="476"/>
                    <a:pt x="474" y="476"/>
                    <a:pt x="475" y="476"/>
                  </a:cubicBezTo>
                  <a:cubicBezTo>
                    <a:pt x="478" y="476"/>
                    <a:pt x="481" y="476"/>
                    <a:pt x="484" y="476"/>
                  </a:cubicBezTo>
                  <a:cubicBezTo>
                    <a:pt x="485" y="476"/>
                    <a:pt x="485" y="476"/>
                    <a:pt x="486" y="476"/>
                  </a:cubicBezTo>
                  <a:cubicBezTo>
                    <a:pt x="488" y="476"/>
                    <a:pt x="489" y="476"/>
                    <a:pt x="491" y="476"/>
                  </a:cubicBezTo>
                  <a:cubicBezTo>
                    <a:pt x="492" y="476"/>
                    <a:pt x="492" y="476"/>
                    <a:pt x="492" y="476"/>
                  </a:cubicBezTo>
                  <a:cubicBezTo>
                    <a:pt x="493" y="476"/>
                    <a:pt x="493" y="476"/>
                    <a:pt x="493" y="476"/>
                  </a:cubicBezTo>
                  <a:cubicBezTo>
                    <a:pt x="495" y="476"/>
                    <a:pt x="497" y="476"/>
                    <a:pt x="499" y="476"/>
                  </a:cubicBezTo>
                  <a:cubicBezTo>
                    <a:pt x="500" y="476"/>
                    <a:pt x="500" y="476"/>
                    <a:pt x="501" y="476"/>
                  </a:cubicBezTo>
                  <a:cubicBezTo>
                    <a:pt x="502" y="476"/>
                    <a:pt x="503" y="476"/>
                    <a:pt x="504" y="475"/>
                  </a:cubicBezTo>
                  <a:cubicBezTo>
                    <a:pt x="505" y="475"/>
                    <a:pt x="506" y="475"/>
                    <a:pt x="507" y="475"/>
                  </a:cubicBezTo>
                  <a:cubicBezTo>
                    <a:pt x="509" y="475"/>
                    <a:pt x="512" y="475"/>
                    <a:pt x="514" y="475"/>
                  </a:cubicBezTo>
                  <a:cubicBezTo>
                    <a:pt x="515" y="475"/>
                    <a:pt x="515" y="475"/>
                    <a:pt x="516" y="475"/>
                  </a:cubicBezTo>
                  <a:cubicBezTo>
                    <a:pt x="517" y="475"/>
                    <a:pt x="517" y="475"/>
                    <a:pt x="518" y="475"/>
                  </a:cubicBezTo>
                  <a:cubicBezTo>
                    <a:pt x="518" y="475"/>
                    <a:pt x="518" y="475"/>
                    <a:pt x="518" y="475"/>
                  </a:cubicBezTo>
                  <a:cubicBezTo>
                    <a:pt x="522" y="475"/>
                    <a:pt x="525" y="475"/>
                    <a:pt x="529" y="475"/>
                  </a:cubicBezTo>
                  <a:cubicBezTo>
                    <a:pt x="529" y="475"/>
                    <a:pt x="530" y="475"/>
                    <a:pt x="530" y="475"/>
                  </a:cubicBezTo>
                  <a:cubicBezTo>
                    <a:pt x="531" y="474"/>
                    <a:pt x="531" y="474"/>
                    <a:pt x="531" y="474"/>
                  </a:cubicBezTo>
                  <a:cubicBezTo>
                    <a:pt x="535" y="474"/>
                    <a:pt x="539" y="474"/>
                    <a:pt x="542" y="474"/>
                  </a:cubicBezTo>
                  <a:cubicBezTo>
                    <a:pt x="543" y="474"/>
                    <a:pt x="543" y="474"/>
                    <a:pt x="543" y="474"/>
                  </a:cubicBezTo>
                  <a:cubicBezTo>
                    <a:pt x="544" y="474"/>
                    <a:pt x="544" y="474"/>
                    <a:pt x="544" y="474"/>
                  </a:cubicBezTo>
                  <a:cubicBezTo>
                    <a:pt x="544" y="474"/>
                    <a:pt x="545" y="474"/>
                    <a:pt x="545" y="474"/>
                  </a:cubicBezTo>
                  <a:cubicBezTo>
                    <a:pt x="549" y="473"/>
                    <a:pt x="553" y="473"/>
                    <a:pt x="558" y="473"/>
                  </a:cubicBezTo>
                  <a:cubicBezTo>
                    <a:pt x="558" y="473"/>
                    <a:pt x="558" y="473"/>
                    <a:pt x="558" y="473"/>
                  </a:cubicBezTo>
                  <a:cubicBezTo>
                    <a:pt x="559" y="473"/>
                    <a:pt x="559" y="473"/>
                    <a:pt x="560" y="473"/>
                  </a:cubicBezTo>
                  <a:cubicBezTo>
                    <a:pt x="564" y="472"/>
                    <a:pt x="568" y="472"/>
                    <a:pt x="572" y="472"/>
                  </a:cubicBezTo>
                  <a:cubicBezTo>
                    <a:pt x="572" y="472"/>
                    <a:pt x="573" y="472"/>
                    <a:pt x="573" y="472"/>
                  </a:cubicBezTo>
                  <a:cubicBezTo>
                    <a:pt x="573" y="472"/>
                    <a:pt x="573" y="472"/>
                    <a:pt x="573" y="472"/>
                  </a:cubicBezTo>
                  <a:cubicBezTo>
                    <a:pt x="574" y="472"/>
                    <a:pt x="575" y="472"/>
                    <a:pt x="575" y="472"/>
                  </a:cubicBezTo>
                  <a:cubicBezTo>
                    <a:pt x="579" y="471"/>
                    <a:pt x="582" y="471"/>
                    <a:pt x="585" y="471"/>
                  </a:cubicBezTo>
                  <a:cubicBezTo>
                    <a:pt x="586" y="471"/>
                    <a:pt x="586" y="471"/>
                    <a:pt x="586" y="471"/>
                  </a:cubicBezTo>
                  <a:cubicBezTo>
                    <a:pt x="587" y="471"/>
                    <a:pt x="588" y="471"/>
                    <a:pt x="589" y="470"/>
                  </a:cubicBezTo>
                  <a:cubicBezTo>
                    <a:pt x="589" y="470"/>
                    <a:pt x="590" y="470"/>
                    <a:pt x="590" y="470"/>
                  </a:cubicBezTo>
                  <a:cubicBezTo>
                    <a:pt x="593" y="470"/>
                    <a:pt x="596" y="470"/>
                    <a:pt x="599" y="469"/>
                  </a:cubicBezTo>
                  <a:cubicBezTo>
                    <a:pt x="599" y="469"/>
                    <a:pt x="599" y="469"/>
                    <a:pt x="599" y="469"/>
                  </a:cubicBezTo>
                  <a:cubicBezTo>
                    <a:pt x="601" y="469"/>
                    <a:pt x="602" y="469"/>
                    <a:pt x="604" y="469"/>
                  </a:cubicBezTo>
                  <a:cubicBezTo>
                    <a:pt x="605" y="469"/>
                    <a:pt x="605" y="469"/>
                    <a:pt x="605" y="469"/>
                  </a:cubicBezTo>
                  <a:cubicBezTo>
                    <a:pt x="607" y="469"/>
                    <a:pt x="609" y="468"/>
                    <a:pt x="612" y="468"/>
                  </a:cubicBezTo>
                  <a:cubicBezTo>
                    <a:pt x="612" y="468"/>
                    <a:pt x="612" y="468"/>
                    <a:pt x="612" y="468"/>
                  </a:cubicBezTo>
                  <a:cubicBezTo>
                    <a:pt x="614" y="468"/>
                    <a:pt x="616" y="468"/>
                    <a:pt x="618" y="467"/>
                  </a:cubicBezTo>
                  <a:cubicBezTo>
                    <a:pt x="619" y="467"/>
                    <a:pt x="619" y="467"/>
                    <a:pt x="619" y="467"/>
                  </a:cubicBezTo>
                  <a:cubicBezTo>
                    <a:pt x="620" y="467"/>
                    <a:pt x="622" y="467"/>
                    <a:pt x="624" y="467"/>
                  </a:cubicBezTo>
                  <a:cubicBezTo>
                    <a:pt x="625" y="466"/>
                    <a:pt x="625" y="466"/>
                    <a:pt x="625" y="466"/>
                  </a:cubicBezTo>
                  <a:cubicBezTo>
                    <a:pt x="627" y="466"/>
                    <a:pt x="630" y="466"/>
                    <a:pt x="632" y="465"/>
                  </a:cubicBezTo>
                  <a:cubicBezTo>
                    <a:pt x="633" y="465"/>
                    <a:pt x="633" y="465"/>
                    <a:pt x="633" y="465"/>
                  </a:cubicBezTo>
                  <a:cubicBezTo>
                    <a:pt x="634" y="465"/>
                    <a:pt x="635" y="465"/>
                    <a:pt x="636" y="465"/>
                  </a:cubicBezTo>
                  <a:cubicBezTo>
                    <a:pt x="636" y="465"/>
                    <a:pt x="637" y="465"/>
                    <a:pt x="637" y="465"/>
                  </a:cubicBezTo>
                  <a:cubicBezTo>
                    <a:pt x="640" y="464"/>
                    <a:pt x="643" y="464"/>
                    <a:pt x="645" y="464"/>
                  </a:cubicBezTo>
                  <a:cubicBezTo>
                    <a:pt x="646" y="464"/>
                    <a:pt x="646" y="463"/>
                    <a:pt x="647" y="463"/>
                  </a:cubicBezTo>
                  <a:cubicBezTo>
                    <a:pt x="647" y="463"/>
                    <a:pt x="647" y="463"/>
                    <a:pt x="647" y="463"/>
                  </a:cubicBezTo>
                  <a:cubicBezTo>
                    <a:pt x="648" y="463"/>
                    <a:pt x="648" y="463"/>
                    <a:pt x="649" y="463"/>
                  </a:cubicBezTo>
                  <a:cubicBezTo>
                    <a:pt x="652" y="463"/>
                    <a:pt x="655" y="462"/>
                    <a:pt x="658" y="462"/>
                  </a:cubicBezTo>
                  <a:cubicBezTo>
                    <a:pt x="659" y="461"/>
                    <a:pt x="659" y="461"/>
                    <a:pt x="659" y="461"/>
                  </a:cubicBezTo>
                  <a:cubicBezTo>
                    <a:pt x="659" y="461"/>
                    <a:pt x="659" y="461"/>
                    <a:pt x="659" y="461"/>
                  </a:cubicBezTo>
                  <a:cubicBezTo>
                    <a:pt x="660" y="461"/>
                    <a:pt x="660" y="461"/>
                    <a:pt x="660" y="461"/>
                  </a:cubicBezTo>
                  <a:cubicBezTo>
                    <a:pt x="663" y="461"/>
                    <a:pt x="666" y="460"/>
                    <a:pt x="668" y="460"/>
                  </a:cubicBezTo>
                  <a:cubicBezTo>
                    <a:pt x="669" y="460"/>
                    <a:pt x="669" y="460"/>
                    <a:pt x="669" y="460"/>
                  </a:cubicBezTo>
                  <a:cubicBezTo>
                    <a:pt x="670" y="459"/>
                    <a:pt x="670" y="459"/>
                    <a:pt x="670" y="459"/>
                  </a:cubicBezTo>
                  <a:cubicBezTo>
                    <a:pt x="670" y="459"/>
                    <a:pt x="671" y="459"/>
                    <a:pt x="671" y="459"/>
                  </a:cubicBezTo>
                  <a:cubicBezTo>
                    <a:pt x="673" y="459"/>
                    <a:pt x="675" y="458"/>
                    <a:pt x="677" y="458"/>
                  </a:cubicBezTo>
                  <a:cubicBezTo>
                    <a:pt x="678" y="458"/>
                    <a:pt x="678" y="458"/>
                    <a:pt x="678" y="458"/>
                  </a:cubicBezTo>
                  <a:cubicBezTo>
                    <a:pt x="679" y="458"/>
                    <a:pt x="680" y="458"/>
                    <a:pt x="680" y="457"/>
                  </a:cubicBezTo>
                  <a:cubicBezTo>
                    <a:pt x="681" y="457"/>
                    <a:pt x="681" y="457"/>
                    <a:pt x="682" y="457"/>
                  </a:cubicBezTo>
                  <a:cubicBezTo>
                    <a:pt x="683" y="457"/>
                    <a:pt x="685" y="457"/>
                    <a:pt x="686" y="456"/>
                  </a:cubicBezTo>
                  <a:cubicBezTo>
                    <a:pt x="687" y="456"/>
                    <a:pt x="687" y="456"/>
                    <a:pt x="688" y="456"/>
                  </a:cubicBezTo>
                  <a:cubicBezTo>
                    <a:pt x="689" y="456"/>
                    <a:pt x="690" y="455"/>
                    <a:pt x="691" y="455"/>
                  </a:cubicBezTo>
                  <a:cubicBezTo>
                    <a:pt x="691" y="455"/>
                    <a:pt x="691" y="455"/>
                    <a:pt x="692" y="455"/>
                  </a:cubicBezTo>
                  <a:cubicBezTo>
                    <a:pt x="693" y="455"/>
                    <a:pt x="694" y="454"/>
                    <a:pt x="696" y="454"/>
                  </a:cubicBezTo>
                  <a:cubicBezTo>
                    <a:pt x="696" y="454"/>
                    <a:pt x="696" y="454"/>
                    <a:pt x="696" y="454"/>
                  </a:cubicBezTo>
                  <a:cubicBezTo>
                    <a:pt x="696" y="454"/>
                    <a:pt x="697" y="454"/>
                    <a:pt x="697" y="454"/>
                  </a:cubicBezTo>
                  <a:cubicBezTo>
                    <a:pt x="698" y="454"/>
                    <a:pt x="699" y="453"/>
                    <a:pt x="700" y="453"/>
                  </a:cubicBezTo>
                  <a:cubicBezTo>
                    <a:pt x="701" y="453"/>
                    <a:pt x="701" y="453"/>
                    <a:pt x="701" y="453"/>
                  </a:cubicBezTo>
                  <a:cubicBezTo>
                    <a:pt x="702" y="453"/>
                    <a:pt x="703" y="452"/>
                    <a:pt x="703" y="452"/>
                  </a:cubicBezTo>
                  <a:cubicBezTo>
                    <a:pt x="704" y="452"/>
                    <a:pt x="706" y="452"/>
                    <a:pt x="707" y="451"/>
                  </a:cubicBezTo>
                  <a:cubicBezTo>
                    <a:pt x="707" y="451"/>
                    <a:pt x="708" y="451"/>
                    <a:pt x="709" y="451"/>
                  </a:cubicBezTo>
                  <a:cubicBezTo>
                    <a:pt x="710" y="451"/>
                    <a:pt x="710" y="451"/>
                    <a:pt x="710" y="451"/>
                  </a:cubicBezTo>
                  <a:cubicBezTo>
                    <a:pt x="710" y="450"/>
                    <a:pt x="710" y="450"/>
                    <a:pt x="710" y="450"/>
                  </a:cubicBezTo>
                  <a:cubicBezTo>
                    <a:pt x="711" y="450"/>
                    <a:pt x="712" y="450"/>
                    <a:pt x="713" y="450"/>
                  </a:cubicBezTo>
                  <a:cubicBezTo>
                    <a:pt x="713" y="450"/>
                    <a:pt x="713" y="450"/>
                    <a:pt x="714" y="449"/>
                  </a:cubicBezTo>
                  <a:cubicBezTo>
                    <a:pt x="715" y="449"/>
                    <a:pt x="717" y="449"/>
                    <a:pt x="718" y="448"/>
                  </a:cubicBezTo>
                  <a:cubicBezTo>
                    <a:pt x="718" y="448"/>
                    <a:pt x="718" y="448"/>
                    <a:pt x="718" y="448"/>
                  </a:cubicBezTo>
                  <a:cubicBezTo>
                    <a:pt x="719" y="448"/>
                    <a:pt x="719" y="448"/>
                    <a:pt x="719" y="448"/>
                  </a:cubicBezTo>
                  <a:cubicBezTo>
                    <a:pt x="719" y="448"/>
                    <a:pt x="719" y="448"/>
                    <a:pt x="719" y="448"/>
                  </a:cubicBezTo>
                  <a:cubicBezTo>
                    <a:pt x="720" y="448"/>
                    <a:pt x="720" y="448"/>
                    <a:pt x="720" y="448"/>
                  </a:cubicBezTo>
                  <a:cubicBezTo>
                    <a:pt x="721" y="447"/>
                    <a:pt x="722" y="447"/>
                    <a:pt x="723" y="447"/>
                  </a:cubicBezTo>
                  <a:cubicBezTo>
                    <a:pt x="724" y="446"/>
                    <a:pt x="724" y="446"/>
                    <a:pt x="725" y="446"/>
                  </a:cubicBezTo>
                  <a:cubicBezTo>
                    <a:pt x="726" y="446"/>
                    <a:pt x="726" y="446"/>
                    <a:pt x="726" y="446"/>
                  </a:cubicBezTo>
                  <a:cubicBezTo>
                    <a:pt x="727" y="446"/>
                    <a:pt x="727" y="446"/>
                    <a:pt x="727" y="446"/>
                  </a:cubicBezTo>
                  <a:cubicBezTo>
                    <a:pt x="728" y="445"/>
                    <a:pt x="728" y="445"/>
                    <a:pt x="728" y="445"/>
                  </a:cubicBezTo>
                  <a:cubicBezTo>
                    <a:pt x="728" y="445"/>
                    <a:pt x="729" y="445"/>
                    <a:pt x="729" y="445"/>
                  </a:cubicBezTo>
                  <a:cubicBezTo>
                    <a:pt x="730" y="444"/>
                    <a:pt x="731" y="444"/>
                    <a:pt x="732" y="444"/>
                  </a:cubicBezTo>
                  <a:cubicBezTo>
                    <a:pt x="732" y="444"/>
                    <a:pt x="733" y="443"/>
                    <a:pt x="733" y="443"/>
                  </a:cubicBezTo>
                  <a:cubicBezTo>
                    <a:pt x="734" y="443"/>
                    <a:pt x="734" y="443"/>
                    <a:pt x="734" y="443"/>
                  </a:cubicBezTo>
                  <a:cubicBezTo>
                    <a:pt x="735" y="443"/>
                    <a:pt x="735" y="443"/>
                    <a:pt x="736" y="442"/>
                  </a:cubicBezTo>
                  <a:cubicBezTo>
                    <a:pt x="737" y="442"/>
                    <a:pt x="737" y="442"/>
                    <a:pt x="737" y="442"/>
                  </a:cubicBezTo>
                  <a:cubicBezTo>
                    <a:pt x="737" y="442"/>
                    <a:pt x="737" y="442"/>
                    <a:pt x="737" y="442"/>
                  </a:cubicBezTo>
                  <a:cubicBezTo>
                    <a:pt x="738" y="442"/>
                    <a:pt x="739" y="441"/>
                    <a:pt x="740" y="441"/>
                  </a:cubicBezTo>
                  <a:cubicBezTo>
                    <a:pt x="741" y="440"/>
                    <a:pt x="741" y="440"/>
                    <a:pt x="741" y="440"/>
                  </a:cubicBezTo>
                  <a:cubicBezTo>
                    <a:pt x="742" y="440"/>
                    <a:pt x="743" y="440"/>
                    <a:pt x="743" y="439"/>
                  </a:cubicBezTo>
                  <a:cubicBezTo>
                    <a:pt x="744" y="439"/>
                    <a:pt x="744" y="439"/>
                    <a:pt x="744" y="439"/>
                  </a:cubicBezTo>
                  <a:cubicBezTo>
                    <a:pt x="745" y="439"/>
                    <a:pt x="746" y="438"/>
                    <a:pt x="747" y="438"/>
                  </a:cubicBezTo>
                  <a:cubicBezTo>
                    <a:pt x="748" y="438"/>
                    <a:pt x="748" y="438"/>
                    <a:pt x="748" y="438"/>
                  </a:cubicBezTo>
                  <a:cubicBezTo>
                    <a:pt x="748" y="437"/>
                    <a:pt x="749" y="437"/>
                    <a:pt x="750" y="436"/>
                  </a:cubicBezTo>
                  <a:cubicBezTo>
                    <a:pt x="750" y="436"/>
                    <a:pt x="750" y="436"/>
                    <a:pt x="750" y="436"/>
                  </a:cubicBezTo>
                  <a:cubicBezTo>
                    <a:pt x="751" y="436"/>
                    <a:pt x="751" y="436"/>
                    <a:pt x="751" y="436"/>
                  </a:cubicBezTo>
                  <a:cubicBezTo>
                    <a:pt x="751" y="436"/>
                    <a:pt x="752" y="435"/>
                    <a:pt x="752" y="435"/>
                  </a:cubicBezTo>
                  <a:cubicBezTo>
                    <a:pt x="753" y="435"/>
                    <a:pt x="753" y="435"/>
                    <a:pt x="753" y="435"/>
                  </a:cubicBezTo>
                  <a:cubicBezTo>
                    <a:pt x="753" y="435"/>
                    <a:pt x="753" y="435"/>
                    <a:pt x="753" y="435"/>
                  </a:cubicBezTo>
                  <a:cubicBezTo>
                    <a:pt x="754" y="434"/>
                    <a:pt x="754" y="434"/>
                    <a:pt x="754" y="434"/>
                  </a:cubicBezTo>
                  <a:cubicBezTo>
                    <a:pt x="754" y="434"/>
                    <a:pt x="755" y="434"/>
                    <a:pt x="755" y="434"/>
                  </a:cubicBezTo>
                  <a:cubicBezTo>
                    <a:pt x="756" y="433"/>
                    <a:pt x="756" y="433"/>
                    <a:pt x="757" y="433"/>
                  </a:cubicBezTo>
                  <a:cubicBezTo>
                    <a:pt x="757" y="433"/>
                    <a:pt x="757" y="432"/>
                    <a:pt x="758" y="432"/>
                  </a:cubicBezTo>
                  <a:cubicBezTo>
                    <a:pt x="758" y="432"/>
                    <a:pt x="758" y="432"/>
                    <a:pt x="758" y="432"/>
                  </a:cubicBezTo>
                  <a:cubicBezTo>
                    <a:pt x="759" y="431"/>
                    <a:pt x="759" y="431"/>
                    <a:pt x="759" y="431"/>
                  </a:cubicBezTo>
                  <a:cubicBezTo>
                    <a:pt x="760" y="431"/>
                    <a:pt x="760" y="431"/>
                    <a:pt x="760" y="431"/>
                  </a:cubicBezTo>
                  <a:cubicBezTo>
                    <a:pt x="761" y="430"/>
                    <a:pt x="761" y="430"/>
                    <a:pt x="761" y="430"/>
                  </a:cubicBezTo>
                  <a:cubicBezTo>
                    <a:pt x="761" y="430"/>
                    <a:pt x="761" y="430"/>
                    <a:pt x="761" y="430"/>
                  </a:cubicBezTo>
                  <a:cubicBezTo>
                    <a:pt x="762" y="429"/>
                    <a:pt x="762" y="429"/>
                    <a:pt x="762" y="429"/>
                  </a:cubicBezTo>
                  <a:cubicBezTo>
                    <a:pt x="763" y="429"/>
                    <a:pt x="763" y="429"/>
                    <a:pt x="763" y="429"/>
                  </a:cubicBezTo>
                  <a:cubicBezTo>
                    <a:pt x="764" y="428"/>
                    <a:pt x="764" y="428"/>
                    <a:pt x="764" y="428"/>
                  </a:cubicBezTo>
                  <a:cubicBezTo>
                    <a:pt x="764" y="428"/>
                    <a:pt x="765" y="428"/>
                    <a:pt x="765" y="427"/>
                  </a:cubicBezTo>
                  <a:cubicBezTo>
                    <a:pt x="766" y="427"/>
                    <a:pt x="766" y="427"/>
                    <a:pt x="766" y="427"/>
                  </a:cubicBezTo>
                  <a:cubicBezTo>
                    <a:pt x="766" y="426"/>
                    <a:pt x="766" y="426"/>
                    <a:pt x="766" y="426"/>
                  </a:cubicBezTo>
                  <a:cubicBezTo>
                    <a:pt x="767" y="426"/>
                    <a:pt x="767" y="426"/>
                    <a:pt x="767" y="426"/>
                  </a:cubicBezTo>
                  <a:cubicBezTo>
                    <a:pt x="767" y="426"/>
                    <a:pt x="767" y="426"/>
                    <a:pt x="767" y="426"/>
                  </a:cubicBezTo>
                  <a:cubicBezTo>
                    <a:pt x="768" y="425"/>
                    <a:pt x="768" y="425"/>
                    <a:pt x="768" y="425"/>
                  </a:cubicBezTo>
                  <a:cubicBezTo>
                    <a:pt x="768" y="425"/>
                    <a:pt x="769" y="424"/>
                    <a:pt x="769" y="424"/>
                  </a:cubicBezTo>
                  <a:cubicBezTo>
                    <a:pt x="769" y="423"/>
                    <a:pt x="769" y="423"/>
                    <a:pt x="769" y="423"/>
                  </a:cubicBezTo>
                  <a:cubicBezTo>
                    <a:pt x="770" y="423"/>
                    <a:pt x="770" y="423"/>
                    <a:pt x="770" y="423"/>
                  </a:cubicBezTo>
                  <a:cubicBezTo>
                    <a:pt x="770" y="423"/>
                    <a:pt x="770" y="423"/>
                    <a:pt x="770" y="423"/>
                  </a:cubicBezTo>
                  <a:cubicBezTo>
                    <a:pt x="770" y="422"/>
                    <a:pt x="771" y="422"/>
                    <a:pt x="771" y="422"/>
                  </a:cubicBezTo>
                  <a:cubicBezTo>
                    <a:pt x="771" y="421"/>
                    <a:pt x="771" y="421"/>
                    <a:pt x="771" y="421"/>
                  </a:cubicBezTo>
                  <a:cubicBezTo>
                    <a:pt x="772" y="421"/>
                    <a:pt x="772" y="420"/>
                    <a:pt x="772" y="420"/>
                  </a:cubicBezTo>
                  <a:cubicBezTo>
                    <a:pt x="772" y="420"/>
                    <a:pt x="772" y="420"/>
                    <a:pt x="772" y="420"/>
                  </a:cubicBezTo>
                  <a:cubicBezTo>
                    <a:pt x="772" y="420"/>
                    <a:pt x="772" y="420"/>
                    <a:pt x="772" y="420"/>
                  </a:cubicBezTo>
                  <a:cubicBezTo>
                    <a:pt x="772" y="420"/>
                    <a:pt x="772" y="420"/>
                    <a:pt x="772" y="420"/>
                  </a:cubicBezTo>
                  <a:cubicBezTo>
                    <a:pt x="773" y="418"/>
                    <a:pt x="773" y="418"/>
                    <a:pt x="773" y="418"/>
                  </a:cubicBezTo>
                  <a:cubicBezTo>
                    <a:pt x="773" y="418"/>
                    <a:pt x="773" y="418"/>
                    <a:pt x="773" y="418"/>
                  </a:cubicBezTo>
                  <a:cubicBezTo>
                    <a:pt x="774" y="418"/>
                    <a:pt x="774" y="417"/>
                    <a:pt x="774" y="417"/>
                  </a:cubicBezTo>
                  <a:cubicBezTo>
                    <a:pt x="774" y="416"/>
                    <a:pt x="775" y="415"/>
                    <a:pt x="775" y="414"/>
                  </a:cubicBezTo>
                  <a:cubicBezTo>
                    <a:pt x="810" y="339"/>
                    <a:pt x="844" y="263"/>
                    <a:pt x="879" y="188"/>
                  </a:cubicBezTo>
                  <a:cubicBezTo>
                    <a:pt x="892" y="160"/>
                    <a:pt x="905" y="132"/>
                    <a:pt x="917" y="104"/>
                  </a:cubicBezTo>
                  <a:cubicBezTo>
                    <a:pt x="919" y="102"/>
                    <a:pt x="919" y="99"/>
                    <a:pt x="919" y="97"/>
                  </a:cubicBezTo>
                  <a:cubicBezTo>
                    <a:pt x="920" y="96"/>
                    <a:pt x="920" y="95"/>
                    <a:pt x="919" y="94"/>
                  </a:cubicBezTo>
                  <a:cubicBezTo>
                    <a:pt x="919" y="93"/>
                    <a:pt x="919" y="93"/>
                    <a:pt x="919" y="9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  <p:sp>
          <p:nvSpPr>
            <p:cNvPr id="31" name="Freeform 156">
              <a:extLst>
                <a:ext uri="{FF2B5EF4-FFF2-40B4-BE49-F238E27FC236}">
                  <a16:creationId xmlns:a16="http://schemas.microsoft.com/office/drawing/2014/main" id="{B5AD1B07-2A14-485A-8C7C-2E0E66263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147" y="3594643"/>
              <a:ext cx="2619062" cy="432436"/>
            </a:xfrm>
            <a:custGeom>
              <a:avLst/>
              <a:gdLst>
                <a:gd name="T0" fmla="*/ 923 w 928"/>
                <a:gd name="T1" fmla="*/ 98 h 193"/>
                <a:gd name="T2" fmla="*/ 456 w 928"/>
                <a:gd name="T3" fmla="*/ 192 h 193"/>
                <a:gd name="T4" fmla="*/ 4 w 928"/>
                <a:gd name="T5" fmla="*/ 94 h 193"/>
                <a:gd name="T6" fmla="*/ 472 w 928"/>
                <a:gd name="T7" fmla="*/ 1 h 193"/>
                <a:gd name="T8" fmla="*/ 923 w 928"/>
                <a:gd name="T9" fmla="*/ 9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8" h="193">
                  <a:moveTo>
                    <a:pt x="923" y="98"/>
                  </a:moveTo>
                  <a:cubicBezTo>
                    <a:pt x="919" y="151"/>
                    <a:pt x="710" y="193"/>
                    <a:pt x="456" y="192"/>
                  </a:cubicBezTo>
                  <a:cubicBezTo>
                    <a:pt x="202" y="191"/>
                    <a:pt x="0" y="147"/>
                    <a:pt x="4" y="94"/>
                  </a:cubicBezTo>
                  <a:cubicBezTo>
                    <a:pt x="9" y="42"/>
                    <a:pt x="218" y="0"/>
                    <a:pt x="472" y="1"/>
                  </a:cubicBezTo>
                  <a:cubicBezTo>
                    <a:pt x="726" y="1"/>
                    <a:pt x="928" y="45"/>
                    <a:pt x="923" y="98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</p:grpSp>
      <p:grpSp>
        <p:nvGrpSpPr>
          <p:cNvPr id="32" name="Group 20">
            <a:extLst>
              <a:ext uri="{FF2B5EF4-FFF2-40B4-BE49-F238E27FC236}">
                <a16:creationId xmlns:a16="http://schemas.microsoft.com/office/drawing/2014/main" id="{3B17C47C-DAED-41F5-859A-EEA5919BDDB9}"/>
              </a:ext>
            </a:extLst>
          </p:cNvPr>
          <p:cNvGrpSpPr/>
          <p:nvPr/>
        </p:nvGrpSpPr>
        <p:grpSpPr>
          <a:xfrm>
            <a:off x="6667310" y="2914953"/>
            <a:ext cx="1967076" cy="679094"/>
            <a:chOff x="2490993" y="2652179"/>
            <a:chExt cx="3535793" cy="1220662"/>
          </a:xfrm>
        </p:grpSpPr>
        <p:sp>
          <p:nvSpPr>
            <p:cNvPr id="33" name="Freeform 163">
              <a:extLst>
                <a:ext uri="{FF2B5EF4-FFF2-40B4-BE49-F238E27FC236}">
                  <a16:creationId xmlns:a16="http://schemas.microsoft.com/office/drawing/2014/main" id="{5ADD4B2B-FDF9-41E2-9777-8A5D9F14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875" y="2655018"/>
              <a:ext cx="3503607" cy="1217823"/>
            </a:xfrm>
            <a:custGeom>
              <a:avLst/>
              <a:gdLst>
                <a:gd name="T0" fmla="*/ 1230 w 1242"/>
                <a:gd name="T1" fmla="*/ 105 h 544"/>
                <a:gd name="T2" fmla="*/ 1200 w 1242"/>
                <a:gd name="T3" fmla="*/ 83 h 544"/>
                <a:gd name="T4" fmla="*/ 1159 w 1242"/>
                <a:gd name="T5" fmla="*/ 65 h 544"/>
                <a:gd name="T6" fmla="*/ 1115 w 1242"/>
                <a:gd name="T7" fmla="*/ 51 h 544"/>
                <a:gd name="T8" fmla="*/ 1059 w 1242"/>
                <a:gd name="T9" fmla="*/ 38 h 544"/>
                <a:gd name="T10" fmla="*/ 993 w 1242"/>
                <a:gd name="T11" fmla="*/ 26 h 544"/>
                <a:gd name="T12" fmla="*/ 933 w 1242"/>
                <a:gd name="T13" fmla="*/ 18 h 544"/>
                <a:gd name="T14" fmla="*/ 859 w 1242"/>
                <a:gd name="T15" fmla="*/ 10 h 544"/>
                <a:gd name="T16" fmla="*/ 775 w 1242"/>
                <a:gd name="T17" fmla="*/ 4 h 544"/>
                <a:gd name="T18" fmla="*/ 712 w 1242"/>
                <a:gd name="T19" fmla="*/ 2 h 544"/>
                <a:gd name="T20" fmla="*/ 664 w 1242"/>
                <a:gd name="T21" fmla="*/ 0 h 544"/>
                <a:gd name="T22" fmla="*/ 601 w 1242"/>
                <a:gd name="T23" fmla="*/ 0 h 544"/>
                <a:gd name="T24" fmla="*/ 554 w 1242"/>
                <a:gd name="T25" fmla="*/ 1 h 544"/>
                <a:gd name="T26" fmla="*/ 491 w 1242"/>
                <a:gd name="T27" fmla="*/ 3 h 544"/>
                <a:gd name="T28" fmla="*/ 410 w 1242"/>
                <a:gd name="T29" fmla="*/ 8 h 544"/>
                <a:gd name="T30" fmla="*/ 361 w 1242"/>
                <a:gd name="T31" fmla="*/ 12 h 544"/>
                <a:gd name="T32" fmla="*/ 318 w 1242"/>
                <a:gd name="T33" fmla="*/ 17 h 544"/>
                <a:gd name="T34" fmla="*/ 271 w 1242"/>
                <a:gd name="T35" fmla="*/ 23 h 544"/>
                <a:gd name="T36" fmla="*/ 213 w 1242"/>
                <a:gd name="T37" fmla="*/ 32 h 544"/>
                <a:gd name="T38" fmla="*/ 160 w 1242"/>
                <a:gd name="T39" fmla="*/ 43 h 544"/>
                <a:gd name="T40" fmla="*/ 105 w 1242"/>
                <a:gd name="T41" fmla="*/ 58 h 544"/>
                <a:gd name="T42" fmla="*/ 65 w 1242"/>
                <a:gd name="T43" fmla="*/ 72 h 544"/>
                <a:gd name="T44" fmla="*/ 35 w 1242"/>
                <a:gd name="T45" fmla="*/ 86 h 544"/>
                <a:gd name="T46" fmla="*/ 16 w 1242"/>
                <a:gd name="T47" fmla="*/ 100 h 544"/>
                <a:gd name="T48" fmla="*/ 4 w 1242"/>
                <a:gd name="T49" fmla="*/ 115 h 544"/>
                <a:gd name="T50" fmla="*/ 1 w 1242"/>
                <a:gd name="T51" fmla="*/ 133 h 544"/>
                <a:gd name="T52" fmla="*/ 149 w 1242"/>
                <a:gd name="T53" fmla="*/ 458 h 544"/>
                <a:gd name="T54" fmla="*/ 156 w 1242"/>
                <a:gd name="T55" fmla="*/ 466 h 544"/>
                <a:gd name="T56" fmla="*/ 166 w 1242"/>
                <a:gd name="T57" fmla="*/ 474 h 544"/>
                <a:gd name="T58" fmla="*/ 180 w 1242"/>
                <a:gd name="T59" fmla="*/ 482 h 544"/>
                <a:gd name="T60" fmla="*/ 199 w 1242"/>
                <a:gd name="T61" fmla="*/ 491 h 544"/>
                <a:gd name="T62" fmla="*/ 218 w 1242"/>
                <a:gd name="T63" fmla="*/ 498 h 544"/>
                <a:gd name="T64" fmla="*/ 240 w 1242"/>
                <a:gd name="T65" fmla="*/ 504 h 544"/>
                <a:gd name="T66" fmla="*/ 268 w 1242"/>
                <a:gd name="T67" fmla="*/ 511 h 544"/>
                <a:gd name="T68" fmla="*/ 303 w 1242"/>
                <a:gd name="T69" fmla="*/ 518 h 544"/>
                <a:gd name="T70" fmla="*/ 333 w 1242"/>
                <a:gd name="T71" fmla="*/ 524 h 544"/>
                <a:gd name="T72" fmla="*/ 368 w 1242"/>
                <a:gd name="T73" fmla="*/ 529 h 544"/>
                <a:gd name="T74" fmla="*/ 408 w 1242"/>
                <a:gd name="T75" fmla="*/ 533 h 544"/>
                <a:gd name="T76" fmla="*/ 446 w 1242"/>
                <a:gd name="T77" fmla="*/ 537 h 544"/>
                <a:gd name="T78" fmla="*/ 493 w 1242"/>
                <a:gd name="T79" fmla="*/ 540 h 544"/>
                <a:gd name="T80" fmla="*/ 542 w 1242"/>
                <a:gd name="T81" fmla="*/ 542 h 544"/>
                <a:gd name="T82" fmla="*/ 587 w 1242"/>
                <a:gd name="T83" fmla="*/ 543 h 544"/>
                <a:gd name="T84" fmla="*/ 648 w 1242"/>
                <a:gd name="T85" fmla="*/ 544 h 544"/>
                <a:gd name="T86" fmla="*/ 695 w 1242"/>
                <a:gd name="T87" fmla="*/ 543 h 544"/>
                <a:gd name="T88" fmla="*/ 741 w 1242"/>
                <a:gd name="T89" fmla="*/ 541 h 544"/>
                <a:gd name="T90" fmla="*/ 778 w 1242"/>
                <a:gd name="T91" fmla="*/ 538 h 544"/>
                <a:gd name="T92" fmla="*/ 820 w 1242"/>
                <a:gd name="T93" fmla="*/ 535 h 544"/>
                <a:gd name="T94" fmla="*/ 860 w 1242"/>
                <a:gd name="T95" fmla="*/ 530 h 544"/>
                <a:gd name="T96" fmla="*/ 898 w 1242"/>
                <a:gd name="T97" fmla="*/ 525 h 544"/>
                <a:gd name="T98" fmla="*/ 933 w 1242"/>
                <a:gd name="T99" fmla="*/ 520 h 544"/>
                <a:gd name="T100" fmla="*/ 965 w 1242"/>
                <a:gd name="T101" fmla="*/ 513 h 544"/>
                <a:gd name="T102" fmla="*/ 1002 w 1242"/>
                <a:gd name="T103" fmla="*/ 504 h 544"/>
                <a:gd name="T104" fmla="*/ 1025 w 1242"/>
                <a:gd name="T105" fmla="*/ 497 h 544"/>
                <a:gd name="T106" fmla="*/ 1046 w 1242"/>
                <a:gd name="T107" fmla="*/ 489 h 544"/>
                <a:gd name="T108" fmla="*/ 1062 w 1242"/>
                <a:gd name="T109" fmla="*/ 482 h 544"/>
                <a:gd name="T110" fmla="*/ 1076 w 1242"/>
                <a:gd name="T111" fmla="*/ 474 h 544"/>
                <a:gd name="T112" fmla="*/ 1088 w 1242"/>
                <a:gd name="T113" fmla="*/ 465 h 544"/>
                <a:gd name="T114" fmla="*/ 1094 w 1242"/>
                <a:gd name="T115" fmla="*/ 457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42" h="544">
                  <a:moveTo>
                    <a:pt x="1241" y="127"/>
                  </a:moveTo>
                  <a:cubicBezTo>
                    <a:pt x="1241" y="126"/>
                    <a:pt x="1241" y="125"/>
                    <a:pt x="1241" y="124"/>
                  </a:cubicBezTo>
                  <a:cubicBezTo>
                    <a:pt x="1241" y="124"/>
                    <a:pt x="1241" y="123"/>
                    <a:pt x="1241" y="123"/>
                  </a:cubicBezTo>
                  <a:cubicBezTo>
                    <a:pt x="1241" y="122"/>
                    <a:pt x="1240" y="121"/>
                    <a:pt x="1240" y="120"/>
                  </a:cubicBezTo>
                  <a:cubicBezTo>
                    <a:pt x="1240" y="120"/>
                    <a:pt x="1240" y="119"/>
                    <a:pt x="1240" y="119"/>
                  </a:cubicBezTo>
                  <a:cubicBezTo>
                    <a:pt x="1239" y="118"/>
                    <a:pt x="1239" y="117"/>
                    <a:pt x="1238" y="116"/>
                  </a:cubicBezTo>
                  <a:cubicBezTo>
                    <a:pt x="1238" y="115"/>
                    <a:pt x="1238" y="115"/>
                    <a:pt x="1238" y="115"/>
                  </a:cubicBezTo>
                  <a:cubicBezTo>
                    <a:pt x="1237" y="114"/>
                    <a:pt x="1237" y="113"/>
                    <a:pt x="1236" y="112"/>
                  </a:cubicBezTo>
                  <a:cubicBezTo>
                    <a:pt x="1235" y="111"/>
                    <a:pt x="1235" y="111"/>
                    <a:pt x="1235" y="111"/>
                  </a:cubicBezTo>
                  <a:cubicBezTo>
                    <a:pt x="1235" y="110"/>
                    <a:pt x="1234" y="109"/>
                    <a:pt x="1233" y="108"/>
                  </a:cubicBezTo>
                  <a:cubicBezTo>
                    <a:pt x="1233" y="108"/>
                    <a:pt x="1233" y="107"/>
                    <a:pt x="1232" y="107"/>
                  </a:cubicBezTo>
                  <a:cubicBezTo>
                    <a:pt x="1232" y="106"/>
                    <a:pt x="1231" y="105"/>
                    <a:pt x="1230" y="105"/>
                  </a:cubicBezTo>
                  <a:cubicBezTo>
                    <a:pt x="1230" y="104"/>
                    <a:pt x="1229" y="104"/>
                    <a:pt x="1229" y="103"/>
                  </a:cubicBezTo>
                  <a:cubicBezTo>
                    <a:pt x="1228" y="102"/>
                    <a:pt x="1227" y="102"/>
                    <a:pt x="1227" y="101"/>
                  </a:cubicBezTo>
                  <a:cubicBezTo>
                    <a:pt x="1226" y="101"/>
                    <a:pt x="1226" y="100"/>
                    <a:pt x="1225" y="100"/>
                  </a:cubicBezTo>
                  <a:cubicBezTo>
                    <a:pt x="1224" y="99"/>
                    <a:pt x="1223" y="98"/>
                    <a:pt x="1222" y="97"/>
                  </a:cubicBezTo>
                  <a:cubicBezTo>
                    <a:pt x="1221" y="96"/>
                    <a:pt x="1221" y="96"/>
                    <a:pt x="1221" y="96"/>
                  </a:cubicBezTo>
                  <a:cubicBezTo>
                    <a:pt x="1220" y="95"/>
                    <a:pt x="1218" y="94"/>
                    <a:pt x="1216" y="93"/>
                  </a:cubicBezTo>
                  <a:cubicBezTo>
                    <a:pt x="1216" y="93"/>
                    <a:pt x="1216" y="92"/>
                    <a:pt x="1215" y="92"/>
                  </a:cubicBezTo>
                  <a:cubicBezTo>
                    <a:pt x="1214" y="91"/>
                    <a:pt x="1213" y="90"/>
                    <a:pt x="1211" y="89"/>
                  </a:cubicBezTo>
                  <a:cubicBezTo>
                    <a:pt x="1211" y="89"/>
                    <a:pt x="1210" y="89"/>
                    <a:pt x="1210" y="88"/>
                  </a:cubicBezTo>
                  <a:cubicBezTo>
                    <a:pt x="1208" y="88"/>
                    <a:pt x="1207" y="87"/>
                    <a:pt x="1206" y="86"/>
                  </a:cubicBezTo>
                  <a:cubicBezTo>
                    <a:pt x="1205" y="86"/>
                    <a:pt x="1204" y="85"/>
                    <a:pt x="1204" y="85"/>
                  </a:cubicBezTo>
                  <a:cubicBezTo>
                    <a:pt x="1202" y="84"/>
                    <a:pt x="1201" y="83"/>
                    <a:pt x="1200" y="83"/>
                  </a:cubicBezTo>
                  <a:cubicBezTo>
                    <a:pt x="1199" y="82"/>
                    <a:pt x="1198" y="82"/>
                    <a:pt x="1198" y="81"/>
                  </a:cubicBezTo>
                  <a:cubicBezTo>
                    <a:pt x="1196" y="81"/>
                    <a:pt x="1194" y="80"/>
                    <a:pt x="1192" y="79"/>
                  </a:cubicBezTo>
                  <a:cubicBezTo>
                    <a:pt x="1191" y="78"/>
                    <a:pt x="1191" y="78"/>
                    <a:pt x="1191" y="78"/>
                  </a:cubicBezTo>
                  <a:cubicBezTo>
                    <a:pt x="1189" y="77"/>
                    <a:pt x="1187" y="76"/>
                    <a:pt x="1184" y="75"/>
                  </a:cubicBezTo>
                  <a:cubicBezTo>
                    <a:pt x="1184" y="75"/>
                    <a:pt x="1183" y="74"/>
                    <a:pt x="1182" y="74"/>
                  </a:cubicBezTo>
                  <a:cubicBezTo>
                    <a:pt x="1181" y="73"/>
                    <a:pt x="1179" y="73"/>
                    <a:pt x="1177" y="72"/>
                  </a:cubicBezTo>
                  <a:cubicBezTo>
                    <a:pt x="1176" y="71"/>
                    <a:pt x="1176" y="71"/>
                    <a:pt x="1176" y="71"/>
                  </a:cubicBezTo>
                  <a:cubicBezTo>
                    <a:pt x="1175" y="71"/>
                    <a:pt x="1175" y="71"/>
                    <a:pt x="1174" y="71"/>
                  </a:cubicBezTo>
                  <a:cubicBezTo>
                    <a:pt x="1173" y="70"/>
                    <a:pt x="1171" y="70"/>
                    <a:pt x="1170" y="69"/>
                  </a:cubicBezTo>
                  <a:cubicBezTo>
                    <a:pt x="1169" y="69"/>
                    <a:pt x="1168" y="68"/>
                    <a:pt x="1167" y="68"/>
                  </a:cubicBezTo>
                  <a:cubicBezTo>
                    <a:pt x="1165" y="67"/>
                    <a:pt x="1164" y="67"/>
                    <a:pt x="1163" y="66"/>
                  </a:cubicBezTo>
                  <a:cubicBezTo>
                    <a:pt x="1161" y="66"/>
                    <a:pt x="1160" y="65"/>
                    <a:pt x="1159" y="65"/>
                  </a:cubicBezTo>
                  <a:cubicBezTo>
                    <a:pt x="1158" y="64"/>
                    <a:pt x="1156" y="64"/>
                    <a:pt x="1155" y="63"/>
                  </a:cubicBezTo>
                  <a:cubicBezTo>
                    <a:pt x="1154" y="63"/>
                    <a:pt x="1152" y="63"/>
                    <a:pt x="1151" y="62"/>
                  </a:cubicBezTo>
                  <a:cubicBezTo>
                    <a:pt x="1150" y="62"/>
                    <a:pt x="1148" y="61"/>
                    <a:pt x="1146" y="61"/>
                  </a:cubicBezTo>
                  <a:cubicBezTo>
                    <a:pt x="1146" y="60"/>
                    <a:pt x="1145" y="60"/>
                    <a:pt x="1144" y="60"/>
                  </a:cubicBezTo>
                  <a:cubicBezTo>
                    <a:pt x="1144" y="60"/>
                    <a:pt x="1143" y="59"/>
                    <a:pt x="1143" y="59"/>
                  </a:cubicBezTo>
                  <a:cubicBezTo>
                    <a:pt x="1142" y="59"/>
                    <a:pt x="1141" y="59"/>
                    <a:pt x="1140" y="58"/>
                  </a:cubicBezTo>
                  <a:cubicBezTo>
                    <a:pt x="1138" y="58"/>
                    <a:pt x="1136" y="57"/>
                    <a:pt x="1135" y="57"/>
                  </a:cubicBezTo>
                  <a:cubicBezTo>
                    <a:pt x="1134" y="57"/>
                    <a:pt x="1133" y="56"/>
                    <a:pt x="1132" y="56"/>
                  </a:cubicBezTo>
                  <a:cubicBezTo>
                    <a:pt x="1130" y="55"/>
                    <a:pt x="1128" y="55"/>
                    <a:pt x="1127" y="54"/>
                  </a:cubicBezTo>
                  <a:cubicBezTo>
                    <a:pt x="1126" y="54"/>
                    <a:pt x="1125" y="54"/>
                    <a:pt x="1124" y="54"/>
                  </a:cubicBezTo>
                  <a:cubicBezTo>
                    <a:pt x="1122" y="53"/>
                    <a:pt x="1120" y="52"/>
                    <a:pt x="1118" y="52"/>
                  </a:cubicBezTo>
                  <a:cubicBezTo>
                    <a:pt x="1117" y="52"/>
                    <a:pt x="1116" y="51"/>
                    <a:pt x="1115" y="51"/>
                  </a:cubicBezTo>
                  <a:cubicBezTo>
                    <a:pt x="1115" y="51"/>
                    <a:pt x="1115" y="51"/>
                    <a:pt x="1115" y="51"/>
                  </a:cubicBezTo>
                  <a:cubicBezTo>
                    <a:pt x="1115" y="51"/>
                    <a:pt x="1114" y="51"/>
                    <a:pt x="1114" y="51"/>
                  </a:cubicBezTo>
                  <a:cubicBezTo>
                    <a:pt x="1110" y="50"/>
                    <a:pt x="1107" y="49"/>
                    <a:pt x="1103" y="48"/>
                  </a:cubicBezTo>
                  <a:cubicBezTo>
                    <a:pt x="1102" y="48"/>
                    <a:pt x="1101" y="47"/>
                    <a:pt x="1100" y="47"/>
                  </a:cubicBezTo>
                  <a:cubicBezTo>
                    <a:pt x="1096" y="46"/>
                    <a:pt x="1092" y="45"/>
                    <a:pt x="1087" y="44"/>
                  </a:cubicBezTo>
                  <a:cubicBezTo>
                    <a:pt x="1087" y="44"/>
                    <a:pt x="1087" y="44"/>
                    <a:pt x="1087" y="44"/>
                  </a:cubicBezTo>
                  <a:cubicBezTo>
                    <a:pt x="1086" y="44"/>
                    <a:pt x="1086" y="44"/>
                    <a:pt x="1086" y="44"/>
                  </a:cubicBezTo>
                  <a:cubicBezTo>
                    <a:pt x="1083" y="43"/>
                    <a:pt x="1079" y="42"/>
                    <a:pt x="1076" y="41"/>
                  </a:cubicBezTo>
                  <a:cubicBezTo>
                    <a:pt x="1074" y="41"/>
                    <a:pt x="1073" y="41"/>
                    <a:pt x="1072" y="41"/>
                  </a:cubicBezTo>
                  <a:cubicBezTo>
                    <a:pt x="1069" y="40"/>
                    <a:pt x="1066" y="39"/>
                    <a:pt x="1063" y="39"/>
                  </a:cubicBezTo>
                  <a:cubicBezTo>
                    <a:pt x="1062" y="38"/>
                    <a:pt x="1061" y="38"/>
                    <a:pt x="1061" y="38"/>
                  </a:cubicBezTo>
                  <a:cubicBezTo>
                    <a:pt x="1060" y="38"/>
                    <a:pt x="1059" y="38"/>
                    <a:pt x="1059" y="38"/>
                  </a:cubicBezTo>
                  <a:cubicBezTo>
                    <a:pt x="1056" y="37"/>
                    <a:pt x="1053" y="37"/>
                    <a:pt x="1050" y="36"/>
                  </a:cubicBezTo>
                  <a:cubicBezTo>
                    <a:pt x="1049" y="36"/>
                    <a:pt x="1048" y="36"/>
                    <a:pt x="1047" y="35"/>
                  </a:cubicBezTo>
                  <a:cubicBezTo>
                    <a:pt x="1043" y="35"/>
                    <a:pt x="1039" y="34"/>
                    <a:pt x="1035" y="33"/>
                  </a:cubicBezTo>
                  <a:cubicBezTo>
                    <a:pt x="1034" y="33"/>
                    <a:pt x="1034" y="33"/>
                    <a:pt x="1034" y="33"/>
                  </a:cubicBezTo>
                  <a:cubicBezTo>
                    <a:pt x="1033" y="33"/>
                    <a:pt x="1033" y="33"/>
                    <a:pt x="1032" y="33"/>
                  </a:cubicBezTo>
                  <a:cubicBezTo>
                    <a:pt x="1029" y="32"/>
                    <a:pt x="1026" y="31"/>
                    <a:pt x="1023" y="31"/>
                  </a:cubicBezTo>
                  <a:cubicBezTo>
                    <a:pt x="1021" y="31"/>
                    <a:pt x="1020" y="30"/>
                    <a:pt x="1018" y="30"/>
                  </a:cubicBezTo>
                  <a:cubicBezTo>
                    <a:pt x="1016" y="30"/>
                    <a:pt x="1013" y="29"/>
                    <a:pt x="1011" y="29"/>
                  </a:cubicBezTo>
                  <a:cubicBezTo>
                    <a:pt x="1010" y="29"/>
                    <a:pt x="1009" y="29"/>
                    <a:pt x="1009" y="28"/>
                  </a:cubicBezTo>
                  <a:cubicBezTo>
                    <a:pt x="1008" y="28"/>
                    <a:pt x="1007" y="28"/>
                    <a:pt x="1005" y="28"/>
                  </a:cubicBezTo>
                  <a:cubicBezTo>
                    <a:pt x="1003" y="28"/>
                    <a:pt x="1001" y="27"/>
                    <a:pt x="998" y="27"/>
                  </a:cubicBezTo>
                  <a:cubicBezTo>
                    <a:pt x="997" y="26"/>
                    <a:pt x="995" y="26"/>
                    <a:pt x="993" y="26"/>
                  </a:cubicBezTo>
                  <a:cubicBezTo>
                    <a:pt x="991" y="26"/>
                    <a:pt x="988" y="25"/>
                    <a:pt x="986" y="25"/>
                  </a:cubicBezTo>
                  <a:cubicBezTo>
                    <a:pt x="985" y="25"/>
                    <a:pt x="984" y="25"/>
                    <a:pt x="983" y="24"/>
                  </a:cubicBezTo>
                  <a:cubicBezTo>
                    <a:pt x="982" y="24"/>
                    <a:pt x="981" y="24"/>
                    <a:pt x="980" y="24"/>
                  </a:cubicBezTo>
                  <a:cubicBezTo>
                    <a:pt x="978" y="24"/>
                    <a:pt x="976" y="23"/>
                    <a:pt x="974" y="23"/>
                  </a:cubicBezTo>
                  <a:cubicBezTo>
                    <a:pt x="972" y="23"/>
                    <a:pt x="970" y="22"/>
                    <a:pt x="968" y="22"/>
                  </a:cubicBezTo>
                  <a:cubicBezTo>
                    <a:pt x="965" y="22"/>
                    <a:pt x="963" y="22"/>
                    <a:pt x="961" y="21"/>
                  </a:cubicBezTo>
                  <a:cubicBezTo>
                    <a:pt x="960" y="21"/>
                    <a:pt x="959" y="21"/>
                    <a:pt x="958" y="21"/>
                  </a:cubicBezTo>
                  <a:cubicBezTo>
                    <a:pt x="957" y="21"/>
                    <a:pt x="956" y="21"/>
                    <a:pt x="955" y="20"/>
                  </a:cubicBezTo>
                  <a:cubicBezTo>
                    <a:pt x="953" y="20"/>
                    <a:pt x="951" y="20"/>
                    <a:pt x="949" y="20"/>
                  </a:cubicBezTo>
                  <a:cubicBezTo>
                    <a:pt x="947" y="19"/>
                    <a:pt x="944" y="19"/>
                    <a:pt x="942" y="19"/>
                  </a:cubicBezTo>
                  <a:cubicBezTo>
                    <a:pt x="940" y="19"/>
                    <a:pt x="938" y="18"/>
                    <a:pt x="936" y="18"/>
                  </a:cubicBezTo>
                  <a:cubicBezTo>
                    <a:pt x="935" y="18"/>
                    <a:pt x="934" y="18"/>
                    <a:pt x="933" y="18"/>
                  </a:cubicBezTo>
                  <a:cubicBezTo>
                    <a:pt x="932" y="17"/>
                    <a:pt x="930" y="17"/>
                    <a:pt x="929" y="17"/>
                  </a:cubicBezTo>
                  <a:cubicBezTo>
                    <a:pt x="927" y="17"/>
                    <a:pt x="925" y="17"/>
                    <a:pt x="923" y="17"/>
                  </a:cubicBezTo>
                  <a:cubicBezTo>
                    <a:pt x="921" y="16"/>
                    <a:pt x="919" y="16"/>
                    <a:pt x="917" y="16"/>
                  </a:cubicBezTo>
                  <a:cubicBezTo>
                    <a:pt x="914" y="15"/>
                    <a:pt x="912" y="15"/>
                    <a:pt x="910" y="15"/>
                  </a:cubicBezTo>
                  <a:cubicBezTo>
                    <a:pt x="909" y="15"/>
                    <a:pt x="908" y="15"/>
                    <a:pt x="908" y="15"/>
                  </a:cubicBezTo>
                  <a:cubicBezTo>
                    <a:pt x="907" y="15"/>
                    <a:pt x="906" y="15"/>
                    <a:pt x="906" y="15"/>
                  </a:cubicBezTo>
                  <a:cubicBezTo>
                    <a:pt x="899" y="14"/>
                    <a:pt x="891" y="13"/>
                    <a:pt x="884" y="12"/>
                  </a:cubicBezTo>
                  <a:cubicBezTo>
                    <a:pt x="883" y="12"/>
                    <a:pt x="883" y="12"/>
                    <a:pt x="883" y="12"/>
                  </a:cubicBezTo>
                  <a:cubicBezTo>
                    <a:pt x="882" y="12"/>
                    <a:pt x="881" y="12"/>
                    <a:pt x="881" y="12"/>
                  </a:cubicBezTo>
                  <a:cubicBezTo>
                    <a:pt x="874" y="11"/>
                    <a:pt x="867" y="11"/>
                    <a:pt x="860" y="10"/>
                  </a:cubicBezTo>
                  <a:cubicBezTo>
                    <a:pt x="859" y="10"/>
                    <a:pt x="859" y="10"/>
                    <a:pt x="859" y="10"/>
                  </a:cubicBezTo>
                  <a:cubicBezTo>
                    <a:pt x="859" y="10"/>
                    <a:pt x="859" y="10"/>
                    <a:pt x="859" y="10"/>
                  </a:cubicBezTo>
                  <a:cubicBezTo>
                    <a:pt x="852" y="9"/>
                    <a:pt x="845" y="9"/>
                    <a:pt x="838" y="8"/>
                  </a:cubicBezTo>
                  <a:cubicBezTo>
                    <a:pt x="837" y="8"/>
                    <a:pt x="837" y="8"/>
                    <a:pt x="836" y="8"/>
                  </a:cubicBezTo>
                  <a:cubicBezTo>
                    <a:pt x="835" y="8"/>
                    <a:pt x="834" y="8"/>
                    <a:pt x="834" y="8"/>
                  </a:cubicBezTo>
                  <a:cubicBezTo>
                    <a:pt x="828" y="8"/>
                    <a:pt x="822" y="7"/>
                    <a:pt x="815" y="7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5" y="7"/>
                    <a:pt x="814" y="7"/>
                    <a:pt x="813" y="6"/>
                  </a:cubicBezTo>
                  <a:cubicBezTo>
                    <a:pt x="808" y="6"/>
                    <a:pt x="803" y="6"/>
                    <a:pt x="798" y="6"/>
                  </a:cubicBezTo>
                  <a:cubicBezTo>
                    <a:pt x="797" y="5"/>
                    <a:pt x="797" y="5"/>
                    <a:pt x="796" y="5"/>
                  </a:cubicBezTo>
                  <a:cubicBezTo>
                    <a:pt x="795" y="5"/>
                    <a:pt x="793" y="5"/>
                    <a:pt x="792" y="5"/>
                  </a:cubicBezTo>
                  <a:cubicBezTo>
                    <a:pt x="788" y="5"/>
                    <a:pt x="784" y="5"/>
                    <a:pt x="781" y="4"/>
                  </a:cubicBezTo>
                  <a:cubicBezTo>
                    <a:pt x="779" y="4"/>
                    <a:pt x="778" y="4"/>
                    <a:pt x="777" y="4"/>
                  </a:cubicBezTo>
                  <a:cubicBezTo>
                    <a:pt x="776" y="4"/>
                    <a:pt x="776" y="4"/>
                    <a:pt x="775" y="4"/>
                  </a:cubicBezTo>
                  <a:cubicBezTo>
                    <a:pt x="772" y="4"/>
                    <a:pt x="770" y="4"/>
                    <a:pt x="767" y="4"/>
                  </a:cubicBezTo>
                  <a:cubicBezTo>
                    <a:pt x="766" y="4"/>
                    <a:pt x="764" y="4"/>
                    <a:pt x="763" y="4"/>
                  </a:cubicBezTo>
                  <a:cubicBezTo>
                    <a:pt x="762" y="4"/>
                    <a:pt x="761" y="3"/>
                    <a:pt x="760" y="3"/>
                  </a:cubicBezTo>
                  <a:cubicBezTo>
                    <a:pt x="757" y="3"/>
                    <a:pt x="755" y="3"/>
                    <a:pt x="753" y="3"/>
                  </a:cubicBezTo>
                  <a:cubicBezTo>
                    <a:pt x="751" y="3"/>
                    <a:pt x="750" y="3"/>
                    <a:pt x="748" y="3"/>
                  </a:cubicBezTo>
                  <a:cubicBezTo>
                    <a:pt x="747" y="3"/>
                    <a:pt x="746" y="3"/>
                    <a:pt x="745" y="3"/>
                  </a:cubicBezTo>
                  <a:cubicBezTo>
                    <a:pt x="742" y="3"/>
                    <a:pt x="740" y="3"/>
                    <a:pt x="738" y="2"/>
                  </a:cubicBezTo>
                  <a:cubicBezTo>
                    <a:pt x="736" y="2"/>
                    <a:pt x="735" y="2"/>
                    <a:pt x="734" y="2"/>
                  </a:cubicBezTo>
                  <a:cubicBezTo>
                    <a:pt x="732" y="2"/>
                    <a:pt x="730" y="2"/>
                    <a:pt x="729" y="2"/>
                  </a:cubicBezTo>
                  <a:cubicBezTo>
                    <a:pt x="727" y="2"/>
                    <a:pt x="726" y="2"/>
                    <a:pt x="724" y="2"/>
                  </a:cubicBezTo>
                  <a:cubicBezTo>
                    <a:pt x="724" y="2"/>
                    <a:pt x="723" y="2"/>
                    <a:pt x="723" y="2"/>
                  </a:cubicBezTo>
                  <a:cubicBezTo>
                    <a:pt x="719" y="2"/>
                    <a:pt x="716" y="2"/>
                    <a:pt x="712" y="2"/>
                  </a:cubicBezTo>
                  <a:cubicBezTo>
                    <a:pt x="711" y="2"/>
                    <a:pt x="711" y="2"/>
                    <a:pt x="711" y="2"/>
                  </a:cubicBezTo>
                  <a:cubicBezTo>
                    <a:pt x="710" y="2"/>
                    <a:pt x="709" y="1"/>
                    <a:pt x="708" y="1"/>
                  </a:cubicBezTo>
                  <a:cubicBezTo>
                    <a:pt x="706" y="1"/>
                    <a:pt x="704" y="1"/>
                    <a:pt x="702" y="1"/>
                  </a:cubicBezTo>
                  <a:cubicBezTo>
                    <a:pt x="700" y="1"/>
                    <a:pt x="699" y="1"/>
                    <a:pt x="697" y="1"/>
                  </a:cubicBezTo>
                  <a:cubicBezTo>
                    <a:pt x="696" y="1"/>
                    <a:pt x="695" y="1"/>
                    <a:pt x="693" y="1"/>
                  </a:cubicBezTo>
                  <a:cubicBezTo>
                    <a:pt x="693" y="1"/>
                    <a:pt x="692" y="1"/>
                    <a:pt x="691" y="1"/>
                  </a:cubicBezTo>
                  <a:cubicBezTo>
                    <a:pt x="687" y="1"/>
                    <a:pt x="684" y="1"/>
                    <a:pt x="681" y="1"/>
                  </a:cubicBezTo>
                  <a:cubicBezTo>
                    <a:pt x="680" y="1"/>
                    <a:pt x="680" y="1"/>
                    <a:pt x="680" y="1"/>
                  </a:cubicBezTo>
                  <a:cubicBezTo>
                    <a:pt x="679" y="1"/>
                    <a:pt x="679" y="1"/>
                    <a:pt x="678" y="1"/>
                  </a:cubicBezTo>
                  <a:cubicBezTo>
                    <a:pt x="676" y="1"/>
                    <a:pt x="674" y="1"/>
                    <a:pt x="672" y="1"/>
                  </a:cubicBezTo>
                  <a:cubicBezTo>
                    <a:pt x="670" y="1"/>
                    <a:pt x="667" y="1"/>
                    <a:pt x="664" y="0"/>
                  </a:cubicBezTo>
                  <a:cubicBezTo>
                    <a:pt x="664" y="0"/>
                    <a:pt x="664" y="0"/>
                    <a:pt x="664" y="0"/>
                  </a:cubicBezTo>
                  <a:cubicBezTo>
                    <a:pt x="663" y="0"/>
                    <a:pt x="663" y="0"/>
                    <a:pt x="663" y="0"/>
                  </a:cubicBezTo>
                  <a:cubicBezTo>
                    <a:pt x="661" y="0"/>
                    <a:pt x="658" y="0"/>
                    <a:pt x="656" y="0"/>
                  </a:cubicBezTo>
                  <a:cubicBezTo>
                    <a:pt x="654" y="0"/>
                    <a:pt x="651" y="0"/>
                    <a:pt x="649" y="0"/>
                  </a:cubicBezTo>
                  <a:cubicBezTo>
                    <a:pt x="648" y="0"/>
                    <a:pt x="648" y="0"/>
                    <a:pt x="647" y="0"/>
                  </a:cubicBezTo>
                  <a:cubicBezTo>
                    <a:pt x="644" y="0"/>
                    <a:pt x="642" y="0"/>
                    <a:pt x="639" y="0"/>
                  </a:cubicBezTo>
                  <a:cubicBezTo>
                    <a:pt x="637" y="0"/>
                    <a:pt x="634" y="0"/>
                    <a:pt x="632" y="0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28" y="0"/>
                    <a:pt x="626" y="0"/>
                    <a:pt x="623" y="0"/>
                  </a:cubicBezTo>
                  <a:cubicBezTo>
                    <a:pt x="621" y="0"/>
                    <a:pt x="618" y="0"/>
                    <a:pt x="616" y="0"/>
                  </a:cubicBezTo>
                  <a:cubicBezTo>
                    <a:pt x="616" y="0"/>
                    <a:pt x="616" y="0"/>
                    <a:pt x="616" y="0"/>
                  </a:cubicBezTo>
                  <a:cubicBezTo>
                    <a:pt x="613" y="0"/>
                    <a:pt x="611" y="0"/>
                    <a:pt x="608" y="0"/>
                  </a:cubicBezTo>
                  <a:cubicBezTo>
                    <a:pt x="606" y="0"/>
                    <a:pt x="603" y="0"/>
                    <a:pt x="601" y="0"/>
                  </a:cubicBezTo>
                  <a:cubicBezTo>
                    <a:pt x="600" y="0"/>
                    <a:pt x="600" y="0"/>
                    <a:pt x="600" y="0"/>
                  </a:cubicBezTo>
                  <a:cubicBezTo>
                    <a:pt x="600" y="0"/>
                    <a:pt x="599" y="0"/>
                    <a:pt x="599" y="0"/>
                  </a:cubicBezTo>
                  <a:cubicBezTo>
                    <a:pt x="597" y="0"/>
                    <a:pt x="595" y="0"/>
                    <a:pt x="593" y="0"/>
                  </a:cubicBezTo>
                  <a:cubicBezTo>
                    <a:pt x="591" y="0"/>
                    <a:pt x="588" y="0"/>
                    <a:pt x="586" y="0"/>
                  </a:cubicBezTo>
                  <a:cubicBezTo>
                    <a:pt x="585" y="0"/>
                    <a:pt x="585" y="0"/>
                    <a:pt x="585" y="0"/>
                  </a:cubicBezTo>
                  <a:cubicBezTo>
                    <a:pt x="584" y="0"/>
                    <a:pt x="584" y="0"/>
                    <a:pt x="583" y="0"/>
                  </a:cubicBezTo>
                  <a:cubicBezTo>
                    <a:pt x="581" y="0"/>
                    <a:pt x="580" y="0"/>
                    <a:pt x="578" y="0"/>
                  </a:cubicBezTo>
                  <a:cubicBezTo>
                    <a:pt x="575" y="1"/>
                    <a:pt x="572" y="1"/>
                    <a:pt x="569" y="1"/>
                  </a:cubicBezTo>
                  <a:cubicBezTo>
                    <a:pt x="569" y="1"/>
                    <a:pt x="569" y="1"/>
                    <a:pt x="569" y="1"/>
                  </a:cubicBezTo>
                  <a:cubicBezTo>
                    <a:pt x="568" y="1"/>
                    <a:pt x="568" y="1"/>
                    <a:pt x="567" y="1"/>
                  </a:cubicBezTo>
                  <a:cubicBezTo>
                    <a:pt x="565" y="1"/>
                    <a:pt x="563" y="1"/>
                    <a:pt x="561" y="1"/>
                  </a:cubicBezTo>
                  <a:cubicBezTo>
                    <a:pt x="558" y="1"/>
                    <a:pt x="556" y="1"/>
                    <a:pt x="554" y="1"/>
                  </a:cubicBezTo>
                  <a:cubicBezTo>
                    <a:pt x="553" y="1"/>
                    <a:pt x="553" y="1"/>
                    <a:pt x="552" y="1"/>
                  </a:cubicBezTo>
                  <a:cubicBezTo>
                    <a:pt x="552" y="1"/>
                    <a:pt x="552" y="1"/>
                    <a:pt x="552" y="1"/>
                  </a:cubicBezTo>
                  <a:cubicBezTo>
                    <a:pt x="549" y="1"/>
                    <a:pt x="546" y="1"/>
                    <a:pt x="543" y="1"/>
                  </a:cubicBezTo>
                  <a:cubicBezTo>
                    <a:pt x="542" y="1"/>
                    <a:pt x="540" y="1"/>
                    <a:pt x="538" y="1"/>
                  </a:cubicBezTo>
                  <a:cubicBezTo>
                    <a:pt x="538" y="1"/>
                    <a:pt x="537" y="1"/>
                    <a:pt x="537" y="1"/>
                  </a:cubicBezTo>
                  <a:cubicBezTo>
                    <a:pt x="536" y="1"/>
                    <a:pt x="535" y="1"/>
                    <a:pt x="535" y="1"/>
                  </a:cubicBezTo>
                  <a:cubicBezTo>
                    <a:pt x="531" y="2"/>
                    <a:pt x="527" y="2"/>
                    <a:pt x="523" y="2"/>
                  </a:cubicBezTo>
                  <a:cubicBezTo>
                    <a:pt x="522" y="2"/>
                    <a:pt x="522" y="2"/>
                    <a:pt x="522" y="2"/>
                  </a:cubicBezTo>
                  <a:cubicBezTo>
                    <a:pt x="519" y="2"/>
                    <a:pt x="515" y="2"/>
                    <a:pt x="512" y="2"/>
                  </a:cubicBezTo>
                  <a:cubicBezTo>
                    <a:pt x="510" y="2"/>
                    <a:pt x="508" y="2"/>
                    <a:pt x="507" y="2"/>
                  </a:cubicBezTo>
                  <a:cubicBezTo>
                    <a:pt x="507" y="2"/>
                    <a:pt x="507" y="2"/>
                    <a:pt x="507" y="2"/>
                  </a:cubicBezTo>
                  <a:cubicBezTo>
                    <a:pt x="501" y="3"/>
                    <a:pt x="496" y="3"/>
                    <a:pt x="491" y="3"/>
                  </a:cubicBezTo>
                  <a:cubicBezTo>
                    <a:pt x="491" y="3"/>
                    <a:pt x="491" y="3"/>
                    <a:pt x="491" y="3"/>
                  </a:cubicBezTo>
                  <a:cubicBezTo>
                    <a:pt x="491" y="3"/>
                    <a:pt x="491" y="3"/>
                    <a:pt x="491" y="3"/>
                  </a:cubicBezTo>
                  <a:cubicBezTo>
                    <a:pt x="482" y="3"/>
                    <a:pt x="473" y="4"/>
                    <a:pt x="464" y="4"/>
                  </a:cubicBezTo>
                  <a:cubicBezTo>
                    <a:pt x="463" y="4"/>
                    <a:pt x="463" y="4"/>
                    <a:pt x="462" y="4"/>
                  </a:cubicBezTo>
                  <a:cubicBezTo>
                    <a:pt x="454" y="5"/>
                    <a:pt x="445" y="5"/>
                    <a:pt x="436" y="6"/>
                  </a:cubicBezTo>
                  <a:cubicBezTo>
                    <a:pt x="436" y="6"/>
                    <a:pt x="435" y="6"/>
                    <a:pt x="435" y="6"/>
                  </a:cubicBezTo>
                  <a:cubicBezTo>
                    <a:pt x="434" y="6"/>
                    <a:pt x="434" y="6"/>
                    <a:pt x="433" y="6"/>
                  </a:cubicBezTo>
                  <a:cubicBezTo>
                    <a:pt x="432" y="6"/>
                    <a:pt x="430" y="6"/>
                    <a:pt x="428" y="7"/>
                  </a:cubicBezTo>
                  <a:cubicBezTo>
                    <a:pt x="426" y="7"/>
                    <a:pt x="424" y="7"/>
                    <a:pt x="422" y="7"/>
                  </a:cubicBezTo>
                  <a:cubicBezTo>
                    <a:pt x="421" y="7"/>
                    <a:pt x="421" y="7"/>
                    <a:pt x="420" y="7"/>
                  </a:cubicBezTo>
                  <a:cubicBezTo>
                    <a:pt x="418" y="7"/>
                    <a:pt x="416" y="7"/>
                    <a:pt x="414" y="7"/>
                  </a:cubicBezTo>
                  <a:cubicBezTo>
                    <a:pt x="413" y="8"/>
                    <a:pt x="411" y="8"/>
                    <a:pt x="410" y="8"/>
                  </a:cubicBezTo>
                  <a:cubicBezTo>
                    <a:pt x="408" y="8"/>
                    <a:pt x="407" y="8"/>
                    <a:pt x="406" y="8"/>
                  </a:cubicBezTo>
                  <a:cubicBezTo>
                    <a:pt x="404" y="8"/>
                    <a:pt x="402" y="8"/>
                    <a:pt x="401" y="9"/>
                  </a:cubicBezTo>
                  <a:cubicBezTo>
                    <a:pt x="399" y="9"/>
                    <a:pt x="398" y="9"/>
                    <a:pt x="397" y="9"/>
                  </a:cubicBezTo>
                  <a:cubicBezTo>
                    <a:pt x="395" y="9"/>
                    <a:pt x="394" y="9"/>
                    <a:pt x="392" y="9"/>
                  </a:cubicBezTo>
                  <a:cubicBezTo>
                    <a:pt x="391" y="9"/>
                    <a:pt x="389" y="9"/>
                    <a:pt x="388" y="10"/>
                  </a:cubicBezTo>
                  <a:cubicBezTo>
                    <a:pt x="387" y="10"/>
                    <a:pt x="387" y="10"/>
                    <a:pt x="386" y="10"/>
                  </a:cubicBezTo>
                  <a:cubicBezTo>
                    <a:pt x="383" y="10"/>
                    <a:pt x="380" y="10"/>
                    <a:pt x="377" y="10"/>
                  </a:cubicBezTo>
                  <a:cubicBezTo>
                    <a:pt x="377" y="11"/>
                    <a:pt x="377" y="11"/>
                    <a:pt x="376" y="11"/>
                  </a:cubicBezTo>
                  <a:cubicBezTo>
                    <a:pt x="375" y="11"/>
                    <a:pt x="375" y="11"/>
                    <a:pt x="374" y="11"/>
                  </a:cubicBezTo>
                  <a:cubicBezTo>
                    <a:pt x="372" y="11"/>
                    <a:pt x="370" y="11"/>
                    <a:pt x="369" y="11"/>
                  </a:cubicBezTo>
                  <a:cubicBezTo>
                    <a:pt x="367" y="11"/>
                    <a:pt x="365" y="12"/>
                    <a:pt x="363" y="12"/>
                  </a:cubicBezTo>
                  <a:cubicBezTo>
                    <a:pt x="362" y="12"/>
                    <a:pt x="362" y="12"/>
                    <a:pt x="361" y="12"/>
                  </a:cubicBezTo>
                  <a:cubicBezTo>
                    <a:pt x="360" y="12"/>
                    <a:pt x="360" y="12"/>
                    <a:pt x="360" y="12"/>
                  </a:cubicBezTo>
                  <a:cubicBezTo>
                    <a:pt x="357" y="12"/>
                    <a:pt x="354" y="13"/>
                    <a:pt x="352" y="13"/>
                  </a:cubicBezTo>
                  <a:cubicBezTo>
                    <a:pt x="351" y="13"/>
                    <a:pt x="350" y="13"/>
                    <a:pt x="349" y="13"/>
                  </a:cubicBezTo>
                  <a:cubicBezTo>
                    <a:pt x="348" y="13"/>
                    <a:pt x="347" y="13"/>
                    <a:pt x="347" y="13"/>
                  </a:cubicBezTo>
                  <a:cubicBezTo>
                    <a:pt x="345" y="14"/>
                    <a:pt x="344" y="14"/>
                    <a:pt x="343" y="14"/>
                  </a:cubicBezTo>
                  <a:cubicBezTo>
                    <a:pt x="340" y="14"/>
                    <a:pt x="338" y="14"/>
                    <a:pt x="335" y="15"/>
                  </a:cubicBezTo>
                  <a:cubicBezTo>
                    <a:pt x="335" y="15"/>
                    <a:pt x="335" y="15"/>
                    <a:pt x="335" y="15"/>
                  </a:cubicBezTo>
                  <a:cubicBezTo>
                    <a:pt x="335" y="15"/>
                    <a:pt x="335" y="15"/>
                    <a:pt x="335" y="15"/>
                  </a:cubicBezTo>
                  <a:cubicBezTo>
                    <a:pt x="332" y="15"/>
                    <a:pt x="329" y="15"/>
                    <a:pt x="326" y="16"/>
                  </a:cubicBezTo>
                  <a:cubicBezTo>
                    <a:pt x="325" y="16"/>
                    <a:pt x="324" y="16"/>
                    <a:pt x="323" y="16"/>
                  </a:cubicBezTo>
                  <a:cubicBezTo>
                    <a:pt x="322" y="16"/>
                    <a:pt x="321" y="16"/>
                    <a:pt x="320" y="16"/>
                  </a:cubicBezTo>
                  <a:cubicBezTo>
                    <a:pt x="320" y="16"/>
                    <a:pt x="319" y="16"/>
                    <a:pt x="318" y="17"/>
                  </a:cubicBezTo>
                  <a:cubicBezTo>
                    <a:pt x="315" y="17"/>
                    <a:pt x="312" y="17"/>
                    <a:pt x="310" y="18"/>
                  </a:cubicBezTo>
                  <a:cubicBezTo>
                    <a:pt x="309" y="18"/>
                    <a:pt x="309" y="18"/>
                    <a:pt x="309" y="18"/>
                  </a:cubicBezTo>
                  <a:cubicBezTo>
                    <a:pt x="308" y="18"/>
                    <a:pt x="308" y="18"/>
                    <a:pt x="307" y="18"/>
                  </a:cubicBezTo>
                  <a:cubicBezTo>
                    <a:pt x="305" y="18"/>
                    <a:pt x="303" y="18"/>
                    <a:pt x="301" y="19"/>
                  </a:cubicBezTo>
                  <a:cubicBezTo>
                    <a:pt x="300" y="19"/>
                    <a:pt x="299" y="19"/>
                    <a:pt x="298" y="19"/>
                  </a:cubicBezTo>
                  <a:cubicBezTo>
                    <a:pt x="296" y="19"/>
                    <a:pt x="295" y="19"/>
                    <a:pt x="294" y="20"/>
                  </a:cubicBezTo>
                  <a:cubicBezTo>
                    <a:pt x="293" y="20"/>
                    <a:pt x="292" y="20"/>
                    <a:pt x="291" y="20"/>
                  </a:cubicBezTo>
                  <a:cubicBezTo>
                    <a:pt x="289" y="20"/>
                    <a:pt x="287" y="20"/>
                    <a:pt x="285" y="21"/>
                  </a:cubicBezTo>
                  <a:cubicBezTo>
                    <a:pt x="284" y="21"/>
                    <a:pt x="283" y="21"/>
                    <a:pt x="282" y="21"/>
                  </a:cubicBezTo>
                  <a:cubicBezTo>
                    <a:pt x="282" y="21"/>
                    <a:pt x="281" y="21"/>
                    <a:pt x="281" y="21"/>
                  </a:cubicBezTo>
                  <a:cubicBezTo>
                    <a:pt x="277" y="22"/>
                    <a:pt x="274" y="22"/>
                    <a:pt x="271" y="23"/>
                  </a:cubicBezTo>
                  <a:cubicBezTo>
                    <a:pt x="271" y="23"/>
                    <a:pt x="271" y="23"/>
                    <a:pt x="271" y="23"/>
                  </a:cubicBezTo>
                  <a:cubicBezTo>
                    <a:pt x="270" y="23"/>
                    <a:pt x="270" y="23"/>
                    <a:pt x="270" y="23"/>
                  </a:cubicBezTo>
                  <a:cubicBezTo>
                    <a:pt x="266" y="23"/>
                    <a:pt x="263" y="24"/>
                    <a:pt x="260" y="24"/>
                  </a:cubicBezTo>
                  <a:cubicBezTo>
                    <a:pt x="259" y="24"/>
                    <a:pt x="259" y="24"/>
                    <a:pt x="259" y="24"/>
                  </a:cubicBezTo>
                  <a:cubicBezTo>
                    <a:pt x="255" y="25"/>
                    <a:pt x="250" y="26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5" y="26"/>
                    <a:pt x="245" y="27"/>
                    <a:pt x="244" y="27"/>
                  </a:cubicBezTo>
                  <a:cubicBezTo>
                    <a:pt x="241" y="27"/>
                    <a:pt x="237" y="28"/>
                    <a:pt x="233" y="28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1" y="29"/>
                    <a:pt x="231" y="29"/>
                    <a:pt x="230" y="29"/>
                  </a:cubicBezTo>
                  <a:cubicBezTo>
                    <a:pt x="226" y="30"/>
                    <a:pt x="222" y="30"/>
                    <a:pt x="218" y="31"/>
                  </a:cubicBezTo>
                  <a:cubicBezTo>
                    <a:pt x="217" y="31"/>
                    <a:pt x="216" y="31"/>
                    <a:pt x="215" y="32"/>
                  </a:cubicBezTo>
                  <a:cubicBezTo>
                    <a:pt x="215" y="32"/>
                    <a:pt x="214" y="32"/>
                    <a:pt x="213" y="32"/>
                  </a:cubicBezTo>
                  <a:cubicBezTo>
                    <a:pt x="212" y="32"/>
                    <a:pt x="211" y="32"/>
                    <a:pt x="209" y="33"/>
                  </a:cubicBezTo>
                  <a:cubicBezTo>
                    <a:pt x="207" y="33"/>
                    <a:pt x="205" y="33"/>
                    <a:pt x="203" y="34"/>
                  </a:cubicBezTo>
                  <a:cubicBezTo>
                    <a:pt x="201" y="34"/>
                    <a:pt x="200" y="34"/>
                    <a:pt x="199" y="35"/>
                  </a:cubicBezTo>
                  <a:cubicBezTo>
                    <a:pt x="198" y="35"/>
                    <a:pt x="197" y="35"/>
                    <a:pt x="196" y="35"/>
                  </a:cubicBezTo>
                  <a:cubicBezTo>
                    <a:pt x="195" y="35"/>
                    <a:pt x="194" y="36"/>
                    <a:pt x="193" y="36"/>
                  </a:cubicBezTo>
                  <a:cubicBezTo>
                    <a:pt x="191" y="36"/>
                    <a:pt x="189" y="37"/>
                    <a:pt x="187" y="37"/>
                  </a:cubicBezTo>
                  <a:cubicBezTo>
                    <a:pt x="185" y="37"/>
                    <a:pt x="184" y="38"/>
                    <a:pt x="182" y="38"/>
                  </a:cubicBezTo>
                  <a:cubicBezTo>
                    <a:pt x="180" y="38"/>
                    <a:pt x="178" y="39"/>
                    <a:pt x="176" y="39"/>
                  </a:cubicBezTo>
                  <a:cubicBezTo>
                    <a:pt x="175" y="39"/>
                    <a:pt x="174" y="40"/>
                    <a:pt x="173" y="40"/>
                  </a:cubicBezTo>
                  <a:cubicBezTo>
                    <a:pt x="173" y="40"/>
                    <a:pt x="172" y="40"/>
                    <a:pt x="171" y="40"/>
                  </a:cubicBezTo>
                  <a:cubicBezTo>
                    <a:pt x="169" y="41"/>
                    <a:pt x="166" y="41"/>
                    <a:pt x="164" y="42"/>
                  </a:cubicBezTo>
                  <a:cubicBezTo>
                    <a:pt x="163" y="42"/>
                    <a:pt x="161" y="42"/>
                    <a:pt x="160" y="43"/>
                  </a:cubicBezTo>
                  <a:cubicBezTo>
                    <a:pt x="157" y="43"/>
                    <a:pt x="154" y="44"/>
                    <a:pt x="151" y="45"/>
                  </a:cubicBezTo>
                  <a:cubicBezTo>
                    <a:pt x="151" y="45"/>
                    <a:pt x="150" y="45"/>
                    <a:pt x="149" y="45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5" y="46"/>
                    <a:pt x="142" y="47"/>
                    <a:pt x="138" y="48"/>
                  </a:cubicBezTo>
                  <a:cubicBezTo>
                    <a:pt x="137" y="48"/>
                    <a:pt x="136" y="49"/>
                    <a:pt x="135" y="49"/>
                  </a:cubicBezTo>
                  <a:cubicBezTo>
                    <a:pt x="133" y="50"/>
                    <a:pt x="130" y="50"/>
                    <a:pt x="127" y="51"/>
                  </a:cubicBezTo>
                  <a:cubicBezTo>
                    <a:pt x="127" y="51"/>
                    <a:pt x="126" y="51"/>
                    <a:pt x="126" y="51"/>
                  </a:cubicBezTo>
                  <a:cubicBezTo>
                    <a:pt x="125" y="52"/>
                    <a:pt x="125" y="52"/>
                    <a:pt x="124" y="52"/>
                  </a:cubicBezTo>
                  <a:cubicBezTo>
                    <a:pt x="122" y="53"/>
                    <a:pt x="119" y="53"/>
                    <a:pt x="117" y="54"/>
                  </a:cubicBezTo>
                  <a:cubicBezTo>
                    <a:pt x="116" y="54"/>
                    <a:pt x="115" y="54"/>
                    <a:pt x="114" y="55"/>
                  </a:cubicBezTo>
                  <a:cubicBezTo>
                    <a:pt x="111" y="56"/>
                    <a:pt x="109" y="56"/>
                    <a:pt x="106" y="57"/>
                  </a:cubicBezTo>
                  <a:cubicBezTo>
                    <a:pt x="106" y="57"/>
                    <a:pt x="105" y="57"/>
                    <a:pt x="105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1" y="59"/>
                    <a:pt x="98" y="60"/>
                    <a:pt x="96" y="60"/>
                  </a:cubicBezTo>
                  <a:cubicBezTo>
                    <a:pt x="95" y="61"/>
                    <a:pt x="94" y="61"/>
                    <a:pt x="93" y="61"/>
                  </a:cubicBezTo>
                  <a:cubicBezTo>
                    <a:pt x="91" y="62"/>
                    <a:pt x="89" y="63"/>
                    <a:pt x="87" y="63"/>
                  </a:cubicBezTo>
                  <a:cubicBezTo>
                    <a:pt x="86" y="64"/>
                    <a:pt x="86" y="64"/>
                    <a:pt x="86" y="64"/>
                  </a:cubicBezTo>
                  <a:cubicBezTo>
                    <a:pt x="86" y="64"/>
                    <a:pt x="85" y="64"/>
                    <a:pt x="84" y="65"/>
                  </a:cubicBezTo>
                  <a:cubicBezTo>
                    <a:pt x="82" y="65"/>
                    <a:pt x="81" y="66"/>
                    <a:pt x="79" y="66"/>
                  </a:cubicBezTo>
                  <a:cubicBezTo>
                    <a:pt x="78" y="67"/>
                    <a:pt x="77" y="67"/>
                    <a:pt x="76" y="67"/>
                  </a:cubicBezTo>
                  <a:cubicBezTo>
                    <a:pt x="75" y="68"/>
                    <a:pt x="73" y="69"/>
                    <a:pt x="72" y="69"/>
                  </a:cubicBezTo>
                  <a:cubicBezTo>
                    <a:pt x="71" y="69"/>
                    <a:pt x="71" y="69"/>
                    <a:pt x="70" y="70"/>
                  </a:cubicBezTo>
                  <a:cubicBezTo>
                    <a:pt x="70" y="70"/>
                    <a:pt x="69" y="70"/>
                    <a:pt x="68" y="70"/>
                  </a:cubicBezTo>
                  <a:cubicBezTo>
                    <a:pt x="67" y="71"/>
                    <a:pt x="66" y="71"/>
                    <a:pt x="65" y="72"/>
                  </a:cubicBezTo>
                  <a:cubicBezTo>
                    <a:pt x="64" y="72"/>
                    <a:pt x="63" y="73"/>
                    <a:pt x="62" y="73"/>
                  </a:cubicBezTo>
                  <a:cubicBezTo>
                    <a:pt x="60" y="74"/>
                    <a:pt x="59" y="74"/>
                    <a:pt x="58" y="75"/>
                  </a:cubicBezTo>
                  <a:cubicBezTo>
                    <a:pt x="58" y="75"/>
                    <a:pt x="57" y="75"/>
                    <a:pt x="57" y="75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4" y="77"/>
                    <a:pt x="53" y="77"/>
                    <a:pt x="52" y="78"/>
                  </a:cubicBezTo>
                  <a:cubicBezTo>
                    <a:pt x="51" y="78"/>
                    <a:pt x="50" y="79"/>
                    <a:pt x="49" y="79"/>
                  </a:cubicBezTo>
                  <a:cubicBezTo>
                    <a:pt x="48" y="80"/>
                    <a:pt x="47" y="80"/>
                    <a:pt x="46" y="80"/>
                  </a:cubicBezTo>
                  <a:cubicBezTo>
                    <a:pt x="46" y="81"/>
                    <a:pt x="45" y="81"/>
                    <a:pt x="45" y="81"/>
                  </a:cubicBezTo>
                  <a:cubicBezTo>
                    <a:pt x="44" y="81"/>
                    <a:pt x="44" y="82"/>
                    <a:pt x="43" y="82"/>
                  </a:cubicBezTo>
                  <a:cubicBezTo>
                    <a:pt x="42" y="82"/>
                    <a:pt x="41" y="83"/>
                    <a:pt x="41" y="83"/>
                  </a:cubicBezTo>
                  <a:cubicBezTo>
                    <a:pt x="40" y="84"/>
                    <a:pt x="39" y="84"/>
                    <a:pt x="38" y="85"/>
                  </a:cubicBezTo>
                  <a:cubicBezTo>
                    <a:pt x="37" y="85"/>
                    <a:pt x="36" y="86"/>
                    <a:pt x="35" y="86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4" y="87"/>
                    <a:pt x="33" y="88"/>
                    <a:pt x="33" y="88"/>
                  </a:cubicBezTo>
                  <a:cubicBezTo>
                    <a:pt x="32" y="88"/>
                    <a:pt x="31" y="89"/>
                    <a:pt x="31" y="89"/>
                  </a:cubicBezTo>
                  <a:cubicBezTo>
                    <a:pt x="30" y="90"/>
                    <a:pt x="29" y="90"/>
                    <a:pt x="28" y="91"/>
                  </a:cubicBezTo>
                  <a:cubicBezTo>
                    <a:pt x="28" y="91"/>
                    <a:pt x="27" y="92"/>
                    <a:pt x="26" y="92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3"/>
                    <a:pt x="24" y="93"/>
                    <a:pt x="24" y="94"/>
                  </a:cubicBezTo>
                  <a:cubicBezTo>
                    <a:pt x="23" y="94"/>
                    <a:pt x="23" y="95"/>
                    <a:pt x="22" y="95"/>
                  </a:cubicBezTo>
                  <a:cubicBezTo>
                    <a:pt x="21" y="96"/>
                    <a:pt x="21" y="96"/>
                    <a:pt x="20" y="97"/>
                  </a:cubicBezTo>
                  <a:cubicBezTo>
                    <a:pt x="19" y="97"/>
                    <a:pt x="19" y="98"/>
                    <a:pt x="18" y="98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7" y="99"/>
                    <a:pt x="17" y="99"/>
                    <a:pt x="16" y="100"/>
                  </a:cubicBezTo>
                  <a:cubicBezTo>
                    <a:pt x="16" y="100"/>
                    <a:pt x="15" y="101"/>
                    <a:pt x="15" y="101"/>
                  </a:cubicBezTo>
                  <a:cubicBezTo>
                    <a:pt x="14" y="102"/>
                    <a:pt x="14" y="103"/>
                    <a:pt x="13" y="103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1" y="105"/>
                    <a:pt x="10" y="106"/>
                    <a:pt x="9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8" y="109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1"/>
                    <a:pt x="6" y="111"/>
                    <a:pt x="6" y="112"/>
                  </a:cubicBezTo>
                  <a:cubicBezTo>
                    <a:pt x="6" y="112"/>
                    <a:pt x="5" y="113"/>
                    <a:pt x="5" y="114"/>
                  </a:cubicBezTo>
                  <a:cubicBezTo>
                    <a:pt x="5" y="114"/>
                    <a:pt x="4" y="114"/>
                    <a:pt x="4" y="115"/>
                  </a:cubicBezTo>
                  <a:cubicBezTo>
                    <a:pt x="4" y="115"/>
                    <a:pt x="4" y="116"/>
                    <a:pt x="3" y="116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" y="119"/>
                    <a:pt x="2" y="119"/>
                    <a:pt x="2" y="120"/>
                  </a:cubicBezTo>
                  <a:cubicBezTo>
                    <a:pt x="2" y="120"/>
                    <a:pt x="2" y="121"/>
                    <a:pt x="1" y="121"/>
                  </a:cubicBezTo>
                  <a:cubicBezTo>
                    <a:pt x="1" y="122"/>
                    <a:pt x="1" y="122"/>
                    <a:pt x="1" y="123"/>
                  </a:cubicBezTo>
                  <a:cubicBezTo>
                    <a:pt x="1" y="123"/>
                    <a:pt x="1" y="123"/>
                    <a:pt x="1" y="123"/>
                  </a:cubicBezTo>
                  <a:cubicBezTo>
                    <a:pt x="1" y="124"/>
                    <a:pt x="0" y="126"/>
                    <a:pt x="0" y="127"/>
                  </a:cubicBezTo>
                  <a:cubicBezTo>
                    <a:pt x="0" y="128"/>
                    <a:pt x="0" y="128"/>
                    <a:pt x="0" y="12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0"/>
                    <a:pt x="0" y="131"/>
                    <a:pt x="0" y="131"/>
                  </a:cubicBezTo>
                  <a:cubicBezTo>
                    <a:pt x="0" y="132"/>
                    <a:pt x="1" y="133"/>
                    <a:pt x="1" y="133"/>
                  </a:cubicBezTo>
                  <a:cubicBezTo>
                    <a:pt x="1" y="134"/>
                    <a:pt x="1" y="135"/>
                    <a:pt x="1" y="135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1" y="136"/>
                    <a:pt x="1" y="137"/>
                    <a:pt x="2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2" y="139"/>
                    <a:pt x="3" y="141"/>
                    <a:pt x="3" y="142"/>
                  </a:cubicBezTo>
                  <a:cubicBezTo>
                    <a:pt x="18" y="174"/>
                    <a:pt x="33" y="207"/>
                    <a:pt x="48" y="239"/>
                  </a:cubicBezTo>
                  <a:cubicBezTo>
                    <a:pt x="81" y="311"/>
                    <a:pt x="114" y="383"/>
                    <a:pt x="147" y="454"/>
                  </a:cubicBezTo>
                  <a:cubicBezTo>
                    <a:pt x="147" y="455"/>
                    <a:pt x="147" y="455"/>
                    <a:pt x="147" y="455"/>
                  </a:cubicBezTo>
                  <a:cubicBezTo>
                    <a:pt x="147" y="456"/>
                    <a:pt x="147" y="456"/>
                    <a:pt x="147" y="456"/>
                  </a:cubicBezTo>
                  <a:cubicBezTo>
                    <a:pt x="148" y="457"/>
                    <a:pt x="148" y="457"/>
                    <a:pt x="148" y="457"/>
                  </a:cubicBezTo>
                  <a:cubicBezTo>
                    <a:pt x="148" y="458"/>
                    <a:pt x="148" y="458"/>
                    <a:pt x="148" y="458"/>
                  </a:cubicBezTo>
                  <a:cubicBezTo>
                    <a:pt x="149" y="458"/>
                    <a:pt x="149" y="458"/>
                    <a:pt x="149" y="458"/>
                  </a:cubicBezTo>
                  <a:cubicBezTo>
                    <a:pt x="149" y="459"/>
                    <a:pt x="149" y="459"/>
                    <a:pt x="150" y="460"/>
                  </a:cubicBezTo>
                  <a:cubicBezTo>
                    <a:pt x="150" y="460"/>
                    <a:pt x="150" y="460"/>
                    <a:pt x="150" y="460"/>
                  </a:cubicBezTo>
                  <a:cubicBezTo>
                    <a:pt x="151" y="461"/>
                    <a:pt x="151" y="461"/>
                    <a:pt x="151" y="461"/>
                  </a:cubicBezTo>
                  <a:cubicBezTo>
                    <a:pt x="151" y="461"/>
                    <a:pt x="151" y="462"/>
                    <a:pt x="152" y="462"/>
                  </a:cubicBezTo>
                  <a:cubicBezTo>
                    <a:pt x="152" y="463"/>
                    <a:pt x="152" y="463"/>
                    <a:pt x="152" y="463"/>
                  </a:cubicBezTo>
                  <a:cubicBezTo>
                    <a:pt x="152" y="463"/>
                    <a:pt x="152" y="463"/>
                    <a:pt x="152" y="463"/>
                  </a:cubicBezTo>
                  <a:cubicBezTo>
                    <a:pt x="153" y="463"/>
                    <a:pt x="153" y="463"/>
                    <a:pt x="153" y="463"/>
                  </a:cubicBezTo>
                  <a:cubicBezTo>
                    <a:pt x="153" y="464"/>
                    <a:pt x="154" y="464"/>
                    <a:pt x="154" y="465"/>
                  </a:cubicBezTo>
                  <a:cubicBezTo>
                    <a:pt x="155" y="465"/>
                    <a:pt x="155" y="465"/>
                    <a:pt x="155" y="465"/>
                  </a:cubicBezTo>
                  <a:cubicBezTo>
                    <a:pt x="155" y="466"/>
                    <a:pt x="155" y="466"/>
                    <a:pt x="155" y="466"/>
                  </a:cubicBezTo>
                  <a:cubicBezTo>
                    <a:pt x="155" y="466"/>
                    <a:pt x="155" y="466"/>
                    <a:pt x="155" y="466"/>
                  </a:cubicBezTo>
                  <a:cubicBezTo>
                    <a:pt x="156" y="466"/>
                    <a:pt x="156" y="466"/>
                    <a:pt x="156" y="466"/>
                  </a:cubicBezTo>
                  <a:cubicBezTo>
                    <a:pt x="156" y="466"/>
                    <a:pt x="156" y="467"/>
                    <a:pt x="157" y="467"/>
                  </a:cubicBezTo>
                  <a:cubicBezTo>
                    <a:pt x="157" y="468"/>
                    <a:pt x="157" y="468"/>
                    <a:pt x="157" y="468"/>
                  </a:cubicBezTo>
                  <a:cubicBezTo>
                    <a:pt x="158" y="468"/>
                    <a:pt x="158" y="468"/>
                    <a:pt x="158" y="468"/>
                  </a:cubicBezTo>
                  <a:cubicBezTo>
                    <a:pt x="159" y="469"/>
                    <a:pt x="159" y="469"/>
                    <a:pt x="159" y="469"/>
                  </a:cubicBezTo>
                  <a:cubicBezTo>
                    <a:pt x="159" y="469"/>
                    <a:pt x="160" y="470"/>
                    <a:pt x="160" y="470"/>
                  </a:cubicBezTo>
                  <a:cubicBezTo>
                    <a:pt x="161" y="471"/>
                    <a:pt x="161" y="471"/>
                    <a:pt x="161" y="471"/>
                  </a:cubicBezTo>
                  <a:cubicBezTo>
                    <a:pt x="161" y="471"/>
                    <a:pt x="161" y="471"/>
                    <a:pt x="161" y="471"/>
                  </a:cubicBezTo>
                  <a:cubicBezTo>
                    <a:pt x="162" y="471"/>
                    <a:pt x="162" y="471"/>
                    <a:pt x="162" y="472"/>
                  </a:cubicBezTo>
                  <a:cubicBezTo>
                    <a:pt x="163" y="472"/>
                    <a:pt x="163" y="472"/>
                    <a:pt x="163" y="472"/>
                  </a:cubicBezTo>
                  <a:cubicBezTo>
                    <a:pt x="164" y="473"/>
                    <a:pt x="164" y="473"/>
                    <a:pt x="164" y="473"/>
                  </a:cubicBezTo>
                  <a:cubicBezTo>
                    <a:pt x="165" y="474"/>
                    <a:pt x="165" y="474"/>
                    <a:pt x="165" y="474"/>
                  </a:cubicBezTo>
                  <a:cubicBezTo>
                    <a:pt x="166" y="474"/>
                    <a:pt x="166" y="474"/>
                    <a:pt x="166" y="474"/>
                  </a:cubicBezTo>
                  <a:cubicBezTo>
                    <a:pt x="167" y="475"/>
                    <a:pt x="167" y="475"/>
                    <a:pt x="167" y="475"/>
                  </a:cubicBezTo>
                  <a:cubicBezTo>
                    <a:pt x="167" y="475"/>
                    <a:pt x="168" y="475"/>
                    <a:pt x="168" y="476"/>
                  </a:cubicBezTo>
                  <a:cubicBezTo>
                    <a:pt x="169" y="476"/>
                    <a:pt x="169" y="476"/>
                    <a:pt x="170" y="477"/>
                  </a:cubicBezTo>
                  <a:cubicBezTo>
                    <a:pt x="170" y="477"/>
                    <a:pt x="170" y="477"/>
                    <a:pt x="170" y="477"/>
                  </a:cubicBezTo>
                  <a:cubicBezTo>
                    <a:pt x="171" y="477"/>
                    <a:pt x="171" y="477"/>
                    <a:pt x="172" y="478"/>
                  </a:cubicBezTo>
                  <a:cubicBezTo>
                    <a:pt x="172" y="478"/>
                    <a:pt x="173" y="479"/>
                    <a:pt x="174" y="479"/>
                  </a:cubicBezTo>
                  <a:cubicBezTo>
                    <a:pt x="175" y="479"/>
                    <a:pt x="175" y="479"/>
                    <a:pt x="175" y="479"/>
                  </a:cubicBezTo>
                  <a:cubicBezTo>
                    <a:pt x="176" y="480"/>
                    <a:pt x="176" y="480"/>
                    <a:pt x="176" y="480"/>
                  </a:cubicBezTo>
                  <a:cubicBezTo>
                    <a:pt x="176" y="480"/>
                    <a:pt x="176" y="480"/>
                    <a:pt x="176" y="480"/>
                  </a:cubicBezTo>
                  <a:cubicBezTo>
                    <a:pt x="176" y="480"/>
                    <a:pt x="177" y="481"/>
                    <a:pt x="178" y="481"/>
                  </a:cubicBezTo>
                  <a:cubicBezTo>
                    <a:pt x="178" y="481"/>
                    <a:pt x="179" y="482"/>
                    <a:pt x="179" y="482"/>
                  </a:cubicBezTo>
                  <a:cubicBezTo>
                    <a:pt x="180" y="482"/>
                    <a:pt x="180" y="482"/>
                    <a:pt x="180" y="482"/>
                  </a:cubicBezTo>
                  <a:cubicBezTo>
                    <a:pt x="181" y="483"/>
                    <a:pt x="182" y="483"/>
                    <a:pt x="182" y="483"/>
                  </a:cubicBezTo>
                  <a:cubicBezTo>
                    <a:pt x="183" y="484"/>
                    <a:pt x="184" y="484"/>
                    <a:pt x="184" y="484"/>
                  </a:cubicBezTo>
                  <a:cubicBezTo>
                    <a:pt x="184" y="484"/>
                    <a:pt x="184" y="484"/>
                    <a:pt x="184" y="484"/>
                  </a:cubicBezTo>
                  <a:cubicBezTo>
                    <a:pt x="185" y="485"/>
                    <a:pt x="185" y="485"/>
                    <a:pt x="185" y="485"/>
                  </a:cubicBezTo>
                  <a:cubicBezTo>
                    <a:pt x="186" y="485"/>
                    <a:pt x="186" y="485"/>
                    <a:pt x="187" y="486"/>
                  </a:cubicBezTo>
                  <a:cubicBezTo>
                    <a:pt x="187" y="486"/>
                    <a:pt x="188" y="486"/>
                    <a:pt x="189" y="486"/>
                  </a:cubicBezTo>
                  <a:cubicBezTo>
                    <a:pt x="189" y="487"/>
                    <a:pt x="190" y="487"/>
                    <a:pt x="190" y="487"/>
                  </a:cubicBezTo>
                  <a:cubicBezTo>
                    <a:pt x="191" y="487"/>
                    <a:pt x="191" y="488"/>
                    <a:pt x="192" y="488"/>
                  </a:cubicBezTo>
                  <a:cubicBezTo>
                    <a:pt x="192" y="488"/>
                    <a:pt x="193" y="488"/>
                    <a:pt x="194" y="489"/>
                  </a:cubicBezTo>
                  <a:cubicBezTo>
                    <a:pt x="194" y="489"/>
                    <a:pt x="195" y="489"/>
                    <a:pt x="196" y="489"/>
                  </a:cubicBezTo>
                  <a:cubicBezTo>
                    <a:pt x="196" y="490"/>
                    <a:pt x="197" y="490"/>
                    <a:pt x="197" y="490"/>
                  </a:cubicBezTo>
                  <a:cubicBezTo>
                    <a:pt x="198" y="490"/>
                    <a:pt x="198" y="490"/>
                    <a:pt x="199" y="491"/>
                  </a:cubicBezTo>
                  <a:cubicBezTo>
                    <a:pt x="200" y="491"/>
                    <a:pt x="201" y="491"/>
                    <a:pt x="202" y="492"/>
                  </a:cubicBezTo>
                  <a:cubicBezTo>
                    <a:pt x="202" y="492"/>
                    <a:pt x="202" y="492"/>
                    <a:pt x="202" y="492"/>
                  </a:cubicBezTo>
                  <a:cubicBezTo>
                    <a:pt x="203" y="492"/>
                    <a:pt x="203" y="492"/>
                    <a:pt x="203" y="492"/>
                  </a:cubicBezTo>
                  <a:cubicBezTo>
                    <a:pt x="204" y="493"/>
                    <a:pt x="204" y="493"/>
                    <a:pt x="204" y="493"/>
                  </a:cubicBezTo>
                  <a:cubicBezTo>
                    <a:pt x="205" y="493"/>
                    <a:pt x="206" y="493"/>
                    <a:pt x="207" y="494"/>
                  </a:cubicBezTo>
                  <a:cubicBezTo>
                    <a:pt x="208" y="494"/>
                    <a:pt x="209" y="494"/>
                    <a:pt x="209" y="495"/>
                  </a:cubicBezTo>
                  <a:cubicBezTo>
                    <a:pt x="210" y="495"/>
                    <a:pt x="210" y="495"/>
                    <a:pt x="210" y="495"/>
                  </a:cubicBezTo>
                  <a:cubicBezTo>
                    <a:pt x="210" y="495"/>
                    <a:pt x="210" y="495"/>
                    <a:pt x="210" y="495"/>
                  </a:cubicBezTo>
                  <a:cubicBezTo>
                    <a:pt x="211" y="495"/>
                    <a:pt x="212" y="496"/>
                    <a:pt x="213" y="496"/>
                  </a:cubicBezTo>
                  <a:cubicBezTo>
                    <a:pt x="214" y="496"/>
                    <a:pt x="215" y="496"/>
                    <a:pt x="215" y="497"/>
                  </a:cubicBezTo>
                  <a:cubicBezTo>
                    <a:pt x="216" y="497"/>
                    <a:pt x="216" y="497"/>
                    <a:pt x="216" y="497"/>
                  </a:cubicBezTo>
                  <a:cubicBezTo>
                    <a:pt x="217" y="497"/>
                    <a:pt x="218" y="497"/>
                    <a:pt x="218" y="498"/>
                  </a:cubicBezTo>
                  <a:cubicBezTo>
                    <a:pt x="219" y="498"/>
                    <a:pt x="220" y="498"/>
                    <a:pt x="221" y="499"/>
                  </a:cubicBezTo>
                  <a:cubicBezTo>
                    <a:pt x="222" y="499"/>
                    <a:pt x="222" y="499"/>
                    <a:pt x="222" y="499"/>
                  </a:cubicBezTo>
                  <a:cubicBezTo>
                    <a:pt x="223" y="499"/>
                    <a:pt x="223" y="499"/>
                    <a:pt x="223" y="499"/>
                  </a:cubicBezTo>
                  <a:cubicBezTo>
                    <a:pt x="224" y="499"/>
                    <a:pt x="225" y="500"/>
                    <a:pt x="225" y="500"/>
                  </a:cubicBezTo>
                  <a:cubicBezTo>
                    <a:pt x="226" y="500"/>
                    <a:pt x="227" y="500"/>
                    <a:pt x="227" y="501"/>
                  </a:cubicBezTo>
                  <a:cubicBezTo>
                    <a:pt x="228" y="501"/>
                    <a:pt x="229" y="501"/>
                    <a:pt x="230" y="501"/>
                  </a:cubicBezTo>
                  <a:cubicBezTo>
                    <a:pt x="230" y="501"/>
                    <a:pt x="230" y="501"/>
                    <a:pt x="230" y="501"/>
                  </a:cubicBezTo>
                  <a:cubicBezTo>
                    <a:pt x="231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4" y="502"/>
                  </a:cubicBezTo>
                  <a:cubicBezTo>
                    <a:pt x="235" y="503"/>
                    <a:pt x="235" y="503"/>
                    <a:pt x="236" y="503"/>
                  </a:cubicBezTo>
                  <a:cubicBezTo>
                    <a:pt x="237" y="503"/>
                    <a:pt x="239" y="504"/>
                    <a:pt x="240" y="504"/>
                  </a:cubicBezTo>
                  <a:cubicBezTo>
                    <a:pt x="240" y="504"/>
                    <a:pt x="240" y="504"/>
                    <a:pt x="240" y="504"/>
                  </a:cubicBezTo>
                  <a:cubicBezTo>
                    <a:pt x="241" y="505"/>
                    <a:pt x="242" y="505"/>
                    <a:pt x="243" y="505"/>
                  </a:cubicBezTo>
                  <a:cubicBezTo>
                    <a:pt x="244" y="505"/>
                    <a:pt x="246" y="506"/>
                    <a:pt x="247" y="506"/>
                  </a:cubicBezTo>
                  <a:cubicBezTo>
                    <a:pt x="247" y="506"/>
                    <a:pt x="248" y="506"/>
                    <a:pt x="248" y="506"/>
                  </a:cubicBezTo>
                  <a:cubicBezTo>
                    <a:pt x="249" y="507"/>
                    <a:pt x="249" y="507"/>
                    <a:pt x="249" y="507"/>
                  </a:cubicBezTo>
                  <a:cubicBezTo>
                    <a:pt x="250" y="507"/>
                    <a:pt x="250" y="507"/>
                    <a:pt x="250" y="507"/>
                  </a:cubicBezTo>
                  <a:cubicBezTo>
                    <a:pt x="251" y="507"/>
                    <a:pt x="253" y="508"/>
                    <a:pt x="254" y="508"/>
                  </a:cubicBezTo>
                  <a:cubicBezTo>
                    <a:pt x="255" y="508"/>
                    <a:pt x="255" y="508"/>
                    <a:pt x="256" y="508"/>
                  </a:cubicBezTo>
                  <a:cubicBezTo>
                    <a:pt x="257" y="509"/>
                    <a:pt x="257" y="509"/>
                    <a:pt x="258" y="509"/>
                  </a:cubicBezTo>
                  <a:cubicBezTo>
                    <a:pt x="259" y="509"/>
                    <a:pt x="260" y="509"/>
                    <a:pt x="261" y="510"/>
                  </a:cubicBezTo>
                  <a:cubicBezTo>
                    <a:pt x="262" y="510"/>
                    <a:pt x="263" y="510"/>
                    <a:pt x="264" y="510"/>
                  </a:cubicBezTo>
                  <a:cubicBezTo>
                    <a:pt x="265" y="510"/>
                    <a:pt x="265" y="511"/>
                    <a:pt x="266" y="511"/>
                  </a:cubicBezTo>
                  <a:cubicBezTo>
                    <a:pt x="267" y="511"/>
                    <a:pt x="268" y="511"/>
                    <a:pt x="268" y="511"/>
                  </a:cubicBezTo>
                  <a:cubicBezTo>
                    <a:pt x="270" y="512"/>
                    <a:pt x="271" y="512"/>
                    <a:pt x="272" y="512"/>
                  </a:cubicBezTo>
                  <a:cubicBezTo>
                    <a:pt x="273" y="512"/>
                    <a:pt x="273" y="512"/>
                    <a:pt x="274" y="513"/>
                  </a:cubicBezTo>
                  <a:cubicBezTo>
                    <a:pt x="275" y="513"/>
                    <a:pt x="276" y="513"/>
                    <a:pt x="276" y="513"/>
                  </a:cubicBezTo>
                  <a:cubicBezTo>
                    <a:pt x="277" y="513"/>
                    <a:pt x="278" y="514"/>
                    <a:pt x="280" y="514"/>
                  </a:cubicBezTo>
                  <a:cubicBezTo>
                    <a:pt x="281" y="514"/>
                    <a:pt x="282" y="514"/>
                    <a:pt x="283" y="514"/>
                  </a:cubicBezTo>
                  <a:cubicBezTo>
                    <a:pt x="283" y="515"/>
                    <a:pt x="284" y="515"/>
                    <a:pt x="285" y="515"/>
                  </a:cubicBezTo>
                  <a:cubicBezTo>
                    <a:pt x="286" y="515"/>
                    <a:pt x="287" y="515"/>
                    <a:pt x="287" y="515"/>
                  </a:cubicBezTo>
                  <a:cubicBezTo>
                    <a:pt x="289" y="516"/>
                    <a:pt x="290" y="516"/>
                    <a:pt x="292" y="516"/>
                  </a:cubicBezTo>
                  <a:cubicBezTo>
                    <a:pt x="292" y="516"/>
                    <a:pt x="293" y="517"/>
                    <a:pt x="294" y="517"/>
                  </a:cubicBezTo>
                  <a:cubicBezTo>
                    <a:pt x="295" y="517"/>
                    <a:pt x="295" y="517"/>
                    <a:pt x="295" y="517"/>
                  </a:cubicBezTo>
                  <a:cubicBezTo>
                    <a:pt x="297" y="517"/>
                    <a:pt x="298" y="518"/>
                    <a:pt x="300" y="518"/>
                  </a:cubicBezTo>
                  <a:cubicBezTo>
                    <a:pt x="301" y="518"/>
                    <a:pt x="302" y="518"/>
                    <a:pt x="303" y="518"/>
                  </a:cubicBezTo>
                  <a:cubicBezTo>
                    <a:pt x="304" y="519"/>
                    <a:pt x="304" y="519"/>
                    <a:pt x="304" y="519"/>
                  </a:cubicBezTo>
                  <a:cubicBezTo>
                    <a:pt x="305" y="519"/>
                    <a:pt x="307" y="519"/>
                    <a:pt x="309" y="519"/>
                  </a:cubicBezTo>
                  <a:cubicBezTo>
                    <a:pt x="310" y="520"/>
                    <a:pt x="311" y="520"/>
                    <a:pt x="312" y="520"/>
                  </a:cubicBezTo>
                  <a:cubicBezTo>
                    <a:pt x="312" y="520"/>
                    <a:pt x="313" y="520"/>
                    <a:pt x="313" y="520"/>
                  </a:cubicBezTo>
                  <a:cubicBezTo>
                    <a:pt x="314" y="520"/>
                    <a:pt x="315" y="521"/>
                    <a:pt x="316" y="521"/>
                  </a:cubicBezTo>
                  <a:cubicBezTo>
                    <a:pt x="317" y="521"/>
                    <a:pt x="318" y="521"/>
                    <a:pt x="318" y="521"/>
                  </a:cubicBezTo>
                  <a:cubicBezTo>
                    <a:pt x="319" y="521"/>
                    <a:pt x="320" y="521"/>
                    <a:pt x="320" y="522"/>
                  </a:cubicBezTo>
                  <a:cubicBezTo>
                    <a:pt x="321" y="522"/>
                    <a:pt x="322" y="522"/>
                    <a:pt x="323" y="522"/>
                  </a:cubicBezTo>
                  <a:cubicBezTo>
                    <a:pt x="324" y="522"/>
                    <a:pt x="325" y="522"/>
                    <a:pt x="326" y="523"/>
                  </a:cubicBezTo>
                  <a:cubicBezTo>
                    <a:pt x="327" y="523"/>
                    <a:pt x="328" y="523"/>
                    <a:pt x="329" y="523"/>
                  </a:cubicBezTo>
                  <a:cubicBezTo>
                    <a:pt x="330" y="523"/>
                    <a:pt x="331" y="523"/>
                    <a:pt x="332" y="523"/>
                  </a:cubicBezTo>
                  <a:cubicBezTo>
                    <a:pt x="333" y="524"/>
                    <a:pt x="333" y="524"/>
                    <a:pt x="333" y="524"/>
                  </a:cubicBezTo>
                  <a:cubicBezTo>
                    <a:pt x="334" y="524"/>
                    <a:pt x="335" y="524"/>
                    <a:pt x="336" y="524"/>
                  </a:cubicBezTo>
                  <a:cubicBezTo>
                    <a:pt x="337" y="524"/>
                    <a:pt x="337" y="524"/>
                    <a:pt x="338" y="524"/>
                  </a:cubicBezTo>
                  <a:cubicBezTo>
                    <a:pt x="339" y="525"/>
                    <a:pt x="340" y="525"/>
                    <a:pt x="341" y="525"/>
                  </a:cubicBezTo>
                  <a:cubicBezTo>
                    <a:pt x="342" y="525"/>
                    <a:pt x="343" y="525"/>
                    <a:pt x="345" y="525"/>
                  </a:cubicBezTo>
                  <a:cubicBezTo>
                    <a:pt x="345" y="525"/>
                    <a:pt x="346" y="526"/>
                    <a:pt x="347" y="526"/>
                  </a:cubicBezTo>
                  <a:cubicBezTo>
                    <a:pt x="348" y="526"/>
                    <a:pt x="349" y="526"/>
                    <a:pt x="351" y="526"/>
                  </a:cubicBezTo>
                  <a:cubicBezTo>
                    <a:pt x="352" y="527"/>
                    <a:pt x="354" y="527"/>
                    <a:pt x="356" y="527"/>
                  </a:cubicBezTo>
                  <a:cubicBezTo>
                    <a:pt x="357" y="527"/>
                    <a:pt x="357" y="527"/>
                    <a:pt x="358" y="527"/>
                  </a:cubicBezTo>
                  <a:cubicBezTo>
                    <a:pt x="359" y="527"/>
                    <a:pt x="359" y="527"/>
                    <a:pt x="360" y="528"/>
                  </a:cubicBezTo>
                  <a:cubicBezTo>
                    <a:pt x="362" y="528"/>
                    <a:pt x="363" y="528"/>
                    <a:pt x="365" y="528"/>
                  </a:cubicBezTo>
                  <a:cubicBezTo>
                    <a:pt x="366" y="528"/>
                    <a:pt x="367" y="528"/>
                    <a:pt x="367" y="529"/>
                  </a:cubicBezTo>
                  <a:cubicBezTo>
                    <a:pt x="368" y="529"/>
                    <a:pt x="368" y="529"/>
                    <a:pt x="368" y="529"/>
                  </a:cubicBezTo>
                  <a:cubicBezTo>
                    <a:pt x="369" y="529"/>
                    <a:pt x="370" y="529"/>
                    <a:pt x="370" y="529"/>
                  </a:cubicBezTo>
                  <a:cubicBezTo>
                    <a:pt x="372" y="529"/>
                    <a:pt x="373" y="529"/>
                    <a:pt x="375" y="529"/>
                  </a:cubicBezTo>
                  <a:cubicBezTo>
                    <a:pt x="376" y="530"/>
                    <a:pt x="378" y="530"/>
                    <a:pt x="379" y="530"/>
                  </a:cubicBezTo>
                  <a:cubicBezTo>
                    <a:pt x="379" y="530"/>
                    <a:pt x="380" y="530"/>
                    <a:pt x="380" y="530"/>
                  </a:cubicBezTo>
                  <a:cubicBezTo>
                    <a:pt x="381" y="530"/>
                    <a:pt x="381" y="530"/>
                    <a:pt x="382" y="530"/>
                  </a:cubicBezTo>
                  <a:cubicBezTo>
                    <a:pt x="383" y="530"/>
                    <a:pt x="383" y="531"/>
                    <a:pt x="384" y="531"/>
                  </a:cubicBezTo>
                  <a:cubicBezTo>
                    <a:pt x="386" y="531"/>
                    <a:pt x="387" y="531"/>
                    <a:pt x="389" y="531"/>
                  </a:cubicBezTo>
                  <a:cubicBezTo>
                    <a:pt x="390" y="531"/>
                    <a:pt x="392" y="532"/>
                    <a:pt x="393" y="532"/>
                  </a:cubicBezTo>
                  <a:cubicBezTo>
                    <a:pt x="394" y="532"/>
                    <a:pt x="395" y="532"/>
                    <a:pt x="396" y="532"/>
                  </a:cubicBezTo>
                  <a:cubicBezTo>
                    <a:pt x="397" y="532"/>
                    <a:pt x="398" y="532"/>
                    <a:pt x="399" y="532"/>
                  </a:cubicBezTo>
                  <a:cubicBezTo>
                    <a:pt x="400" y="532"/>
                    <a:pt x="402" y="533"/>
                    <a:pt x="404" y="533"/>
                  </a:cubicBezTo>
                  <a:cubicBezTo>
                    <a:pt x="405" y="533"/>
                    <a:pt x="406" y="533"/>
                    <a:pt x="408" y="533"/>
                  </a:cubicBezTo>
                  <a:cubicBezTo>
                    <a:pt x="408" y="533"/>
                    <a:pt x="409" y="533"/>
                    <a:pt x="409" y="533"/>
                  </a:cubicBezTo>
                  <a:cubicBezTo>
                    <a:pt x="411" y="534"/>
                    <a:pt x="412" y="534"/>
                    <a:pt x="414" y="534"/>
                  </a:cubicBezTo>
                  <a:cubicBezTo>
                    <a:pt x="416" y="534"/>
                    <a:pt x="417" y="534"/>
                    <a:pt x="419" y="534"/>
                  </a:cubicBezTo>
                  <a:cubicBezTo>
                    <a:pt x="419" y="534"/>
                    <a:pt x="420" y="535"/>
                    <a:pt x="421" y="535"/>
                  </a:cubicBezTo>
                  <a:cubicBezTo>
                    <a:pt x="422" y="535"/>
                    <a:pt x="422" y="535"/>
                    <a:pt x="422" y="535"/>
                  </a:cubicBezTo>
                  <a:cubicBezTo>
                    <a:pt x="423" y="535"/>
                    <a:pt x="423" y="535"/>
                    <a:pt x="423" y="535"/>
                  </a:cubicBezTo>
                  <a:cubicBezTo>
                    <a:pt x="423" y="535"/>
                    <a:pt x="424" y="535"/>
                    <a:pt x="424" y="535"/>
                  </a:cubicBezTo>
                  <a:cubicBezTo>
                    <a:pt x="426" y="535"/>
                    <a:pt x="427" y="535"/>
                    <a:pt x="429" y="535"/>
                  </a:cubicBezTo>
                  <a:cubicBezTo>
                    <a:pt x="431" y="536"/>
                    <a:pt x="433" y="536"/>
                    <a:pt x="435" y="536"/>
                  </a:cubicBezTo>
                  <a:cubicBezTo>
                    <a:pt x="436" y="536"/>
                    <a:pt x="438" y="536"/>
                    <a:pt x="439" y="536"/>
                  </a:cubicBezTo>
                  <a:cubicBezTo>
                    <a:pt x="441" y="536"/>
                    <a:pt x="442" y="537"/>
                    <a:pt x="444" y="537"/>
                  </a:cubicBezTo>
                  <a:cubicBezTo>
                    <a:pt x="445" y="537"/>
                    <a:pt x="446" y="537"/>
                    <a:pt x="446" y="537"/>
                  </a:cubicBezTo>
                  <a:cubicBezTo>
                    <a:pt x="447" y="537"/>
                    <a:pt x="448" y="537"/>
                    <a:pt x="450" y="537"/>
                  </a:cubicBezTo>
                  <a:cubicBezTo>
                    <a:pt x="453" y="537"/>
                    <a:pt x="457" y="538"/>
                    <a:pt x="460" y="538"/>
                  </a:cubicBezTo>
                  <a:cubicBezTo>
                    <a:pt x="461" y="538"/>
                    <a:pt x="462" y="538"/>
                    <a:pt x="463" y="538"/>
                  </a:cubicBezTo>
                  <a:cubicBezTo>
                    <a:pt x="465" y="538"/>
                    <a:pt x="467" y="538"/>
                    <a:pt x="469" y="539"/>
                  </a:cubicBezTo>
                  <a:cubicBezTo>
                    <a:pt x="469" y="539"/>
                    <a:pt x="469" y="539"/>
                    <a:pt x="469" y="539"/>
                  </a:cubicBezTo>
                  <a:cubicBezTo>
                    <a:pt x="470" y="539"/>
                    <a:pt x="470" y="539"/>
                    <a:pt x="470" y="539"/>
                  </a:cubicBezTo>
                  <a:cubicBezTo>
                    <a:pt x="470" y="539"/>
                    <a:pt x="470" y="539"/>
                    <a:pt x="471" y="539"/>
                  </a:cubicBezTo>
                  <a:cubicBezTo>
                    <a:pt x="472" y="539"/>
                    <a:pt x="474" y="539"/>
                    <a:pt x="475" y="539"/>
                  </a:cubicBezTo>
                  <a:cubicBezTo>
                    <a:pt x="477" y="539"/>
                    <a:pt x="479" y="539"/>
                    <a:pt x="482" y="539"/>
                  </a:cubicBezTo>
                  <a:cubicBezTo>
                    <a:pt x="483" y="540"/>
                    <a:pt x="485" y="540"/>
                    <a:pt x="486" y="540"/>
                  </a:cubicBezTo>
                  <a:cubicBezTo>
                    <a:pt x="488" y="540"/>
                    <a:pt x="490" y="540"/>
                    <a:pt x="492" y="540"/>
                  </a:cubicBezTo>
                  <a:cubicBezTo>
                    <a:pt x="493" y="540"/>
                    <a:pt x="493" y="540"/>
                    <a:pt x="493" y="540"/>
                  </a:cubicBezTo>
                  <a:cubicBezTo>
                    <a:pt x="494" y="540"/>
                    <a:pt x="496" y="540"/>
                    <a:pt x="497" y="540"/>
                  </a:cubicBezTo>
                  <a:cubicBezTo>
                    <a:pt x="499" y="540"/>
                    <a:pt x="501" y="541"/>
                    <a:pt x="504" y="541"/>
                  </a:cubicBezTo>
                  <a:cubicBezTo>
                    <a:pt x="505" y="541"/>
                    <a:pt x="507" y="541"/>
                    <a:pt x="508" y="541"/>
                  </a:cubicBezTo>
                  <a:cubicBezTo>
                    <a:pt x="510" y="541"/>
                    <a:pt x="512" y="541"/>
                    <a:pt x="514" y="541"/>
                  </a:cubicBezTo>
                  <a:cubicBezTo>
                    <a:pt x="515" y="541"/>
                    <a:pt x="515" y="541"/>
                    <a:pt x="515" y="541"/>
                  </a:cubicBezTo>
                  <a:cubicBezTo>
                    <a:pt x="515" y="541"/>
                    <a:pt x="515" y="541"/>
                    <a:pt x="515" y="541"/>
                  </a:cubicBezTo>
                  <a:cubicBezTo>
                    <a:pt x="517" y="541"/>
                    <a:pt x="518" y="541"/>
                    <a:pt x="520" y="541"/>
                  </a:cubicBezTo>
                  <a:cubicBezTo>
                    <a:pt x="522" y="542"/>
                    <a:pt x="524" y="542"/>
                    <a:pt x="526" y="542"/>
                  </a:cubicBezTo>
                  <a:cubicBezTo>
                    <a:pt x="528" y="542"/>
                    <a:pt x="529" y="542"/>
                    <a:pt x="531" y="542"/>
                  </a:cubicBezTo>
                  <a:cubicBezTo>
                    <a:pt x="533" y="542"/>
                    <a:pt x="535" y="542"/>
                    <a:pt x="537" y="542"/>
                  </a:cubicBezTo>
                  <a:cubicBezTo>
                    <a:pt x="538" y="542"/>
                    <a:pt x="538" y="542"/>
                    <a:pt x="539" y="542"/>
                  </a:cubicBezTo>
                  <a:cubicBezTo>
                    <a:pt x="540" y="542"/>
                    <a:pt x="541" y="542"/>
                    <a:pt x="542" y="542"/>
                  </a:cubicBezTo>
                  <a:cubicBezTo>
                    <a:pt x="545" y="542"/>
                    <a:pt x="547" y="543"/>
                    <a:pt x="549" y="543"/>
                  </a:cubicBezTo>
                  <a:cubicBezTo>
                    <a:pt x="551" y="543"/>
                    <a:pt x="552" y="543"/>
                    <a:pt x="554" y="543"/>
                  </a:cubicBezTo>
                  <a:cubicBezTo>
                    <a:pt x="556" y="543"/>
                    <a:pt x="558" y="543"/>
                    <a:pt x="560" y="543"/>
                  </a:cubicBezTo>
                  <a:cubicBezTo>
                    <a:pt x="561" y="543"/>
                    <a:pt x="561" y="543"/>
                    <a:pt x="561" y="543"/>
                  </a:cubicBezTo>
                  <a:cubicBezTo>
                    <a:pt x="562" y="543"/>
                    <a:pt x="562" y="543"/>
                    <a:pt x="562" y="543"/>
                  </a:cubicBezTo>
                  <a:cubicBezTo>
                    <a:pt x="562" y="543"/>
                    <a:pt x="562" y="543"/>
                    <a:pt x="562" y="543"/>
                  </a:cubicBezTo>
                  <a:cubicBezTo>
                    <a:pt x="563" y="543"/>
                    <a:pt x="564" y="543"/>
                    <a:pt x="565" y="543"/>
                  </a:cubicBezTo>
                  <a:cubicBezTo>
                    <a:pt x="568" y="543"/>
                    <a:pt x="570" y="543"/>
                    <a:pt x="572" y="543"/>
                  </a:cubicBezTo>
                  <a:cubicBezTo>
                    <a:pt x="574" y="543"/>
                    <a:pt x="576" y="543"/>
                    <a:pt x="577" y="543"/>
                  </a:cubicBezTo>
                  <a:cubicBezTo>
                    <a:pt x="579" y="543"/>
                    <a:pt x="582" y="543"/>
                    <a:pt x="584" y="543"/>
                  </a:cubicBezTo>
                  <a:cubicBezTo>
                    <a:pt x="585" y="543"/>
                    <a:pt x="585" y="543"/>
                    <a:pt x="586" y="543"/>
                  </a:cubicBezTo>
                  <a:cubicBezTo>
                    <a:pt x="586" y="543"/>
                    <a:pt x="587" y="543"/>
                    <a:pt x="587" y="543"/>
                  </a:cubicBezTo>
                  <a:cubicBezTo>
                    <a:pt x="588" y="543"/>
                    <a:pt x="588" y="543"/>
                    <a:pt x="589" y="544"/>
                  </a:cubicBezTo>
                  <a:cubicBezTo>
                    <a:pt x="592" y="544"/>
                    <a:pt x="594" y="544"/>
                    <a:pt x="597" y="544"/>
                  </a:cubicBezTo>
                  <a:cubicBezTo>
                    <a:pt x="598" y="544"/>
                    <a:pt x="599" y="544"/>
                    <a:pt x="601" y="544"/>
                  </a:cubicBezTo>
                  <a:cubicBezTo>
                    <a:pt x="604" y="544"/>
                    <a:pt x="608" y="544"/>
                    <a:pt x="612" y="544"/>
                  </a:cubicBezTo>
                  <a:cubicBezTo>
                    <a:pt x="612" y="544"/>
                    <a:pt x="612" y="544"/>
                    <a:pt x="612" y="544"/>
                  </a:cubicBezTo>
                  <a:cubicBezTo>
                    <a:pt x="613" y="544"/>
                    <a:pt x="613" y="544"/>
                    <a:pt x="613" y="544"/>
                  </a:cubicBezTo>
                  <a:cubicBezTo>
                    <a:pt x="617" y="544"/>
                    <a:pt x="621" y="544"/>
                    <a:pt x="625" y="544"/>
                  </a:cubicBezTo>
                  <a:cubicBezTo>
                    <a:pt x="626" y="544"/>
                    <a:pt x="627" y="544"/>
                    <a:pt x="628" y="544"/>
                  </a:cubicBezTo>
                  <a:cubicBezTo>
                    <a:pt x="631" y="544"/>
                    <a:pt x="634" y="544"/>
                    <a:pt x="637" y="544"/>
                  </a:cubicBezTo>
                  <a:cubicBezTo>
                    <a:pt x="638" y="544"/>
                    <a:pt x="639" y="544"/>
                    <a:pt x="640" y="544"/>
                  </a:cubicBezTo>
                  <a:cubicBezTo>
                    <a:pt x="641" y="544"/>
                    <a:pt x="642" y="544"/>
                    <a:pt x="643" y="544"/>
                  </a:cubicBezTo>
                  <a:cubicBezTo>
                    <a:pt x="645" y="544"/>
                    <a:pt x="647" y="544"/>
                    <a:pt x="648" y="544"/>
                  </a:cubicBezTo>
                  <a:cubicBezTo>
                    <a:pt x="650" y="544"/>
                    <a:pt x="652" y="544"/>
                    <a:pt x="653" y="543"/>
                  </a:cubicBezTo>
                  <a:cubicBezTo>
                    <a:pt x="656" y="543"/>
                    <a:pt x="658" y="543"/>
                    <a:pt x="660" y="543"/>
                  </a:cubicBezTo>
                  <a:cubicBezTo>
                    <a:pt x="662" y="543"/>
                    <a:pt x="664" y="543"/>
                    <a:pt x="665" y="543"/>
                  </a:cubicBezTo>
                  <a:cubicBezTo>
                    <a:pt x="667" y="543"/>
                    <a:pt x="668" y="543"/>
                    <a:pt x="670" y="543"/>
                  </a:cubicBezTo>
                  <a:cubicBezTo>
                    <a:pt x="670" y="543"/>
                    <a:pt x="670" y="543"/>
                    <a:pt x="670" y="543"/>
                  </a:cubicBezTo>
                  <a:cubicBezTo>
                    <a:pt x="670" y="543"/>
                    <a:pt x="670" y="543"/>
                    <a:pt x="670" y="543"/>
                  </a:cubicBezTo>
                  <a:cubicBezTo>
                    <a:pt x="671" y="543"/>
                    <a:pt x="671" y="543"/>
                    <a:pt x="672" y="543"/>
                  </a:cubicBezTo>
                  <a:cubicBezTo>
                    <a:pt x="674" y="543"/>
                    <a:pt x="675" y="543"/>
                    <a:pt x="677" y="543"/>
                  </a:cubicBezTo>
                  <a:cubicBezTo>
                    <a:pt x="679" y="543"/>
                    <a:pt x="681" y="543"/>
                    <a:pt x="684" y="543"/>
                  </a:cubicBezTo>
                  <a:cubicBezTo>
                    <a:pt x="685" y="543"/>
                    <a:pt x="686" y="543"/>
                    <a:pt x="688" y="543"/>
                  </a:cubicBezTo>
                  <a:cubicBezTo>
                    <a:pt x="689" y="543"/>
                    <a:pt x="690" y="543"/>
                    <a:pt x="691" y="543"/>
                  </a:cubicBezTo>
                  <a:cubicBezTo>
                    <a:pt x="692" y="543"/>
                    <a:pt x="694" y="543"/>
                    <a:pt x="695" y="543"/>
                  </a:cubicBezTo>
                  <a:cubicBezTo>
                    <a:pt x="697" y="542"/>
                    <a:pt x="699" y="542"/>
                    <a:pt x="700" y="542"/>
                  </a:cubicBezTo>
                  <a:cubicBezTo>
                    <a:pt x="702" y="542"/>
                    <a:pt x="705" y="542"/>
                    <a:pt x="707" y="542"/>
                  </a:cubicBezTo>
                  <a:cubicBezTo>
                    <a:pt x="707" y="542"/>
                    <a:pt x="708" y="542"/>
                    <a:pt x="708" y="542"/>
                  </a:cubicBezTo>
                  <a:cubicBezTo>
                    <a:pt x="709" y="542"/>
                    <a:pt x="709" y="542"/>
                    <a:pt x="709" y="542"/>
                  </a:cubicBezTo>
                  <a:cubicBezTo>
                    <a:pt x="710" y="542"/>
                    <a:pt x="711" y="542"/>
                    <a:pt x="712" y="542"/>
                  </a:cubicBezTo>
                  <a:cubicBezTo>
                    <a:pt x="714" y="542"/>
                    <a:pt x="716" y="542"/>
                    <a:pt x="718" y="542"/>
                  </a:cubicBezTo>
                  <a:cubicBezTo>
                    <a:pt x="720" y="542"/>
                    <a:pt x="721" y="542"/>
                    <a:pt x="723" y="541"/>
                  </a:cubicBezTo>
                  <a:cubicBezTo>
                    <a:pt x="724" y="541"/>
                    <a:pt x="726" y="541"/>
                    <a:pt x="727" y="541"/>
                  </a:cubicBezTo>
                  <a:cubicBezTo>
                    <a:pt x="728" y="541"/>
                    <a:pt x="728" y="541"/>
                    <a:pt x="728" y="541"/>
                  </a:cubicBezTo>
                  <a:cubicBezTo>
                    <a:pt x="729" y="541"/>
                    <a:pt x="729" y="541"/>
                    <a:pt x="729" y="541"/>
                  </a:cubicBezTo>
                  <a:cubicBezTo>
                    <a:pt x="731" y="541"/>
                    <a:pt x="733" y="541"/>
                    <a:pt x="734" y="541"/>
                  </a:cubicBezTo>
                  <a:cubicBezTo>
                    <a:pt x="736" y="541"/>
                    <a:pt x="739" y="541"/>
                    <a:pt x="741" y="541"/>
                  </a:cubicBezTo>
                  <a:cubicBezTo>
                    <a:pt x="742" y="540"/>
                    <a:pt x="744" y="540"/>
                    <a:pt x="745" y="540"/>
                  </a:cubicBezTo>
                  <a:cubicBezTo>
                    <a:pt x="746" y="540"/>
                    <a:pt x="746" y="540"/>
                    <a:pt x="746" y="540"/>
                  </a:cubicBezTo>
                  <a:cubicBezTo>
                    <a:pt x="747" y="540"/>
                    <a:pt x="747" y="540"/>
                    <a:pt x="747" y="540"/>
                  </a:cubicBezTo>
                  <a:cubicBezTo>
                    <a:pt x="749" y="540"/>
                    <a:pt x="750" y="540"/>
                    <a:pt x="752" y="540"/>
                  </a:cubicBezTo>
                  <a:cubicBezTo>
                    <a:pt x="753" y="540"/>
                    <a:pt x="755" y="540"/>
                    <a:pt x="757" y="540"/>
                  </a:cubicBezTo>
                  <a:cubicBezTo>
                    <a:pt x="757" y="540"/>
                    <a:pt x="758" y="540"/>
                    <a:pt x="758" y="540"/>
                  </a:cubicBezTo>
                  <a:cubicBezTo>
                    <a:pt x="760" y="539"/>
                    <a:pt x="761" y="539"/>
                    <a:pt x="763" y="539"/>
                  </a:cubicBezTo>
                  <a:cubicBezTo>
                    <a:pt x="764" y="539"/>
                    <a:pt x="766" y="539"/>
                    <a:pt x="768" y="539"/>
                  </a:cubicBezTo>
                  <a:cubicBezTo>
                    <a:pt x="768" y="539"/>
                    <a:pt x="769" y="539"/>
                    <a:pt x="770" y="539"/>
                  </a:cubicBezTo>
                  <a:cubicBezTo>
                    <a:pt x="771" y="539"/>
                    <a:pt x="771" y="539"/>
                    <a:pt x="772" y="539"/>
                  </a:cubicBezTo>
                  <a:cubicBezTo>
                    <a:pt x="773" y="539"/>
                    <a:pt x="773" y="539"/>
                    <a:pt x="774" y="539"/>
                  </a:cubicBezTo>
                  <a:cubicBezTo>
                    <a:pt x="775" y="538"/>
                    <a:pt x="777" y="538"/>
                    <a:pt x="778" y="538"/>
                  </a:cubicBezTo>
                  <a:cubicBezTo>
                    <a:pt x="779" y="538"/>
                    <a:pt x="780" y="538"/>
                    <a:pt x="781" y="538"/>
                  </a:cubicBezTo>
                  <a:cubicBezTo>
                    <a:pt x="782" y="538"/>
                    <a:pt x="784" y="538"/>
                    <a:pt x="785" y="538"/>
                  </a:cubicBezTo>
                  <a:cubicBezTo>
                    <a:pt x="786" y="538"/>
                    <a:pt x="788" y="537"/>
                    <a:pt x="789" y="537"/>
                  </a:cubicBezTo>
                  <a:cubicBezTo>
                    <a:pt x="790" y="537"/>
                    <a:pt x="791" y="537"/>
                    <a:pt x="792" y="537"/>
                  </a:cubicBezTo>
                  <a:cubicBezTo>
                    <a:pt x="794" y="537"/>
                    <a:pt x="795" y="537"/>
                    <a:pt x="796" y="537"/>
                  </a:cubicBezTo>
                  <a:cubicBezTo>
                    <a:pt x="797" y="537"/>
                    <a:pt x="798" y="537"/>
                    <a:pt x="800" y="537"/>
                  </a:cubicBezTo>
                  <a:cubicBezTo>
                    <a:pt x="801" y="536"/>
                    <a:pt x="802" y="536"/>
                    <a:pt x="803" y="536"/>
                  </a:cubicBezTo>
                  <a:cubicBezTo>
                    <a:pt x="805" y="536"/>
                    <a:pt x="806" y="536"/>
                    <a:pt x="807" y="536"/>
                  </a:cubicBezTo>
                  <a:cubicBezTo>
                    <a:pt x="808" y="536"/>
                    <a:pt x="809" y="536"/>
                    <a:pt x="810" y="536"/>
                  </a:cubicBezTo>
                  <a:cubicBezTo>
                    <a:pt x="811" y="535"/>
                    <a:pt x="813" y="535"/>
                    <a:pt x="814" y="535"/>
                  </a:cubicBezTo>
                  <a:cubicBezTo>
                    <a:pt x="816" y="535"/>
                    <a:pt x="817" y="535"/>
                    <a:pt x="818" y="535"/>
                  </a:cubicBezTo>
                  <a:cubicBezTo>
                    <a:pt x="819" y="535"/>
                    <a:pt x="820" y="535"/>
                    <a:pt x="820" y="535"/>
                  </a:cubicBezTo>
                  <a:cubicBezTo>
                    <a:pt x="822" y="535"/>
                    <a:pt x="823" y="534"/>
                    <a:pt x="825" y="534"/>
                  </a:cubicBezTo>
                  <a:cubicBezTo>
                    <a:pt x="826" y="534"/>
                    <a:pt x="828" y="534"/>
                    <a:pt x="829" y="534"/>
                  </a:cubicBezTo>
                  <a:cubicBezTo>
                    <a:pt x="830" y="534"/>
                    <a:pt x="830" y="534"/>
                    <a:pt x="831" y="534"/>
                  </a:cubicBezTo>
                  <a:cubicBezTo>
                    <a:pt x="832" y="533"/>
                    <a:pt x="834" y="533"/>
                    <a:pt x="836" y="533"/>
                  </a:cubicBezTo>
                  <a:cubicBezTo>
                    <a:pt x="837" y="533"/>
                    <a:pt x="838" y="533"/>
                    <a:pt x="840" y="533"/>
                  </a:cubicBezTo>
                  <a:cubicBezTo>
                    <a:pt x="841" y="533"/>
                    <a:pt x="841" y="533"/>
                    <a:pt x="841" y="533"/>
                  </a:cubicBezTo>
                  <a:cubicBezTo>
                    <a:pt x="841" y="533"/>
                    <a:pt x="841" y="533"/>
                    <a:pt x="841" y="533"/>
                  </a:cubicBezTo>
                  <a:cubicBezTo>
                    <a:pt x="843" y="532"/>
                    <a:pt x="845" y="532"/>
                    <a:pt x="847" y="532"/>
                  </a:cubicBezTo>
                  <a:cubicBezTo>
                    <a:pt x="848" y="532"/>
                    <a:pt x="849" y="532"/>
                    <a:pt x="850" y="532"/>
                  </a:cubicBezTo>
                  <a:cubicBezTo>
                    <a:pt x="851" y="531"/>
                    <a:pt x="851" y="531"/>
                    <a:pt x="851" y="531"/>
                  </a:cubicBezTo>
                  <a:cubicBezTo>
                    <a:pt x="852" y="531"/>
                    <a:pt x="853" y="531"/>
                    <a:pt x="854" y="531"/>
                  </a:cubicBezTo>
                  <a:cubicBezTo>
                    <a:pt x="856" y="531"/>
                    <a:pt x="858" y="531"/>
                    <a:pt x="860" y="530"/>
                  </a:cubicBezTo>
                  <a:cubicBezTo>
                    <a:pt x="861" y="530"/>
                    <a:pt x="861" y="530"/>
                    <a:pt x="861" y="530"/>
                  </a:cubicBezTo>
                  <a:cubicBezTo>
                    <a:pt x="862" y="530"/>
                    <a:pt x="863" y="530"/>
                    <a:pt x="864" y="530"/>
                  </a:cubicBezTo>
                  <a:cubicBezTo>
                    <a:pt x="866" y="530"/>
                    <a:pt x="868" y="529"/>
                    <a:pt x="870" y="529"/>
                  </a:cubicBezTo>
                  <a:cubicBezTo>
                    <a:pt x="871" y="529"/>
                    <a:pt x="871" y="529"/>
                    <a:pt x="871" y="529"/>
                  </a:cubicBezTo>
                  <a:cubicBezTo>
                    <a:pt x="872" y="529"/>
                    <a:pt x="873" y="529"/>
                    <a:pt x="874" y="529"/>
                  </a:cubicBezTo>
                  <a:cubicBezTo>
                    <a:pt x="876" y="528"/>
                    <a:pt x="878" y="528"/>
                    <a:pt x="879" y="528"/>
                  </a:cubicBezTo>
                  <a:cubicBezTo>
                    <a:pt x="880" y="528"/>
                    <a:pt x="880" y="528"/>
                    <a:pt x="881" y="528"/>
                  </a:cubicBezTo>
                  <a:cubicBezTo>
                    <a:pt x="882" y="528"/>
                    <a:pt x="883" y="527"/>
                    <a:pt x="884" y="527"/>
                  </a:cubicBezTo>
                  <a:cubicBezTo>
                    <a:pt x="886" y="527"/>
                    <a:pt x="887" y="527"/>
                    <a:pt x="889" y="527"/>
                  </a:cubicBezTo>
                  <a:cubicBezTo>
                    <a:pt x="889" y="527"/>
                    <a:pt x="890" y="526"/>
                    <a:pt x="891" y="526"/>
                  </a:cubicBezTo>
                  <a:cubicBezTo>
                    <a:pt x="892" y="526"/>
                    <a:pt x="893" y="526"/>
                    <a:pt x="894" y="526"/>
                  </a:cubicBezTo>
                  <a:cubicBezTo>
                    <a:pt x="895" y="526"/>
                    <a:pt x="897" y="525"/>
                    <a:pt x="898" y="525"/>
                  </a:cubicBezTo>
                  <a:cubicBezTo>
                    <a:pt x="899" y="525"/>
                    <a:pt x="900" y="525"/>
                    <a:pt x="900" y="525"/>
                  </a:cubicBezTo>
                  <a:cubicBezTo>
                    <a:pt x="902" y="525"/>
                    <a:pt x="903" y="525"/>
                    <a:pt x="904" y="524"/>
                  </a:cubicBezTo>
                  <a:cubicBezTo>
                    <a:pt x="905" y="524"/>
                    <a:pt x="906" y="524"/>
                    <a:pt x="907" y="524"/>
                  </a:cubicBezTo>
                  <a:cubicBezTo>
                    <a:pt x="908" y="524"/>
                    <a:pt x="909" y="524"/>
                    <a:pt x="910" y="523"/>
                  </a:cubicBezTo>
                  <a:cubicBezTo>
                    <a:pt x="911" y="523"/>
                    <a:pt x="912" y="523"/>
                    <a:pt x="913" y="523"/>
                  </a:cubicBezTo>
                  <a:cubicBezTo>
                    <a:pt x="914" y="523"/>
                    <a:pt x="915" y="523"/>
                    <a:pt x="916" y="522"/>
                  </a:cubicBezTo>
                  <a:cubicBezTo>
                    <a:pt x="917" y="522"/>
                    <a:pt x="918" y="522"/>
                    <a:pt x="919" y="522"/>
                  </a:cubicBezTo>
                  <a:cubicBezTo>
                    <a:pt x="920" y="522"/>
                    <a:pt x="921" y="522"/>
                    <a:pt x="921" y="522"/>
                  </a:cubicBezTo>
                  <a:cubicBezTo>
                    <a:pt x="922" y="521"/>
                    <a:pt x="922" y="521"/>
                    <a:pt x="922" y="521"/>
                  </a:cubicBezTo>
                  <a:cubicBezTo>
                    <a:pt x="923" y="521"/>
                    <a:pt x="924" y="521"/>
                    <a:pt x="925" y="521"/>
                  </a:cubicBezTo>
                  <a:cubicBezTo>
                    <a:pt x="926" y="521"/>
                    <a:pt x="927" y="521"/>
                    <a:pt x="929" y="520"/>
                  </a:cubicBezTo>
                  <a:cubicBezTo>
                    <a:pt x="930" y="520"/>
                    <a:pt x="932" y="520"/>
                    <a:pt x="933" y="520"/>
                  </a:cubicBezTo>
                  <a:cubicBezTo>
                    <a:pt x="934" y="519"/>
                    <a:pt x="935" y="519"/>
                    <a:pt x="936" y="519"/>
                  </a:cubicBezTo>
                  <a:cubicBezTo>
                    <a:pt x="936" y="519"/>
                    <a:pt x="937" y="519"/>
                    <a:pt x="937" y="519"/>
                  </a:cubicBezTo>
                  <a:cubicBezTo>
                    <a:pt x="939" y="518"/>
                    <a:pt x="940" y="518"/>
                    <a:pt x="941" y="518"/>
                  </a:cubicBezTo>
                  <a:cubicBezTo>
                    <a:pt x="943" y="518"/>
                    <a:pt x="944" y="517"/>
                    <a:pt x="945" y="517"/>
                  </a:cubicBezTo>
                  <a:cubicBezTo>
                    <a:pt x="947" y="517"/>
                    <a:pt x="948" y="517"/>
                    <a:pt x="949" y="516"/>
                  </a:cubicBezTo>
                  <a:cubicBezTo>
                    <a:pt x="950" y="516"/>
                    <a:pt x="950" y="516"/>
                    <a:pt x="951" y="516"/>
                  </a:cubicBezTo>
                  <a:cubicBezTo>
                    <a:pt x="952" y="516"/>
                    <a:pt x="953" y="516"/>
                    <a:pt x="953" y="516"/>
                  </a:cubicBezTo>
                  <a:cubicBezTo>
                    <a:pt x="955" y="515"/>
                    <a:pt x="956" y="515"/>
                    <a:pt x="958" y="515"/>
                  </a:cubicBezTo>
                  <a:cubicBezTo>
                    <a:pt x="959" y="514"/>
                    <a:pt x="960" y="514"/>
                    <a:pt x="961" y="514"/>
                  </a:cubicBezTo>
                  <a:cubicBezTo>
                    <a:pt x="962" y="514"/>
                    <a:pt x="963" y="514"/>
                    <a:pt x="964" y="513"/>
                  </a:cubicBezTo>
                  <a:cubicBezTo>
                    <a:pt x="964" y="513"/>
                    <a:pt x="965" y="513"/>
                    <a:pt x="965" y="513"/>
                  </a:cubicBezTo>
                  <a:cubicBezTo>
                    <a:pt x="965" y="513"/>
                    <a:pt x="965" y="513"/>
                    <a:pt x="965" y="513"/>
                  </a:cubicBezTo>
                  <a:cubicBezTo>
                    <a:pt x="967" y="513"/>
                    <a:pt x="968" y="513"/>
                    <a:pt x="969" y="512"/>
                  </a:cubicBezTo>
                  <a:cubicBezTo>
                    <a:pt x="970" y="512"/>
                    <a:pt x="972" y="512"/>
                    <a:pt x="973" y="511"/>
                  </a:cubicBezTo>
                  <a:cubicBezTo>
                    <a:pt x="974" y="511"/>
                    <a:pt x="975" y="511"/>
                    <a:pt x="977" y="511"/>
                  </a:cubicBezTo>
                  <a:cubicBezTo>
                    <a:pt x="978" y="510"/>
                    <a:pt x="979" y="510"/>
                    <a:pt x="981" y="510"/>
                  </a:cubicBezTo>
                  <a:cubicBezTo>
                    <a:pt x="982" y="509"/>
                    <a:pt x="983" y="509"/>
                    <a:pt x="984" y="509"/>
                  </a:cubicBezTo>
                  <a:cubicBezTo>
                    <a:pt x="985" y="509"/>
                    <a:pt x="985" y="509"/>
                    <a:pt x="986" y="508"/>
                  </a:cubicBezTo>
                  <a:cubicBezTo>
                    <a:pt x="987" y="508"/>
                    <a:pt x="987" y="508"/>
                    <a:pt x="988" y="508"/>
                  </a:cubicBezTo>
                  <a:cubicBezTo>
                    <a:pt x="989" y="508"/>
                    <a:pt x="990" y="507"/>
                    <a:pt x="991" y="507"/>
                  </a:cubicBezTo>
                  <a:cubicBezTo>
                    <a:pt x="992" y="507"/>
                    <a:pt x="993" y="507"/>
                    <a:pt x="994" y="506"/>
                  </a:cubicBezTo>
                  <a:cubicBezTo>
                    <a:pt x="995" y="506"/>
                    <a:pt x="996" y="506"/>
                    <a:pt x="996" y="506"/>
                  </a:cubicBezTo>
                  <a:cubicBezTo>
                    <a:pt x="997" y="506"/>
                    <a:pt x="998" y="505"/>
                    <a:pt x="998" y="505"/>
                  </a:cubicBezTo>
                  <a:cubicBezTo>
                    <a:pt x="999" y="505"/>
                    <a:pt x="1001" y="504"/>
                    <a:pt x="1002" y="504"/>
                  </a:cubicBezTo>
                  <a:cubicBezTo>
                    <a:pt x="1003" y="504"/>
                    <a:pt x="1003" y="504"/>
                    <a:pt x="1003" y="504"/>
                  </a:cubicBezTo>
                  <a:cubicBezTo>
                    <a:pt x="1004" y="503"/>
                    <a:pt x="1004" y="503"/>
                    <a:pt x="1004" y="503"/>
                  </a:cubicBezTo>
                  <a:cubicBezTo>
                    <a:pt x="1005" y="503"/>
                    <a:pt x="1005" y="503"/>
                    <a:pt x="1005" y="503"/>
                  </a:cubicBezTo>
                  <a:cubicBezTo>
                    <a:pt x="1007" y="503"/>
                    <a:pt x="1009" y="502"/>
                    <a:pt x="1011" y="501"/>
                  </a:cubicBezTo>
                  <a:cubicBezTo>
                    <a:pt x="1012" y="501"/>
                    <a:pt x="1012" y="501"/>
                    <a:pt x="1012" y="501"/>
                  </a:cubicBezTo>
                  <a:cubicBezTo>
                    <a:pt x="1012" y="501"/>
                    <a:pt x="1012" y="501"/>
                    <a:pt x="1012" y="501"/>
                  </a:cubicBezTo>
                  <a:cubicBezTo>
                    <a:pt x="1013" y="501"/>
                    <a:pt x="1013" y="501"/>
                    <a:pt x="1014" y="501"/>
                  </a:cubicBezTo>
                  <a:cubicBezTo>
                    <a:pt x="1015" y="500"/>
                    <a:pt x="1016" y="500"/>
                    <a:pt x="1018" y="500"/>
                  </a:cubicBezTo>
                  <a:cubicBezTo>
                    <a:pt x="1018" y="499"/>
                    <a:pt x="1018" y="499"/>
                    <a:pt x="1019" y="499"/>
                  </a:cubicBezTo>
                  <a:cubicBezTo>
                    <a:pt x="1019" y="499"/>
                    <a:pt x="1020" y="499"/>
                    <a:pt x="1021" y="499"/>
                  </a:cubicBezTo>
                  <a:cubicBezTo>
                    <a:pt x="1022" y="498"/>
                    <a:pt x="1023" y="498"/>
                    <a:pt x="1024" y="498"/>
                  </a:cubicBezTo>
                  <a:cubicBezTo>
                    <a:pt x="1024" y="497"/>
                    <a:pt x="1025" y="497"/>
                    <a:pt x="1025" y="497"/>
                  </a:cubicBezTo>
                  <a:cubicBezTo>
                    <a:pt x="1026" y="497"/>
                    <a:pt x="1027" y="497"/>
                    <a:pt x="1027" y="496"/>
                  </a:cubicBezTo>
                  <a:cubicBezTo>
                    <a:pt x="1028" y="496"/>
                    <a:pt x="1029" y="496"/>
                    <a:pt x="1030" y="496"/>
                  </a:cubicBezTo>
                  <a:cubicBezTo>
                    <a:pt x="1030" y="495"/>
                    <a:pt x="1031" y="495"/>
                    <a:pt x="1032" y="495"/>
                  </a:cubicBezTo>
                  <a:cubicBezTo>
                    <a:pt x="1032" y="495"/>
                    <a:pt x="1033" y="494"/>
                    <a:pt x="1034" y="494"/>
                  </a:cubicBezTo>
                  <a:cubicBezTo>
                    <a:pt x="1034" y="494"/>
                    <a:pt x="1035" y="494"/>
                    <a:pt x="1035" y="494"/>
                  </a:cubicBezTo>
                  <a:cubicBezTo>
                    <a:pt x="1036" y="493"/>
                    <a:pt x="1037" y="493"/>
                    <a:pt x="1038" y="493"/>
                  </a:cubicBezTo>
                  <a:cubicBezTo>
                    <a:pt x="1038" y="493"/>
                    <a:pt x="1038" y="492"/>
                    <a:pt x="1039" y="492"/>
                  </a:cubicBezTo>
                  <a:cubicBezTo>
                    <a:pt x="1039" y="492"/>
                    <a:pt x="1039" y="492"/>
                    <a:pt x="1039" y="492"/>
                  </a:cubicBezTo>
                  <a:cubicBezTo>
                    <a:pt x="1040" y="492"/>
                    <a:pt x="1040" y="492"/>
                    <a:pt x="1041" y="492"/>
                  </a:cubicBezTo>
                  <a:cubicBezTo>
                    <a:pt x="1042" y="491"/>
                    <a:pt x="1042" y="491"/>
                    <a:pt x="1043" y="491"/>
                  </a:cubicBezTo>
                  <a:cubicBezTo>
                    <a:pt x="1044" y="490"/>
                    <a:pt x="1044" y="490"/>
                    <a:pt x="1045" y="490"/>
                  </a:cubicBezTo>
                  <a:cubicBezTo>
                    <a:pt x="1045" y="490"/>
                    <a:pt x="1046" y="490"/>
                    <a:pt x="1046" y="489"/>
                  </a:cubicBezTo>
                  <a:cubicBezTo>
                    <a:pt x="1047" y="489"/>
                    <a:pt x="1048" y="489"/>
                    <a:pt x="1048" y="489"/>
                  </a:cubicBezTo>
                  <a:cubicBezTo>
                    <a:pt x="1049" y="488"/>
                    <a:pt x="1049" y="488"/>
                    <a:pt x="1050" y="488"/>
                  </a:cubicBezTo>
                  <a:cubicBezTo>
                    <a:pt x="1050" y="488"/>
                    <a:pt x="1051" y="488"/>
                    <a:pt x="1051" y="487"/>
                  </a:cubicBezTo>
                  <a:cubicBezTo>
                    <a:pt x="1052" y="487"/>
                    <a:pt x="1052" y="487"/>
                    <a:pt x="1053" y="486"/>
                  </a:cubicBezTo>
                  <a:cubicBezTo>
                    <a:pt x="1054" y="486"/>
                    <a:pt x="1054" y="486"/>
                    <a:pt x="1055" y="486"/>
                  </a:cubicBezTo>
                  <a:cubicBezTo>
                    <a:pt x="1055" y="486"/>
                    <a:pt x="1055" y="486"/>
                    <a:pt x="1055" y="486"/>
                  </a:cubicBezTo>
                  <a:cubicBezTo>
                    <a:pt x="1056" y="485"/>
                    <a:pt x="1056" y="485"/>
                    <a:pt x="1056" y="485"/>
                  </a:cubicBezTo>
                  <a:cubicBezTo>
                    <a:pt x="1056" y="485"/>
                    <a:pt x="1057" y="485"/>
                    <a:pt x="1058" y="484"/>
                  </a:cubicBezTo>
                  <a:cubicBezTo>
                    <a:pt x="1058" y="484"/>
                    <a:pt x="1059" y="484"/>
                    <a:pt x="1059" y="484"/>
                  </a:cubicBezTo>
                  <a:cubicBezTo>
                    <a:pt x="1059" y="483"/>
                    <a:pt x="1059" y="483"/>
                    <a:pt x="1059" y="483"/>
                  </a:cubicBezTo>
                  <a:cubicBezTo>
                    <a:pt x="1060" y="483"/>
                    <a:pt x="1060" y="483"/>
                    <a:pt x="1060" y="483"/>
                  </a:cubicBezTo>
                  <a:cubicBezTo>
                    <a:pt x="1061" y="483"/>
                    <a:pt x="1062" y="482"/>
                    <a:pt x="1062" y="482"/>
                  </a:cubicBezTo>
                  <a:cubicBezTo>
                    <a:pt x="1063" y="482"/>
                    <a:pt x="1063" y="482"/>
                    <a:pt x="1064" y="481"/>
                  </a:cubicBezTo>
                  <a:cubicBezTo>
                    <a:pt x="1065" y="481"/>
                    <a:pt x="1065" y="481"/>
                    <a:pt x="1065" y="481"/>
                  </a:cubicBezTo>
                  <a:cubicBezTo>
                    <a:pt x="1065" y="480"/>
                    <a:pt x="1066" y="480"/>
                    <a:pt x="1066" y="480"/>
                  </a:cubicBezTo>
                  <a:cubicBezTo>
                    <a:pt x="1067" y="480"/>
                    <a:pt x="1067" y="479"/>
                    <a:pt x="1068" y="479"/>
                  </a:cubicBezTo>
                  <a:cubicBezTo>
                    <a:pt x="1069" y="478"/>
                    <a:pt x="1069" y="478"/>
                    <a:pt x="1069" y="478"/>
                  </a:cubicBezTo>
                  <a:cubicBezTo>
                    <a:pt x="1069" y="478"/>
                    <a:pt x="1070" y="478"/>
                    <a:pt x="1070" y="478"/>
                  </a:cubicBezTo>
                  <a:cubicBezTo>
                    <a:pt x="1071" y="477"/>
                    <a:pt x="1071" y="477"/>
                    <a:pt x="1072" y="477"/>
                  </a:cubicBezTo>
                  <a:cubicBezTo>
                    <a:pt x="1073" y="476"/>
                    <a:pt x="1073" y="476"/>
                    <a:pt x="1073" y="476"/>
                  </a:cubicBezTo>
                  <a:cubicBezTo>
                    <a:pt x="1073" y="476"/>
                    <a:pt x="1074" y="476"/>
                    <a:pt x="1074" y="475"/>
                  </a:cubicBezTo>
                  <a:cubicBezTo>
                    <a:pt x="1075" y="475"/>
                    <a:pt x="1075" y="475"/>
                    <a:pt x="1075" y="474"/>
                  </a:cubicBezTo>
                  <a:cubicBezTo>
                    <a:pt x="1076" y="474"/>
                    <a:pt x="1076" y="474"/>
                    <a:pt x="1076" y="474"/>
                  </a:cubicBezTo>
                  <a:cubicBezTo>
                    <a:pt x="1076" y="474"/>
                    <a:pt x="1076" y="474"/>
                    <a:pt x="1076" y="474"/>
                  </a:cubicBezTo>
                  <a:cubicBezTo>
                    <a:pt x="1077" y="474"/>
                    <a:pt x="1077" y="473"/>
                    <a:pt x="1077" y="473"/>
                  </a:cubicBezTo>
                  <a:cubicBezTo>
                    <a:pt x="1078" y="473"/>
                    <a:pt x="1078" y="472"/>
                    <a:pt x="1079" y="472"/>
                  </a:cubicBezTo>
                  <a:cubicBezTo>
                    <a:pt x="1080" y="471"/>
                    <a:pt x="1080" y="471"/>
                    <a:pt x="1080" y="471"/>
                  </a:cubicBezTo>
                  <a:cubicBezTo>
                    <a:pt x="1081" y="471"/>
                    <a:pt x="1081" y="471"/>
                    <a:pt x="1081" y="471"/>
                  </a:cubicBezTo>
                  <a:cubicBezTo>
                    <a:pt x="1081" y="470"/>
                    <a:pt x="1082" y="470"/>
                    <a:pt x="1082" y="470"/>
                  </a:cubicBezTo>
                  <a:cubicBezTo>
                    <a:pt x="1083" y="469"/>
                    <a:pt x="1083" y="469"/>
                    <a:pt x="1083" y="469"/>
                  </a:cubicBezTo>
                  <a:cubicBezTo>
                    <a:pt x="1084" y="468"/>
                    <a:pt x="1084" y="468"/>
                    <a:pt x="1084" y="468"/>
                  </a:cubicBezTo>
                  <a:cubicBezTo>
                    <a:pt x="1084" y="468"/>
                    <a:pt x="1085" y="468"/>
                    <a:pt x="1085" y="467"/>
                  </a:cubicBezTo>
                  <a:cubicBezTo>
                    <a:pt x="1086" y="466"/>
                    <a:pt x="1086" y="466"/>
                    <a:pt x="1086" y="466"/>
                  </a:cubicBezTo>
                  <a:cubicBezTo>
                    <a:pt x="1086" y="466"/>
                    <a:pt x="1086" y="466"/>
                    <a:pt x="1086" y="466"/>
                  </a:cubicBezTo>
                  <a:cubicBezTo>
                    <a:pt x="1087" y="466"/>
                    <a:pt x="1087" y="466"/>
                    <a:pt x="1087" y="466"/>
                  </a:cubicBezTo>
                  <a:cubicBezTo>
                    <a:pt x="1088" y="465"/>
                    <a:pt x="1088" y="465"/>
                    <a:pt x="1088" y="465"/>
                  </a:cubicBezTo>
                  <a:cubicBezTo>
                    <a:pt x="1088" y="464"/>
                    <a:pt x="1088" y="464"/>
                    <a:pt x="1088" y="464"/>
                  </a:cubicBezTo>
                  <a:cubicBezTo>
                    <a:pt x="1088" y="464"/>
                    <a:pt x="1088" y="464"/>
                    <a:pt x="1088" y="464"/>
                  </a:cubicBezTo>
                  <a:cubicBezTo>
                    <a:pt x="1088" y="464"/>
                    <a:pt x="1088" y="464"/>
                    <a:pt x="1088" y="464"/>
                  </a:cubicBezTo>
                  <a:cubicBezTo>
                    <a:pt x="1089" y="464"/>
                    <a:pt x="1089" y="464"/>
                    <a:pt x="1089" y="464"/>
                  </a:cubicBezTo>
                  <a:cubicBezTo>
                    <a:pt x="1089" y="463"/>
                    <a:pt x="1089" y="463"/>
                    <a:pt x="1090" y="462"/>
                  </a:cubicBezTo>
                  <a:cubicBezTo>
                    <a:pt x="1091" y="461"/>
                    <a:pt x="1091" y="461"/>
                    <a:pt x="1091" y="461"/>
                  </a:cubicBezTo>
                  <a:cubicBezTo>
                    <a:pt x="1091" y="461"/>
                    <a:pt x="1091" y="461"/>
                    <a:pt x="1091" y="461"/>
                  </a:cubicBezTo>
                  <a:cubicBezTo>
                    <a:pt x="1091" y="461"/>
                    <a:pt x="1091" y="460"/>
                    <a:pt x="1092" y="460"/>
                  </a:cubicBezTo>
                  <a:cubicBezTo>
                    <a:pt x="1092" y="459"/>
                    <a:pt x="1092" y="459"/>
                    <a:pt x="1092" y="459"/>
                  </a:cubicBezTo>
                  <a:cubicBezTo>
                    <a:pt x="1092" y="459"/>
                    <a:pt x="1092" y="459"/>
                    <a:pt x="1092" y="459"/>
                  </a:cubicBezTo>
                  <a:cubicBezTo>
                    <a:pt x="1093" y="458"/>
                    <a:pt x="1093" y="458"/>
                    <a:pt x="1094" y="457"/>
                  </a:cubicBezTo>
                  <a:cubicBezTo>
                    <a:pt x="1094" y="457"/>
                    <a:pt x="1094" y="457"/>
                    <a:pt x="1094" y="457"/>
                  </a:cubicBezTo>
                  <a:cubicBezTo>
                    <a:pt x="1094" y="457"/>
                    <a:pt x="1094" y="457"/>
                    <a:pt x="1094" y="457"/>
                  </a:cubicBezTo>
                  <a:cubicBezTo>
                    <a:pt x="1094" y="456"/>
                    <a:pt x="1094" y="456"/>
                    <a:pt x="1094" y="456"/>
                  </a:cubicBezTo>
                  <a:cubicBezTo>
                    <a:pt x="1095" y="455"/>
                    <a:pt x="1095" y="455"/>
                    <a:pt x="1095" y="454"/>
                  </a:cubicBezTo>
                  <a:cubicBezTo>
                    <a:pt x="1128" y="383"/>
                    <a:pt x="1161" y="311"/>
                    <a:pt x="1194" y="239"/>
                  </a:cubicBezTo>
                  <a:cubicBezTo>
                    <a:pt x="1209" y="207"/>
                    <a:pt x="1224" y="174"/>
                    <a:pt x="1239" y="142"/>
                  </a:cubicBezTo>
                  <a:cubicBezTo>
                    <a:pt x="1240" y="138"/>
                    <a:pt x="1241" y="135"/>
                    <a:pt x="1241" y="131"/>
                  </a:cubicBezTo>
                  <a:cubicBezTo>
                    <a:pt x="1242" y="130"/>
                    <a:pt x="1242" y="129"/>
                    <a:pt x="1241" y="128"/>
                  </a:cubicBezTo>
                  <a:cubicBezTo>
                    <a:pt x="1241" y="127"/>
                    <a:pt x="1241" y="127"/>
                    <a:pt x="1241" y="1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  <p:sp>
          <p:nvSpPr>
            <p:cNvPr id="34" name="Freeform 164">
              <a:extLst>
                <a:ext uri="{FF2B5EF4-FFF2-40B4-BE49-F238E27FC236}">
                  <a16:creationId xmlns:a16="http://schemas.microsoft.com/office/drawing/2014/main" id="{83EC6B41-9DC9-4FA3-9717-A561C913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993" y="2652179"/>
              <a:ext cx="3535793" cy="581943"/>
            </a:xfrm>
            <a:custGeom>
              <a:avLst/>
              <a:gdLst>
                <a:gd name="T0" fmla="*/ 1247 w 1253"/>
                <a:gd name="T1" fmla="*/ 132 h 260"/>
                <a:gd name="T2" fmla="*/ 616 w 1253"/>
                <a:gd name="T3" fmla="*/ 259 h 260"/>
                <a:gd name="T4" fmla="*/ 6 w 1253"/>
                <a:gd name="T5" fmla="*/ 128 h 260"/>
                <a:gd name="T6" fmla="*/ 638 w 1253"/>
                <a:gd name="T7" fmla="*/ 1 h 260"/>
                <a:gd name="T8" fmla="*/ 1247 w 1253"/>
                <a:gd name="T9" fmla="*/ 13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3" h="260">
                  <a:moveTo>
                    <a:pt x="1247" y="132"/>
                  </a:moveTo>
                  <a:cubicBezTo>
                    <a:pt x="1241" y="204"/>
                    <a:pt x="959" y="260"/>
                    <a:pt x="616" y="259"/>
                  </a:cubicBezTo>
                  <a:cubicBezTo>
                    <a:pt x="273" y="258"/>
                    <a:pt x="0" y="199"/>
                    <a:pt x="6" y="128"/>
                  </a:cubicBezTo>
                  <a:cubicBezTo>
                    <a:pt x="12" y="57"/>
                    <a:pt x="295" y="0"/>
                    <a:pt x="638" y="1"/>
                  </a:cubicBezTo>
                  <a:cubicBezTo>
                    <a:pt x="980" y="2"/>
                    <a:pt x="1253" y="61"/>
                    <a:pt x="1247" y="13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</p:grpSp>
      <p:grpSp>
        <p:nvGrpSpPr>
          <p:cNvPr id="35" name="Group 29">
            <a:extLst>
              <a:ext uri="{FF2B5EF4-FFF2-40B4-BE49-F238E27FC236}">
                <a16:creationId xmlns:a16="http://schemas.microsoft.com/office/drawing/2014/main" id="{C8E12919-0F5C-4740-8D74-FC50D270F6D2}"/>
              </a:ext>
            </a:extLst>
          </p:cNvPr>
          <p:cNvGrpSpPr/>
          <p:nvPr/>
        </p:nvGrpSpPr>
        <p:grpSpPr>
          <a:xfrm>
            <a:off x="6421592" y="2329714"/>
            <a:ext cx="2458513" cy="743844"/>
            <a:chOff x="2051105" y="1745672"/>
            <a:chExt cx="4419146" cy="1337050"/>
          </a:xfrm>
        </p:grpSpPr>
        <p:sp>
          <p:nvSpPr>
            <p:cNvPr id="36" name="Freeform 165">
              <a:extLst>
                <a:ext uri="{FF2B5EF4-FFF2-40B4-BE49-F238E27FC236}">
                  <a16:creationId xmlns:a16="http://schemas.microsoft.com/office/drawing/2014/main" id="{90B76637-1AE1-4C1C-8053-57ABCC80E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755" y="1747564"/>
              <a:ext cx="4373846" cy="1335158"/>
            </a:xfrm>
            <a:custGeom>
              <a:avLst/>
              <a:gdLst>
                <a:gd name="T0" fmla="*/ 1545 w 1550"/>
                <a:gd name="T1" fmla="*/ 143 h 596"/>
                <a:gd name="T2" fmla="*/ 1529 w 1550"/>
                <a:gd name="T3" fmla="*/ 124 h 596"/>
                <a:gd name="T4" fmla="*/ 1507 w 1550"/>
                <a:gd name="T5" fmla="*/ 108 h 596"/>
                <a:gd name="T6" fmla="*/ 1472 w 1550"/>
                <a:gd name="T7" fmla="*/ 91 h 596"/>
                <a:gd name="T8" fmla="*/ 1437 w 1550"/>
                <a:gd name="T9" fmla="*/ 78 h 596"/>
                <a:gd name="T10" fmla="*/ 1396 w 1550"/>
                <a:gd name="T11" fmla="*/ 65 h 596"/>
                <a:gd name="T12" fmla="*/ 1358 w 1550"/>
                <a:gd name="T13" fmla="*/ 55 h 596"/>
                <a:gd name="T14" fmla="*/ 1292 w 1550"/>
                <a:gd name="T15" fmla="*/ 41 h 596"/>
                <a:gd name="T16" fmla="*/ 247 w 1550"/>
                <a:gd name="T17" fmla="*/ 43 h 596"/>
                <a:gd name="T18" fmla="*/ 199 w 1550"/>
                <a:gd name="T19" fmla="*/ 53 h 596"/>
                <a:gd name="T20" fmla="*/ 146 w 1550"/>
                <a:gd name="T21" fmla="*/ 67 h 596"/>
                <a:gd name="T22" fmla="*/ 104 w 1550"/>
                <a:gd name="T23" fmla="*/ 80 h 596"/>
                <a:gd name="T24" fmla="*/ 70 w 1550"/>
                <a:gd name="T25" fmla="*/ 94 h 596"/>
                <a:gd name="T26" fmla="*/ 44 w 1550"/>
                <a:gd name="T27" fmla="*/ 108 h 596"/>
                <a:gd name="T28" fmla="*/ 24 w 1550"/>
                <a:gd name="T29" fmla="*/ 121 h 596"/>
                <a:gd name="T30" fmla="*/ 14 w 1550"/>
                <a:gd name="T31" fmla="*/ 130 h 596"/>
                <a:gd name="T32" fmla="*/ 3 w 1550"/>
                <a:gd name="T33" fmla="*/ 145 h 596"/>
                <a:gd name="T34" fmla="*/ 0 w 1550"/>
                <a:gd name="T35" fmla="*/ 161 h 596"/>
                <a:gd name="T36" fmla="*/ 48 w 1550"/>
                <a:gd name="T37" fmla="*/ 274 h 596"/>
                <a:gd name="T38" fmla="*/ 146 w 1550"/>
                <a:gd name="T39" fmla="*/ 485 h 596"/>
                <a:gd name="T40" fmla="*/ 154 w 1550"/>
                <a:gd name="T41" fmla="*/ 493 h 596"/>
                <a:gd name="T42" fmla="*/ 164 w 1550"/>
                <a:gd name="T43" fmla="*/ 501 h 596"/>
                <a:gd name="T44" fmla="*/ 177 w 1550"/>
                <a:gd name="T45" fmla="*/ 509 h 596"/>
                <a:gd name="T46" fmla="*/ 191 w 1550"/>
                <a:gd name="T47" fmla="*/ 516 h 596"/>
                <a:gd name="T48" fmla="*/ 210 w 1550"/>
                <a:gd name="T49" fmla="*/ 524 h 596"/>
                <a:gd name="T50" fmla="*/ 234 w 1550"/>
                <a:gd name="T51" fmla="*/ 533 h 596"/>
                <a:gd name="T52" fmla="*/ 255 w 1550"/>
                <a:gd name="T53" fmla="*/ 540 h 596"/>
                <a:gd name="T54" fmla="*/ 279 w 1550"/>
                <a:gd name="T55" fmla="*/ 546 h 596"/>
                <a:gd name="T56" fmla="*/ 311 w 1550"/>
                <a:gd name="T57" fmla="*/ 554 h 596"/>
                <a:gd name="T58" fmla="*/ 339 w 1550"/>
                <a:gd name="T59" fmla="*/ 560 h 596"/>
                <a:gd name="T60" fmla="*/ 373 w 1550"/>
                <a:gd name="T61" fmla="*/ 566 h 596"/>
                <a:gd name="T62" fmla="*/ 408 w 1550"/>
                <a:gd name="T63" fmla="*/ 571 h 596"/>
                <a:gd name="T64" fmla="*/ 439 w 1550"/>
                <a:gd name="T65" fmla="*/ 576 h 596"/>
                <a:gd name="T66" fmla="*/ 477 w 1550"/>
                <a:gd name="T67" fmla="*/ 580 h 596"/>
                <a:gd name="T68" fmla="*/ 512 w 1550"/>
                <a:gd name="T69" fmla="*/ 584 h 596"/>
                <a:gd name="T70" fmla="*/ 552 w 1550"/>
                <a:gd name="T71" fmla="*/ 587 h 596"/>
                <a:gd name="T72" fmla="*/ 589 w 1550"/>
                <a:gd name="T73" fmla="*/ 590 h 596"/>
                <a:gd name="T74" fmla="*/ 633 w 1550"/>
                <a:gd name="T75" fmla="*/ 592 h 596"/>
                <a:gd name="T76" fmla="*/ 685 w 1550"/>
                <a:gd name="T77" fmla="*/ 594 h 596"/>
                <a:gd name="T78" fmla="*/ 728 w 1550"/>
                <a:gd name="T79" fmla="*/ 595 h 596"/>
                <a:gd name="T80" fmla="*/ 785 w 1550"/>
                <a:gd name="T81" fmla="*/ 595 h 596"/>
                <a:gd name="T82" fmla="*/ 841 w 1550"/>
                <a:gd name="T83" fmla="*/ 595 h 596"/>
                <a:gd name="T84" fmla="*/ 890 w 1550"/>
                <a:gd name="T85" fmla="*/ 593 h 596"/>
                <a:gd name="T86" fmla="*/ 927 w 1550"/>
                <a:gd name="T87" fmla="*/ 592 h 596"/>
                <a:gd name="T88" fmla="*/ 971 w 1550"/>
                <a:gd name="T89" fmla="*/ 589 h 596"/>
                <a:gd name="T90" fmla="*/ 1009 w 1550"/>
                <a:gd name="T91" fmla="*/ 586 h 596"/>
                <a:gd name="T92" fmla="*/ 1053 w 1550"/>
                <a:gd name="T93" fmla="*/ 582 h 596"/>
                <a:gd name="T94" fmla="*/ 1086 w 1550"/>
                <a:gd name="T95" fmla="*/ 579 h 596"/>
                <a:gd name="T96" fmla="*/ 1127 w 1550"/>
                <a:gd name="T97" fmla="*/ 573 h 596"/>
                <a:gd name="T98" fmla="*/ 1165 w 1550"/>
                <a:gd name="T99" fmla="*/ 568 h 596"/>
                <a:gd name="T100" fmla="*/ 1196 w 1550"/>
                <a:gd name="T101" fmla="*/ 562 h 596"/>
                <a:gd name="T102" fmla="*/ 1223 w 1550"/>
                <a:gd name="T103" fmla="*/ 557 h 596"/>
                <a:gd name="T104" fmla="*/ 1256 w 1550"/>
                <a:gd name="T105" fmla="*/ 550 h 596"/>
                <a:gd name="T106" fmla="*/ 1286 w 1550"/>
                <a:gd name="T107" fmla="*/ 542 h 596"/>
                <a:gd name="T108" fmla="*/ 1307 w 1550"/>
                <a:gd name="T109" fmla="*/ 536 h 596"/>
                <a:gd name="T110" fmla="*/ 1332 w 1550"/>
                <a:gd name="T111" fmla="*/ 527 h 596"/>
                <a:gd name="T112" fmla="*/ 1350 w 1550"/>
                <a:gd name="T113" fmla="*/ 520 h 596"/>
                <a:gd name="T114" fmla="*/ 1365 w 1550"/>
                <a:gd name="T115" fmla="*/ 513 h 596"/>
                <a:gd name="T116" fmla="*/ 1381 w 1550"/>
                <a:gd name="T117" fmla="*/ 504 h 596"/>
                <a:gd name="T118" fmla="*/ 1392 w 1550"/>
                <a:gd name="T119" fmla="*/ 496 h 596"/>
                <a:gd name="T120" fmla="*/ 1400 w 1550"/>
                <a:gd name="T121" fmla="*/ 489 h 596"/>
                <a:gd name="T122" fmla="*/ 1408 w 1550"/>
                <a:gd name="T123" fmla="*/ 479 h 596"/>
                <a:gd name="T124" fmla="*/ 1550 w 1550"/>
                <a:gd name="T125" fmla="*/ 164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50" h="596">
                  <a:moveTo>
                    <a:pt x="1550" y="160"/>
                  </a:moveTo>
                  <a:cubicBezTo>
                    <a:pt x="1550" y="159"/>
                    <a:pt x="1550" y="157"/>
                    <a:pt x="1550" y="156"/>
                  </a:cubicBezTo>
                  <a:cubicBezTo>
                    <a:pt x="1550" y="155"/>
                    <a:pt x="1550" y="155"/>
                    <a:pt x="1550" y="155"/>
                  </a:cubicBezTo>
                  <a:cubicBezTo>
                    <a:pt x="1549" y="154"/>
                    <a:pt x="1549" y="153"/>
                    <a:pt x="1549" y="152"/>
                  </a:cubicBezTo>
                  <a:cubicBezTo>
                    <a:pt x="1549" y="152"/>
                    <a:pt x="1549" y="152"/>
                    <a:pt x="1549" y="152"/>
                  </a:cubicBezTo>
                  <a:cubicBezTo>
                    <a:pt x="1549" y="151"/>
                    <a:pt x="1548" y="149"/>
                    <a:pt x="1548" y="148"/>
                  </a:cubicBezTo>
                  <a:cubicBezTo>
                    <a:pt x="1547" y="147"/>
                    <a:pt x="1547" y="147"/>
                    <a:pt x="1547" y="147"/>
                  </a:cubicBezTo>
                  <a:cubicBezTo>
                    <a:pt x="1547" y="146"/>
                    <a:pt x="1546" y="145"/>
                    <a:pt x="1546" y="144"/>
                  </a:cubicBezTo>
                  <a:cubicBezTo>
                    <a:pt x="1545" y="143"/>
                    <a:pt x="1545" y="143"/>
                    <a:pt x="1545" y="143"/>
                  </a:cubicBezTo>
                  <a:cubicBezTo>
                    <a:pt x="1545" y="142"/>
                    <a:pt x="1544" y="141"/>
                    <a:pt x="1543" y="140"/>
                  </a:cubicBezTo>
                  <a:cubicBezTo>
                    <a:pt x="1543" y="140"/>
                    <a:pt x="1543" y="140"/>
                    <a:pt x="1543" y="140"/>
                  </a:cubicBezTo>
                  <a:cubicBezTo>
                    <a:pt x="1542" y="138"/>
                    <a:pt x="1542" y="137"/>
                    <a:pt x="1541" y="136"/>
                  </a:cubicBezTo>
                  <a:cubicBezTo>
                    <a:pt x="1540" y="135"/>
                    <a:pt x="1540" y="135"/>
                    <a:pt x="1540" y="135"/>
                  </a:cubicBezTo>
                  <a:cubicBezTo>
                    <a:pt x="1539" y="134"/>
                    <a:pt x="1538" y="133"/>
                    <a:pt x="1537" y="132"/>
                  </a:cubicBezTo>
                  <a:cubicBezTo>
                    <a:pt x="1537" y="131"/>
                    <a:pt x="1537" y="131"/>
                    <a:pt x="1537" y="131"/>
                  </a:cubicBezTo>
                  <a:cubicBezTo>
                    <a:pt x="1536" y="130"/>
                    <a:pt x="1535" y="129"/>
                    <a:pt x="1534" y="128"/>
                  </a:cubicBezTo>
                  <a:cubicBezTo>
                    <a:pt x="1533" y="128"/>
                    <a:pt x="1533" y="128"/>
                    <a:pt x="1533" y="128"/>
                  </a:cubicBezTo>
                  <a:cubicBezTo>
                    <a:pt x="1532" y="126"/>
                    <a:pt x="1531" y="125"/>
                    <a:pt x="1529" y="124"/>
                  </a:cubicBezTo>
                  <a:cubicBezTo>
                    <a:pt x="1529" y="123"/>
                    <a:pt x="1529" y="123"/>
                    <a:pt x="1529" y="123"/>
                  </a:cubicBezTo>
                  <a:cubicBezTo>
                    <a:pt x="1527" y="122"/>
                    <a:pt x="1526" y="121"/>
                    <a:pt x="1525" y="120"/>
                  </a:cubicBezTo>
                  <a:cubicBezTo>
                    <a:pt x="1524" y="120"/>
                    <a:pt x="1524" y="120"/>
                    <a:pt x="1524" y="120"/>
                  </a:cubicBezTo>
                  <a:cubicBezTo>
                    <a:pt x="1523" y="119"/>
                    <a:pt x="1521" y="118"/>
                    <a:pt x="1520" y="116"/>
                  </a:cubicBezTo>
                  <a:cubicBezTo>
                    <a:pt x="1519" y="116"/>
                    <a:pt x="1519" y="116"/>
                    <a:pt x="1519" y="116"/>
                  </a:cubicBezTo>
                  <a:cubicBezTo>
                    <a:pt x="1517" y="115"/>
                    <a:pt x="1516" y="114"/>
                    <a:pt x="1514" y="113"/>
                  </a:cubicBezTo>
                  <a:cubicBezTo>
                    <a:pt x="1513" y="112"/>
                    <a:pt x="1513" y="112"/>
                    <a:pt x="1513" y="112"/>
                  </a:cubicBezTo>
                  <a:cubicBezTo>
                    <a:pt x="1511" y="111"/>
                    <a:pt x="1510" y="110"/>
                    <a:pt x="1508" y="109"/>
                  </a:cubicBezTo>
                  <a:cubicBezTo>
                    <a:pt x="1507" y="108"/>
                    <a:pt x="1507" y="108"/>
                    <a:pt x="1507" y="108"/>
                  </a:cubicBezTo>
                  <a:cubicBezTo>
                    <a:pt x="1506" y="107"/>
                    <a:pt x="1504" y="106"/>
                    <a:pt x="1502" y="105"/>
                  </a:cubicBezTo>
                  <a:cubicBezTo>
                    <a:pt x="1501" y="105"/>
                    <a:pt x="1501" y="105"/>
                    <a:pt x="1501" y="105"/>
                  </a:cubicBezTo>
                  <a:cubicBezTo>
                    <a:pt x="1499" y="104"/>
                    <a:pt x="1497" y="103"/>
                    <a:pt x="1495" y="102"/>
                  </a:cubicBezTo>
                  <a:cubicBezTo>
                    <a:pt x="1495" y="101"/>
                    <a:pt x="1494" y="101"/>
                    <a:pt x="1494" y="101"/>
                  </a:cubicBezTo>
                  <a:cubicBezTo>
                    <a:pt x="1492" y="100"/>
                    <a:pt x="1490" y="99"/>
                    <a:pt x="1487" y="98"/>
                  </a:cubicBezTo>
                  <a:cubicBezTo>
                    <a:pt x="1487" y="97"/>
                    <a:pt x="1487" y="97"/>
                    <a:pt x="1487" y="97"/>
                  </a:cubicBezTo>
                  <a:cubicBezTo>
                    <a:pt x="1485" y="96"/>
                    <a:pt x="1483" y="95"/>
                    <a:pt x="1480" y="94"/>
                  </a:cubicBezTo>
                  <a:cubicBezTo>
                    <a:pt x="1480" y="94"/>
                    <a:pt x="1479" y="94"/>
                    <a:pt x="1479" y="94"/>
                  </a:cubicBezTo>
                  <a:cubicBezTo>
                    <a:pt x="1477" y="93"/>
                    <a:pt x="1474" y="92"/>
                    <a:pt x="1472" y="91"/>
                  </a:cubicBezTo>
                  <a:cubicBezTo>
                    <a:pt x="1472" y="91"/>
                    <a:pt x="1471" y="90"/>
                    <a:pt x="1471" y="90"/>
                  </a:cubicBezTo>
                  <a:cubicBezTo>
                    <a:pt x="1470" y="90"/>
                    <a:pt x="1469" y="90"/>
                    <a:pt x="1468" y="89"/>
                  </a:cubicBezTo>
                  <a:cubicBezTo>
                    <a:pt x="1468" y="89"/>
                    <a:pt x="1467" y="89"/>
                    <a:pt x="1466" y="88"/>
                  </a:cubicBezTo>
                  <a:cubicBezTo>
                    <a:pt x="1464" y="88"/>
                    <a:pt x="1463" y="87"/>
                    <a:pt x="1461" y="86"/>
                  </a:cubicBezTo>
                  <a:cubicBezTo>
                    <a:pt x="1460" y="86"/>
                    <a:pt x="1458" y="85"/>
                    <a:pt x="1457" y="85"/>
                  </a:cubicBezTo>
                  <a:cubicBezTo>
                    <a:pt x="1455" y="84"/>
                    <a:pt x="1453" y="83"/>
                    <a:pt x="1452" y="83"/>
                  </a:cubicBezTo>
                  <a:cubicBezTo>
                    <a:pt x="1450" y="82"/>
                    <a:pt x="1449" y="82"/>
                    <a:pt x="1447" y="81"/>
                  </a:cubicBezTo>
                  <a:cubicBezTo>
                    <a:pt x="1445" y="80"/>
                    <a:pt x="1444" y="80"/>
                    <a:pt x="1442" y="79"/>
                  </a:cubicBezTo>
                  <a:cubicBezTo>
                    <a:pt x="1440" y="79"/>
                    <a:pt x="1439" y="78"/>
                    <a:pt x="1437" y="78"/>
                  </a:cubicBezTo>
                  <a:cubicBezTo>
                    <a:pt x="1435" y="77"/>
                    <a:pt x="1433" y="76"/>
                    <a:pt x="1431" y="76"/>
                  </a:cubicBezTo>
                  <a:cubicBezTo>
                    <a:pt x="1430" y="75"/>
                    <a:pt x="1429" y="75"/>
                    <a:pt x="1429" y="75"/>
                  </a:cubicBezTo>
                  <a:cubicBezTo>
                    <a:pt x="1428" y="74"/>
                    <a:pt x="1427" y="74"/>
                    <a:pt x="1427" y="74"/>
                  </a:cubicBezTo>
                  <a:cubicBezTo>
                    <a:pt x="1426" y="74"/>
                    <a:pt x="1424" y="73"/>
                    <a:pt x="1423" y="73"/>
                  </a:cubicBezTo>
                  <a:cubicBezTo>
                    <a:pt x="1421" y="72"/>
                    <a:pt x="1419" y="72"/>
                    <a:pt x="1417" y="71"/>
                  </a:cubicBezTo>
                  <a:cubicBezTo>
                    <a:pt x="1416" y="71"/>
                    <a:pt x="1414" y="70"/>
                    <a:pt x="1413" y="70"/>
                  </a:cubicBezTo>
                  <a:cubicBezTo>
                    <a:pt x="1411" y="69"/>
                    <a:pt x="1409" y="69"/>
                    <a:pt x="1407" y="68"/>
                  </a:cubicBezTo>
                  <a:cubicBezTo>
                    <a:pt x="1405" y="68"/>
                    <a:pt x="1404" y="67"/>
                    <a:pt x="1403" y="67"/>
                  </a:cubicBezTo>
                  <a:cubicBezTo>
                    <a:pt x="1401" y="66"/>
                    <a:pt x="1398" y="65"/>
                    <a:pt x="1396" y="65"/>
                  </a:cubicBezTo>
                  <a:cubicBezTo>
                    <a:pt x="1395" y="65"/>
                    <a:pt x="1394" y="64"/>
                    <a:pt x="1393" y="64"/>
                  </a:cubicBezTo>
                  <a:cubicBezTo>
                    <a:pt x="1392" y="64"/>
                    <a:pt x="1392" y="64"/>
                    <a:pt x="1392" y="64"/>
                  </a:cubicBezTo>
                  <a:cubicBezTo>
                    <a:pt x="1389" y="63"/>
                    <a:pt x="1386" y="62"/>
                    <a:pt x="1383" y="61"/>
                  </a:cubicBezTo>
                  <a:cubicBezTo>
                    <a:pt x="1382" y="61"/>
                    <a:pt x="1381" y="61"/>
                    <a:pt x="1380" y="61"/>
                  </a:cubicBezTo>
                  <a:cubicBezTo>
                    <a:pt x="1377" y="60"/>
                    <a:pt x="1374" y="59"/>
                    <a:pt x="1372" y="59"/>
                  </a:cubicBezTo>
                  <a:cubicBezTo>
                    <a:pt x="1371" y="58"/>
                    <a:pt x="1370" y="58"/>
                    <a:pt x="1369" y="58"/>
                  </a:cubicBezTo>
                  <a:cubicBezTo>
                    <a:pt x="1365" y="57"/>
                    <a:pt x="1362" y="56"/>
                    <a:pt x="1359" y="55"/>
                  </a:cubicBezTo>
                  <a:cubicBezTo>
                    <a:pt x="1358" y="55"/>
                    <a:pt x="1358" y="55"/>
                    <a:pt x="1358" y="55"/>
                  </a:cubicBezTo>
                  <a:cubicBezTo>
                    <a:pt x="1358" y="55"/>
                    <a:pt x="1358" y="55"/>
                    <a:pt x="1358" y="55"/>
                  </a:cubicBezTo>
                  <a:cubicBezTo>
                    <a:pt x="1357" y="55"/>
                    <a:pt x="1357" y="55"/>
                    <a:pt x="1357" y="55"/>
                  </a:cubicBezTo>
                  <a:cubicBezTo>
                    <a:pt x="1353" y="54"/>
                    <a:pt x="1348" y="53"/>
                    <a:pt x="1343" y="52"/>
                  </a:cubicBezTo>
                  <a:cubicBezTo>
                    <a:pt x="1341" y="51"/>
                    <a:pt x="1340" y="51"/>
                    <a:pt x="1338" y="51"/>
                  </a:cubicBezTo>
                  <a:cubicBezTo>
                    <a:pt x="1335" y="50"/>
                    <a:pt x="1331" y="49"/>
                    <a:pt x="1327" y="48"/>
                  </a:cubicBezTo>
                  <a:cubicBezTo>
                    <a:pt x="1326" y="48"/>
                    <a:pt x="1325" y="48"/>
                    <a:pt x="1324" y="48"/>
                  </a:cubicBezTo>
                  <a:cubicBezTo>
                    <a:pt x="1323" y="47"/>
                    <a:pt x="1323" y="47"/>
                    <a:pt x="1322" y="47"/>
                  </a:cubicBezTo>
                  <a:cubicBezTo>
                    <a:pt x="1319" y="46"/>
                    <a:pt x="1315" y="46"/>
                    <a:pt x="1311" y="45"/>
                  </a:cubicBezTo>
                  <a:cubicBezTo>
                    <a:pt x="1310" y="45"/>
                    <a:pt x="1309" y="44"/>
                    <a:pt x="1307" y="44"/>
                  </a:cubicBezTo>
                  <a:cubicBezTo>
                    <a:pt x="1302" y="43"/>
                    <a:pt x="1297" y="42"/>
                    <a:pt x="1292" y="41"/>
                  </a:cubicBezTo>
                  <a:cubicBezTo>
                    <a:pt x="1291" y="41"/>
                    <a:pt x="1291" y="41"/>
                    <a:pt x="1291" y="41"/>
                  </a:cubicBezTo>
                  <a:cubicBezTo>
                    <a:pt x="1291" y="41"/>
                    <a:pt x="1291" y="41"/>
                    <a:pt x="1291" y="41"/>
                  </a:cubicBezTo>
                  <a:cubicBezTo>
                    <a:pt x="1158" y="16"/>
                    <a:pt x="982" y="1"/>
                    <a:pt x="788" y="0"/>
                  </a:cubicBezTo>
                  <a:cubicBezTo>
                    <a:pt x="590" y="0"/>
                    <a:pt x="407" y="14"/>
                    <a:pt x="268" y="39"/>
                  </a:cubicBezTo>
                  <a:cubicBezTo>
                    <a:pt x="268" y="39"/>
                    <a:pt x="268" y="39"/>
                    <a:pt x="268" y="39"/>
                  </a:cubicBezTo>
                  <a:cubicBezTo>
                    <a:pt x="267" y="40"/>
                    <a:pt x="267" y="40"/>
                    <a:pt x="266" y="40"/>
                  </a:cubicBezTo>
                  <a:cubicBezTo>
                    <a:pt x="264" y="40"/>
                    <a:pt x="262" y="40"/>
                    <a:pt x="260" y="41"/>
                  </a:cubicBezTo>
                  <a:cubicBezTo>
                    <a:pt x="258" y="41"/>
                    <a:pt x="255" y="42"/>
                    <a:pt x="253" y="42"/>
                  </a:cubicBezTo>
                  <a:cubicBezTo>
                    <a:pt x="251" y="43"/>
                    <a:pt x="249" y="43"/>
                    <a:pt x="247" y="43"/>
                  </a:cubicBezTo>
                  <a:cubicBezTo>
                    <a:pt x="246" y="44"/>
                    <a:pt x="245" y="44"/>
                    <a:pt x="244" y="44"/>
                  </a:cubicBezTo>
                  <a:cubicBezTo>
                    <a:pt x="243" y="44"/>
                    <a:pt x="242" y="44"/>
                    <a:pt x="241" y="45"/>
                  </a:cubicBezTo>
                  <a:cubicBezTo>
                    <a:pt x="238" y="45"/>
                    <a:pt x="235" y="46"/>
                    <a:pt x="233" y="46"/>
                  </a:cubicBezTo>
                  <a:cubicBezTo>
                    <a:pt x="231" y="47"/>
                    <a:pt x="229" y="47"/>
                    <a:pt x="227" y="47"/>
                  </a:cubicBezTo>
                  <a:cubicBezTo>
                    <a:pt x="224" y="48"/>
                    <a:pt x="222" y="48"/>
                    <a:pt x="219" y="49"/>
                  </a:cubicBezTo>
                  <a:cubicBezTo>
                    <a:pt x="218" y="49"/>
                    <a:pt x="217" y="49"/>
                    <a:pt x="216" y="50"/>
                  </a:cubicBezTo>
                  <a:cubicBezTo>
                    <a:pt x="215" y="50"/>
                    <a:pt x="214" y="50"/>
                    <a:pt x="213" y="50"/>
                  </a:cubicBezTo>
                  <a:cubicBezTo>
                    <a:pt x="210" y="51"/>
                    <a:pt x="207" y="52"/>
                    <a:pt x="204" y="52"/>
                  </a:cubicBezTo>
                  <a:cubicBezTo>
                    <a:pt x="202" y="53"/>
                    <a:pt x="201" y="53"/>
                    <a:pt x="199" y="53"/>
                  </a:cubicBezTo>
                  <a:cubicBezTo>
                    <a:pt x="195" y="54"/>
                    <a:pt x="191" y="55"/>
                    <a:pt x="187" y="56"/>
                  </a:cubicBezTo>
                  <a:cubicBezTo>
                    <a:pt x="186" y="57"/>
                    <a:pt x="186" y="57"/>
                    <a:pt x="186" y="57"/>
                  </a:cubicBezTo>
                  <a:cubicBezTo>
                    <a:pt x="186" y="57"/>
                    <a:pt x="186" y="57"/>
                    <a:pt x="186" y="57"/>
                  </a:cubicBezTo>
                  <a:cubicBezTo>
                    <a:pt x="181" y="58"/>
                    <a:pt x="176" y="59"/>
                    <a:pt x="172" y="60"/>
                  </a:cubicBezTo>
                  <a:cubicBezTo>
                    <a:pt x="171" y="60"/>
                    <a:pt x="169" y="61"/>
                    <a:pt x="168" y="61"/>
                  </a:cubicBezTo>
                  <a:cubicBezTo>
                    <a:pt x="165" y="62"/>
                    <a:pt x="162" y="63"/>
                    <a:pt x="158" y="64"/>
                  </a:cubicBezTo>
                  <a:cubicBezTo>
                    <a:pt x="158" y="64"/>
                    <a:pt x="157" y="64"/>
                    <a:pt x="156" y="64"/>
                  </a:cubicBezTo>
                  <a:cubicBezTo>
                    <a:pt x="155" y="64"/>
                    <a:pt x="155" y="65"/>
                    <a:pt x="154" y="65"/>
                  </a:cubicBezTo>
                  <a:cubicBezTo>
                    <a:pt x="151" y="66"/>
                    <a:pt x="148" y="66"/>
                    <a:pt x="146" y="67"/>
                  </a:cubicBezTo>
                  <a:cubicBezTo>
                    <a:pt x="144" y="68"/>
                    <a:pt x="143" y="68"/>
                    <a:pt x="141" y="68"/>
                  </a:cubicBezTo>
                  <a:cubicBezTo>
                    <a:pt x="138" y="69"/>
                    <a:pt x="135" y="70"/>
                    <a:pt x="132" y="71"/>
                  </a:cubicBezTo>
                  <a:cubicBezTo>
                    <a:pt x="131" y="72"/>
                    <a:pt x="131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26" y="73"/>
                    <a:pt x="122" y="74"/>
                    <a:pt x="119" y="76"/>
                  </a:cubicBezTo>
                  <a:cubicBezTo>
                    <a:pt x="118" y="76"/>
                    <a:pt x="117" y="76"/>
                    <a:pt x="116" y="76"/>
                  </a:cubicBezTo>
                  <a:cubicBezTo>
                    <a:pt x="114" y="77"/>
                    <a:pt x="111" y="78"/>
                    <a:pt x="108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6" y="80"/>
                    <a:pt x="105" y="80"/>
                    <a:pt x="104" y="80"/>
                  </a:cubicBezTo>
                  <a:cubicBezTo>
                    <a:pt x="102" y="81"/>
                    <a:pt x="100" y="82"/>
                    <a:pt x="98" y="83"/>
                  </a:cubicBezTo>
                  <a:cubicBezTo>
                    <a:pt x="97" y="83"/>
                    <a:pt x="96" y="84"/>
                    <a:pt x="94" y="84"/>
                  </a:cubicBezTo>
                  <a:cubicBezTo>
                    <a:pt x="92" y="85"/>
                    <a:pt x="91" y="86"/>
                    <a:pt x="89" y="86"/>
                  </a:cubicBezTo>
                  <a:cubicBezTo>
                    <a:pt x="88" y="86"/>
                    <a:pt x="88" y="87"/>
                    <a:pt x="87" y="87"/>
                  </a:cubicBezTo>
                  <a:cubicBezTo>
                    <a:pt x="86" y="87"/>
                    <a:pt x="86" y="88"/>
                    <a:pt x="85" y="88"/>
                  </a:cubicBezTo>
                  <a:cubicBezTo>
                    <a:pt x="83" y="89"/>
                    <a:pt x="82" y="89"/>
                    <a:pt x="80" y="90"/>
                  </a:cubicBezTo>
                  <a:cubicBezTo>
                    <a:pt x="79" y="90"/>
                    <a:pt x="78" y="91"/>
                    <a:pt x="76" y="91"/>
                  </a:cubicBezTo>
                  <a:cubicBezTo>
                    <a:pt x="75" y="92"/>
                    <a:pt x="73" y="93"/>
                    <a:pt x="72" y="93"/>
                  </a:cubicBezTo>
                  <a:cubicBezTo>
                    <a:pt x="71" y="94"/>
                    <a:pt x="71" y="94"/>
                    <a:pt x="70" y="94"/>
                  </a:cubicBezTo>
                  <a:cubicBezTo>
                    <a:pt x="69" y="94"/>
                    <a:pt x="69" y="95"/>
                    <a:pt x="68" y="95"/>
                  </a:cubicBezTo>
                  <a:cubicBezTo>
                    <a:pt x="67" y="96"/>
                    <a:pt x="65" y="96"/>
                    <a:pt x="64" y="97"/>
                  </a:cubicBezTo>
                  <a:cubicBezTo>
                    <a:pt x="63" y="98"/>
                    <a:pt x="62" y="98"/>
                    <a:pt x="60" y="99"/>
                  </a:cubicBezTo>
                  <a:cubicBezTo>
                    <a:pt x="59" y="99"/>
                    <a:pt x="58" y="100"/>
                    <a:pt x="57" y="101"/>
                  </a:cubicBezTo>
                  <a:cubicBezTo>
                    <a:pt x="56" y="101"/>
                    <a:pt x="56" y="101"/>
                    <a:pt x="55" y="101"/>
                  </a:cubicBezTo>
                  <a:cubicBezTo>
                    <a:pt x="54" y="102"/>
                    <a:pt x="54" y="102"/>
                    <a:pt x="53" y="102"/>
                  </a:cubicBezTo>
                  <a:cubicBezTo>
                    <a:pt x="52" y="103"/>
                    <a:pt x="51" y="104"/>
                    <a:pt x="50" y="104"/>
                  </a:cubicBezTo>
                  <a:cubicBezTo>
                    <a:pt x="49" y="105"/>
                    <a:pt x="48" y="105"/>
                    <a:pt x="47" y="106"/>
                  </a:cubicBezTo>
                  <a:cubicBezTo>
                    <a:pt x="46" y="107"/>
                    <a:pt x="45" y="107"/>
                    <a:pt x="44" y="108"/>
                  </a:cubicBezTo>
                  <a:cubicBezTo>
                    <a:pt x="43" y="108"/>
                    <a:pt x="43" y="108"/>
                    <a:pt x="42" y="109"/>
                  </a:cubicBezTo>
                  <a:cubicBezTo>
                    <a:pt x="42" y="109"/>
                    <a:pt x="41" y="109"/>
                    <a:pt x="40" y="110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7" y="112"/>
                    <a:pt x="36" y="113"/>
                    <a:pt x="35" y="113"/>
                  </a:cubicBezTo>
                  <a:cubicBezTo>
                    <a:pt x="34" y="114"/>
                    <a:pt x="33" y="115"/>
                    <a:pt x="32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0" y="116"/>
                    <a:pt x="30" y="117"/>
                    <a:pt x="29" y="117"/>
                  </a:cubicBezTo>
                  <a:cubicBezTo>
                    <a:pt x="28" y="118"/>
                    <a:pt x="28" y="118"/>
                    <a:pt x="27" y="119"/>
                  </a:cubicBezTo>
                  <a:cubicBezTo>
                    <a:pt x="26" y="120"/>
                    <a:pt x="25" y="120"/>
                    <a:pt x="24" y="121"/>
                  </a:cubicBezTo>
                  <a:cubicBezTo>
                    <a:pt x="24" y="121"/>
                    <a:pt x="23" y="122"/>
                    <a:pt x="22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1" y="124"/>
                    <a:pt x="20" y="124"/>
                    <a:pt x="20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7" y="127"/>
                    <a:pt x="16" y="128"/>
                    <a:pt x="15" y="129"/>
                  </a:cubicBezTo>
                  <a:cubicBezTo>
                    <a:pt x="15" y="129"/>
                    <a:pt x="15" y="130"/>
                    <a:pt x="14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31"/>
                    <a:pt x="12" y="133"/>
                    <a:pt x="11" y="134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36"/>
                    <a:pt x="9" y="137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7" y="138"/>
                    <a:pt x="7" y="139"/>
                    <a:pt x="7" y="139"/>
                  </a:cubicBezTo>
                  <a:cubicBezTo>
                    <a:pt x="6" y="140"/>
                    <a:pt x="6" y="141"/>
                    <a:pt x="5" y="142"/>
                  </a:cubicBezTo>
                  <a:cubicBezTo>
                    <a:pt x="5" y="142"/>
                    <a:pt x="5" y="143"/>
                    <a:pt x="4" y="143"/>
                  </a:cubicBezTo>
                  <a:cubicBezTo>
                    <a:pt x="4" y="144"/>
                    <a:pt x="4" y="145"/>
                    <a:pt x="3" y="145"/>
                  </a:cubicBezTo>
                  <a:cubicBezTo>
                    <a:pt x="3" y="146"/>
                    <a:pt x="3" y="146"/>
                    <a:pt x="3" y="146"/>
                  </a:cubicBezTo>
                  <a:cubicBezTo>
                    <a:pt x="3" y="146"/>
                    <a:pt x="3" y="147"/>
                    <a:pt x="2" y="148"/>
                  </a:cubicBezTo>
                  <a:cubicBezTo>
                    <a:pt x="2" y="148"/>
                    <a:pt x="2" y="149"/>
                    <a:pt x="2" y="150"/>
                  </a:cubicBezTo>
                  <a:cubicBezTo>
                    <a:pt x="1" y="150"/>
                    <a:pt x="1" y="151"/>
                    <a:pt x="1" y="152"/>
                  </a:cubicBezTo>
                  <a:cubicBezTo>
                    <a:pt x="1" y="152"/>
                    <a:pt x="1" y="153"/>
                    <a:pt x="1" y="153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6"/>
                    <a:pt x="0" y="157"/>
                    <a:pt x="0" y="159"/>
                  </a:cubicBezTo>
                  <a:cubicBezTo>
                    <a:pt x="0" y="159"/>
                    <a:pt x="0" y="160"/>
                    <a:pt x="0" y="161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3"/>
                    <a:pt x="0" y="164"/>
                    <a:pt x="0" y="164"/>
                  </a:cubicBezTo>
                  <a:cubicBezTo>
                    <a:pt x="0" y="165"/>
                    <a:pt x="0" y="166"/>
                    <a:pt x="0" y="167"/>
                  </a:cubicBezTo>
                  <a:cubicBezTo>
                    <a:pt x="0" y="167"/>
                    <a:pt x="0" y="168"/>
                    <a:pt x="0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0"/>
                    <a:pt x="1" y="171"/>
                    <a:pt x="1" y="171"/>
                  </a:cubicBezTo>
                  <a:cubicBezTo>
                    <a:pt x="1" y="172"/>
                    <a:pt x="1" y="172"/>
                    <a:pt x="1" y="173"/>
                  </a:cubicBezTo>
                  <a:cubicBezTo>
                    <a:pt x="2" y="174"/>
                    <a:pt x="2" y="176"/>
                    <a:pt x="3" y="177"/>
                  </a:cubicBezTo>
                  <a:cubicBezTo>
                    <a:pt x="18" y="209"/>
                    <a:pt x="33" y="242"/>
                    <a:pt x="48" y="274"/>
                  </a:cubicBezTo>
                  <a:cubicBezTo>
                    <a:pt x="79" y="342"/>
                    <a:pt x="109" y="409"/>
                    <a:pt x="140" y="476"/>
                  </a:cubicBezTo>
                  <a:cubicBezTo>
                    <a:pt x="141" y="477"/>
                    <a:pt x="141" y="477"/>
                    <a:pt x="141" y="477"/>
                  </a:cubicBezTo>
                  <a:cubicBezTo>
                    <a:pt x="141" y="477"/>
                    <a:pt x="141" y="478"/>
                    <a:pt x="141" y="478"/>
                  </a:cubicBezTo>
                  <a:cubicBezTo>
                    <a:pt x="142" y="479"/>
                    <a:pt x="142" y="479"/>
                    <a:pt x="142" y="479"/>
                  </a:cubicBezTo>
                  <a:cubicBezTo>
                    <a:pt x="143" y="480"/>
                    <a:pt x="143" y="480"/>
                    <a:pt x="143" y="480"/>
                  </a:cubicBezTo>
                  <a:cubicBezTo>
                    <a:pt x="143" y="481"/>
                    <a:pt x="143" y="481"/>
                    <a:pt x="143" y="481"/>
                  </a:cubicBezTo>
                  <a:cubicBezTo>
                    <a:pt x="144" y="482"/>
                    <a:pt x="144" y="482"/>
                    <a:pt x="145" y="483"/>
                  </a:cubicBezTo>
                  <a:cubicBezTo>
                    <a:pt x="145" y="484"/>
                    <a:pt x="145" y="484"/>
                    <a:pt x="145" y="484"/>
                  </a:cubicBezTo>
                  <a:cubicBezTo>
                    <a:pt x="146" y="485"/>
                    <a:pt x="146" y="485"/>
                    <a:pt x="146" y="485"/>
                  </a:cubicBezTo>
                  <a:cubicBezTo>
                    <a:pt x="146" y="485"/>
                    <a:pt x="147" y="486"/>
                    <a:pt x="147" y="486"/>
                  </a:cubicBezTo>
                  <a:cubicBezTo>
                    <a:pt x="148" y="487"/>
                    <a:pt x="148" y="487"/>
                    <a:pt x="148" y="487"/>
                  </a:cubicBezTo>
                  <a:cubicBezTo>
                    <a:pt x="148" y="487"/>
                    <a:pt x="148" y="487"/>
                    <a:pt x="148" y="487"/>
                  </a:cubicBezTo>
                  <a:cubicBezTo>
                    <a:pt x="148" y="488"/>
                    <a:pt x="148" y="488"/>
                    <a:pt x="148" y="488"/>
                  </a:cubicBezTo>
                  <a:cubicBezTo>
                    <a:pt x="149" y="488"/>
                    <a:pt x="150" y="489"/>
                    <a:pt x="150" y="490"/>
                  </a:cubicBezTo>
                  <a:cubicBezTo>
                    <a:pt x="151" y="490"/>
                    <a:pt x="151" y="490"/>
                    <a:pt x="151" y="491"/>
                  </a:cubicBezTo>
                  <a:cubicBezTo>
                    <a:pt x="152" y="491"/>
                    <a:pt x="152" y="491"/>
                    <a:pt x="152" y="491"/>
                  </a:cubicBezTo>
                  <a:cubicBezTo>
                    <a:pt x="152" y="492"/>
                    <a:pt x="152" y="492"/>
                    <a:pt x="152" y="492"/>
                  </a:cubicBezTo>
                  <a:cubicBezTo>
                    <a:pt x="153" y="492"/>
                    <a:pt x="153" y="493"/>
                    <a:pt x="154" y="493"/>
                  </a:cubicBezTo>
                  <a:cubicBezTo>
                    <a:pt x="155" y="494"/>
                    <a:pt x="155" y="494"/>
                    <a:pt x="155" y="494"/>
                  </a:cubicBezTo>
                  <a:cubicBezTo>
                    <a:pt x="156" y="495"/>
                    <a:pt x="156" y="495"/>
                    <a:pt x="156" y="495"/>
                  </a:cubicBezTo>
                  <a:cubicBezTo>
                    <a:pt x="156" y="495"/>
                    <a:pt x="156" y="495"/>
                    <a:pt x="157" y="496"/>
                  </a:cubicBezTo>
                  <a:cubicBezTo>
                    <a:pt x="157" y="496"/>
                    <a:pt x="158" y="497"/>
                    <a:pt x="159" y="497"/>
                  </a:cubicBezTo>
                  <a:cubicBezTo>
                    <a:pt x="159" y="498"/>
                    <a:pt x="159" y="498"/>
                    <a:pt x="159" y="498"/>
                  </a:cubicBezTo>
                  <a:cubicBezTo>
                    <a:pt x="160" y="498"/>
                    <a:pt x="160" y="498"/>
                    <a:pt x="160" y="498"/>
                  </a:cubicBezTo>
                  <a:cubicBezTo>
                    <a:pt x="160" y="498"/>
                    <a:pt x="161" y="499"/>
                    <a:pt x="161" y="499"/>
                  </a:cubicBezTo>
                  <a:cubicBezTo>
                    <a:pt x="162" y="499"/>
                    <a:pt x="162" y="500"/>
                    <a:pt x="163" y="500"/>
                  </a:cubicBezTo>
                  <a:cubicBezTo>
                    <a:pt x="163" y="500"/>
                    <a:pt x="163" y="501"/>
                    <a:pt x="164" y="501"/>
                  </a:cubicBezTo>
                  <a:cubicBezTo>
                    <a:pt x="164" y="501"/>
                    <a:pt x="164" y="501"/>
                    <a:pt x="164" y="501"/>
                  </a:cubicBezTo>
                  <a:cubicBezTo>
                    <a:pt x="165" y="502"/>
                    <a:pt x="165" y="502"/>
                    <a:pt x="165" y="502"/>
                  </a:cubicBezTo>
                  <a:cubicBezTo>
                    <a:pt x="165" y="502"/>
                    <a:pt x="166" y="502"/>
                    <a:pt x="166" y="502"/>
                  </a:cubicBezTo>
                  <a:cubicBezTo>
                    <a:pt x="167" y="503"/>
                    <a:pt x="167" y="503"/>
                    <a:pt x="167" y="503"/>
                  </a:cubicBezTo>
                  <a:cubicBezTo>
                    <a:pt x="168" y="503"/>
                    <a:pt x="168" y="504"/>
                    <a:pt x="169" y="504"/>
                  </a:cubicBezTo>
                  <a:cubicBezTo>
                    <a:pt x="170" y="505"/>
                    <a:pt x="171" y="505"/>
                    <a:pt x="171" y="506"/>
                  </a:cubicBezTo>
                  <a:cubicBezTo>
                    <a:pt x="172" y="506"/>
                    <a:pt x="172" y="506"/>
                    <a:pt x="172" y="506"/>
                  </a:cubicBezTo>
                  <a:cubicBezTo>
                    <a:pt x="173" y="507"/>
                    <a:pt x="173" y="507"/>
                    <a:pt x="174" y="507"/>
                  </a:cubicBezTo>
                  <a:cubicBezTo>
                    <a:pt x="175" y="508"/>
                    <a:pt x="176" y="508"/>
                    <a:pt x="177" y="509"/>
                  </a:cubicBezTo>
                  <a:cubicBezTo>
                    <a:pt x="178" y="509"/>
                    <a:pt x="178" y="509"/>
                    <a:pt x="178" y="509"/>
                  </a:cubicBezTo>
                  <a:cubicBezTo>
                    <a:pt x="178" y="510"/>
                    <a:pt x="179" y="510"/>
                    <a:pt x="179" y="510"/>
                  </a:cubicBezTo>
                  <a:cubicBezTo>
                    <a:pt x="179" y="510"/>
                    <a:pt x="179" y="510"/>
                    <a:pt x="179" y="510"/>
                  </a:cubicBezTo>
                  <a:cubicBezTo>
                    <a:pt x="180" y="511"/>
                    <a:pt x="181" y="511"/>
                    <a:pt x="182" y="512"/>
                  </a:cubicBezTo>
                  <a:cubicBezTo>
                    <a:pt x="183" y="512"/>
                    <a:pt x="183" y="512"/>
                    <a:pt x="184" y="513"/>
                  </a:cubicBezTo>
                  <a:cubicBezTo>
                    <a:pt x="184" y="513"/>
                    <a:pt x="185" y="513"/>
                    <a:pt x="185" y="513"/>
                  </a:cubicBezTo>
                  <a:cubicBezTo>
                    <a:pt x="186" y="514"/>
                    <a:pt x="187" y="514"/>
                    <a:pt x="188" y="515"/>
                  </a:cubicBezTo>
                  <a:cubicBezTo>
                    <a:pt x="189" y="515"/>
                    <a:pt x="190" y="516"/>
                    <a:pt x="191" y="516"/>
                  </a:cubicBezTo>
                  <a:cubicBezTo>
                    <a:pt x="191" y="516"/>
                    <a:pt x="191" y="516"/>
                    <a:pt x="191" y="516"/>
                  </a:cubicBezTo>
                  <a:cubicBezTo>
                    <a:pt x="192" y="517"/>
                    <a:pt x="192" y="517"/>
                    <a:pt x="192" y="517"/>
                  </a:cubicBezTo>
                  <a:cubicBezTo>
                    <a:pt x="193" y="517"/>
                    <a:pt x="193" y="517"/>
                    <a:pt x="194" y="518"/>
                  </a:cubicBezTo>
                  <a:cubicBezTo>
                    <a:pt x="195" y="518"/>
                    <a:pt x="196" y="518"/>
                    <a:pt x="197" y="519"/>
                  </a:cubicBezTo>
                  <a:cubicBezTo>
                    <a:pt x="197" y="519"/>
                    <a:pt x="198" y="520"/>
                    <a:pt x="199" y="520"/>
                  </a:cubicBezTo>
                  <a:cubicBezTo>
                    <a:pt x="199" y="520"/>
                    <a:pt x="200" y="520"/>
                    <a:pt x="201" y="521"/>
                  </a:cubicBezTo>
                  <a:cubicBezTo>
                    <a:pt x="201" y="521"/>
                    <a:pt x="202" y="521"/>
                    <a:pt x="203" y="522"/>
                  </a:cubicBezTo>
                  <a:cubicBezTo>
                    <a:pt x="204" y="522"/>
                    <a:pt x="205" y="523"/>
                    <a:pt x="206" y="523"/>
                  </a:cubicBezTo>
                  <a:cubicBezTo>
                    <a:pt x="207" y="523"/>
                    <a:pt x="208" y="523"/>
                    <a:pt x="208" y="524"/>
                  </a:cubicBezTo>
                  <a:cubicBezTo>
                    <a:pt x="209" y="524"/>
                    <a:pt x="209" y="524"/>
                    <a:pt x="210" y="524"/>
                  </a:cubicBezTo>
                  <a:cubicBezTo>
                    <a:pt x="211" y="525"/>
                    <a:pt x="213" y="526"/>
                    <a:pt x="214" y="526"/>
                  </a:cubicBezTo>
                  <a:cubicBezTo>
                    <a:pt x="215" y="526"/>
                    <a:pt x="215" y="526"/>
                    <a:pt x="215" y="526"/>
                  </a:cubicBezTo>
                  <a:cubicBezTo>
                    <a:pt x="215" y="526"/>
                    <a:pt x="216" y="527"/>
                    <a:pt x="216" y="527"/>
                  </a:cubicBezTo>
                  <a:cubicBezTo>
                    <a:pt x="217" y="527"/>
                    <a:pt x="217" y="527"/>
                    <a:pt x="217" y="527"/>
                  </a:cubicBezTo>
                  <a:cubicBezTo>
                    <a:pt x="219" y="528"/>
                    <a:pt x="220" y="528"/>
                    <a:pt x="222" y="529"/>
                  </a:cubicBezTo>
                  <a:cubicBezTo>
                    <a:pt x="223" y="529"/>
                    <a:pt x="223" y="530"/>
                    <a:pt x="224" y="530"/>
                  </a:cubicBezTo>
                  <a:cubicBezTo>
                    <a:pt x="226" y="531"/>
                    <a:pt x="228" y="531"/>
                    <a:pt x="230" y="532"/>
                  </a:cubicBezTo>
                  <a:cubicBezTo>
                    <a:pt x="231" y="532"/>
                    <a:pt x="231" y="532"/>
                    <a:pt x="232" y="533"/>
                  </a:cubicBezTo>
                  <a:cubicBezTo>
                    <a:pt x="233" y="533"/>
                    <a:pt x="233" y="533"/>
                    <a:pt x="234" y="533"/>
                  </a:cubicBezTo>
                  <a:cubicBezTo>
                    <a:pt x="234" y="533"/>
                    <a:pt x="235" y="534"/>
                    <a:pt x="236" y="534"/>
                  </a:cubicBezTo>
                  <a:cubicBezTo>
                    <a:pt x="237" y="534"/>
                    <a:pt x="239" y="535"/>
                    <a:pt x="240" y="535"/>
                  </a:cubicBezTo>
                  <a:cubicBezTo>
                    <a:pt x="240" y="535"/>
                    <a:pt x="240" y="535"/>
                    <a:pt x="240" y="535"/>
                  </a:cubicBezTo>
                  <a:cubicBezTo>
                    <a:pt x="241" y="535"/>
                    <a:pt x="242" y="536"/>
                    <a:pt x="243" y="536"/>
                  </a:cubicBezTo>
                  <a:cubicBezTo>
                    <a:pt x="244" y="536"/>
                    <a:pt x="245" y="537"/>
                    <a:pt x="246" y="537"/>
                  </a:cubicBezTo>
                  <a:cubicBezTo>
                    <a:pt x="247" y="537"/>
                    <a:pt x="247" y="537"/>
                    <a:pt x="248" y="538"/>
                  </a:cubicBezTo>
                  <a:cubicBezTo>
                    <a:pt x="249" y="538"/>
                    <a:pt x="250" y="538"/>
                    <a:pt x="251" y="538"/>
                  </a:cubicBezTo>
                  <a:cubicBezTo>
                    <a:pt x="251" y="539"/>
                    <a:pt x="252" y="539"/>
                    <a:pt x="253" y="539"/>
                  </a:cubicBezTo>
                  <a:cubicBezTo>
                    <a:pt x="253" y="539"/>
                    <a:pt x="254" y="539"/>
                    <a:pt x="255" y="540"/>
                  </a:cubicBezTo>
                  <a:cubicBezTo>
                    <a:pt x="256" y="540"/>
                    <a:pt x="256" y="540"/>
                    <a:pt x="257" y="540"/>
                  </a:cubicBezTo>
                  <a:cubicBezTo>
                    <a:pt x="258" y="541"/>
                    <a:pt x="259" y="541"/>
                    <a:pt x="260" y="541"/>
                  </a:cubicBezTo>
                  <a:cubicBezTo>
                    <a:pt x="262" y="542"/>
                    <a:pt x="263" y="542"/>
                    <a:pt x="265" y="543"/>
                  </a:cubicBezTo>
                  <a:cubicBezTo>
                    <a:pt x="266" y="543"/>
                    <a:pt x="266" y="543"/>
                    <a:pt x="266" y="543"/>
                  </a:cubicBezTo>
                  <a:cubicBezTo>
                    <a:pt x="267" y="543"/>
                    <a:pt x="268" y="543"/>
                    <a:pt x="269" y="544"/>
                  </a:cubicBezTo>
                  <a:cubicBezTo>
                    <a:pt x="271" y="544"/>
                    <a:pt x="273" y="545"/>
                    <a:pt x="275" y="545"/>
                  </a:cubicBezTo>
                  <a:cubicBezTo>
                    <a:pt x="275" y="545"/>
                    <a:pt x="276" y="545"/>
                    <a:pt x="276" y="546"/>
                  </a:cubicBezTo>
                  <a:cubicBezTo>
                    <a:pt x="277" y="546"/>
                    <a:pt x="277" y="546"/>
                    <a:pt x="277" y="546"/>
                  </a:cubicBezTo>
                  <a:cubicBezTo>
                    <a:pt x="278" y="546"/>
                    <a:pt x="278" y="546"/>
                    <a:pt x="279" y="546"/>
                  </a:cubicBezTo>
                  <a:cubicBezTo>
                    <a:pt x="280" y="547"/>
                    <a:pt x="282" y="547"/>
                    <a:pt x="284" y="548"/>
                  </a:cubicBezTo>
                  <a:cubicBezTo>
                    <a:pt x="285" y="548"/>
                    <a:pt x="286" y="548"/>
                    <a:pt x="287" y="548"/>
                  </a:cubicBezTo>
                  <a:cubicBezTo>
                    <a:pt x="287" y="548"/>
                    <a:pt x="288" y="549"/>
                    <a:pt x="289" y="549"/>
                  </a:cubicBezTo>
                  <a:cubicBezTo>
                    <a:pt x="291" y="549"/>
                    <a:pt x="292" y="550"/>
                    <a:pt x="294" y="550"/>
                  </a:cubicBezTo>
                  <a:cubicBezTo>
                    <a:pt x="295" y="550"/>
                    <a:pt x="296" y="551"/>
                    <a:pt x="298" y="551"/>
                  </a:cubicBezTo>
                  <a:cubicBezTo>
                    <a:pt x="298" y="551"/>
                    <a:pt x="299" y="551"/>
                    <a:pt x="300" y="551"/>
                  </a:cubicBezTo>
                  <a:cubicBezTo>
                    <a:pt x="301" y="552"/>
                    <a:pt x="302" y="552"/>
                    <a:pt x="304" y="552"/>
                  </a:cubicBezTo>
                  <a:cubicBezTo>
                    <a:pt x="305" y="553"/>
                    <a:pt x="306" y="553"/>
                    <a:pt x="308" y="553"/>
                  </a:cubicBezTo>
                  <a:cubicBezTo>
                    <a:pt x="309" y="553"/>
                    <a:pt x="310" y="554"/>
                    <a:pt x="311" y="554"/>
                  </a:cubicBezTo>
                  <a:cubicBezTo>
                    <a:pt x="312" y="554"/>
                    <a:pt x="313" y="554"/>
                    <a:pt x="314" y="554"/>
                  </a:cubicBezTo>
                  <a:cubicBezTo>
                    <a:pt x="314" y="554"/>
                    <a:pt x="314" y="554"/>
                    <a:pt x="314" y="554"/>
                  </a:cubicBezTo>
                  <a:cubicBezTo>
                    <a:pt x="315" y="555"/>
                    <a:pt x="317" y="555"/>
                    <a:pt x="318" y="555"/>
                  </a:cubicBezTo>
                  <a:cubicBezTo>
                    <a:pt x="320" y="556"/>
                    <a:pt x="321" y="556"/>
                    <a:pt x="323" y="556"/>
                  </a:cubicBezTo>
                  <a:cubicBezTo>
                    <a:pt x="324" y="557"/>
                    <a:pt x="325" y="557"/>
                    <a:pt x="325" y="557"/>
                  </a:cubicBezTo>
                  <a:cubicBezTo>
                    <a:pt x="326" y="557"/>
                    <a:pt x="327" y="557"/>
                    <a:pt x="328" y="558"/>
                  </a:cubicBezTo>
                  <a:cubicBezTo>
                    <a:pt x="331" y="558"/>
                    <a:pt x="333" y="558"/>
                    <a:pt x="335" y="559"/>
                  </a:cubicBezTo>
                  <a:cubicBezTo>
                    <a:pt x="336" y="559"/>
                    <a:pt x="337" y="559"/>
                    <a:pt x="338" y="559"/>
                  </a:cubicBezTo>
                  <a:cubicBezTo>
                    <a:pt x="338" y="560"/>
                    <a:pt x="339" y="560"/>
                    <a:pt x="339" y="560"/>
                  </a:cubicBezTo>
                  <a:cubicBezTo>
                    <a:pt x="341" y="560"/>
                    <a:pt x="344" y="561"/>
                    <a:pt x="346" y="561"/>
                  </a:cubicBezTo>
                  <a:cubicBezTo>
                    <a:pt x="347" y="561"/>
                    <a:pt x="349" y="562"/>
                    <a:pt x="350" y="562"/>
                  </a:cubicBezTo>
                  <a:cubicBezTo>
                    <a:pt x="351" y="562"/>
                    <a:pt x="351" y="562"/>
                    <a:pt x="351" y="562"/>
                  </a:cubicBezTo>
                  <a:cubicBezTo>
                    <a:pt x="353" y="562"/>
                    <a:pt x="355" y="563"/>
                    <a:pt x="358" y="563"/>
                  </a:cubicBezTo>
                  <a:cubicBezTo>
                    <a:pt x="359" y="563"/>
                    <a:pt x="360" y="564"/>
                    <a:pt x="361" y="564"/>
                  </a:cubicBezTo>
                  <a:cubicBezTo>
                    <a:pt x="362" y="564"/>
                    <a:pt x="363" y="564"/>
                    <a:pt x="363" y="564"/>
                  </a:cubicBezTo>
                  <a:cubicBezTo>
                    <a:pt x="364" y="564"/>
                    <a:pt x="365" y="565"/>
                    <a:pt x="366" y="565"/>
                  </a:cubicBezTo>
                  <a:cubicBezTo>
                    <a:pt x="368" y="565"/>
                    <a:pt x="370" y="565"/>
                    <a:pt x="372" y="566"/>
                  </a:cubicBezTo>
                  <a:cubicBezTo>
                    <a:pt x="373" y="566"/>
                    <a:pt x="373" y="566"/>
                    <a:pt x="373" y="566"/>
                  </a:cubicBezTo>
                  <a:cubicBezTo>
                    <a:pt x="374" y="566"/>
                    <a:pt x="375" y="566"/>
                    <a:pt x="376" y="566"/>
                  </a:cubicBezTo>
                  <a:cubicBezTo>
                    <a:pt x="377" y="567"/>
                    <a:pt x="379" y="567"/>
                    <a:pt x="380" y="567"/>
                  </a:cubicBezTo>
                  <a:cubicBezTo>
                    <a:pt x="382" y="567"/>
                    <a:pt x="383" y="568"/>
                    <a:pt x="384" y="568"/>
                  </a:cubicBezTo>
                  <a:cubicBezTo>
                    <a:pt x="385" y="568"/>
                    <a:pt x="386" y="568"/>
                    <a:pt x="387" y="568"/>
                  </a:cubicBezTo>
                  <a:cubicBezTo>
                    <a:pt x="388" y="568"/>
                    <a:pt x="389" y="568"/>
                    <a:pt x="390" y="569"/>
                  </a:cubicBezTo>
                  <a:cubicBezTo>
                    <a:pt x="391" y="569"/>
                    <a:pt x="392" y="569"/>
                    <a:pt x="393" y="569"/>
                  </a:cubicBezTo>
                  <a:cubicBezTo>
                    <a:pt x="394" y="569"/>
                    <a:pt x="395" y="569"/>
                    <a:pt x="396" y="570"/>
                  </a:cubicBezTo>
                  <a:cubicBezTo>
                    <a:pt x="398" y="570"/>
                    <a:pt x="399" y="570"/>
                    <a:pt x="400" y="570"/>
                  </a:cubicBezTo>
                  <a:cubicBezTo>
                    <a:pt x="403" y="571"/>
                    <a:pt x="406" y="571"/>
                    <a:pt x="408" y="571"/>
                  </a:cubicBezTo>
                  <a:cubicBezTo>
                    <a:pt x="410" y="572"/>
                    <a:pt x="411" y="572"/>
                    <a:pt x="413" y="572"/>
                  </a:cubicBezTo>
                  <a:cubicBezTo>
                    <a:pt x="415" y="572"/>
                    <a:pt x="418" y="573"/>
                    <a:pt x="420" y="573"/>
                  </a:cubicBezTo>
                  <a:cubicBezTo>
                    <a:pt x="421" y="573"/>
                    <a:pt x="421" y="573"/>
                    <a:pt x="421" y="573"/>
                  </a:cubicBezTo>
                  <a:cubicBezTo>
                    <a:pt x="422" y="573"/>
                    <a:pt x="422" y="573"/>
                    <a:pt x="422" y="573"/>
                  </a:cubicBezTo>
                  <a:cubicBezTo>
                    <a:pt x="423" y="574"/>
                    <a:pt x="424" y="574"/>
                    <a:pt x="426" y="574"/>
                  </a:cubicBezTo>
                  <a:cubicBezTo>
                    <a:pt x="428" y="574"/>
                    <a:pt x="430" y="575"/>
                    <a:pt x="433" y="575"/>
                  </a:cubicBezTo>
                  <a:cubicBezTo>
                    <a:pt x="434" y="575"/>
                    <a:pt x="435" y="575"/>
                    <a:pt x="436" y="575"/>
                  </a:cubicBezTo>
                  <a:cubicBezTo>
                    <a:pt x="437" y="575"/>
                    <a:pt x="437" y="575"/>
                    <a:pt x="437" y="575"/>
                  </a:cubicBezTo>
                  <a:cubicBezTo>
                    <a:pt x="438" y="575"/>
                    <a:pt x="438" y="576"/>
                    <a:pt x="439" y="576"/>
                  </a:cubicBezTo>
                  <a:cubicBezTo>
                    <a:pt x="441" y="576"/>
                    <a:pt x="443" y="576"/>
                    <a:pt x="446" y="576"/>
                  </a:cubicBezTo>
                  <a:cubicBezTo>
                    <a:pt x="447" y="577"/>
                    <a:pt x="449" y="577"/>
                    <a:pt x="451" y="577"/>
                  </a:cubicBezTo>
                  <a:cubicBezTo>
                    <a:pt x="452" y="577"/>
                    <a:pt x="453" y="577"/>
                    <a:pt x="454" y="577"/>
                  </a:cubicBezTo>
                  <a:cubicBezTo>
                    <a:pt x="455" y="578"/>
                    <a:pt x="455" y="578"/>
                    <a:pt x="455" y="578"/>
                  </a:cubicBezTo>
                  <a:cubicBezTo>
                    <a:pt x="456" y="578"/>
                    <a:pt x="457" y="578"/>
                    <a:pt x="458" y="578"/>
                  </a:cubicBezTo>
                  <a:cubicBezTo>
                    <a:pt x="460" y="578"/>
                    <a:pt x="462" y="578"/>
                    <a:pt x="464" y="579"/>
                  </a:cubicBezTo>
                  <a:cubicBezTo>
                    <a:pt x="466" y="579"/>
                    <a:pt x="468" y="579"/>
                    <a:pt x="471" y="579"/>
                  </a:cubicBezTo>
                  <a:cubicBezTo>
                    <a:pt x="471" y="580"/>
                    <a:pt x="472" y="580"/>
                    <a:pt x="473" y="580"/>
                  </a:cubicBezTo>
                  <a:cubicBezTo>
                    <a:pt x="475" y="580"/>
                    <a:pt x="476" y="580"/>
                    <a:pt x="477" y="580"/>
                  </a:cubicBezTo>
                  <a:cubicBezTo>
                    <a:pt x="480" y="580"/>
                    <a:pt x="482" y="581"/>
                    <a:pt x="485" y="581"/>
                  </a:cubicBezTo>
                  <a:cubicBezTo>
                    <a:pt x="486" y="581"/>
                    <a:pt x="488" y="581"/>
                    <a:pt x="490" y="582"/>
                  </a:cubicBezTo>
                  <a:cubicBezTo>
                    <a:pt x="490" y="582"/>
                    <a:pt x="491" y="582"/>
                    <a:pt x="491" y="582"/>
                  </a:cubicBezTo>
                  <a:cubicBezTo>
                    <a:pt x="494" y="582"/>
                    <a:pt x="496" y="582"/>
                    <a:pt x="499" y="582"/>
                  </a:cubicBezTo>
                  <a:cubicBezTo>
                    <a:pt x="500" y="583"/>
                    <a:pt x="502" y="583"/>
                    <a:pt x="504" y="583"/>
                  </a:cubicBezTo>
                  <a:cubicBezTo>
                    <a:pt x="505" y="583"/>
                    <a:pt x="506" y="583"/>
                    <a:pt x="508" y="583"/>
                  </a:cubicBezTo>
                  <a:cubicBezTo>
                    <a:pt x="509" y="583"/>
                    <a:pt x="509" y="583"/>
                    <a:pt x="509" y="583"/>
                  </a:cubicBezTo>
                  <a:cubicBezTo>
                    <a:pt x="510" y="584"/>
                    <a:pt x="511" y="584"/>
                    <a:pt x="512" y="584"/>
                  </a:cubicBezTo>
                  <a:cubicBezTo>
                    <a:pt x="512" y="584"/>
                    <a:pt x="512" y="584"/>
                    <a:pt x="512" y="584"/>
                  </a:cubicBezTo>
                  <a:cubicBezTo>
                    <a:pt x="514" y="584"/>
                    <a:pt x="516" y="584"/>
                    <a:pt x="518" y="584"/>
                  </a:cubicBezTo>
                  <a:cubicBezTo>
                    <a:pt x="519" y="584"/>
                    <a:pt x="521" y="585"/>
                    <a:pt x="522" y="585"/>
                  </a:cubicBezTo>
                  <a:cubicBezTo>
                    <a:pt x="524" y="585"/>
                    <a:pt x="525" y="585"/>
                    <a:pt x="527" y="585"/>
                  </a:cubicBezTo>
                  <a:cubicBezTo>
                    <a:pt x="529" y="585"/>
                    <a:pt x="530" y="585"/>
                    <a:pt x="532" y="586"/>
                  </a:cubicBezTo>
                  <a:cubicBezTo>
                    <a:pt x="533" y="586"/>
                    <a:pt x="535" y="586"/>
                    <a:pt x="537" y="586"/>
                  </a:cubicBezTo>
                  <a:cubicBezTo>
                    <a:pt x="539" y="586"/>
                    <a:pt x="541" y="586"/>
                    <a:pt x="542" y="586"/>
                  </a:cubicBezTo>
                  <a:cubicBezTo>
                    <a:pt x="543" y="586"/>
                    <a:pt x="543" y="586"/>
                    <a:pt x="543" y="586"/>
                  </a:cubicBezTo>
                  <a:cubicBezTo>
                    <a:pt x="544" y="587"/>
                    <a:pt x="544" y="587"/>
                    <a:pt x="546" y="587"/>
                  </a:cubicBezTo>
                  <a:cubicBezTo>
                    <a:pt x="548" y="587"/>
                    <a:pt x="550" y="587"/>
                    <a:pt x="552" y="587"/>
                  </a:cubicBezTo>
                  <a:cubicBezTo>
                    <a:pt x="554" y="587"/>
                    <a:pt x="556" y="587"/>
                    <a:pt x="557" y="588"/>
                  </a:cubicBezTo>
                  <a:cubicBezTo>
                    <a:pt x="558" y="588"/>
                    <a:pt x="559" y="588"/>
                    <a:pt x="560" y="588"/>
                  </a:cubicBezTo>
                  <a:cubicBezTo>
                    <a:pt x="560" y="588"/>
                    <a:pt x="561" y="588"/>
                    <a:pt x="561" y="588"/>
                  </a:cubicBezTo>
                  <a:cubicBezTo>
                    <a:pt x="564" y="588"/>
                    <a:pt x="567" y="588"/>
                    <a:pt x="569" y="588"/>
                  </a:cubicBezTo>
                  <a:cubicBezTo>
                    <a:pt x="570" y="589"/>
                    <a:pt x="571" y="589"/>
                    <a:pt x="572" y="589"/>
                  </a:cubicBezTo>
                  <a:cubicBezTo>
                    <a:pt x="572" y="589"/>
                    <a:pt x="572" y="589"/>
                    <a:pt x="572" y="589"/>
                  </a:cubicBezTo>
                  <a:cubicBezTo>
                    <a:pt x="573" y="589"/>
                    <a:pt x="574" y="589"/>
                    <a:pt x="574" y="589"/>
                  </a:cubicBezTo>
                  <a:cubicBezTo>
                    <a:pt x="576" y="589"/>
                    <a:pt x="577" y="589"/>
                    <a:pt x="579" y="589"/>
                  </a:cubicBezTo>
                  <a:cubicBezTo>
                    <a:pt x="582" y="589"/>
                    <a:pt x="585" y="590"/>
                    <a:pt x="589" y="590"/>
                  </a:cubicBezTo>
                  <a:cubicBezTo>
                    <a:pt x="590" y="590"/>
                    <a:pt x="592" y="590"/>
                    <a:pt x="594" y="590"/>
                  </a:cubicBezTo>
                  <a:cubicBezTo>
                    <a:pt x="597" y="590"/>
                    <a:pt x="599" y="590"/>
                    <a:pt x="602" y="591"/>
                  </a:cubicBezTo>
                  <a:cubicBezTo>
                    <a:pt x="603" y="591"/>
                    <a:pt x="603" y="591"/>
                    <a:pt x="603" y="591"/>
                  </a:cubicBezTo>
                  <a:cubicBezTo>
                    <a:pt x="603" y="591"/>
                    <a:pt x="603" y="591"/>
                    <a:pt x="603" y="591"/>
                  </a:cubicBezTo>
                  <a:cubicBezTo>
                    <a:pt x="605" y="591"/>
                    <a:pt x="607" y="591"/>
                    <a:pt x="609" y="591"/>
                  </a:cubicBezTo>
                  <a:cubicBezTo>
                    <a:pt x="612" y="591"/>
                    <a:pt x="615" y="591"/>
                    <a:pt x="618" y="591"/>
                  </a:cubicBezTo>
                  <a:cubicBezTo>
                    <a:pt x="620" y="592"/>
                    <a:pt x="622" y="592"/>
                    <a:pt x="624" y="592"/>
                  </a:cubicBezTo>
                  <a:cubicBezTo>
                    <a:pt x="627" y="592"/>
                    <a:pt x="630" y="592"/>
                    <a:pt x="632" y="592"/>
                  </a:cubicBezTo>
                  <a:cubicBezTo>
                    <a:pt x="633" y="592"/>
                    <a:pt x="633" y="592"/>
                    <a:pt x="633" y="592"/>
                  </a:cubicBezTo>
                  <a:cubicBezTo>
                    <a:pt x="634" y="592"/>
                    <a:pt x="634" y="592"/>
                    <a:pt x="634" y="592"/>
                  </a:cubicBezTo>
                  <a:cubicBezTo>
                    <a:pt x="636" y="592"/>
                    <a:pt x="638" y="592"/>
                    <a:pt x="639" y="592"/>
                  </a:cubicBezTo>
                  <a:cubicBezTo>
                    <a:pt x="642" y="593"/>
                    <a:pt x="645" y="593"/>
                    <a:pt x="648" y="593"/>
                  </a:cubicBezTo>
                  <a:cubicBezTo>
                    <a:pt x="650" y="593"/>
                    <a:pt x="652" y="593"/>
                    <a:pt x="655" y="593"/>
                  </a:cubicBezTo>
                  <a:cubicBezTo>
                    <a:pt x="657" y="593"/>
                    <a:pt x="660" y="593"/>
                    <a:pt x="663" y="593"/>
                  </a:cubicBezTo>
                  <a:cubicBezTo>
                    <a:pt x="664" y="593"/>
                    <a:pt x="664" y="594"/>
                    <a:pt x="665" y="594"/>
                  </a:cubicBezTo>
                  <a:cubicBezTo>
                    <a:pt x="667" y="594"/>
                    <a:pt x="668" y="594"/>
                    <a:pt x="670" y="594"/>
                  </a:cubicBezTo>
                  <a:cubicBezTo>
                    <a:pt x="673" y="594"/>
                    <a:pt x="676" y="594"/>
                    <a:pt x="679" y="594"/>
                  </a:cubicBezTo>
                  <a:cubicBezTo>
                    <a:pt x="681" y="594"/>
                    <a:pt x="683" y="594"/>
                    <a:pt x="685" y="594"/>
                  </a:cubicBezTo>
                  <a:cubicBezTo>
                    <a:pt x="688" y="594"/>
                    <a:pt x="691" y="594"/>
                    <a:pt x="694" y="594"/>
                  </a:cubicBezTo>
                  <a:cubicBezTo>
                    <a:pt x="694" y="594"/>
                    <a:pt x="694" y="594"/>
                    <a:pt x="694" y="594"/>
                  </a:cubicBezTo>
                  <a:cubicBezTo>
                    <a:pt x="695" y="594"/>
                    <a:pt x="695" y="594"/>
                    <a:pt x="696" y="594"/>
                  </a:cubicBezTo>
                  <a:cubicBezTo>
                    <a:pt x="696" y="595"/>
                    <a:pt x="696" y="595"/>
                    <a:pt x="696" y="595"/>
                  </a:cubicBezTo>
                  <a:cubicBezTo>
                    <a:pt x="698" y="595"/>
                    <a:pt x="699" y="595"/>
                    <a:pt x="701" y="595"/>
                  </a:cubicBezTo>
                  <a:cubicBezTo>
                    <a:pt x="704" y="595"/>
                    <a:pt x="707" y="595"/>
                    <a:pt x="710" y="595"/>
                  </a:cubicBezTo>
                  <a:cubicBezTo>
                    <a:pt x="712" y="595"/>
                    <a:pt x="714" y="595"/>
                    <a:pt x="716" y="595"/>
                  </a:cubicBezTo>
                  <a:cubicBezTo>
                    <a:pt x="720" y="595"/>
                    <a:pt x="723" y="595"/>
                    <a:pt x="726" y="595"/>
                  </a:cubicBezTo>
                  <a:cubicBezTo>
                    <a:pt x="727" y="595"/>
                    <a:pt x="727" y="595"/>
                    <a:pt x="728" y="595"/>
                  </a:cubicBezTo>
                  <a:cubicBezTo>
                    <a:pt x="728" y="595"/>
                    <a:pt x="729" y="595"/>
                    <a:pt x="730" y="595"/>
                  </a:cubicBezTo>
                  <a:cubicBezTo>
                    <a:pt x="730" y="595"/>
                    <a:pt x="731" y="595"/>
                    <a:pt x="732" y="595"/>
                  </a:cubicBezTo>
                  <a:cubicBezTo>
                    <a:pt x="736" y="595"/>
                    <a:pt x="739" y="595"/>
                    <a:pt x="743" y="595"/>
                  </a:cubicBezTo>
                  <a:cubicBezTo>
                    <a:pt x="744" y="595"/>
                    <a:pt x="746" y="595"/>
                    <a:pt x="748" y="595"/>
                  </a:cubicBezTo>
                  <a:cubicBezTo>
                    <a:pt x="753" y="595"/>
                    <a:pt x="758" y="595"/>
                    <a:pt x="763" y="595"/>
                  </a:cubicBezTo>
                  <a:cubicBezTo>
                    <a:pt x="763" y="595"/>
                    <a:pt x="763" y="595"/>
                    <a:pt x="763" y="595"/>
                  </a:cubicBezTo>
                  <a:cubicBezTo>
                    <a:pt x="764" y="595"/>
                    <a:pt x="764" y="595"/>
                    <a:pt x="764" y="595"/>
                  </a:cubicBezTo>
                  <a:cubicBezTo>
                    <a:pt x="769" y="596"/>
                    <a:pt x="775" y="596"/>
                    <a:pt x="780" y="596"/>
                  </a:cubicBezTo>
                  <a:cubicBezTo>
                    <a:pt x="782" y="596"/>
                    <a:pt x="784" y="595"/>
                    <a:pt x="785" y="595"/>
                  </a:cubicBezTo>
                  <a:cubicBezTo>
                    <a:pt x="789" y="595"/>
                    <a:pt x="792" y="595"/>
                    <a:pt x="796" y="595"/>
                  </a:cubicBezTo>
                  <a:cubicBezTo>
                    <a:pt x="798" y="595"/>
                    <a:pt x="799" y="595"/>
                    <a:pt x="801" y="595"/>
                  </a:cubicBezTo>
                  <a:cubicBezTo>
                    <a:pt x="802" y="595"/>
                    <a:pt x="803" y="595"/>
                    <a:pt x="804" y="595"/>
                  </a:cubicBezTo>
                  <a:cubicBezTo>
                    <a:pt x="807" y="595"/>
                    <a:pt x="809" y="595"/>
                    <a:pt x="812" y="595"/>
                  </a:cubicBezTo>
                  <a:cubicBezTo>
                    <a:pt x="814" y="595"/>
                    <a:pt x="816" y="595"/>
                    <a:pt x="818" y="595"/>
                  </a:cubicBezTo>
                  <a:cubicBezTo>
                    <a:pt x="821" y="595"/>
                    <a:pt x="824" y="595"/>
                    <a:pt x="828" y="595"/>
                  </a:cubicBezTo>
                  <a:cubicBezTo>
                    <a:pt x="830" y="595"/>
                    <a:pt x="832" y="595"/>
                    <a:pt x="834" y="595"/>
                  </a:cubicBezTo>
                  <a:cubicBezTo>
                    <a:pt x="836" y="595"/>
                    <a:pt x="838" y="595"/>
                    <a:pt x="840" y="595"/>
                  </a:cubicBezTo>
                  <a:cubicBezTo>
                    <a:pt x="841" y="595"/>
                    <a:pt x="841" y="595"/>
                    <a:pt x="841" y="595"/>
                  </a:cubicBezTo>
                  <a:cubicBezTo>
                    <a:pt x="841" y="595"/>
                    <a:pt x="841" y="595"/>
                    <a:pt x="841" y="595"/>
                  </a:cubicBezTo>
                  <a:cubicBezTo>
                    <a:pt x="842" y="595"/>
                    <a:pt x="842" y="595"/>
                    <a:pt x="843" y="595"/>
                  </a:cubicBezTo>
                  <a:cubicBezTo>
                    <a:pt x="846" y="595"/>
                    <a:pt x="848" y="595"/>
                    <a:pt x="850" y="595"/>
                  </a:cubicBezTo>
                  <a:cubicBezTo>
                    <a:pt x="853" y="595"/>
                    <a:pt x="856" y="594"/>
                    <a:pt x="859" y="594"/>
                  </a:cubicBezTo>
                  <a:cubicBezTo>
                    <a:pt x="861" y="594"/>
                    <a:pt x="863" y="594"/>
                    <a:pt x="865" y="594"/>
                  </a:cubicBezTo>
                  <a:cubicBezTo>
                    <a:pt x="866" y="594"/>
                    <a:pt x="867" y="594"/>
                    <a:pt x="868" y="594"/>
                  </a:cubicBezTo>
                  <a:cubicBezTo>
                    <a:pt x="870" y="594"/>
                    <a:pt x="872" y="594"/>
                    <a:pt x="874" y="594"/>
                  </a:cubicBezTo>
                  <a:cubicBezTo>
                    <a:pt x="877" y="594"/>
                    <a:pt x="879" y="594"/>
                    <a:pt x="881" y="594"/>
                  </a:cubicBezTo>
                  <a:cubicBezTo>
                    <a:pt x="884" y="594"/>
                    <a:pt x="887" y="593"/>
                    <a:pt x="890" y="593"/>
                  </a:cubicBezTo>
                  <a:cubicBezTo>
                    <a:pt x="890" y="593"/>
                    <a:pt x="891" y="593"/>
                    <a:pt x="892" y="593"/>
                  </a:cubicBezTo>
                  <a:cubicBezTo>
                    <a:pt x="892" y="593"/>
                    <a:pt x="892" y="593"/>
                    <a:pt x="892" y="593"/>
                  </a:cubicBezTo>
                  <a:cubicBezTo>
                    <a:pt x="894" y="593"/>
                    <a:pt x="895" y="593"/>
                    <a:pt x="897" y="593"/>
                  </a:cubicBezTo>
                  <a:cubicBezTo>
                    <a:pt x="899" y="593"/>
                    <a:pt x="902" y="593"/>
                    <a:pt x="905" y="593"/>
                  </a:cubicBezTo>
                  <a:cubicBezTo>
                    <a:pt x="907" y="593"/>
                    <a:pt x="910" y="593"/>
                    <a:pt x="912" y="592"/>
                  </a:cubicBezTo>
                  <a:cubicBezTo>
                    <a:pt x="914" y="592"/>
                    <a:pt x="915" y="592"/>
                    <a:pt x="917" y="592"/>
                  </a:cubicBezTo>
                  <a:cubicBezTo>
                    <a:pt x="917" y="592"/>
                    <a:pt x="918" y="592"/>
                    <a:pt x="919" y="592"/>
                  </a:cubicBezTo>
                  <a:cubicBezTo>
                    <a:pt x="919" y="592"/>
                    <a:pt x="920" y="592"/>
                    <a:pt x="920" y="592"/>
                  </a:cubicBezTo>
                  <a:cubicBezTo>
                    <a:pt x="922" y="592"/>
                    <a:pt x="925" y="592"/>
                    <a:pt x="927" y="592"/>
                  </a:cubicBezTo>
                  <a:cubicBezTo>
                    <a:pt x="930" y="592"/>
                    <a:pt x="932" y="591"/>
                    <a:pt x="935" y="591"/>
                  </a:cubicBezTo>
                  <a:cubicBezTo>
                    <a:pt x="937" y="591"/>
                    <a:pt x="939" y="591"/>
                    <a:pt x="941" y="591"/>
                  </a:cubicBezTo>
                  <a:cubicBezTo>
                    <a:pt x="941" y="591"/>
                    <a:pt x="942" y="591"/>
                    <a:pt x="942" y="591"/>
                  </a:cubicBezTo>
                  <a:cubicBezTo>
                    <a:pt x="943" y="591"/>
                    <a:pt x="943" y="591"/>
                    <a:pt x="944" y="591"/>
                  </a:cubicBezTo>
                  <a:cubicBezTo>
                    <a:pt x="946" y="591"/>
                    <a:pt x="948" y="591"/>
                    <a:pt x="950" y="590"/>
                  </a:cubicBezTo>
                  <a:cubicBezTo>
                    <a:pt x="952" y="590"/>
                    <a:pt x="954" y="590"/>
                    <a:pt x="956" y="590"/>
                  </a:cubicBezTo>
                  <a:cubicBezTo>
                    <a:pt x="957" y="590"/>
                    <a:pt x="958" y="590"/>
                    <a:pt x="959" y="590"/>
                  </a:cubicBezTo>
                  <a:cubicBezTo>
                    <a:pt x="961" y="590"/>
                    <a:pt x="963" y="590"/>
                    <a:pt x="965" y="590"/>
                  </a:cubicBezTo>
                  <a:cubicBezTo>
                    <a:pt x="967" y="589"/>
                    <a:pt x="969" y="589"/>
                    <a:pt x="971" y="589"/>
                  </a:cubicBezTo>
                  <a:cubicBezTo>
                    <a:pt x="972" y="589"/>
                    <a:pt x="973" y="589"/>
                    <a:pt x="974" y="589"/>
                  </a:cubicBezTo>
                  <a:cubicBezTo>
                    <a:pt x="975" y="589"/>
                    <a:pt x="976" y="589"/>
                    <a:pt x="977" y="589"/>
                  </a:cubicBezTo>
                  <a:cubicBezTo>
                    <a:pt x="977" y="589"/>
                    <a:pt x="978" y="589"/>
                    <a:pt x="979" y="589"/>
                  </a:cubicBezTo>
                  <a:cubicBezTo>
                    <a:pt x="981" y="588"/>
                    <a:pt x="983" y="588"/>
                    <a:pt x="986" y="588"/>
                  </a:cubicBezTo>
                  <a:cubicBezTo>
                    <a:pt x="987" y="588"/>
                    <a:pt x="988" y="588"/>
                    <a:pt x="989" y="588"/>
                  </a:cubicBezTo>
                  <a:cubicBezTo>
                    <a:pt x="991" y="588"/>
                    <a:pt x="992" y="588"/>
                    <a:pt x="994" y="587"/>
                  </a:cubicBezTo>
                  <a:cubicBezTo>
                    <a:pt x="996" y="587"/>
                    <a:pt x="998" y="587"/>
                    <a:pt x="1000" y="587"/>
                  </a:cubicBezTo>
                  <a:cubicBezTo>
                    <a:pt x="1001" y="587"/>
                    <a:pt x="1003" y="587"/>
                    <a:pt x="1004" y="587"/>
                  </a:cubicBezTo>
                  <a:cubicBezTo>
                    <a:pt x="1006" y="587"/>
                    <a:pt x="1007" y="586"/>
                    <a:pt x="1009" y="586"/>
                  </a:cubicBezTo>
                  <a:cubicBezTo>
                    <a:pt x="1011" y="586"/>
                    <a:pt x="1012" y="586"/>
                    <a:pt x="1014" y="586"/>
                  </a:cubicBezTo>
                  <a:cubicBezTo>
                    <a:pt x="1016" y="586"/>
                    <a:pt x="1017" y="586"/>
                    <a:pt x="1019" y="585"/>
                  </a:cubicBezTo>
                  <a:cubicBezTo>
                    <a:pt x="1021" y="585"/>
                    <a:pt x="1022" y="585"/>
                    <a:pt x="1024" y="585"/>
                  </a:cubicBezTo>
                  <a:cubicBezTo>
                    <a:pt x="1025" y="585"/>
                    <a:pt x="1027" y="585"/>
                    <a:pt x="1028" y="585"/>
                  </a:cubicBezTo>
                  <a:cubicBezTo>
                    <a:pt x="1030" y="584"/>
                    <a:pt x="1032" y="584"/>
                    <a:pt x="1034" y="584"/>
                  </a:cubicBezTo>
                  <a:cubicBezTo>
                    <a:pt x="1035" y="584"/>
                    <a:pt x="1037" y="584"/>
                    <a:pt x="1039" y="584"/>
                  </a:cubicBezTo>
                  <a:cubicBezTo>
                    <a:pt x="1040" y="584"/>
                    <a:pt x="1041" y="583"/>
                    <a:pt x="1042" y="583"/>
                  </a:cubicBezTo>
                  <a:cubicBezTo>
                    <a:pt x="1044" y="583"/>
                    <a:pt x="1046" y="583"/>
                    <a:pt x="1048" y="583"/>
                  </a:cubicBezTo>
                  <a:cubicBezTo>
                    <a:pt x="1050" y="583"/>
                    <a:pt x="1052" y="582"/>
                    <a:pt x="1053" y="582"/>
                  </a:cubicBezTo>
                  <a:cubicBezTo>
                    <a:pt x="1054" y="582"/>
                    <a:pt x="1055" y="582"/>
                    <a:pt x="1056" y="582"/>
                  </a:cubicBezTo>
                  <a:cubicBezTo>
                    <a:pt x="1058" y="582"/>
                    <a:pt x="1061" y="581"/>
                    <a:pt x="1063" y="581"/>
                  </a:cubicBezTo>
                  <a:cubicBezTo>
                    <a:pt x="1065" y="581"/>
                    <a:pt x="1066" y="581"/>
                    <a:pt x="1068" y="581"/>
                  </a:cubicBezTo>
                  <a:cubicBezTo>
                    <a:pt x="1068" y="581"/>
                    <a:pt x="1068" y="581"/>
                    <a:pt x="1069" y="581"/>
                  </a:cubicBezTo>
                  <a:cubicBezTo>
                    <a:pt x="1070" y="581"/>
                    <a:pt x="1070" y="581"/>
                    <a:pt x="1070" y="581"/>
                  </a:cubicBezTo>
                  <a:cubicBezTo>
                    <a:pt x="1073" y="580"/>
                    <a:pt x="1077" y="580"/>
                    <a:pt x="1081" y="579"/>
                  </a:cubicBezTo>
                  <a:cubicBezTo>
                    <a:pt x="1081" y="579"/>
                    <a:pt x="1081" y="579"/>
                    <a:pt x="1081" y="579"/>
                  </a:cubicBezTo>
                  <a:cubicBezTo>
                    <a:pt x="1082" y="579"/>
                    <a:pt x="1082" y="579"/>
                    <a:pt x="1082" y="579"/>
                  </a:cubicBezTo>
                  <a:cubicBezTo>
                    <a:pt x="1084" y="579"/>
                    <a:pt x="1085" y="579"/>
                    <a:pt x="1086" y="579"/>
                  </a:cubicBezTo>
                  <a:cubicBezTo>
                    <a:pt x="1089" y="578"/>
                    <a:pt x="1092" y="578"/>
                    <a:pt x="1095" y="578"/>
                  </a:cubicBezTo>
                  <a:cubicBezTo>
                    <a:pt x="1097" y="577"/>
                    <a:pt x="1099" y="577"/>
                    <a:pt x="1100" y="577"/>
                  </a:cubicBezTo>
                  <a:cubicBezTo>
                    <a:pt x="1103" y="577"/>
                    <a:pt x="1106" y="576"/>
                    <a:pt x="1108" y="576"/>
                  </a:cubicBezTo>
                  <a:cubicBezTo>
                    <a:pt x="1109" y="576"/>
                    <a:pt x="1109" y="576"/>
                    <a:pt x="1110" y="576"/>
                  </a:cubicBezTo>
                  <a:cubicBezTo>
                    <a:pt x="1111" y="576"/>
                    <a:pt x="1111" y="576"/>
                    <a:pt x="1112" y="575"/>
                  </a:cubicBezTo>
                  <a:cubicBezTo>
                    <a:pt x="1113" y="575"/>
                    <a:pt x="1113" y="575"/>
                    <a:pt x="1113" y="575"/>
                  </a:cubicBezTo>
                  <a:cubicBezTo>
                    <a:pt x="1116" y="575"/>
                    <a:pt x="1118" y="575"/>
                    <a:pt x="1121" y="574"/>
                  </a:cubicBezTo>
                  <a:cubicBezTo>
                    <a:pt x="1122" y="574"/>
                    <a:pt x="1122" y="574"/>
                    <a:pt x="1123" y="574"/>
                  </a:cubicBezTo>
                  <a:cubicBezTo>
                    <a:pt x="1124" y="574"/>
                    <a:pt x="1126" y="574"/>
                    <a:pt x="1127" y="573"/>
                  </a:cubicBezTo>
                  <a:cubicBezTo>
                    <a:pt x="1129" y="573"/>
                    <a:pt x="1131" y="573"/>
                    <a:pt x="1133" y="573"/>
                  </a:cubicBezTo>
                  <a:cubicBezTo>
                    <a:pt x="1134" y="572"/>
                    <a:pt x="1135" y="572"/>
                    <a:pt x="1136" y="572"/>
                  </a:cubicBezTo>
                  <a:cubicBezTo>
                    <a:pt x="1138" y="572"/>
                    <a:pt x="1139" y="572"/>
                    <a:pt x="1140" y="572"/>
                  </a:cubicBezTo>
                  <a:cubicBezTo>
                    <a:pt x="1142" y="571"/>
                    <a:pt x="1144" y="571"/>
                    <a:pt x="1146" y="571"/>
                  </a:cubicBezTo>
                  <a:cubicBezTo>
                    <a:pt x="1147" y="571"/>
                    <a:pt x="1148" y="570"/>
                    <a:pt x="1149" y="570"/>
                  </a:cubicBezTo>
                  <a:cubicBezTo>
                    <a:pt x="1151" y="570"/>
                    <a:pt x="1152" y="570"/>
                    <a:pt x="1153" y="570"/>
                  </a:cubicBezTo>
                  <a:cubicBezTo>
                    <a:pt x="1154" y="569"/>
                    <a:pt x="1156" y="569"/>
                    <a:pt x="1158" y="569"/>
                  </a:cubicBezTo>
                  <a:cubicBezTo>
                    <a:pt x="1159" y="569"/>
                    <a:pt x="1161" y="568"/>
                    <a:pt x="1162" y="568"/>
                  </a:cubicBezTo>
                  <a:cubicBezTo>
                    <a:pt x="1163" y="568"/>
                    <a:pt x="1164" y="568"/>
                    <a:pt x="1165" y="568"/>
                  </a:cubicBezTo>
                  <a:cubicBezTo>
                    <a:pt x="1167" y="568"/>
                    <a:pt x="1168" y="567"/>
                    <a:pt x="1170" y="567"/>
                  </a:cubicBezTo>
                  <a:cubicBezTo>
                    <a:pt x="1171" y="567"/>
                    <a:pt x="1173" y="566"/>
                    <a:pt x="1175" y="566"/>
                  </a:cubicBezTo>
                  <a:cubicBezTo>
                    <a:pt x="1175" y="566"/>
                    <a:pt x="1176" y="566"/>
                    <a:pt x="1177" y="566"/>
                  </a:cubicBezTo>
                  <a:cubicBezTo>
                    <a:pt x="1178" y="566"/>
                    <a:pt x="1178" y="566"/>
                    <a:pt x="1178" y="566"/>
                  </a:cubicBezTo>
                  <a:cubicBezTo>
                    <a:pt x="1179" y="566"/>
                    <a:pt x="1180" y="565"/>
                    <a:pt x="1181" y="565"/>
                  </a:cubicBezTo>
                  <a:cubicBezTo>
                    <a:pt x="1183" y="565"/>
                    <a:pt x="1184" y="565"/>
                    <a:pt x="1185" y="564"/>
                  </a:cubicBezTo>
                  <a:cubicBezTo>
                    <a:pt x="1186" y="564"/>
                    <a:pt x="1187" y="564"/>
                    <a:pt x="1188" y="564"/>
                  </a:cubicBezTo>
                  <a:cubicBezTo>
                    <a:pt x="1190" y="564"/>
                    <a:pt x="1191" y="563"/>
                    <a:pt x="1193" y="563"/>
                  </a:cubicBezTo>
                  <a:cubicBezTo>
                    <a:pt x="1194" y="563"/>
                    <a:pt x="1195" y="563"/>
                    <a:pt x="1196" y="562"/>
                  </a:cubicBezTo>
                  <a:cubicBezTo>
                    <a:pt x="1197" y="562"/>
                    <a:pt x="1198" y="562"/>
                    <a:pt x="1199" y="562"/>
                  </a:cubicBezTo>
                  <a:cubicBezTo>
                    <a:pt x="1200" y="562"/>
                    <a:pt x="1202" y="561"/>
                    <a:pt x="1203" y="561"/>
                  </a:cubicBezTo>
                  <a:cubicBezTo>
                    <a:pt x="1204" y="561"/>
                    <a:pt x="1205" y="561"/>
                    <a:pt x="1207" y="561"/>
                  </a:cubicBezTo>
                  <a:cubicBezTo>
                    <a:pt x="1207" y="560"/>
                    <a:pt x="1207" y="560"/>
                    <a:pt x="1207" y="560"/>
                  </a:cubicBezTo>
                  <a:cubicBezTo>
                    <a:pt x="1208" y="560"/>
                    <a:pt x="1209" y="560"/>
                    <a:pt x="1209" y="560"/>
                  </a:cubicBezTo>
                  <a:cubicBezTo>
                    <a:pt x="1211" y="560"/>
                    <a:pt x="1212" y="559"/>
                    <a:pt x="1213" y="559"/>
                  </a:cubicBezTo>
                  <a:cubicBezTo>
                    <a:pt x="1215" y="559"/>
                    <a:pt x="1216" y="559"/>
                    <a:pt x="1217" y="558"/>
                  </a:cubicBezTo>
                  <a:cubicBezTo>
                    <a:pt x="1218" y="558"/>
                    <a:pt x="1219" y="558"/>
                    <a:pt x="1220" y="558"/>
                  </a:cubicBezTo>
                  <a:cubicBezTo>
                    <a:pt x="1221" y="558"/>
                    <a:pt x="1222" y="557"/>
                    <a:pt x="1223" y="557"/>
                  </a:cubicBezTo>
                  <a:cubicBezTo>
                    <a:pt x="1225" y="557"/>
                    <a:pt x="1226" y="557"/>
                    <a:pt x="1227" y="556"/>
                  </a:cubicBezTo>
                  <a:cubicBezTo>
                    <a:pt x="1228" y="556"/>
                    <a:pt x="1229" y="556"/>
                    <a:pt x="1230" y="556"/>
                  </a:cubicBezTo>
                  <a:cubicBezTo>
                    <a:pt x="1231" y="556"/>
                    <a:pt x="1232" y="555"/>
                    <a:pt x="1233" y="555"/>
                  </a:cubicBezTo>
                  <a:cubicBezTo>
                    <a:pt x="1235" y="555"/>
                    <a:pt x="1236" y="555"/>
                    <a:pt x="1237" y="554"/>
                  </a:cubicBezTo>
                  <a:cubicBezTo>
                    <a:pt x="1238" y="554"/>
                    <a:pt x="1239" y="554"/>
                    <a:pt x="1241" y="553"/>
                  </a:cubicBezTo>
                  <a:cubicBezTo>
                    <a:pt x="1241" y="553"/>
                    <a:pt x="1242" y="553"/>
                    <a:pt x="1243" y="553"/>
                  </a:cubicBezTo>
                  <a:cubicBezTo>
                    <a:pt x="1244" y="553"/>
                    <a:pt x="1246" y="552"/>
                    <a:pt x="1247" y="552"/>
                  </a:cubicBezTo>
                  <a:cubicBezTo>
                    <a:pt x="1248" y="552"/>
                    <a:pt x="1249" y="551"/>
                    <a:pt x="1251" y="551"/>
                  </a:cubicBezTo>
                  <a:cubicBezTo>
                    <a:pt x="1253" y="551"/>
                    <a:pt x="1255" y="550"/>
                    <a:pt x="1256" y="550"/>
                  </a:cubicBezTo>
                  <a:cubicBezTo>
                    <a:pt x="1258" y="550"/>
                    <a:pt x="1259" y="549"/>
                    <a:pt x="1261" y="549"/>
                  </a:cubicBezTo>
                  <a:cubicBezTo>
                    <a:pt x="1261" y="549"/>
                    <a:pt x="1262" y="548"/>
                    <a:pt x="1263" y="548"/>
                  </a:cubicBezTo>
                  <a:cubicBezTo>
                    <a:pt x="1264" y="548"/>
                    <a:pt x="1265" y="548"/>
                    <a:pt x="1266" y="547"/>
                  </a:cubicBezTo>
                  <a:cubicBezTo>
                    <a:pt x="1268" y="547"/>
                    <a:pt x="1269" y="547"/>
                    <a:pt x="1270" y="546"/>
                  </a:cubicBezTo>
                  <a:cubicBezTo>
                    <a:pt x="1272" y="546"/>
                    <a:pt x="1273" y="546"/>
                    <a:pt x="1274" y="545"/>
                  </a:cubicBezTo>
                  <a:cubicBezTo>
                    <a:pt x="1275" y="545"/>
                    <a:pt x="1276" y="545"/>
                    <a:pt x="1277" y="545"/>
                  </a:cubicBezTo>
                  <a:cubicBezTo>
                    <a:pt x="1278" y="544"/>
                    <a:pt x="1279" y="544"/>
                    <a:pt x="1279" y="544"/>
                  </a:cubicBezTo>
                  <a:cubicBezTo>
                    <a:pt x="1282" y="543"/>
                    <a:pt x="1284" y="543"/>
                    <a:pt x="1286" y="542"/>
                  </a:cubicBezTo>
                  <a:cubicBezTo>
                    <a:pt x="1286" y="542"/>
                    <a:pt x="1286" y="542"/>
                    <a:pt x="1286" y="542"/>
                  </a:cubicBezTo>
                  <a:cubicBezTo>
                    <a:pt x="1287" y="542"/>
                    <a:pt x="1287" y="542"/>
                    <a:pt x="1288" y="542"/>
                  </a:cubicBezTo>
                  <a:cubicBezTo>
                    <a:pt x="1288" y="542"/>
                    <a:pt x="1288" y="542"/>
                    <a:pt x="1288" y="542"/>
                  </a:cubicBezTo>
                  <a:cubicBezTo>
                    <a:pt x="1291" y="541"/>
                    <a:pt x="1294" y="540"/>
                    <a:pt x="1297" y="539"/>
                  </a:cubicBezTo>
                  <a:cubicBezTo>
                    <a:pt x="1298" y="539"/>
                    <a:pt x="1298" y="539"/>
                    <a:pt x="1298" y="539"/>
                  </a:cubicBezTo>
                  <a:cubicBezTo>
                    <a:pt x="1298" y="539"/>
                    <a:pt x="1298" y="539"/>
                    <a:pt x="1298" y="539"/>
                  </a:cubicBezTo>
                  <a:cubicBezTo>
                    <a:pt x="1299" y="539"/>
                    <a:pt x="1299" y="539"/>
                    <a:pt x="1299" y="539"/>
                  </a:cubicBezTo>
                  <a:cubicBezTo>
                    <a:pt x="1300" y="538"/>
                    <a:pt x="1300" y="538"/>
                    <a:pt x="1301" y="538"/>
                  </a:cubicBezTo>
                  <a:cubicBezTo>
                    <a:pt x="1303" y="537"/>
                    <a:pt x="1304" y="537"/>
                    <a:pt x="1306" y="536"/>
                  </a:cubicBezTo>
                  <a:cubicBezTo>
                    <a:pt x="1306" y="536"/>
                    <a:pt x="1307" y="536"/>
                    <a:pt x="1307" y="536"/>
                  </a:cubicBezTo>
                  <a:cubicBezTo>
                    <a:pt x="1308" y="536"/>
                    <a:pt x="1309" y="535"/>
                    <a:pt x="1310" y="535"/>
                  </a:cubicBezTo>
                  <a:cubicBezTo>
                    <a:pt x="1311" y="535"/>
                    <a:pt x="1313" y="534"/>
                    <a:pt x="1314" y="534"/>
                  </a:cubicBezTo>
                  <a:cubicBezTo>
                    <a:pt x="1315" y="534"/>
                    <a:pt x="1315" y="533"/>
                    <a:pt x="1316" y="533"/>
                  </a:cubicBezTo>
                  <a:cubicBezTo>
                    <a:pt x="1317" y="533"/>
                    <a:pt x="1318" y="532"/>
                    <a:pt x="1319" y="532"/>
                  </a:cubicBezTo>
                  <a:cubicBezTo>
                    <a:pt x="1320" y="532"/>
                    <a:pt x="1321" y="531"/>
                    <a:pt x="1322" y="531"/>
                  </a:cubicBezTo>
                  <a:cubicBezTo>
                    <a:pt x="1323" y="531"/>
                    <a:pt x="1323" y="531"/>
                    <a:pt x="1324" y="530"/>
                  </a:cubicBezTo>
                  <a:cubicBezTo>
                    <a:pt x="1325" y="530"/>
                    <a:pt x="1326" y="530"/>
                    <a:pt x="1327" y="529"/>
                  </a:cubicBezTo>
                  <a:cubicBezTo>
                    <a:pt x="1328" y="529"/>
                    <a:pt x="1329" y="529"/>
                    <a:pt x="1329" y="528"/>
                  </a:cubicBezTo>
                  <a:cubicBezTo>
                    <a:pt x="1330" y="528"/>
                    <a:pt x="1331" y="528"/>
                    <a:pt x="1332" y="527"/>
                  </a:cubicBezTo>
                  <a:cubicBezTo>
                    <a:pt x="1333" y="527"/>
                    <a:pt x="1333" y="527"/>
                    <a:pt x="1334" y="527"/>
                  </a:cubicBezTo>
                  <a:cubicBezTo>
                    <a:pt x="1335" y="526"/>
                    <a:pt x="1335" y="526"/>
                    <a:pt x="1335" y="526"/>
                  </a:cubicBezTo>
                  <a:cubicBezTo>
                    <a:pt x="1335" y="526"/>
                    <a:pt x="1336" y="526"/>
                    <a:pt x="1337" y="526"/>
                  </a:cubicBezTo>
                  <a:cubicBezTo>
                    <a:pt x="1338" y="525"/>
                    <a:pt x="1339" y="525"/>
                    <a:pt x="1340" y="525"/>
                  </a:cubicBezTo>
                  <a:cubicBezTo>
                    <a:pt x="1340" y="524"/>
                    <a:pt x="1341" y="524"/>
                    <a:pt x="1342" y="524"/>
                  </a:cubicBezTo>
                  <a:cubicBezTo>
                    <a:pt x="1343" y="523"/>
                    <a:pt x="1343" y="523"/>
                    <a:pt x="1344" y="523"/>
                  </a:cubicBezTo>
                  <a:cubicBezTo>
                    <a:pt x="1345" y="522"/>
                    <a:pt x="1346" y="522"/>
                    <a:pt x="1347" y="522"/>
                  </a:cubicBezTo>
                  <a:cubicBezTo>
                    <a:pt x="1347" y="521"/>
                    <a:pt x="1348" y="521"/>
                    <a:pt x="1349" y="521"/>
                  </a:cubicBezTo>
                  <a:cubicBezTo>
                    <a:pt x="1349" y="521"/>
                    <a:pt x="1350" y="520"/>
                    <a:pt x="1350" y="520"/>
                  </a:cubicBezTo>
                  <a:cubicBezTo>
                    <a:pt x="1351" y="520"/>
                    <a:pt x="1352" y="519"/>
                    <a:pt x="1353" y="519"/>
                  </a:cubicBezTo>
                  <a:cubicBezTo>
                    <a:pt x="1354" y="519"/>
                    <a:pt x="1355" y="518"/>
                    <a:pt x="1355" y="518"/>
                  </a:cubicBezTo>
                  <a:cubicBezTo>
                    <a:pt x="1355" y="518"/>
                    <a:pt x="1355" y="518"/>
                    <a:pt x="1355" y="518"/>
                  </a:cubicBezTo>
                  <a:cubicBezTo>
                    <a:pt x="1356" y="518"/>
                    <a:pt x="1356" y="517"/>
                    <a:pt x="1357" y="517"/>
                  </a:cubicBezTo>
                  <a:cubicBezTo>
                    <a:pt x="1358" y="517"/>
                    <a:pt x="1359" y="516"/>
                    <a:pt x="1360" y="516"/>
                  </a:cubicBezTo>
                  <a:cubicBezTo>
                    <a:pt x="1360" y="516"/>
                    <a:pt x="1361" y="515"/>
                    <a:pt x="1362" y="515"/>
                  </a:cubicBezTo>
                  <a:cubicBezTo>
                    <a:pt x="1362" y="515"/>
                    <a:pt x="1362" y="515"/>
                    <a:pt x="1362" y="515"/>
                  </a:cubicBezTo>
                  <a:cubicBezTo>
                    <a:pt x="1362" y="515"/>
                    <a:pt x="1362" y="514"/>
                    <a:pt x="1363" y="514"/>
                  </a:cubicBezTo>
                  <a:cubicBezTo>
                    <a:pt x="1364" y="514"/>
                    <a:pt x="1365" y="513"/>
                    <a:pt x="1365" y="513"/>
                  </a:cubicBezTo>
                  <a:cubicBezTo>
                    <a:pt x="1366" y="513"/>
                    <a:pt x="1367" y="512"/>
                    <a:pt x="1367" y="512"/>
                  </a:cubicBezTo>
                  <a:cubicBezTo>
                    <a:pt x="1368" y="512"/>
                    <a:pt x="1368" y="512"/>
                    <a:pt x="1369" y="511"/>
                  </a:cubicBezTo>
                  <a:cubicBezTo>
                    <a:pt x="1370" y="511"/>
                    <a:pt x="1370" y="510"/>
                    <a:pt x="1371" y="510"/>
                  </a:cubicBezTo>
                  <a:cubicBezTo>
                    <a:pt x="1372" y="510"/>
                    <a:pt x="1372" y="509"/>
                    <a:pt x="1373" y="509"/>
                  </a:cubicBezTo>
                  <a:cubicBezTo>
                    <a:pt x="1373" y="509"/>
                    <a:pt x="1374" y="508"/>
                    <a:pt x="1374" y="508"/>
                  </a:cubicBezTo>
                  <a:cubicBezTo>
                    <a:pt x="1375" y="508"/>
                    <a:pt x="1376" y="507"/>
                    <a:pt x="1376" y="507"/>
                  </a:cubicBezTo>
                  <a:cubicBezTo>
                    <a:pt x="1377" y="507"/>
                    <a:pt x="1378" y="506"/>
                    <a:pt x="1378" y="506"/>
                  </a:cubicBezTo>
                  <a:cubicBezTo>
                    <a:pt x="1379" y="506"/>
                    <a:pt x="1379" y="505"/>
                    <a:pt x="1380" y="505"/>
                  </a:cubicBezTo>
                  <a:cubicBezTo>
                    <a:pt x="1380" y="505"/>
                    <a:pt x="1381" y="504"/>
                    <a:pt x="1381" y="504"/>
                  </a:cubicBezTo>
                  <a:cubicBezTo>
                    <a:pt x="1382" y="504"/>
                    <a:pt x="1382" y="503"/>
                    <a:pt x="1383" y="503"/>
                  </a:cubicBezTo>
                  <a:cubicBezTo>
                    <a:pt x="1384" y="502"/>
                    <a:pt x="1384" y="502"/>
                    <a:pt x="1384" y="502"/>
                  </a:cubicBezTo>
                  <a:cubicBezTo>
                    <a:pt x="1384" y="502"/>
                    <a:pt x="1384" y="502"/>
                    <a:pt x="1384" y="502"/>
                  </a:cubicBezTo>
                  <a:cubicBezTo>
                    <a:pt x="1385" y="502"/>
                    <a:pt x="1385" y="501"/>
                    <a:pt x="1386" y="501"/>
                  </a:cubicBezTo>
                  <a:cubicBezTo>
                    <a:pt x="1386" y="501"/>
                    <a:pt x="1386" y="501"/>
                    <a:pt x="1386" y="501"/>
                  </a:cubicBezTo>
                  <a:cubicBezTo>
                    <a:pt x="1387" y="500"/>
                    <a:pt x="1387" y="500"/>
                    <a:pt x="1388" y="500"/>
                  </a:cubicBezTo>
                  <a:cubicBezTo>
                    <a:pt x="1388" y="499"/>
                    <a:pt x="1389" y="499"/>
                    <a:pt x="1389" y="499"/>
                  </a:cubicBezTo>
                  <a:cubicBezTo>
                    <a:pt x="1389" y="498"/>
                    <a:pt x="1390" y="498"/>
                    <a:pt x="1390" y="498"/>
                  </a:cubicBezTo>
                  <a:cubicBezTo>
                    <a:pt x="1391" y="497"/>
                    <a:pt x="1391" y="497"/>
                    <a:pt x="1392" y="496"/>
                  </a:cubicBezTo>
                  <a:cubicBezTo>
                    <a:pt x="1392" y="496"/>
                    <a:pt x="1393" y="496"/>
                    <a:pt x="1393" y="495"/>
                  </a:cubicBezTo>
                  <a:cubicBezTo>
                    <a:pt x="1394" y="495"/>
                    <a:pt x="1394" y="495"/>
                    <a:pt x="1394" y="495"/>
                  </a:cubicBezTo>
                  <a:cubicBezTo>
                    <a:pt x="1395" y="494"/>
                    <a:pt x="1395" y="494"/>
                    <a:pt x="1396" y="493"/>
                  </a:cubicBezTo>
                  <a:cubicBezTo>
                    <a:pt x="1396" y="493"/>
                    <a:pt x="1397" y="492"/>
                    <a:pt x="1397" y="492"/>
                  </a:cubicBezTo>
                  <a:cubicBezTo>
                    <a:pt x="1397" y="492"/>
                    <a:pt x="1397" y="492"/>
                    <a:pt x="1397" y="492"/>
                  </a:cubicBezTo>
                  <a:cubicBezTo>
                    <a:pt x="1398" y="491"/>
                    <a:pt x="1399" y="490"/>
                    <a:pt x="1399" y="490"/>
                  </a:cubicBezTo>
                  <a:cubicBezTo>
                    <a:pt x="1400" y="489"/>
                    <a:pt x="1400" y="489"/>
                    <a:pt x="1400" y="489"/>
                  </a:cubicBezTo>
                  <a:cubicBezTo>
                    <a:pt x="1400" y="489"/>
                    <a:pt x="1400" y="489"/>
                    <a:pt x="1400" y="489"/>
                  </a:cubicBezTo>
                  <a:cubicBezTo>
                    <a:pt x="1400" y="489"/>
                    <a:pt x="1400" y="489"/>
                    <a:pt x="1400" y="489"/>
                  </a:cubicBezTo>
                  <a:cubicBezTo>
                    <a:pt x="1401" y="488"/>
                    <a:pt x="1401" y="488"/>
                    <a:pt x="1401" y="488"/>
                  </a:cubicBezTo>
                  <a:cubicBezTo>
                    <a:pt x="1401" y="488"/>
                    <a:pt x="1402" y="487"/>
                    <a:pt x="1402" y="487"/>
                  </a:cubicBezTo>
                  <a:cubicBezTo>
                    <a:pt x="1403" y="486"/>
                    <a:pt x="1403" y="486"/>
                    <a:pt x="1403" y="485"/>
                  </a:cubicBezTo>
                  <a:cubicBezTo>
                    <a:pt x="1403" y="485"/>
                    <a:pt x="1403" y="485"/>
                    <a:pt x="1403" y="485"/>
                  </a:cubicBezTo>
                  <a:cubicBezTo>
                    <a:pt x="1404" y="485"/>
                    <a:pt x="1404" y="484"/>
                    <a:pt x="1405" y="483"/>
                  </a:cubicBezTo>
                  <a:cubicBezTo>
                    <a:pt x="1405" y="483"/>
                    <a:pt x="1406" y="483"/>
                    <a:pt x="1406" y="482"/>
                  </a:cubicBezTo>
                  <a:cubicBezTo>
                    <a:pt x="1406" y="482"/>
                    <a:pt x="1406" y="482"/>
                    <a:pt x="1406" y="482"/>
                  </a:cubicBezTo>
                  <a:cubicBezTo>
                    <a:pt x="1406" y="481"/>
                    <a:pt x="1407" y="481"/>
                    <a:pt x="1407" y="480"/>
                  </a:cubicBezTo>
                  <a:cubicBezTo>
                    <a:pt x="1408" y="479"/>
                    <a:pt x="1408" y="479"/>
                    <a:pt x="1408" y="479"/>
                  </a:cubicBezTo>
                  <a:cubicBezTo>
                    <a:pt x="1408" y="479"/>
                    <a:pt x="1408" y="479"/>
                    <a:pt x="1408" y="479"/>
                  </a:cubicBezTo>
                  <a:cubicBezTo>
                    <a:pt x="1408" y="478"/>
                    <a:pt x="1408" y="478"/>
                    <a:pt x="1408" y="478"/>
                  </a:cubicBezTo>
                  <a:cubicBezTo>
                    <a:pt x="1409" y="477"/>
                    <a:pt x="1409" y="476"/>
                    <a:pt x="1410" y="476"/>
                  </a:cubicBezTo>
                  <a:cubicBezTo>
                    <a:pt x="1469" y="346"/>
                    <a:pt x="1469" y="346"/>
                    <a:pt x="1469" y="346"/>
                  </a:cubicBezTo>
                  <a:cubicBezTo>
                    <a:pt x="1472" y="339"/>
                    <a:pt x="1475" y="333"/>
                    <a:pt x="1478" y="326"/>
                  </a:cubicBezTo>
                  <a:cubicBezTo>
                    <a:pt x="1487" y="307"/>
                    <a:pt x="1487" y="307"/>
                    <a:pt x="1487" y="307"/>
                  </a:cubicBezTo>
                  <a:cubicBezTo>
                    <a:pt x="1492" y="296"/>
                    <a:pt x="1497" y="285"/>
                    <a:pt x="1502" y="274"/>
                  </a:cubicBezTo>
                  <a:cubicBezTo>
                    <a:pt x="1518" y="240"/>
                    <a:pt x="1533" y="207"/>
                    <a:pt x="1547" y="177"/>
                  </a:cubicBezTo>
                  <a:cubicBezTo>
                    <a:pt x="1549" y="173"/>
                    <a:pt x="1550" y="168"/>
                    <a:pt x="1550" y="164"/>
                  </a:cubicBezTo>
                  <a:cubicBezTo>
                    <a:pt x="1550" y="163"/>
                    <a:pt x="1550" y="162"/>
                    <a:pt x="1550" y="160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  <p:sp>
          <p:nvSpPr>
            <p:cNvPr id="37" name="Freeform 166">
              <a:extLst>
                <a:ext uri="{FF2B5EF4-FFF2-40B4-BE49-F238E27FC236}">
                  <a16:creationId xmlns:a16="http://schemas.microsoft.com/office/drawing/2014/main" id="{E29EF73A-CD9D-4BB1-82F4-64AD2D68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105" y="1745672"/>
              <a:ext cx="4419146" cy="727666"/>
            </a:xfrm>
            <a:custGeom>
              <a:avLst/>
              <a:gdLst>
                <a:gd name="T0" fmla="*/ 1558 w 1566"/>
                <a:gd name="T1" fmla="*/ 165 h 325"/>
                <a:gd name="T2" fmla="*/ 769 w 1566"/>
                <a:gd name="T3" fmla="*/ 324 h 325"/>
                <a:gd name="T4" fmla="*/ 8 w 1566"/>
                <a:gd name="T5" fmla="*/ 160 h 325"/>
                <a:gd name="T6" fmla="*/ 796 w 1566"/>
                <a:gd name="T7" fmla="*/ 1 h 325"/>
                <a:gd name="T8" fmla="*/ 1558 w 1566"/>
                <a:gd name="T9" fmla="*/ 16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6" h="325">
                  <a:moveTo>
                    <a:pt x="1558" y="165"/>
                  </a:moveTo>
                  <a:cubicBezTo>
                    <a:pt x="1551" y="254"/>
                    <a:pt x="1198" y="325"/>
                    <a:pt x="769" y="324"/>
                  </a:cubicBezTo>
                  <a:cubicBezTo>
                    <a:pt x="341" y="322"/>
                    <a:pt x="0" y="249"/>
                    <a:pt x="8" y="160"/>
                  </a:cubicBezTo>
                  <a:cubicBezTo>
                    <a:pt x="15" y="71"/>
                    <a:pt x="368" y="0"/>
                    <a:pt x="796" y="1"/>
                  </a:cubicBezTo>
                  <a:cubicBezTo>
                    <a:pt x="1225" y="3"/>
                    <a:pt x="1566" y="76"/>
                    <a:pt x="1558" y="16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  <p:sp>
          <p:nvSpPr>
            <p:cNvPr id="38" name="Freeform 166">
              <a:extLst>
                <a:ext uri="{FF2B5EF4-FFF2-40B4-BE49-F238E27FC236}">
                  <a16:creationId xmlns:a16="http://schemas.microsoft.com/office/drawing/2014/main" id="{3380390A-437E-4629-86BC-C8EAF05F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479" y="1921833"/>
              <a:ext cx="2188665" cy="360390"/>
            </a:xfrm>
            <a:custGeom>
              <a:avLst/>
              <a:gdLst>
                <a:gd name="T0" fmla="*/ 1558 w 1566"/>
                <a:gd name="T1" fmla="*/ 165 h 325"/>
                <a:gd name="T2" fmla="*/ 769 w 1566"/>
                <a:gd name="T3" fmla="*/ 324 h 325"/>
                <a:gd name="T4" fmla="*/ 8 w 1566"/>
                <a:gd name="T5" fmla="*/ 160 h 325"/>
                <a:gd name="T6" fmla="*/ 796 w 1566"/>
                <a:gd name="T7" fmla="*/ 1 h 325"/>
                <a:gd name="T8" fmla="*/ 1558 w 1566"/>
                <a:gd name="T9" fmla="*/ 16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6" h="325">
                  <a:moveTo>
                    <a:pt x="1558" y="165"/>
                  </a:moveTo>
                  <a:cubicBezTo>
                    <a:pt x="1551" y="254"/>
                    <a:pt x="1198" y="325"/>
                    <a:pt x="769" y="324"/>
                  </a:cubicBezTo>
                  <a:cubicBezTo>
                    <a:pt x="341" y="322"/>
                    <a:pt x="0" y="249"/>
                    <a:pt x="8" y="160"/>
                  </a:cubicBezTo>
                  <a:cubicBezTo>
                    <a:pt x="15" y="71"/>
                    <a:pt x="368" y="0"/>
                    <a:pt x="796" y="1"/>
                  </a:cubicBezTo>
                  <a:cubicBezTo>
                    <a:pt x="1225" y="3"/>
                    <a:pt x="1566" y="76"/>
                    <a:pt x="1558" y="16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3600">
                <a:latin typeface="Muli ExtraLight" panose="02000303000000000000" pitchFamily="2" charset="77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uadroTexto 2">
                <a:extLst>
                  <a:ext uri="{FF2B5EF4-FFF2-40B4-BE49-F238E27FC236}">
                    <a16:creationId xmlns:a16="http://schemas.microsoft.com/office/drawing/2014/main" id="{F23D1686-D885-4F29-AE0C-DD9C847FCBE2}"/>
                  </a:ext>
                </a:extLst>
              </p:cNvPr>
              <p:cNvSpPr txBox="1"/>
              <p:nvPr/>
            </p:nvSpPr>
            <p:spPr>
              <a:xfrm>
                <a:off x="6172506" y="4933088"/>
                <a:ext cx="4333494" cy="35484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Efectividad</m:t>
                      </m:r>
                      <m: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de</m:t>
                      </m:r>
                      <m: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los</m:t>
                      </m:r>
                      <m: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leads</m:t>
                      </m:r>
                      <m:r>
                        <a:rPr lang="es-CO" sz="1200" b="0" i="0" smtClean="0"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 </m:t>
                      </m:r>
                      <m:f>
                        <m:fPr>
                          <m:ctrlPr>
                            <a:rPr lang="es-ES" sz="1200" i="1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N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ú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mero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de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Leads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convertidos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en</m:t>
                          </m:r>
                          <m: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ES" sz="1200" i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venta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N</m:t>
                          </m:r>
                          <m: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ú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mero</m:t>
                          </m:r>
                          <m: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total</m:t>
                          </m:r>
                          <m: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de</m:t>
                          </m:r>
                          <m: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leads</m:t>
                          </m:r>
                        </m:den>
                      </m:f>
                    </m:oMath>
                  </m:oMathPara>
                </a14:m>
                <a:endParaRPr lang="es-CO" sz="1200"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" name="CuadroTexto 2">
                <a:extLst>
                  <a:ext uri="{FF2B5EF4-FFF2-40B4-BE49-F238E27FC236}">
                    <a16:creationId xmlns:a16="http://schemas.microsoft.com/office/drawing/2014/main" id="{F23D1686-D885-4F29-AE0C-DD9C847FCB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2506" y="4933088"/>
                <a:ext cx="4333494" cy="354841"/>
              </a:xfrm>
              <a:prstGeom prst="rect">
                <a:avLst/>
              </a:prstGeom>
              <a:blipFill>
                <a:blip r:embed="rId2"/>
                <a:stretch>
                  <a:fillRect l="-585" t="-13793" r="-292" b="-2069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Rectángulo 39">
            <a:extLst>
              <a:ext uri="{FF2B5EF4-FFF2-40B4-BE49-F238E27FC236}">
                <a16:creationId xmlns:a16="http://schemas.microsoft.com/office/drawing/2014/main" id="{6672D155-FF50-4A42-B26F-333591379DC3}"/>
              </a:ext>
            </a:extLst>
          </p:cNvPr>
          <p:cNvSpPr/>
          <p:nvPr/>
        </p:nvSpPr>
        <p:spPr>
          <a:xfrm>
            <a:off x="16782894" y="1804961"/>
            <a:ext cx="722519" cy="40401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s-CO" sz="1300">
              <a:solidFill>
                <a:schemeClr val="tx1"/>
              </a:solidFill>
            </a:endParaRPr>
          </a:p>
        </p:txBody>
      </p:sp>
      <p:sp>
        <p:nvSpPr>
          <p:cNvPr id="41" name="Rectángulo 40">
            <a:extLst>
              <a:ext uri="{FF2B5EF4-FFF2-40B4-BE49-F238E27FC236}">
                <a16:creationId xmlns:a16="http://schemas.microsoft.com/office/drawing/2014/main" id="{8B979F68-F165-4FA1-BE93-77698B0D7B39}"/>
              </a:ext>
            </a:extLst>
          </p:cNvPr>
          <p:cNvSpPr/>
          <p:nvPr/>
        </p:nvSpPr>
        <p:spPr>
          <a:xfrm>
            <a:off x="8942890" y="2293618"/>
            <a:ext cx="194917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 b="1">
                <a:solidFill>
                  <a:schemeClr val="accent1"/>
                </a:solidFill>
              </a:rPr>
              <a:t>Interés</a:t>
            </a:r>
          </a:p>
          <a:p>
            <a:r>
              <a:rPr lang="es-CO" sz="1100">
                <a:solidFill>
                  <a:schemeClr val="tx1"/>
                </a:solidFill>
              </a:rPr>
              <a:t>Convertir extraños en clientes potenciales</a:t>
            </a:r>
            <a:endParaRPr lang="es-CO" sz="1050">
              <a:solidFill>
                <a:schemeClr val="tx1"/>
              </a:solidFill>
            </a:endParaRP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DC9F9B71-E1C9-4D1B-B0E6-F8C3F86F3ADD}"/>
              </a:ext>
            </a:extLst>
          </p:cNvPr>
          <p:cNvSpPr/>
          <p:nvPr/>
        </p:nvSpPr>
        <p:spPr>
          <a:xfrm>
            <a:off x="8942890" y="2953425"/>
            <a:ext cx="194917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 b="1">
                <a:solidFill>
                  <a:schemeClr val="accent2"/>
                </a:solidFill>
              </a:rPr>
              <a:t>Conversión</a:t>
            </a:r>
          </a:p>
          <a:p>
            <a:r>
              <a:rPr lang="es-CO" sz="1100">
                <a:solidFill>
                  <a:schemeClr val="tx1"/>
                </a:solidFill>
              </a:rPr>
              <a:t>Convertir clientes potenciales en leads</a:t>
            </a:r>
            <a:endParaRPr lang="es-CO" sz="1050">
              <a:solidFill>
                <a:schemeClr val="tx1"/>
              </a:solidFill>
            </a:endParaRP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1B767645-0518-491F-BF54-0E3372144CED}"/>
              </a:ext>
            </a:extLst>
          </p:cNvPr>
          <p:cNvSpPr/>
          <p:nvPr/>
        </p:nvSpPr>
        <p:spPr>
          <a:xfrm>
            <a:off x="8942890" y="3504952"/>
            <a:ext cx="22904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 b="1">
                <a:solidFill>
                  <a:schemeClr val="accent3"/>
                </a:solidFill>
              </a:rPr>
              <a:t>Decisión</a:t>
            </a:r>
          </a:p>
          <a:p>
            <a:r>
              <a:rPr lang="es-CO" sz="1100">
                <a:solidFill>
                  <a:schemeClr val="tx1"/>
                </a:solidFill>
              </a:rPr>
              <a:t>Nutrir leads</a:t>
            </a:r>
            <a:endParaRPr lang="es-CO" sz="1050">
              <a:solidFill>
                <a:schemeClr val="tx1"/>
              </a:solidFill>
            </a:endParaRP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B9B50EC6-824B-4A4B-88E8-E0C8380A3862}"/>
              </a:ext>
            </a:extLst>
          </p:cNvPr>
          <p:cNvSpPr/>
          <p:nvPr/>
        </p:nvSpPr>
        <p:spPr>
          <a:xfrm>
            <a:off x="8942890" y="4073384"/>
            <a:ext cx="22904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 b="1">
                <a:solidFill>
                  <a:schemeClr val="accent4"/>
                </a:solidFill>
              </a:rPr>
              <a:t>Venta</a:t>
            </a:r>
          </a:p>
          <a:p>
            <a:r>
              <a:rPr lang="es-CO" sz="1100">
                <a:solidFill>
                  <a:schemeClr val="tx1"/>
                </a:solidFill>
              </a:rPr>
              <a:t>Convertir leads en ventas</a:t>
            </a:r>
            <a:endParaRPr lang="es-CO" sz="1050">
              <a:solidFill>
                <a:schemeClr val="tx1"/>
              </a:solidFill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EF6CAE82-05A7-4CA9-8504-C817B527F056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4DFFE52-006F-44EF-8E98-7C041CFEBC59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13609F1-518C-44BE-81BC-7484F45C29F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24972661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canal digital y tradicional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en el canal digital y tradicional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918717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210330"/>
            <a:ext cx="4552406" cy="372648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Innovación y Digitalización, G. Mercadeo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6"/>
            <a:ext cx="4552406" cy="147075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del canal digital y trad.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del canal digital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8244391" y="2777693"/>
            <a:ext cx="1500951" cy="833977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Volumen de venta en el canal digital t trad.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8244390" y="4080307"/>
            <a:ext cx="1500951" cy="732753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venta en el canal digital y trad.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838265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6144419" y="3409814"/>
            <a:ext cx="1583455" cy="84575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venta del canal digital y tradicional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27874" y="3194682"/>
            <a:ext cx="516517" cy="63801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27874" y="3832694"/>
            <a:ext cx="516516" cy="61399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869252" y="2941610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0CEBD855-F800-4E47-965B-3C54D57A47A4}"/>
              </a:ext>
            </a:extLst>
          </p:cNvPr>
          <p:cNvSpPr/>
          <p:nvPr/>
        </p:nvSpPr>
        <p:spPr>
          <a:xfrm>
            <a:off x="9903935" y="2894694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48" name="Cerrar llave 47">
            <a:extLst>
              <a:ext uri="{FF2B5EF4-FFF2-40B4-BE49-F238E27FC236}">
                <a16:creationId xmlns:a16="http://schemas.microsoft.com/office/drawing/2014/main" id="{A98655DF-C4C3-4813-8C22-311BC4CE17CB}"/>
              </a:ext>
            </a:extLst>
          </p:cNvPr>
          <p:cNvSpPr/>
          <p:nvPr/>
        </p:nvSpPr>
        <p:spPr>
          <a:xfrm rot="10800000">
            <a:off x="9869252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D570EFF3-E8C5-4E68-9E28-CD98DBC5C61E}"/>
              </a:ext>
            </a:extLst>
          </p:cNvPr>
          <p:cNvSpPr/>
          <p:nvPr/>
        </p:nvSpPr>
        <p:spPr>
          <a:xfrm>
            <a:off x="9903935" y="4067972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06885B5-2E65-44D4-9BA1-56B5E7AA115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CF96C25-2353-466A-8BD4-569147EC1C57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303204314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canal alterno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en el canal alterno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Innovación en Canales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Gestión de datos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canales alternos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del canal digital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8244391" y="3035670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venta en el canal alterno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8244390" y="4080308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venta en el canal alterno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838265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6144419" y="3562468"/>
            <a:ext cx="158345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venta del canal alterno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27874" y="3323670"/>
            <a:ext cx="516517" cy="5289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27874" y="3852627"/>
            <a:ext cx="516516" cy="51568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869252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0CEBD855-F800-4E47-965B-3C54D57A47A4}"/>
              </a:ext>
            </a:extLst>
          </p:cNvPr>
          <p:cNvSpPr/>
          <p:nvPr/>
        </p:nvSpPr>
        <p:spPr>
          <a:xfrm>
            <a:off x="9903935" y="3008670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48" name="Cerrar llave 47">
            <a:extLst>
              <a:ext uri="{FF2B5EF4-FFF2-40B4-BE49-F238E27FC236}">
                <a16:creationId xmlns:a16="http://schemas.microsoft.com/office/drawing/2014/main" id="{A98655DF-C4C3-4813-8C22-311BC4CE17CB}"/>
              </a:ext>
            </a:extLst>
          </p:cNvPr>
          <p:cNvSpPr/>
          <p:nvPr/>
        </p:nvSpPr>
        <p:spPr>
          <a:xfrm rot="10800000">
            <a:off x="9869252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D570EFF3-E8C5-4E68-9E28-CD98DBC5C61E}"/>
              </a:ext>
            </a:extLst>
          </p:cNvPr>
          <p:cNvSpPr/>
          <p:nvPr/>
        </p:nvSpPr>
        <p:spPr>
          <a:xfrm>
            <a:off x="9903935" y="4067972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DF41A55-4407-46C0-943C-9AD0D3D1EDC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5F41480B-6E85-4C1B-BA9D-2CC1988743D9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104235396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Quejas y reclamos (</a:t>
            </a:r>
            <a:r>
              <a:rPr lang="es-ES" sz="2000" err="1">
                <a:latin typeface="Arial" panose="020B0604020202020204" pitchFamily="34" charset="0"/>
                <a:cs typeface="Arial" panose="020B0604020202020204" pitchFamily="34" charset="0"/>
              </a:rPr>
              <a:t>QR’s</a:t>
            </a: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) de los canales alternos y digitales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79"/>
            <a:ext cx="4552406" cy="121308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números de quejas y reclamos asociados a los canales alternos y digitales con el fin de mantenerlos en niveles saludables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aseline="0"/>
              <a:t>Identificar y corregir problemas en los canales alternos y digitales frecuentes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Innovación de Canales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Servicio al Cliente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42319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711193"/>
            <a:ext cx="4552406" cy="93555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indicador mejora en la medida que existan menos quejas asociadas a la cadena de valor del área de Operaciones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Quejas y reclamos (QR’s) de los canales alternos y digitales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Comercial, Comité Servicio al Cliente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Picture 4" descr="Phone Icons - Download Free Vector Icons | Noun Project">
            <a:extLst>
              <a:ext uri="{FF2B5EF4-FFF2-40B4-BE49-F238E27FC236}">
                <a16:creationId xmlns:a16="http://schemas.microsoft.com/office/drawing/2014/main" id="{C4ED3F38-0361-468D-83C2-491FE2614E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3936" y="4015865"/>
            <a:ext cx="375697" cy="375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 descr="Email Icon Large Envelope | Email icon, Icon, Clip art">
            <a:extLst>
              <a:ext uri="{FF2B5EF4-FFF2-40B4-BE49-F238E27FC236}">
                <a16:creationId xmlns:a16="http://schemas.microsoft.com/office/drawing/2014/main" id="{5AA70349-529C-46FA-A736-9BC591D2E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4678" y="4125421"/>
            <a:ext cx="403267" cy="28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8" descr="Instant messages, messages, sms, text message, text messages icon">
            <a:extLst>
              <a:ext uri="{FF2B5EF4-FFF2-40B4-BE49-F238E27FC236}">
                <a16:creationId xmlns:a16="http://schemas.microsoft.com/office/drawing/2014/main" id="{47FBB4E7-513D-409C-845F-16D806CF7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5483" y="4057676"/>
            <a:ext cx="423489" cy="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0" name="Picture 2" descr="CG Where The Company Svg Png Icon Free Download (#321446) -  OnlineWebFonts.COM">
            <a:extLst>
              <a:ext uri="{FF2B5EF4-FFF2-40B4-BE49-F238E27FC236}">
                <a16:creationId xmlns:a16="http://schemas.microsoft.com/office/drawing/2014/main" id="{372C9A12-D21E-45F8-A1B4-8593C8B6BA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2132" y="2561766"/>
            <a:ext cx="422432" cy="350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2" name="Picture 4" descr="Avatar Icon Outline - Icon Shop - Download free icons for commercial use">
            <a:extLst>
              <a:ext uri="{FF2B5EF4-FFF2-40B4-BE49-F238E27FC236}">
                <a16:creationId xmlns:a16="http://schemas.microsoft.com/office/drawing/2014/main" id="{35FD5EEF-DDBF-42AD-8470-5D6678E8F0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4116" y="2555226"/>
            <a:ext cx="360562" cy="3605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Rectángulo 28">
            <a:extLst>
              <a:ext uri="{FF2B5EF4-FFF2-40B4-BE49-F238E27FC236}">
                <a16:creationId xmlns:a16="http://schemas.microsoft.com/office/drawing/2014/main" id="{AF2A9B17-3E59-404D-B7DE-EA53F1EF32E6}"/>
              </a:ext>
            </a:extLst>
          </p:cNvPr>
          <p:cNvSpPr/>
          <p:nvPr/>
        </p:nvSpPr>
        <p:spPr>
          <a:xfrm>
            <a:off x="7776006" y="2282934"/>
            <a:ext cx="732445" cy="25540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Natural</a:t>
            </a: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3BD5029D-A387-42BA-978A-D830716BEE2A}"/>
              </a:ext>
            </a:extLst>
          </p:cNvPr>
          <p:cNvSpPr/>
          <p:nvPr/>
        </p:nvSpPr>
        <p:spPr>
          <a:xfrm>
            <a:off x="8508451" y="2317927"/>
            <a:ext cx="869795" cy="179057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Jurídica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4617F50D-1F6E-4FC3-944A-443E373DCDF0}"/>
              </a:ext>
            </a:extLst>
          </p:cNvPr>
          <p:cNvSpPr/>
          <p:nvPr/>
        </p:nvSpPr>
        <p:spPr>
          <a:xfrm>
            <a:off x="6921801" y="3072217"/>
            <a:ext cx="3346618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Quejas o reclamos asociados a los canales alternos y digitales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0F19C785-53CE-4658-B79E-9DD00DD17C16}"/>
              </a:ext>
            </a:extLst>
          </p:cNvPr>
          <p:cNvSpPr/>
          <p:nvPr/>
        </p:nvSpPr>
        <p:spPr>
          <a:xfrm rot="16200000">
            <a:off x="8501549" y="1912215"/>
            <a:ext cx="119123" cy="3602986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pic>
        <p:nvPicPr>
          <p:cNvPr id="43014" name="Picture 6" descr="App, hand, mobile, phone, smartphone, touch icon">
            <a:extLst>
              <a:ext uri="{FF2B5EF4-FFF2-40B4-BE49-F238E27FC236}">
                <a16:creationId xmlns:a16="http://schemas.microsoft.com/office/drawing/2014/main" id="{D3DA99AB-E469-403E-A195-9262E6567D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4321" y="4052627"/>
            <a:ext cx="423490" cy="423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6" name="Picture 8" descr="Check out Bank icon from IconBros - money, business, building, buildings,  columns, banking, savings, finance and business, fin… | Banks icon, Banks  ads, Credit card">
            <a:extLst>
              <a:ext uri="{FF2B5EF4-FFF2-40B4-BE49-F238E27FC236}">
                <a16:creationId xmlns:a16="http://schemas.microsoft.com/office/drawing/2014/main" id="{0C1C499E-8AA9-4FAD-B256-3DEE3A208C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78542" y="4013550"/>
            <a:ext cx="421766" cy="421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ángulo 38">
            <a:extLst>
              <a:ext uri="{FF2B5EF4-FFF2-40B4-BE49-F238E27FC236}">
                <a16:creationId xmlns:a16="http://schemas.microsoft.com/office/drawing/2014/main" id="{1E855E94-42FB-4DD8-8A48-925C89F355C1}"/>
              </a:ext>
            </a:extLst>
          </p:cNvPr>
          <p:cNvSpPr/>
          <p:nvPr/>
        </p:nvSpPr>
        <p:spPr>
          <a:xfrm>
            <a:off x="7373633" y="3737575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Canales de Servicio al Cliente</a:t>
            </a:r>
          </a:p>
        </p:txBody>
      </p:sp>
      <p:sp>
        <p:nvSpPr>
          <p:cNvPr id="32" name="Triángulo isósceles 31">
            <a:extLst>
              <a:ext uri="{FF2B5EF4-FFF2-40B4-BE49-F238E27FC236}">
                <a16:creationId xmlns:a16="http://schemas.microsoft.com/office/drawing/2014/main" id="{9EDC327F-675E-410B-9154-84BAD50F6555}"/>
              </a:ext>
            </a:extLst>
          </p:cNvPr>
          <p:cNvSpPr/>
          <p:nvPr/>
        </p:nvSpPr>
        <p:spPr>
          <a:xfrm rot="10800000">
            <a:off x="6759617" y="4620918"/>
            <a:ext cx="3540691" cy="177016"/>
          </a:xfrm>
          <a:prstGeom prst="triangl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B8AD116D-8971-4D1A-93E5-AB829A461731}"/>
              </a:ext>
            </a:extLst>
          </p:cNvPr>
          <p:cNvSpPr/>
          <p:nvPr/>
        </p:nvSpPr>
        <p:spPr>
          <a:xfrm>
            <a:off x="7443351" y="5006974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# Total de </a:t>
            </a:r>
            <a:r>
              <a:rPr lang="es-CO" sz="1300" err="1">
                <a:solidFill>
                  <a:schemeClr val="tx1"/>
                </a:solidFill>
              </a:rPr>
              <a:t>QR’s</a:t>
            </a:r>
            <a:r>
              <a:rPr lang="es-CO" sz="1300">
                <a:solidFill>
                  <a:schemeClr val="tx1"/>
                </a:solidFill>
              </a:rPr>
              <a:t> asociados a canales alternos y digitales</a:t>
            </a: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C267067A-BE3C-46E7-9863-1884B0A22F32}"/>
              </a:ext>
            </a:extLst>
          </p:cNvPr>
          <p:cNvSpPr txBox="1"/>
          <p:nvPr/>
        </p:nvSpPr>
        <p:spPr>
          <a:xfrm>
            <a:off x="10077476" y="6471687"/>
            <a:ext cx="1010914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7C15DCB6-0A1A-4615-8775-F6A56B757A9E}"/>
              </a:ext>
            </a:extLst>
          </p:cNvPr>
          <p:cNvSpPr/>
          <p:nvPr/>
        </p:nvSpPr>
        <p:spPr>
          <a:xfrm>
            <a:off x="10077477" y="6473797"/>
            <a:ext cx="129342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861BFE32-9AAF-4397-9290-C8C137716F38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633884567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Contribución de canales alternos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 los canales alternos en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Innovación y Digitalización, Director de Innovación en Canales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en que el canal tenga un mayor margen financiero y sea más eficiente en sus operaciones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Contribución de canales alternos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9D0B9AC-583C-4008-A4B5-91B3308F145B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874C000A-60B7-4723-90E8-EB1C2A126ADF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91D1502D-A005-4422-9205-78965A773DBA}"/>
              </a:ext>
            </a:extLst>
          </p:cNvPr>
          <p:cNvSpPr/>
          <p:nvPr/>
        </p:nvSpPr>
        <p:spPr>
          <a:xfrm>
            <a:off x="6857998" y="3580609"/>
            <a:ext cx="1099081" cy="417984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61C20C00-27BA-4066-88E0-080A9D14B575}"/>
              </a:ext>
            </a:extLst>
          </p:cNvPr>
          <p:cNvSpPr/>
          <p:nvPr/>
        </p:nvSpPr>
        <p:spPr>
          <a:xfrm>
            <a:off x="8445326" y="286073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5C8FD625-61A4-4DC4-9D54-D57DCE861BB2}"/>
              </a:ext>
            </a:extLst>
          </p:cNvPr>
          <p:cNvSpPr/>
          <p:nvPr/>
        </p:nvSpPr>
        <p:spPr>
          <a:xfrm>
            <a:off x="8445326" y="361138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A36EBE45-DBA8-4D0A-8E63-19B4B5A6F26D}"/>
              </a:ext>
            </a:extLst>
          </p:cNvPr>
          <p:cNvSpPr/>
          <p:nvPr/>
        </p:nvSpPr>
        <p:spPr>
          <a:xfrm>
            <a:off x="8445325" y="4382761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Gasto operacional</a:t>
            </a:r>
          </a:p>
        </p:txBody>
      </p:sp>
      <p:cxnSp>
        <p:nvCxnSpPr>
          <p:cNvPr id="40" name="Conector: angular 39">
            <a:extLst>
              <a:ext uri="{FF2B5EF4-FFF2-40B4-BE49-F238E27FC236}">
                <a16:creationId xmlns:a16="http://schemas.microsoft.com/office/drawing/2014/main" id="{137453F5-2A8A-4D2F-B9FD-EF8C3F2A56E8}"/>
              </a:ext>
            </a:extLst>
          </p:cNvPr>
          <p:cNvCxnSpPr>
            <a:cxnSpLocks/>
            <a:stCxn id="36" idx="3"/>
            <a:endCxn id="37" idx="1"/>
          </p:cNvCxnSpPr>
          <p:nvPr/>
        </p:nvCxnSpPr>
        <p:spPr>
          <a:xfrm flipV="1">
            <a:off x="7957079" y="3040736"/>
            <a:ext cx="488247" cy="748865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Conector: angular 40">
            <a:extLst>
              <a:ext uri="{FF2B5EF4-FFF2-40B4-BE49-F238E27FC236}">
                <a16:creationId xmlns:a16="http://schemas.microsoft.com/office/drawing/2014/main" id="{8144DBEC-31A0-46C7-A782-232BFD76B181}"/>
              </a:ext>
            </a:extLst>
          </p:cNvPr>
          <p:cNvCxnSpPr>
            <a:cxnSpLocks/>
            <a:stCxn id="36" idx="3"/>
            <a:endCxn id="39" idx="1"/>
          </p:cNvCxnSpPr>
          <p:nvPr/>
        </p:nvCxnSpPr>
        <p:spPr>
          <a:xfrm>
            <a:off x="7957079" y="3789601"/>
            <a:ext cx="488246" cy="77316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Conector recto 41">
            <a:extLst>
              <a:ext uri="{FF2B5EF4-FFF2-40B4-BE49-F238E27FC236}">
                <a16:creationId xmlns:a16="http://schemas.microsoft.com/office/drawing/2014/main" id="{D891FB2A-3D55-488B-912A-0C62A738B94B}"/>
              </a:ext>
            </a:extLst>
          </p:cNvPr>
          <p:cNvCxnSpPr>
            <a:cxnSpLocks/>
            <a:stCxn id="36" idx="3"/>
            <a:endCxn id="38" idx="1"/>
          </p:cNvCxnSpPr>
          <p:nvPr/>
        </p:nvCxnSpPr>
        <p:spPr>
          <a:xfrm>
            <a:off x="7957079" y="3789601"/>
            <a:ext cx="488247" cy="178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Signo más 42">
            <a:extLst>
              <a:ext uri="{FF2B5EF4-FFF2-40B4-BE49-F238E27FC236}">
                <a16:creationId xmlns:a16="http://schemas.microsoft.com/office/drawing/2014/main" id="{6E1C6AFD-74E0-47E9-A229-1092333FF800}"/>
              </a:ext>
            </a:extLst>
          </p:cNvPr>
          <p:cNvSpPr/>
          <p:nvPr/>
        </p:nvSpPr>
        <p:spPr>
          <a:xfrm>
            <a:off x="8975176" y="3241962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4" name="Signo menos 43">
            <a:extLst>
              <a:ext uri="{FF2B5EF4-FFF2-40B4-BE49-F238E27FC236}">
                <a16:creationId xmlns:a16="http://schemas.microsoft.com/office/drawing/2014/main" id="{06B12D58-A50B-42E1-B4E1-28379776F596}"/>
              </a:ext>
            </a:extLst>
          </p:cNvPr>
          <p:cNvSpPr/>
          <p:nvPr/>
        </p:nvSpPr>
        <p:spPr>
          <a:xfrm>
            <a:off x="8975107" y="4124090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753176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 los aliados (presenciales, mixtos y digitales)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de aliados respecto a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0468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92689"/>
            <a:ext cx="4552406" cy="49028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de Alianzas Créditos de Consumo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30099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560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560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560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aliados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 los aliados (presenciales, mixtos y digitales)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B782A28-62B3-41CF-A622-FBC169E13106}"/>
              </a:ext>
            </a:extLst>
          </p:cNvPr>
          <p:cNvSpPr/>
          <p:nvPr/>
        </p:nvSpPr>
        <p:spPr>
          <a:xfrm>
            <a:off x="8244391" y="3035670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Volumen de venta con aliados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35E3E7C3-7C67-4777-8A0F-CA23663F7BF3}"/>
              </a:ext>
            </a:extLst>
          </p:cNvPr>
          <p:cNvSpPr/>
          <p:nvPr/>
        </p:nvSpPr>
        <p:spPr>
          <a:xfrm>
            <a:off x="8244390" y="4080308"/>
            <a:ext cx="1500951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venta con aliados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974BD41A-40A7-448A-83F2-7AF8C5D9E33D}"/>
              </a:ext>
            </a:extLst>
          </p:cNvPr>
          <p:cNvSpPr/>
          <p:nvPr/>
        </p:nvSpPr>
        <p:spPr>
          <a:xfrm>
            <a:off x="8838265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88E28218-61B4-4720-961D-D111C67B48BA}"/>
              </a:ext>
            </a:extLst>
          </p:cNvPr>
          <p:cNvSpPr/>
          <p:nvPr/>
        </p:nvSpPr>
        <p:spPr>
          <a:xfrm>
            <a:off x="6144419" y="3562468"/>
            <a:ext cx="158345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venta aliados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2BC9BADB-C95E-4E68-BB81-226BE566D187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27874" y="3323670"/>
            <a:ext cx="516517" cy="5289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8E6FB698-7263-4E0C-B352-0423228E895B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27874" y="3852627"/>
            <a:ext cx="516516" cy="51568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2" name="Cerrar llave 31">
            <a:extLst>
              <a:ext uri="{FF2B5EF4-FFF2-40B4-BE49-F238E27FC236}">
                <a16:creationId xmlns:a16="http://schemas.microsoft.com/office/drawing/2014/main" id="{ACAB3A05-6078-4EFF-94E4-0B2465D2AF6C}"/>
              </a:ext>
            </a:extLst>
          </p:cNvPr>
          <p:cNvSpPr/>
          <p:nvPr/>
        </p:nvSpPr>
        <p:spPr>
          <a:xfrm rot="10800000">
            <a:off x="9869252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64B88784-F345-42E0-96EC-0DEA2E7350B5}"/>
              </a:ext>
            </a:extLst>
          </p:cNvPr>
          <p:cNvSpPr/>
          <p:nvPr/>
        </p:nvSpPr>
        <p:spPr>
          <a:xfrm>
            <a:off x="9903935" y="3008670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34" name="Cerrar llave 33">
            <a:extLst>
              <a:ext uri="{FF2B5EF4-FFF2-40B4-BE49-F238E27FC236}">
                <a16:creationId xmlns:a16="http://schemas.microsoft.com/office/drawing/2014/main" id="{9517B755-DF75-4B7A-9A8B-E106549C3CE2}"/>
              </a:ext>
            </a:extLst>
          </p:cNvPr>
          <p:cNvSpPr/>
          <p:nvPr/>
        </p:nvSpPr>
        <p:spPr>
          <a:xfrm rot="10800000">
            <a:off x="9869252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0D139434-7C89-4D04-B1BF-AC21AD330C83}"/>
              </a:ext>
            </a:extLst>
          </p:cNvPr>
          <p:cNvSpPr/>
          <p:nvPr/>
        </p:nvSpPr>
        <p:spPr>
          <a:xfrm>
            <a:off x="9903935" y="4067972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383AA2D-BF8D-44FC-A55E-E95687B9711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1D4B322A-1F0D-4D69-9542-98214F181767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257049543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109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Contribución de las alianzas 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 las alianzas en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Innovación y Digitalización, G. Créditos de Consumo y Expansión de Mercado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en que el canal tenga un mayor margen financiero y sea más eficiente en sus operaciones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Contribución de las alianzas 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31BE67E-1578-4D4E-9830-730B9A485DA2}"/>
              </a:ext>
            </a:extLst>
          </p:cNvPr>
          <p:cNvSpPr/>
          <p:nvPr/>
        </p:nvSpPr>
        <p:spPr>
          <a:xfrm>
            <a:off x="6857998" y="3580609"/>
            <a:ext cx="1099081" cy="417984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8EF32C4D-183D-4816-B1AA-29C87FD616C3}"/>
              </a:ext>
            </a:extLst>
          </p:cNvPr>
          <p:cNvSpPr/>
          <p:nvPr/>
        </p:nvSpPr>
        <p:spPr>
          <a:xfrm>
            <a:off x="8445326" y="286073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564244AE-4971-42A5-AEC4-2339C1F7A3D7}"/>
              </a:ext>
            </a:extLst>
          </p:cNvPr>
          <p:cNvSpPr/>
          <p:nvPr/>
        </p:nvSpPr>
        <p:spPr>
          <a:xfrm>
            <a:off x="8445326" y="3611386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0949128-B87C-43B9-9BB4-E379B1BCF152}"/>
              </a:ext>
            </a:extLst>
          </p:cNvPr>
          <p:cNvSpPr/>
          <p:nvPr/>
        </p:nvSpPr>
        <p:spPr>
          <a:xfrm>
            <a:off x="8445325" y="4382761"/>
            <a:ext cx="1330046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Gasto operacional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1E469602-35AF-42A5-A649-1160558E12DC}"/>
              </a:ext>
            </a:extLst>
          </p:cNvPr>
          <p:cNvCxnSpPr>
            <a:cxnSpLocks/>
            <a:stCxn id="26" idx="3"/>
            <a:endCxn id="27" idx="1"/>
          </p:cNvCxnSpPr>
          <p:nvPr/>
        </p:nvCxnSpPr>
        <p:spPr>
          <a:xfrm flipV="1">
            <a:off x="7957079" y="3040736"/>
            <a:ext cx="488247" cy="748865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759B88F7-D1C2-4B5D-A73A-4ADEB816F618}"/>
              </a:ext>
            </a:extLst>
          </p:cNvPr>
          <p:cNvCxnSpPr>
            <a:cxnSpLocks/>
            <a:stCxn id="26" idx="3"/>
            <a:endCxn id="29" idx="1"/>
          </p:cNvCxnSpPr>
          <p:nvPr/>
        </p:nvCxnSpPr>
        <p:spPr>
          <a:xfrm>
            <a:off x="7957079" y="3789601"/>
            <a:ext cx="488246" cy="77316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 recto 31">
            <a:extLst>
              <a:ext uri="{FF2B5EF4-FFF2-40B4-BE49-F238E27FC236}">
                <a16:creationId xmlns:a16="http://schemas.microsoft.com/office/drawing/2014/main" id="{1D1A7279-B350-4C94-9091-783278C05646}"/>
              </a:ext>
            </a:extLst>
          </p:cNvPr>
          <p:cNvCxnSpPr>
            <a:cxnSpLocks/>
            <a:stCxn id="26" idx="3"/>
            <a:endCxn id="28" idx="1"/>
          </p:cNvCxnSpPr>
          <p:nvPr/>
        </p:nvCxnSpPr>
        <p:spPr>
          <a:xfrm>
            <a:off x="7957079" y="3789601"/>
            <a:ext cx="488247" cy="178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Signo más 32">
            <a:extLst>
              <a:ext uri="{FF2B5EF4-FFF2-40B4-BE49-F238E27FC236}">
                <a16:creationId xmlns:a16="http://schemas.microsoft.com/office/drawing/2014/main" id="{C38E1F3C-4CCB-4F77-96A6-BAF243B9ACAF}"/>
              </a:ext>
            </a:extLst>
          </p:cNvPr>
          <p:cNvSpPr/>
          <p:nvPr/>
        </p:nvSpPr>
        <p:spPr>
          <a:xfrm>
            <a:off x="8975176" y="3241962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Signo menos 33">
            <a:extLst>
              <a:ext uri="{FF2B5EF4-FFF2-40B4-BE49-F238E27FC236}">
                <a16:creationId xmlns:a16="http://schemas.microsoft.com/office/drawing/2014/main" id="{28661396-883D-4525-87D7-F7F8D2DE63BA}"/>
              </a:ext>
            </a:extLst>
          </p:cNvPr>
          <p:cNvSpPr/>
          <p:nvPr/>
        </p:nvSpPr>
        <p:spPr>
          <a:xfrm>
            <a:off x="8975107" y="4124090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02EF5E6-762D-4449-9FF4-78980035909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EAEF191-E295-4CB0-9C70-F7D680ADF440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335956512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producto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de los productos en los canales digitales y tradicionales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Gerentes de Producto (según producto a cargo)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del producto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producto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7980434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venta del producto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7980433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</a:t>
            </a:r>
            <a:r>
              <a:rPr lang="es-ES" sz="1200">
                <a:solidFill>
                  <a:schemeClr val="accent1"/>
                </a:solidFill>
              </a:rPr>
              <a:t>volumen de venta del producto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607356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5913510" y="3562468"/>
            <a:ext cx="158345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vol. de venta del producto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496965" y="3323670"/>
            <a:ext cx="483469" cy="5289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496965" y="3852627"/>
            <a:ext cx="483468" cy="51568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638343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8" name="Cerrar llave 47">
            <a:extLst>
              <a:ext uri="{FF2B5EF4-FFF2-40B4-BE49-F238E27FC236}">
                <a16:creationId xmlns:a16="http://schemas.microsoft.com/office/drawing/2014/main" id="{A98655DF-C4C3-4813-8C22-311BC4CE17CB}"/>
              </a:ext>
            </a:extLst>
          </p:cNvPr>
          <p:cNvSpPr/>
          <p:nvPr/>
        </p:nvSpPr>
        <p:spPr>
          <a:xfrm rot="10800000">
            <a:off x="9638343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2" name="Bocadillo: rectángulo con esquinas redondeadas 1">
            <a:extLst>
              <a:ext uri="{FF2B5EF4-FFF2-40B4-BE49-F238E27FC236}">
                <a16:creationId xmlns:a16="http://schemas.microsoft.com/office/drawing/2014/main" id="{979FCB9D-A8A1-4740-8E5F-9DC9ECAB539C}"/>
              </a:ext>
            </a:extLst>
          </p:cNvPr>
          <p:cNvSpPr/>
          <p:nvPr/>
        </p:nvSpPr>
        <p:spPr>
          <a:xfrm>
            <a:off x="5878416" y="4424456"/>
            <a:ext cx="2006473" cy="1059380"/>
          </a:xfrm>
          <a:prstGeom prst="wedgeRoundRectCallout">
            <a:avLst>
              <a:gd name="adj1" fmla="val 12646"/>
              <a:gd name="adj2" fmla="val -68445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Calculo del cumplimiento del producto a cargo: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Libranza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/>
              <a:t>Productos Créditos de Consumo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Micro y </a:t>
            </a:r>
            <a:r>
              <a:rPr lang="es-CO" sz="1000" err="1">
                <a:solidFill>
                  <a:schemeClr val="tx1"/>
                </a:solidFill>
              </a:rPr>
              <a:t>P</a:t>
            </a:r>
            <a:r>
              <a:rPr lang="es-CO" sz="1000" err="1"/>
              <a:t>yMe</a:t>
            </a:r>
            <a:endParaRPr lang="es-CO" sz="1000"/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/>
              <a:t>Captación</a:t>
            </a:r>
            <a:endParaRPr lang="es-CO" sz="1000">
              <a:solidFill>
                <a:schemeClr val="tx1"/>
              </a:solidFill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D575D7B-2AB9-4592-9DF4-135C02E39DCC}"/>
              </a:ext>
            </a:extLst>
          </p:cNvPr>
          <p:cNvSpPr/>
          <p:nvPr/>
        </p:nvSpPr>
        <p:spPr>
          <a:xfrm>
            <a:off x="9764938" y="3135658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Digital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63D3896E-3270-4D1D-A757-8AC6AF333CB4}"/>
              </a:ext>
            </a:extLst>
          </p:cNvPr>
          <p:cNvSpPr/>
          <p:nvPr/>
        </p:nvSpPr>
        <p:spPr>
          <a:xfrm>
            <a:off x="9764938" y="3360868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Tradicional</a:t>
            </a:r>
          </a:p>
        </p:txBody>
      </p:sp>
      <p:sp>
        <p:nvSpPr>
          <p:cNvPr id="50" name="Rectángulo 49">
            <a:extLst>
              <a:ext uri="{FF2B5EF4-FFF2-40B4-BE49-F238E27FC236}">
                <a16:creationId xmlns:a16="http://schemas.microsoft.com/office/drawing/2014/main" id="{1EEB3DAD-9BDE-40BE-B720-386D5724B5EF}"/>
              </a:ext>
            </a:extLst>
          </p:cNvPr>
          <p:cNvSpPr/>
          <p:nvPr/>
        </p:nvSpPr>
        <p:spPr>
          <a:xfrm>
            <a:off x="9764938" y="4178007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Digital</a:t>
            </a:r>
          </a:p>
        </p:txBody>
      </p:sp>
      <p:sp>
        <p:nvSpPr>
          <p:cNvPr id="51" name="Rectángulo 50">
            <a:extLst>
              <a:ext uri="{FF2B5EF4-FFF2-40B4-BE49-F238E27FC236}">
                <a16:creationId xmlns:a16="http://schemas.microsoft.com/office/drawing/2014/main" id="{066C1897-2B6C-44FE-98AD-724B25D0B146}"/>
              </a:ext>
            </a:extLst>
          </p:cNvPr>
          <p:cNvSpPr/>
          <p:nvPr/>
        </p:nvSpPr>
        <p:spPr>
          <a:xfrm>
            <a:off x="9764938" y="4403217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Tradicional</a:t>
            </a:r>
          </a:p>
        </p:txBody>
      </p:sp>
      <p:sp>
        <p:nvSpPr>
          <p:cNvPr id="3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C61B311-6F57-4CFA-8D8C-DE5AAB3CE1DB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85E574F4-4F07-428E-B143-B6D0D81B156B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34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2C68CBF-22CB-4426-BF5B-9DBF7284B76D}"/>
              </a:ext>
            </a:extLst>
          </p:cNvPr>
          <p:cNvSpPr/>
          <p:nvPr/>
        </p:nvSpPr>
        <p:spPr>
          <a:xfrm rot="10800000">
            <a:off x="9784817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209CEDCA-2609-4896-8C75-C06B41686CDE}"/>
              </a:ext>
            </a:extLst>
          </p:cNvPr>
          <p:cNvSpPr/>
          <p:nvPr/>
        </p:nvSpPr>
        <p:spPr>
          <a:xfrm>
            <a:off x="8166772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401306942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Rentabilidad del producto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del producto a cargo para la generación de rentabilidad para el negocio en los canales digital y tradicional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Gerentes de Producto (según producto a cargo)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en que el producto tenga un mayor margen financiero y sea más eficiente en sus operaciones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Rentabilidad del producto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Comercial, Comité de Producto Integral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cadillo: rectángulo con esquinas redondeadas 2">
            <a:extLst>
              <a:ext uri="{FF2B5EF4-FFF2-40B4-BE49-F238E27FC236}">
                <a16:creationId xmlns:a16="http://schemas.microsoft.com/office/drawing/2014/main" id="{E000D001-147A-4DA1-9AFA-81CA4E70BAB0}"/>
              </a:ext>
            </a:extLst>
          </p:cNvPr>
          <p:cNvSpPr/>
          <p:nvPr/>
        </p:nvSpPr>
        <p:spPr>
          <a:xfrm>
            <a:off x="5636623" y="4473241"/>
            <a:ext cx="2111240" cy="923010"/>
          </a:xfrm>
          <a:prstGeom prst="wedgeRoundRectCallout">
            <a:avLst>
              <a:gd name="adj1" fmla="val 20891"/>
              <a:gd name="adj2" fmla="val -6930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Rentabilidad del producto a cargo: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Libranza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/>
              <a:t>Créditos de Consumo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Micro y </a:t>
            </a:r>
            <a:r>
              <a:rPr lang="es-CO" sz="1000" err="1">
                <a:solidFill>
                  <a:schemeClr val="tx1"/>
                </a:solidFill>
              </a:rPr>
              <a:t>P</a:t>
            </a:r>
            <a:r>
              <a:rPr lang="es-CO" sz="1000" err="1"/>
              <a:t>yMe</a:t>
            </a:r>
            <a:endParaRPr lang="es-CO" sz="1000"/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/>
              <a:t>Captación</a:t>
            </a:r>
            <a:endParaRPr lang="es-CO" sz="1000">
              <a:solidFill>
                <a:schemeClr val="tx1"/>
              </a:solidFill>
            </a:endParaRPr>
          </a:p>
        </p:txBody>
      </p:sp>
      <p:sp>
        <p:nvSpPr>
          <p:cNvPr id="38" name="Cerrar llave 37">
            <a:extLst>
              <a:ext uri="{FF2B5EF4-FFF2-40B4-BE49-F238E27FC236}">
                <a16:creationId xmlns:a16="http://schemas.microsoft.com/office/drawing/2014/main" id="{BA2D1300-A6F0-49AA-8E0F-A90817B83B78}"/>
              </a:ext>
            </a:extLst>
          </p:cNvPr>
          <p:cNvSpPr/>
          <p:nvPr/>
        </p:nvSpPr>
        <p:spPr>
          <a:xfrm rot="16200000">
            <a:off x="7009052" y="3182920"/>
            <a:ext cx="151210" cy="965456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197B9614-AB50-4681-9A4D-6F109458DF0C}"/>
              </a:ext>
            </a:extLst>
          </p:cNvPr>
          <p:cNvSpPr/>
          <p:nvPr/>
        </p:nvSpPr>
        <p:spPr>
          <a:xfrm>
            <a:off x="6474046" y="2965441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Digital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Tradicional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914C90E-7E9E-4F7D-8EB8-9ED5C4551A42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3B750223-8EED-4895-9AD7-A06E83094988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3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A2A89AB2-FDBD-43D5-BA5E-A507D69D3D62}"/>
              </a:ext>
            </a:extLst>
          </p:cNvPr>
          <p:cNvSpPr/>
          <p:nvPr/>
        </p:nvSpPr>
        <p:spPr>
          <a:xfrm rot="10800000">
            <a:off x="9052145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5E405096-2469-4F0C-9827-1B6FB4BA0BF9}"/>
              </a:ext>
            </a:extLst>
          </p:cNvPr>
          <p:cNvSpPr/>
          <p:nvPr/>
        </p:nvSpPr>
        <p:spPr>
          <a:xfrm>
            <a:off x="8170078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7412746E-DE1C-41BF-8CBB-0D1E7E531FD7}"/>
              </a:ext>
            </a:extLst>
          </p:cNvPr>
          <p:cNvSpPr/>
          <p:nvPr/>
        </p:nvSpPr>
        <p:spPr>
          <a:xfrm>
            <a:off x="6568047" y="3784131"/>
            <a:ext cx="999336" cy="46322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Rentabilidad del producto </a:t>
            </a:r>
          </a:p>
        </p:txBody>
      </p:sp>
      <p:sp>
        <p:nvSpPr>
          <p:cNvPr id="41" name="Rectángulo 40">
            <a:extLst>
              <a:ext uri="{FF2B5EF4-FFF2-40B4-BE49-F238E27FC236}">
                <a16:creationId xmlns:a16="http://schemas.microsoft.com/office/drawing/2014/main" id="{A9CB3E8D-3E03-441B-960B-65570AF58ACB}"/>
              </a:ext>
            </a:extLst>
          </p:cNvPr>
          <p:cNvSpPr/>
          <p:nvPr/>
        </p:nvSpPr>
        <p:spPr>
          <a:xfrm>
            <a:off x="8012923" y="3295474"/>
            <a:ext cx="1331101" cy="5796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43" name="Rectángulo 42">
            <a:extLst>
              <a:ext uri="{FF2B5EF4-FFF2-40B4-BE49-F238E27FC236}">
                <a16:creationId xmlns:a16="http://schemas.microsoft.com/office/drawing/2014/main" id="{8D26E5B5-DC03-4F1E-97F8-9C632AAB25F8}"/>
              </a:ext>
            </a:extLst>
          </p:cNvPr>
          <p:cNvSpPr/>
          <p:nvPr/>
        </p:nvSpPr>
        <p:spPr>
          <a:xfrm>
            <a:off x="8024735" y="4176651"/>
            <a:ext cx="1331102" cy="58075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intereses y comisiones</a:t>
            </a:r>
          </a:p>
        </p:txBody>
      </p:sp>
      <p:cxnSp>
        <p:nvCxnSpPr>
          <p:cNvPr id="44" name="Conector: angular 43">
            <a:extLst>
              <a:ext uri="{FF2B5EF4-FFF2-40B4-BE49-F238E27FC236}">
                <a16:creationId xmlns:a16="http://schemas.microsoft.com/office/drawing/2014/main" id="{A06A93C6-5C72-43C3-ADB4-09C23F637123}"/>
              </a:ext>
            </a:extLst>
          </p:cNvPr>
          <p:cNvCxnSpPr>
            <a:cxnSpLocks/>
            <a:stCxn id="39" idx="3"/>
            <a:endCxn id="41" idx="1"/>
          </p:cNvCxnSpPr>
          <p:nvPr/>
        </p:nvCxnSpPr>
        <p:spPr>
          <a:xfrm flipV="1">
            <a:off x="7567383" y="3585274"/>
            <a:ext cx="445540" cy="430471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5" name="Signo de división 44">
            <a:extLst>
              <a:ext uri="{FF2B5EF4-FFF2-40B4-BE49-F238E27FC236}">
                <a16:creationId xmlns:a16="http://schemas.microsoft.com/office/drawing/2014/main" id="{6D92973B-8142-45E7-B437-0EEC35140EBB}"/>
              </a:ext>
            </a:extLst>
          </p:cNvPr>
          <p:cNvSpPr/>
          <p:nvPr/>
        </p:nvSpPr>
        <p:spPr>
          <a:xfrm>
            <a:off x="8552474" y="3895164"/>
            <a:ext cx="252000" cy="288000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9C4A1063-5F78-4571-A9B1-4F3F4B627F65}"/>
              </a:ext>
            </a:extLst>
          </p:cNvPr>
          <p:cNvSpPr/>
          <p:nvPr/>
        </p:nvSpPr>
        <p:spPr>
          <a:xfrm>
            <a:off x="9704389" y="4076061"/>
            <a:ext cx="1092365" cy="4176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Gasto </a:t>
            </a:r>
            <a:br>
              <a:rPr lang="es-CO" sz="1200">
                <a:solidFill>
                  <a:schemeClr val="accent1"/>
                </a:solidFill>
              </a:rPr>
            </a:br>
            <a:r>
              <a:rPr lang="es-CO" sz="1200">
                <a:solidFill>
                  <a:schemeClr val="accent1"/>
                </a:solidFill>
              </a:rPr>
              <a:t>operacional</a:t>
            </a: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E7D28CB1-84F0-4176-BD52-B34FF121489A}"/>
              </a:ext>
            </a:extLst>
          </p:cNvPr>
          <p:cNvSpPr/>
          <p:nvPr/>
        </p:nvSpPr>
        <p:spPr>
          <a:xfrm>
            <a:off x="9704389" y="2687407"/>
            <a:ext cx="1092365" cy="4176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B8735C93-97E9-4C9A-8625-862F48969009}"/>
              </a:ext>
            </a:extLst>
          </p:cNvPr>
          <p:cNvSpPr/>
          <p:nvPr/>
        </p:nvSpPr>
        <p:spPr>
          <a:xfrm>
            <a:off x="9704389" y="3381734"/>
            <a:ext cx="1092365" cy="4176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cxnSp>
        <p:nvCxnSpPr>
          <p:cNvPr id="49" name="Conector: angular 48">
            <a:extLst>
              <a:ext uri="{FF2B5EF4-FFF2-40B4-BE49-F238E27FC236}">
                <a16:creationId xmlns:a16="http://schemas.microsoft.com/office/drawing/2014/main" id="{5D24183E-B9EA-4E53-A496-7013311CCF14}"/>
              </a:ext>
            </a:extLst>
          </p:cNvPr>
          <p:cNvCxnSpPr>
            <a:cxnSpLocks/>
            <a:stCxn id="43" idx="1"/>
            <a:endCxn id="39" idx="3"/>
          </p:cNvCxnSpPr>
          <p:nvPr/>
        </p:nvCxnSpPr>
        <p:spPr>
          <a:xfrm rot="10800000">
            <a:off x="7567383" y="4015745"/>
            <a:ext cx="457352" cy="45128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Conector: angular 49">
            <a:extLst>
              <a:ext uri="{FF2B5EF4-FFF2-40B4-BE49-F238E27FC236}">
                <a16:creationId xmlns:a16="http://schemas.microsoft.com/office/drawing/2014/main" id="{CCF6A6B6-2707-4F8C-B1C7-05769D8973A3}"/>
              </a:ext>
            </a:extLst>
          </p:cNvPr>
          <p:cNvCxnSpPr>
            <a:cxnSpLocks/>
            <a:stCxn id="41" idx="3"/>
            <a:endCxn id="47" idx="1"/>
          </p:cNvCxnSpPr>
          <p:nvPr/>
        </p:nvCxnSpPr>
        <p:spPr>
          <a:xfrm flipV="1">
            <a:off x="9344024" y="2896207"/>
            <a:ext cx="360365" cy="68906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Conector: angular 50">
            <a:extLst>
              <a:ext uri="{FF2B5EF4-FFF2-40B4-BE49-F238E27FC236}">
                <a16:creationId xmlns:a16="http://schemas.microsoft.com/office/drawing/2014/main" id="{9BFA671E-3202-4D88-ADAD-EE4672B553FF}"/>
              </a:ext>
            </a:extLst>
          </p:cNvPr>
          <p:cNvCxnSpPr>
            <a:cxnSpLocks/>
            <a:stCxn id="41" idx="3"/>
            <a:endCxn id="48" idx="1"/>
          </p:cNvCxnSpPr>
          <p:nvPr/>
        </p:nvCxnSpPr>
        <p:spPr>
          <a:xfrm>
            <a:off x="9344024" y="3585274"/>
            <a:ext cx="360365" cy="5260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" name="Conector: angular 51">
            <a:extLst>
              <a:ext uri="{FF2B5EF4-FFF2-40B4-BE49-F238E27FC236}">
                <a16:creationId xmlns:a16="http://schemas.microsoft.com/office/drawing/2014/main" id="{822E7455-8BE4-412B-AAFE-43BC5C3E6C12}"/>
              </a:ext>
            </a:extLst>
          </p:cNvPr>
          <p:cNvCxnSpPr>
            <a:cxnSpLocks/>
            <a:stCxn id="41" idx="3"/>
            <a:endCxn id="46" idx="1"/>
          </p:cNvCxnSpPr>
          <p:nvPr/>
        </p:nvCxnSpPr>
        <p:spPr>
          <a:xfrm>
            <a:off x="9344024" y="3585274"/>
            <a:ext cx="360365" cy="69958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3" name="Signo más 52">
            <a:extLst>
              <a:ext uri="{FF2B5EF4-FFF2-40B4-BE49-F238E27FC236}">
                <a16:creationId xmlns:a16="http://schemas.microsoft.com/office/drawing/2014/main" id="{A5FC1981-8B9E-4034-A0ED-BB76CA4EDF5A}"/>
              </a:ext>
            </a:extLst>
          </p:cNvPr>
          <p:cNvSpPr/>
          <p:nvPr/>
        </p:nvSpPr>
        <p:spPr>
          <a:xfrm>
            <a:off x="10156836" y="3109417"/>
            <a:ext cx="252000" cy="252000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4" name="Signo menos 53">
            <a:extLst>
              <a:ext uri="{FF2B5EF4-FFF2-40B4-BE49-F238E27FC236}">
                <a16:creationId xmlns:a16="http://schemas.microsoft.com/office/drawing/2014/main" id="{14A763D3-5B1D-4272-974F-4198D640F303}"/>
              </a:ext>
            </a:extLst>
          </p:cNvPr>
          <p:cNvSpPr/>
          <p:nvPr/>
        </p:nvSpPr>
        <p:spPr>
          <a:xfrm>
            <a:off x="10164042" y="3856228"/>
            <a:ext cx="2520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840839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canal tradicional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en el canal alterno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Comercial y de Servicio, Director de Innovación en Canales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canales tradicionales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volúmenes de venta del canal digital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8211343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Vol. de venta en el canal tradicional del periodo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8211342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</a:t>
            </a:r>
            <a:r>
              <a:rPr lang="es-ES" sz="1200">
                <a:solidFill>
                  <a:schemeClr val="accent1"/>
                </a:solidFill>
              </a:rPr>
              <a:t>vol. de venta en el canal tradicional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838265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6144419" y="3562468"/>
            <a:ext cx="158345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vol. de venta del canal tradicional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27874" y="3323670"/>
            <a:ext cx="483469" cy="52895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27874" y="3852627"/>
            <a:ext cx="483468" cy="51568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869252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0CEBD855-F800-4E47-965B-3C54D57A47A4}"/>
              </a:ext>
            </a:extLst>
          </p:cNvPr>
          <p:cNvSpPr/>
          <p:nvPr/>
        </p:nvSpPr>
        <p:spPr>
          <a:xfrm>
            <a:off x="9903935" y="3008670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48" name="Cerrar llave 47">
            <a:extLst>
              <a:ext uri="{FF2B5EF4-FFF2-40B4-BE49-F238E27FC236}">
                <a16:creationId xmlns:a16="http://schemas.microsoft.com/office/drawing/2014/main" id="{A98655DF-C4C3-4813-8C22-311BC4CE17CB}"/>
              </a:ext>
            </a:extLst>
          </p:cNvPr>
          <p:cNvSpPr/>
          <p:nvPr/>
        </p:nvSpPr>
        <p:spPr>
          <a:xfrm rot="10800000">
            <a:off x="9869252" y="4114888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D570EFF3-E8C5-4E68-9E28-CD98DBC5C61E}"/>
              </a:ext>
            </a:extLst>
          </p:cNvPr>
          <p:cNvSpPr/>
          <p:nvPr/>
        </p:nvSpPr>
        <p:spPr>
          <a:xfrm>
            <a:off x="9903935" y="4067972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Colocación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Captación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0750303-F650-4F76-A1A9-3EEB79EA317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EA4E8142-D961-41B5-97D5-586D71C0EC4A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57083748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Contribución de las regiones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 las regiones en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Comercial, G. Regionales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en que el canal tenga un mayor margen financiero y sea más eficiente en sus operaciones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Contribución de las regiones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FC135677-657F-424B-BE3F-F0D206FACF37}"/>
              </a:ext>
            </a:extLst>
          </p:cNvPr>
          <p:cNvSpPr/>
          <p:nvPr/>
        </p:nvSpPr>
        <p:spPr>
          <a:xfrm>
            <a:off x="6857998" y="3622273"/>
            <a:ext cx="1099081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89C0E7BB-CD70-4AAC-9EE0-F4FC92D562C0}"/>
              </a:ext>
            </a:extLst>
          </p:cNvPr>
          <p:cNvSpPr/>
          <p:nvPr/>
        </p:nvSpPr>
        <p:spPr>
          <a:xfrm>
            <a:off x="8445326" y="2860737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NIM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58527F5B-1F08-4CBC-B05C-F0889FBA26E5}"/>
              </a:ext>
            </a:extLst>
          </p:cNvPr>
          <p:cNvSpPr/>
          <p:nvPr/>
        </p:nvSpPr>
        <p:spPr>
          <a:xfrm>
            <a:off x="8445326" y="3622273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Ingresos por comisiones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481A5661-C425-4C2E-A52D-9773EF0E763D}"/>
              </a:ext>
            </a:extLst>
          </p:cNvPr>
          <p:cNvSpPr/>
          <p:nvPr/>
        </p:nvSpPr>
        <p:spPr>
          <a:xfrm>
            <a:off x="8445325" y="4382762"/>
            <a:ext cx="1099081" cy="33277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Gasto operacional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312AC45B-E80D-4584-BD9E-29EBF131F3D4}"/>
              </a:ext>
            </a:extLst>
          </p:cNvPr>
          <p:cNvCxnSpPr>
            <a:cxnSpLocks/>
            <a:stCxn id="26" idx="3"/>
            <a:endCxn id="27" idx="1"/>
          </p:cNvCxnSpPr>
          <p:nvPr/>
        </p:nvCxnSpPr>
        <p:spPr>
          <a:xfrm flipV="1">
            <a:off x="7957079" y="3027125"/>
            <a:ext cx="488247" cy="761536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37A27BF4-4BC4-4BCD-AF9E-1271E67C5B8E}"/>
              </a:ext>
            </a:extLst>
          </p:cNvPr>
          <p:cNvCxnSpPr>
            <a:cxnSpLocks/>
            <a:stCxn id="26" idx="3"/>
            <a:endCxn id="29" idx="1"/>
          </p:cNvCxnSpPr>
          <p:nvPr/>
        </p:nvCxnSpPr>
        <p:spPr>
          <a:xfrm>
            <a:off x="7957079" y="3788661"/>
            <a:ext cx="488246" cy="76048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 recto 31">
            <a:extLst>
              <a:ext uri="{FF2B5EF4-FFF2-40B4-BE49-F238E27FC236}">
                <a16:creationId xmlns:a16="http://schemas.microsoft.com/office/drawing/2014/main" id="{96E9CBF6-E49E-46ED-BEBA-BD42CA2EBBCC}"/>
              </a:ext>
            </a:extLst>
          </p:cNvPr>
          <p:cNvCxnSpPr>
            <a:stCxn id="26" idx="3"/>
            <a:endCxn id="28" idx="1"/>
          </p:cNvCxnSpPr>
          <p:nvPr/>
        </p:nvCxnSpPr>
        <p:spPr>
          <a:xfrm>
            <a:off x="7957079" y="3788661"/>
            <a:ext cx="488247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Signo más 32">
            <a:extLst>
              <a:ext uri="{FF2B5EF4-FFF2-40B4-BE49-F238E27FC236}">
                <a16:creationId xmlns:a16="http://schemas.microsoft.com/office/drawing/2014/main" id="{7D7143FE-4F3E-4AF0-9279-87A0409A4D62}"/>
              </a:ext>
            </a:extLst>
          </p:cNvPr>
          <p:cNvSpPr/>
          <p:nvPr/>
        </p:nvSpPr>
        <p:spPr>
          <a:xfrm>
            <a:off x="8852901" y="3241962"/>
            <a:ext cx="313063" cy="319684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Signo menos 33">
            <a:extLst>
              <a:ext uri="{FF2B5EF4-FFF2-40B4-BE49-F238E27FC236}">
                <a16:creationId xmlns:a16="http://schemas.microsoft.com/office/drawing/2014/main" id="{61663348-4B72-426E-AB06-5B2F8EABB82F}"/>
              </a:ext>
            </a:extLst>
          </p:cNvPr>
          <p:cNvSpPr/>
          <p:nvPr/>
        </p:nvSpPr>
        <p:spPr>
          <a:xfrm>
            <a:off x="8852832" y="4124090"/>
            <a:ext cx="3132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Cerrar llave 1">
            <a:extLst>
              <a:ext uri="{FF2B5EF4-FFF2-40B4-BE49-F238E27FC236}">
                <a16:creationId xmlns:a16="http://schemas.microsoft.com/office/drawing/2014/main" id="{0C3F2539-B555-4244-9C5F-074AEE5EE7E0}"/>
              </a:ext>
            </a:extLst>
          </p:cNvPr>
          <p:cNvSpPr/>
          <p:nvPr/>
        </p:nvSpPr>
        <p:spPr>
          <a:xfrm rot="16200000">
            <a:off x="7342926" y="3586464"/>
            <a:ext cx="129228" cy="109908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9" name="Bocadillo: rectángulo con esquinas redondeadas 38">
            <a:extLst>
              <a:ext uri="{FF2B5EF4-FFF2-40B4-BE49-F238E27FC236}">
                <a16:creationId xmlns:a16="http://schemas.microsoft.com/office/drawing/2014/main" id="{8F07EA16-00CA-4B23-BE41-8EAC0EA6D041}"/>
              </a:ext>
            </a:extLst>
          </p:cNvPr>
          <p:cNvSpPr/>
          <p:nvPr/>
        </p:nvSpPr>
        <p:spPr>
          <a:xfrm>
            <a:off x="6124869" y="4428185"/>
            <a:ext cx="2006473" cy="832022"/>
          </a:xfrm>
          <a:prstGeom prst="wedgeRoundRectCallout">
            <a:avLst>
              <a:gd name="adj1" fmla="val 9311"/>
              <a:gd name="adj2" fmla="val -7476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Calculo de la contribución según gerencia regional: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Antioquia   - Caribe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Centro       - Oriente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Occidente</a:t>
            </a: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E0919D8-C8DA-4CC4-9108-13DB5C048C87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8AD602C9-DAFF-4F22-A842-49714E3A6E40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12920327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Rotación de clientes (</a:t>
            </a:r>
            <a:r>
              <a:rPr lang="es-ES" sz="2000" err="1">
                <a:latin typeface="Arial" panose="020B0604020202020204" pitchFamily="34" charset="0"/>
                <a:cs typeface="Arial" panose="020B0604020202020204" pitchFamily="34" charset="0"/>
              </a:rPr>
              <a:t>Churn</a:t>
            </a: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2000" err="1">
                <a:latin typeface="Arial" panose="020B0604020202020204" pitchFamily="34" charset="0"/>
                <a:cs typeface="Arial" panose="020B0604020202020204" pitchFamily="34" charset="0"/>
              </a:rPr>
              <a:t>rate</a:t>
            </a: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número de clientes que dejaron de usar el producto durante un periodo determinado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Entre más clientes salientes, mayor será el nivel de rotación de clientes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Niveles de rotación de clientes altos reflejan dificultad de la organización de retener sus clientes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Rotación de clientes (Churn rate)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6" name="Conector angular 26">
            <a:extLst>
              <a:ext uri="{FF2B5EF4-FFF2-40B4-BE49-F238E27FC236}">
                <a16:creationId xmlns:a16="http://schemas.microsoft.com/office/drawing/2014/main" id="{24930D87-25C1-4D08-ACEE-D08C9435ABC2}"/>
              </a:ext>
            </a:extLst>
          </p:cNvPr>
          <p:cNvCxnSpPr>
            <a:cxnSpLocks/>
          </p:cNvCxnSpPr>
          <p:nvPr/>
        </p:nvCxnSpPr>
        <p:spPr>
          <a:xfrm>
            <a:off x="6526887" y="2611501"/>
            <a:ext cx="4005184" cy="1320927"/>
          </a:xfrm>
          <a:prstGeom prst="bentConnector3">
            <a:avLst>
              <a:gd name="adj1" fmla="val 20"/>
            </a:avLst>
          </a:prstGeom>
          <a:ln w="19050" cmpd="sng">
            <a:solidFill>
              <a:schemeClr val="tx1"/>
            </a:solidFill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CuadroTexto 26">
            <a:extLst>
              <a:ext uri="{FF2B5EF4-FFF2-40B4-BE49-F238E27FC236}">
                <a16:creationId xmlns:a16="http://schemas.microsoft.com/office/drawing/2014/main" id="{112798B2-7388-423C-B714-2FA352192E1F}"/>
              </a:ext>
            </a:extLst>
          </p:cNvPr>
          <p:cNvSpPr txBox="1"/>
          <p:nvPr/>
        </p:nvSpPr>
        <p:spPr>
          <a:xfrm rot="16200000">
            <a:off x="5873124" y="3289253"/>
            <a:ext cx="8766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O" sz="1100">
                <a:solidFill>
                  <a:prstClr val="black"/>
                </a:solidFill>
              </a:rPr>
              <a:t>Número de </a:t>
            </a:r>
            <a:br>
              <a:rPr lang="es-CO" sz="1100">
                <a:solidFill>
                  <a:prstClr val="black"/>
                </a:solidFill>
              </a:rPr>
            </a:br>
            <a:r>
              <a:rPr lang="es-CO" sz="1100">
                <a:solidFill>
                  <a:prstClr val="black"/>
                </a:solidFill>
              </a:rPr>
              <a:t>Clientes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EBA9CAC2-781F-4ACE-9F85-8B9158BEAD40}"/>
              </a:ext>
            </a:extLst>
          </p:cNvPr>
          <p:cNvSpPr/>
          <p:nvPr/>
        </p:nvSpPr>
        <p:spPr>
          <a:xfrm>
            <a:off x="6784661" y="2931045"/>
            <a:ext cx="540000" cy="99590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2354A48A-B755-43BF-AE63-600580FA1EEB}"/>
              </a:ext>
            </a:extLst>
          </p:cNvPr>
          <p:cNvSpPr/>
          <p:nvPr/>
        </p:nvSpPr>
        <p:spPr>
          <a:xfrm>
            <a:off x="8324447" y="3424728"/>
            <a:ext cx="540000" cy="502223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1282F884-4040-4448-A342-B4A244A5724B}"/>
              </a:ext>
            </a:extLst>
          </p:cNvPr>
          <p:cNvSpPr/>
          <p:nvPr/>
        </p:nvSpPr>
        <p:spPr>
          <a:xfrm>
            <a:off x="7554554" y="2931045"/>
            <a:ext cx="540000" cy="493683"/>
          </a:xfrm>
          <a:prstGeom prst="rect">
            <a:avLst/>
          </a:prstGeom>
          <a:solidFill>
            <a:schemeClr val="accent5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6F927307-EAB8-43C5-84B6-F0C57F882F76}"/>
              </a:ext>
            </a:extLst>
          </p:cNvPr>
          <p:cNvSpPr/>
          <p:nvPr/>
        </p:nvSpPr>
        <p:spPr>
          <a:xfrm>
            <a:off x="9069049" y="2639687"/>
            <a:ext cx="540000" cy="785042"/>
          </a:xfrm>
          <a:prstGeom prst="rec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99E91667-27E6-4C41-812C-7B0E53A804BA}"/>
              </a:ext>
            </a:extLst>
          </p:cNvPr>
          <p:cNvSpPr/>
          <p:nvPr/>
        </p:nvSpPr>
        <p:spPr>
          <a:xfrm>
            <a:off x="9864233" y="2639686"/>
            <a:ext cx="540000" cy="128470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F4A3F7D5-AF39-40A8-9B08-85EED0E948FB}"/>
              </a:ext>
            </a:extLst>
          </p:cNvPr>
          <p:cNvSpPr txBox="1"/>
          <p:nvPr/>
        </p:nvSpPr>
        <p:spPr>
          <a:xfrm>
            <a:off x="6657315" y="3926955"/>
            <a:ext cx="87395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Clientes T</a:t>
            </a:r>
            <a:r>
              <a:rPr lang="es-CO" sz="1100" baseline="-25000">
                <a:solidFill>
                  <a:prstClr val="black"/>
                </a:solidFill>
              </a:rPr>
              <a:t>0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9842F72E-F4E2-4C6A-A8C6-28A83C3BA1DF}"/>
              </a:ext>
            </a:extLst>
          </p:cNvPr>
          <p:cNvSpPr txBox="1"/>
          <p:nvPr/>
        </p:nvSpPr>
        <p:spPr>
          <a:xfrm>
            <a:off x="8304189" y="3926955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Retención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5" name="CuadroTexto 34">
            <a:extLst>
              <a:ext uri="{FF2B5EF4-FFF2-40B4-BE49-F238E27FC236}">
                <a16:creationId xmlns:a16="http://schemas.microsoft.com/office/drawing/2014/main" id="{BF258BD6-5894-4E06-95BC-CD60C992DC3E}"/>
              </a:ext>
            </a:extLst>
          </p:cNvPr>
          <p:cNvSpPr txBox="1"/>
          <p:nvPr/>
        </p:nvSpPr>
        <p:spPr>
          <a:xfrm>
            <a:off x="7426680" y="3926955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Deserción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9351A546-60D5-482F-B0F2-69FBF5140CBD}"/>
              </a:ext>
            </a:extLst>
          </p:cNvPr>
          <p:cNvSpPr txBox="1"/>
          <p:nvPr/>
        </p:nvSpPr>
        <p:spPr>
          <a:xfrm>
            <a:off x="9813956" y="3926955"/>
            <a:ext cx="87395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Clientes T</a:t>
            </a:r>
            <a:r>
              <a:rPr lang="es-CO" sz="1100" baseline="-25000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DFAB2895-553F-4809-AD42-51387523ED7D}"/>
              </a:ext>
            </a:extLst>
          </p:cNvPr>
          <p:cNvSpPr txBox="1"/>
          <p:nvPr/>
        </p:nvSpPr>
        <p:spPr>
          <a:xfrm>
            <a:off x="9160019" y="3926955"/>
            <a:ext cx="6639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Nuevos</a:t>
            </a:r>
            <a:endParaRPr lang="es-CO" sz="1100" baseline="-25000">
              <a:solidFill>
                <a:prstClr val="black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952E629E-958B-49B1-B32F-FAA598041CC8}"/>
                  </a:ext>
                </a:extLst>
              </p:cNvPr>
              <p:cNvSpPr txBox="1"/>
              <p:nvPr/>
            </p:nvSpPr>
            <p:spPr>
              <a:xfrm>
                <a:off x="7112611" y="4646749"/>
                <a:ext cx="2921056" cy="4075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𝐑𝐨𝐭𝐚𝐜𝐢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ó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𝐧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𝐝𝐞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𝐜𝐥𝐢𝐞𝐧𝐭𝐞𝐬</m:t>
                      </m:r>
                      <m:r>
                        <a:rPr lang="es-CO" sz="1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r>
                        <a:rPr lang="es-CO" sz="1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f>
                        <m:fPr>
                          <m:ctrlPr>
                            <a:rPr lang="es-ES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4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Deserci</m:t>
                          </m:r>
                          <m:r>
                            <a:rPr lang="es-CO" sz="14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ó</m:t>
                          </m:r>
                          <m:r>
                            <m:rPr>
                              <m:sty m:val="p"/>
                            </m:rPr>
                            <a:rPr lang="es-CO" sz="14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n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fr-FR" sz="1400" i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Clientes</m:t>
                          </m:r>
                          <m:r>
                            <a:rPr lang="fr-FR" sz="1400" i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fr-FR" sz="1400" i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T</m:t>
                          </m:r>
                          <m:r>
                            <a:rPr lang="fr-FR" sz="1400" i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0 </m:t>
                          </m:r>
                        </m:den>
                      </m:f>
                    </m:oMath>
                  </m:oMathPara>
                </a14:m>
                <a:endParaRPr lang="es-CO" sz="14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952E629E-958B-49B1-B32F-FAA598041C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12611" y="4646749"/>
                <a:ext cx="2921056" cy="407547"/>
              </a:xfrm>
              <a:prstGeom prst="rect">
                <a:avLst/>
              </a:prstGeom>
              <a:blipFill>
                <a:blip r:embed="rId2"/>
                <a:stretch>
                  <a:fillRect l="-1299" t="-9091" r="-1732" b="-24242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5D49ADA-8F4E-4404-97CE-EA3E04727EBB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23EDF34-3490-4C7B-BFD1-BE01685D772F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95898123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del plan de digitalización (del producto a cargo)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0500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cumplimiento del plan de digitalización (del producto a cargo),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65577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943773"/>
            <a:ext cx="4552406" cy="64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innovación, Gerentes de producto (según producto a cargo)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86521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74519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del plan de digitalización (del producto a cargo)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de innovación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325598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08394"/>
            <a:ext cx="1593990" cy="55437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Total de hitos  de </a:t>
            </a:r>
            <a:r>
              <a:rPr lang="es-ES" sz="1200">
                <a:solidFill>
                  <a:schemeClr val="accent1"/>
                </a:solidFill>
              </a:rPr>
              <a:t>digitalización (del producto a cargo)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095999" y="3435988"/>
            <a:ext cx="1517133" cy="94003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del plan de digitaliza. (del producto a cargo)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805436" y="3180103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50261" y="312931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435988"/>
            <a:ext cx="429356" cy="47001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906003"/>
            <a:ext cx="429356" cy="37957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4BCB2E8-49A0-4F99-A235-79E0AFDB80C6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4FF39B53-4CDD-4907-964F-91F0F3025028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242178753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captación en los canales tradicionales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captación en los canales tradicionales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Producto Captación, G. Fuerzas Captadoras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del producto captación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del volumen de captación en canales tradicionales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Comitê de Producto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7980434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captación canales tradicionales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7980433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</a:t>
            </a:r>
            <a:r>
              <a:rPr lang="es-ES" sz="1200">
                <a:solidFill>
                  <a:schemeClr val="accent1"/>
                </a:solidFill>
              </a:rPr>
              <a:t>volumen de captación canales tradicionales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607356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5913510" y="3506642"/>
            <a:ext cx="1583455" cy="729313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captación canales tradicionales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496965" y="3323670"/>
            <a:ext cx="483469" cy="54762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496965" y="3871299"/>
            <a:ext cx="483468" cy="49700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638343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D575D7B-2AB9-4592-9DF4-135C02E39DCC}"/>
              </a:ext>
            </a:extLst>
          </p:cNvPr>
          <p:cNvSpPr/>
          <p:nvPr/>
        </p:nvSpPr>
        <p:spPr>
          <a:xfrm>
            <a:off x="9764938" y="2793898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CDT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63D3896E-3270-4D1D-A757-8AC6AF333CB4}"/>
              </a:ext>
            </a:extLst>
          </p:cNvPr>
          <p:cNvSpPr/>
          <p:nvPr/>
        </p:nvSpPr>
        <p:spPr>
          <a:xfrm>
            <a:off x="9764938" y="3050852"/>
            <a:ext cx="1296000" cy="36262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Cuenta de Ahorro</a:t>
            </a: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F22A8E1B-99C0-4698-BD54-E100858D401E}"/>
              </a:ext>
            </a:extLst>
          </p:cNvPr>
          <p:cNvSpPr/>
          <p:nvPr/>
        </p:nvSpPr>
        <p:spPr>
          <a:xfrm>
            <a:off x="9764938" y="3467521"/>
            <a:ext cx="1296000" cy="36262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Cuenta Corriente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90A206E-31B8-4736-ACDB-3AF07F194986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F03C3D1D-DE2F-4E94-831C-2C052AE646BC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28408418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captación en los canales digitales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captación en los canales digitales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Producto Captación, G. Fuerzas Captadoras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7"/>
            <a:ext cx="4552406" cy="1296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del producto captación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volumen de captación en los canales digitales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Comitê de Producto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7980434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captación canales digitales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7980433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</a:t>
            </a:r>
            <a:r>
              <a:rPr lang="es-ES" sz="1200">
                <a:solidFill>
                  <a:schemeClr val="accent1"/>
                </a:solidFill>
              </a:rPr>
              <a:t>volumen de captación canales digitales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8607356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5913510" y="3506642"/>
            <a:ext cx="1583455" cy="729313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volumen de captación canales digitales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496965" y="3323670"/>
            <a:ext cx="483469" cy="54762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496965" y="3871299"/>
            <a:ext cx="483468" cy="49700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Cerrar llave 41">
            <a:extLst>
              <a:ext uri="{FF2B5EF4-FFF2-40B4-BE49-F238E27FC236}">
                <a16:creationId xmlns:a16="http://schemas.microsoft.com/office/drawing/2014/main" id="{F4E92797-AF20-46FA-B800-D7F2BD026324}"/>
              </a:ext>
            </a:extLst>
          </p:cNvPr>
          <p:cNvSpPr/>
          <p:nvPr/>
        </p:nvSpPr>
        <p:spPr>
          <a:xfrm rot="10800000">
            <a:off x="9638343" y="3055586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D575D7B-2AB9-4592-9DF4-135C02E39DCC}"/>
              </a:ext>
            </a:extLst>
          </p:cNvPr>
          <p:cNvSpPr/>
          <p:nvPr/>
        </p:nvSpPr>
        <p:spPr>
          <a:xfrm>
            <a:off x="9764938" y="2793898"/>
            <a:ext cx="1296000" cy="18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CDT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63D3896E-3270-4D1D-A757-8AC6AF333CB4}"/>
              </a:ext>
            </a:extLst>
          </p:cNvPr>
          <p:cNvSpPr/>
          <p:nvPr/>
        </p:nvSpPr>
        <p:spPr>
          <a:xfrm>
            <a:off x="9764938" y="3050852"/>
            <a:ext cx="1296000" cy="36262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Cuenta de Ahorro</a:t>
            </a: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F22A8E1B-99C0-4698-BD54-E100858D401E}"/>
              </a:ext>
            </a:extLst>
          </p:cNvPr>
          <p:cNvSpPr/>
          <p:nvPr/>
        </p:nvSpPr>
        <p:spPr>
          <a:xfrm>
            <a:off x="9764938" y="3467521"/>
            <a:ext cx="1296000" cy="36262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Cuenta Corriente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BAA6808-ACC4-4461-8D30-BCC8DFBB5B7C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509EFFB-5654-44B3-868C-3F95663FDA5B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275024108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Productividad FFVV de captación interna y externa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eficiencia comercial de la fuerza de ventas de captación interna y externa - volumen de ventas por asesor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regional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Gerencias Regionales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Entre mayor sea el volumen de ventas por asesor, mayor será el indicador de productividad de la fuerza de ventas de captación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resultado indicada el volumen de venta promedio de cada asesor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favorables indican una implementación exitosa de la estrategia comercial de captación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Productividad FFVV de captación interna y externa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2EEDB7FD-37F3-48AE-B93F-4A2D96DBE100}"/>
              </a:ext>
            </a:extLst>
          </p:cNvPr>
          <p:cNvSpPr/>
          <p:nvPr/>
        </p:nvSpPr>
        <p:spPr>
          <a:xfrm>
            <a:off x="8471028" y="2990669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Volumen total de venta de los asesores comerciales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D4FB27EB-F735-4887-A484-22A6528F4CE0}"/>
              </a:ext>
            </a:extLst>
          </p:cNvPr>
          <p:cNvSpPr/>
          <p:nvPr/>
        </p:nvSpPr>
        <p:spPr>
          <a:xfrm>
            <a:off x="8471028" y="4002216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Número total de asesores comerciales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FF70D087-78D3-459A-8C91-8DDC3AC43193}"/>
              </a:ext>
            </a:extLst>
          </p:cNvPr>
          <p:cNvSpPr/>
          <p:nvPr/>
        </p:nvSpPr>
        <p:spPr>
          <a:xfrm>
            <a:off x="9235333" y="366944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C96A339-BAB6-482F-99F6-6A1188D72860}"/>
              </a:ext>
            </a:extLst>
          </p:cNvPr>
          <p:cNvSpPr/>
          <p:nvPr/>
        </p:nvSpPr>
        <p:spPr>
          <a:xfrm>
            <a:off x="6648449" y="3348527"/>
            <a:ext cx="1303573" cy="97460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Productividad FFVV de captación interna y externa</a:t>
            </a:r>
          </a:p>
        </p:txBody>
      </p: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747A9C84-9619-4451-9579-74C4928613AA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952022" y="3296669"/>
            <a:ext cx="519006" cy="53915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3A7BD096-B241-4159-B966-583216091C62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952022" y="3835828"/>
            <a:ext cx="519006" cy="47238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FE276BF-2610-42BC-BD3F-95F31124D012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29E4C47-FED3-4EB8-92C3-4823F4745E44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291160486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119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producto en el canal tradicional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8039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volúmenes de venta de los productos en el canal tradicional respecto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928008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219987"/>
            <a:ext cx="4552406" cy="36299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VP, Comercial, G. Libranza, G. Créditos de Consumo y Expansión de Mercados, G. Regionales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21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0196"/>
            <a:ext cx="4552406" cy="148884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del producto en el canal tradicional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volúmenes de venta del producto en el canal tradicional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pt-BR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7ADC1F4-C3B7-4106-B04B-3817F98E3040}"/>
              </a:ext>
            </a:extLst>
          </p:cNvPr>
          <p:cNvSpPr/>
          <p:nvPr/>
        </p:nvSpPr>
        <p:spPr>
          <a:xfrm>
            <a:off x="8958001" y="2777693"/>
            <a:ext cx="1548000" cy="833977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venta del producto del periodo (canal tradicional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5CC81FF-388C-4F77-951F-E3910ED746C6}"/>
              </a:ext>
            </a:extLst>
          </p:cNvPr>
          <p:cNvSpPr/>
          <p:nvPr/>
        </p:nvSpPr>
        <p:spPr>
          <a:xfrm>
            <a:off x="8958000" y="4080307"/>
            <a:ext cx="1548000" cy="732753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</a:t>
            </a:r>
            <a:r>
              <a:rPr lang="es-ES" sz="1200">
                <a:solidFill>
                  <a:schemeClr val="accent1"/>
                </a:solidFill>
              </a:rPr>
              <a:t>volumen de venta del producto del periodo (canal tradicional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187B5490-E232-4D94-BFBE-FF99FA8FEAF0}"/>
              </a:ext>
            </a:extLst>
          </p:cNvPr>
          <p:cNvSpPr/>
          <p:nvPr/>
        </p:nvSpPr>
        <p:spPr>
          <a:xfrm>
            <a:off x="958492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CB8C8DF-C805-47F3-B921-992AF948722A}"/>
              </a:ext>
            </a:extLst>
          </p:cNvPr>
          <p:cNvSpPr/>
          <p:nvPr/>
        </p:nvSpPr>
        <p:spPr>
          <a:xfrm>
            <a:off x="6704586" y="3404462"/>
            <a:ext cx="1583455" cy="78258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vol. de venta del producto (canal tradicional)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F6FF7A46-1743-4765-B36B-05F2DF9177C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288041" y="3194682"/>
            <a:ext cx="669960" cy="60107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6CB44BB-8518-4FFC-A0E9-857B5086F877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288041" y="3795757"/>
            <a:ext cx="669959" cy="65092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cadillo: rectángulo con esquinas redondeadas 1">
            <a:extLst>
              <a:ext uri="{FF2B5EF4-FFF2-40B4-BE49-F238E27FC236}">
                <a16:creationId xmlns:a16="http://schemas.microsoft.com/office/drawing/2014/main" id="{979FCB9D-A8A1-4740-8E5F-9DC9ECAB539C}"/>
              </a:ext>
            </a:extLst>
          </p:cNvPr>
          <p:cNvSpPr/>
          <p:nvPr/>
        </p:nvSpPr>
        <p:spPr>
          <a:xfrm>
            <a:off x="6669492" y="4424456"/>
            <a:ext cx="2006473" cy="1059379"/>
          </a:xfrm>
          <a:prstGeom prst="wedgeRoundRectCallout">
            <a:avLst>
              <a:gd name="adj1" fmla="val 9311"/>
              <a:gd name="adj2" fmla="val -7476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Calculo del cumplimiento del producto a cargo: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Libranza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/>
              <a:t>Productos de Crédito de Consumo</a:t>
            </a: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18AD970-4477-4E4A-B406-A40581D98E87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EC931FF5-A5C6-47EA-82BB-175CE1C63FA3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27022197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Productividad FFVV (Ventas por asesor)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eficiencia comercial de la fuerza de ventas - volumen de ventas por asesor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Gerentes Regionales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Gerencias Regionales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Entre mayor sea el volumen de ventas por asesor, mayor será el indicador de productividad de la fuerza de ventas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resultado indicada el volumen de venta promedio de cada asesor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favorables indican una implementación exitosa de la estrategia comercial del canal tradicional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Productividad FFVV (Ventas por asesor)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2EEDB7FD-37F3-48AE-B93F-4A2D96DBE100}"/>
              </a:ext>
            </a:extLst>
          </p:cNvPr>
          <p:cNvSpPr/>
          <p:nvPr/>
        </p:nvSpPr>
        <p:spPr>
          <a:xfrm>
            <a:off x="7918578" y="2996847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Volumen total de venta de los asesores comerciales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D4FB27EB-F735-4887-A484-22A6528F4CE0}"/>
              </a:ext>
            </a:extLst>
          </p:cNvPr>
          <p:cNvSpPr/>
          <p:nvPr/>
        </p:nvSpPr>
        <p:spPr>
          <a:xfrm>
            <a:off x="7918578" y="4008394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Número total de asesores comerciales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FF70D087-78D3-459A-8C91-8DDC3AC43193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C96A339-BAB6-482F-99F6-6A1188D72860}"/>
              </a:ext>
            </a:extLst>
          </p:cNvPr>
          <p:cNvSpPr/>
          <p:nvPr/>
        </p:nvSpPr>
        <p:spPr>
          <a:xfrm>
            <a:off x="6095999" y="3499332"/>
            <a:ext cx="1303573" cy="612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Productividad FFVV</a:t>
            </a:r>
          </a:p>
        </p:txBody>
      </p: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747A9C84-9619-4451-9579-74C4928613AA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399572" y="3302847"/>
            <a:ext cx="519006" cy="50248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3A7BD096-B241-4159-B966-583216091C62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399572" y="3805332"/>
            <a:ext cx="519006" cy="50906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Bocadillo: rectángulo con esquinas redondeadas 43">
            <a:extLst>
              <a:ext uri="{FF2B5EF4-FFF2-40B4-BE49-F238E27FC236}">
                <a16:creationId xmlns:a16="http://schemas.microsoft.com/office/drawing/2014/main" id="{C977F379-16B5-4936-BCD8-421597F60D63}"/>
              </a:ext>
            </a:extLst>
          </p:cNvPr>
          <p:cNvSpPr/>
          <p:nvPr/>
        </p:nvSpPr>
        <p:spPr>
          <a:xfrm>
            <a:off x="5912105" y="4532674"/>
            <a:ext cx="2006473" cy="832022"/>
          </a:xfrm>
          <a:prstGeom prst="wedgeRoundRectCallout">
            <a:avLst>
              <a:gd name="adj1" fmla="val 9311"/>
              <a:gd name="adj2" fmla="val -74761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Calculo de la productividad según gerencia regional: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Antioquia   - Caribe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Centro       - Oriente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Occidente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680B673-4BE1-4D3C-AA6E-7B306B706B27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35C534C-936D-411B-A306-2019F3CAB96A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29617571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Rotación de la planta de la regional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número de empleados del área comercial que entran y salen de la organización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Gerentes Regionales, Gerente Gestión del Talento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del Talento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Entre mayor sea el número de empleados de la FFVV comercial salientes, mayor será el nivel de rotación de la regional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Es fundamental hacer seguimiento a las causas de los altos niveles de rotación de la FFVV comercial – voluntaria vs involuntaria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Altos niveles de rotación tienen en implicaciones negativas en materia de costo de la gestión comercial 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Rotación de personal de la regional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6" name="Conector angular 26">
            <a:extLst>
              <a:ext uri="{FF2B5EF4-FFF2-40B4-BE49-F238E27FC236}">
                <a16:creationId xmlns:a16="http://schemas.microsoft.com/office/drawing/2014/main" id="{24930D87-25C1-4D08-ACEE-D08C9435ABC2}"/>
              </a:ext>
            </a:extLst>
          </p:cNvPr>
          <p:cNvCxnSpPr>
            <a:cxnSpLocks/>
          </p:cNvCxnSpPr>
          <p:nvPr/>
        </p:nvCxnSpPr>
        <p:spPr>
          <a:xfrm>
            <a:off x="6652832" y="2486897"/>
            <a:ext cx="3888000" cy="1584000"/>
          </a:xfrm>
          <a:prstGeom prst="bentConnector3">
            <a:avLst>
              <a:gd name="adj1" fmla="val 180"/>
            </a:avLst>
          </a:prstGeom>
          <a:ln w="19050" cmpd="sng">
            <a:solidFill>
              <a:schemeClr val="tx1"/>
            </a:solidFill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CuadroTexto 26">
            <a:extLst>
              <a:ext uri="{FF2B5EF4-FFF2-40B4-BE49-F238E27FC236}">
                <a16:creationId xmlns:a16="http://schemas.microsoft.com/office/drawing/2014/main" id="{112798B2-7388-423C-B714-2FA352192E1F}"/>
              </a:ext>
            </a:extLst>
          </p:cNvPr>
          <p:cNvSpPr txBox="1"/>
          <p:nvPr/>
        </p:nvSpPr>
        <p:spPr>
          <a:xfrm rot="16200000">
            <a:off x="5799897" y="3203020"/>
            <a:ext cx="14318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Número de Clientes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EBA9CAC2-781F-4ACE-9F85-8B9158BEAD40}"/>
              </a:ext>
            </a:extLst>
          </p:cNvPr>
          <p:cNvSpPr/>
          <p:nvPr/>
        </p:nvSpPr>
        <p:spPr>
          <a:xfrm>
            <a:off x="6793422" y="3055585"/>
            <a:ext cx="540000" cy="10098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2354A48A-B755-43BF-AE63-600580FA1EEB}"/>
              </a:ext>
            </a:extLst>
          </p:cNvPr>
          <p:cNvSpPr/>
          <p:nvPr/>
        </p:nvSpPr>
        <p:spPr>
          <a:xfrm>
            <a:off x="8333208" y="3296180"/>
            <a:ext cx="540000" cy="769241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1282F884-4040-4448-A342-B4A244A5724B}"/>
              </a:ext>
            </a:extLst>
          </p:cNvPr>
          <p:cNvSpPr/>
          <p:nvPr/>
        </p:nvSpPr>
        <p:spPr>
          <a:xfrm>
            <a:off x="7563315" y="3055585"/>
            <a:ext cx="540000" cy="240596"/>
          </a:xfrm>
          <a:prstGeom prst="rect">
            <a:avLst/>
          </a:prstGeom>
          <a:solidFill>
            <a:schemeClr val="accent5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6F927307-EAB8-43C5-84B6-F0C57F882F76}"/>
              </a:ext>
            </a:extLst>
          </p:cNvPr>
          <p:cNvSpPr/>
          <p:nvPr/>
        </p:nvSpPr>
        <p:spPr>
          <a:xfrm>
            <a:off x="9103101" y="2803761"/>
            <a:ext cx="540000" cy="496641"/>
          </a:xfrm>
          <a:prstGeom prst="rec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99E91667-27E6-4C41-812C-7B0E53A804BA}"/>
              </a:ext>
            </a:extLst>
          </p:cNvPr>
          <p:cNvSpPr/>
          <p:nvPr/>
        </p:nvSpPr>
        <p:spPr>
          <a:xfrm>
            <a:off x="9872994" y="2803761"/>
            <a:ext cx="540000" cy="125909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F4A3F7D5-AF39-40A8-9B08-85EED0E948FB}"/>
              </a:ext>
            </a:extLst>
          </p:cNvPr>
          <p:cNvSpPr txBox="1"/>
          <p:nvPr/>
        </p:nvSpPr>
        <p:spPr>
          <a:xfrm>
            <a:off x="6666076" y="4065424"/>
            <a:ext cx="72487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FFVV T</a:t>
            </a:r>
            <a:r>
              <a:rPr lang="es-CO" sz="1100" baseline="-25000">
                <a:solidFill>
                  <a:prstClr val="black"/>
                </a:solidFill>
              </a:rPr>
              <a:t>0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9842F72E-F4E2-4C6A-A8C6-28A83C3BA1DF}"/>
              </a:ext>
            </a:extLst>
          </p:cNvPr>
          <p:cNvSpPr txBox="1"/>
          <p:nvPr/>
        </p:nvSpPr>
        <p:spPr>
          <a:xfrm>
            <a:off x="8312950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Retención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5" name="CuadroTexto 34">
            <a:extLst>
              <a:ext uri="{FF2B5EF4-FFF2-40B4-BE49-F238E27FC236}">
                <a16:creationId xmlns:a16="http://schemas.microsoft.com/office/drawing/2014/main" id="{BF258BD6-5894-4E06-95BC-CD60C992DC3E}"/>
              </a:ext>
            </a:extLst>
          </p:cNvPr>
          <p:cNvSpPr txBox="1"/>
          <p:nvPr/>
        </p:nvSpPr>
        <p:spPr>
          <a:xfrm>
            <a:off x="7435441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Deserción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9351A546-60D5-482F-B0F2-69FBF5140CBD}"/>
              </a:ext>
            </a:extLst>
          </p:cNvPr>
          <p:cNvSpPr txBox="1"/>
          <p:nvPr/>
        </p:nvSpPr>
        <p:spPr>
          <a:xfrm>
            <a:off x="9822717" y="4065424"/>
            <a:ext cx="72487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FFVV T</a:t>
            </a:r>
            <a:r>
              <a:rPr lang="es-CO" sz="1100" baseline="-25000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DFAB2895-553F-4809-AD42-51387523ED7D}"/>
              </a:ext>
            </a:extLst>
          </p:cNvPr>
          <p:cNvSpPr txBox="1"/>
          <p:nvPr/>
        </p:nvSpPr>
        <p:spPr>
          <a:xfrm>
            <a:off x="9103101" y="4065424"/>
            <a:ext cx="6639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Nuevos</a:t>
            </a:r>
            <a:endParaRPr lang="es-CO" sz="1100" baseline="-25000">
              <a:solidFill>
                <a:prstClr val="black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952E629E-958B-49B1-B32F-FAA598041CC8}"/>
                  </a:ext>
                </a:extLst>
              </p:cNvPr>
              <p:cNvSpPr txBox="1"/>
              <p:nvPr/>
            </p:nvSpPr>
            <p:spPr>
              <a:xfrm>
                <a:off x="6646603" y="4824244"/>
                <a:ext cx="3280321" cy="36619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𝐑𝐨𝐭𝐚𝐜𝐢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ó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𝐧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𝐝𝐞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𝐩𝐞𝐫𝐬𝐨𝐧𝐚𝐥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r>
                        <a:rPr lang="es-CO" sz="1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f>
                        <m:fPr>
                          <m:ctrlPr>
                            <a:rPr lang="es-ES" sz="12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Deserci</m:t>
                          </m:r>
                          <m: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ó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n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Prom</m:t>
                          </m:r>
                          <m: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.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FFVV</m:t>
                          </m:r>
                          <m:r>
                            <m:rPr>
                              <m:nor/>
                            </m:rPr>
                            <a:rPr lang="es-CO" sz="1200" dirty="0" smtClean="0">
                              <a:solidFill>
                                <a:schemeClr val="tx1"/>
                              </a:solidFill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s-CO" sz="1200" baseline="-25000" dirty="0" smtClean="0">
                              <a:solidFill>
                                <a:schemeClr val="tx1"/>
                              </a:solidFill>
                            </a:rPr>
                            <m:t>0</m:t>
                          </m:r>
                          <m:r>
                            <a:rPr lang="es-CO" sz="1200" b="0" i="0" baseline="-25000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s-CO" sz="120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FFVV</m:t>
                          </m:r>
                          <m:r>
                            <m:rPr>
                              <m:nor/>
                            </m:rPr>
                            <a:rPr lang="es-CO" sz="1200" dirty="0">
                              <a:solidFill>
                                <a:schemeClr val="tx1"/>
                              </a:solidFill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s-CO" sz="1200" baseline="-25000" dirty="0">
                              <a:solidFill>
                                <a:schemeClr val="tx1"/>
                              </a:solidFill>
                            </a:rPr>
                            <m:t>1</m:t>
                          </m:r>
                        </m:den>
                      </m:f>
                    </m:oMath>
                  </m:oMathPara>
                </a14:m>
                <a:endParaRPr lang="es-CO" sz="12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952E629E-958B-49B1-B32F-FAA598041C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46603" y="4824244"/>
                <a:ext cx="3280321" cy="366190"/>
              </a:xfrm>
              <a:prstGeom prst="rect">
                <a:avLst/>
              </a:prstGeom>
              <a:blipFill>
                <a:blip r:embed="rId2"/>
                <a:stretch>
                  <a:fillRect l="-386" t="-6667" b="-1000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CuadroTexto 38">
            <a:extLst>
              <a:ext uri="{FF2B5EF4-FFF2-40B4-BE49-F238E27FC236}">
                <a16:creationId xmlns:a16="http://schemas.microsoft.com/office/drawing/2014/main" id="{C1BDF345-87AE-4E3A-BBDA-D600B8FF1B7A}"/>
              </a:ext>
            </a:extLst>
          </p:cNvPr>
          <p:cNvSpPr txBox="1"/>
          <p:nvPr/>
        </p:nvSpPr>
        <p:spPr>
          <a:xfrm>
            <a:off x="9949932" y="4901381"/>
            <a:ext cx="331822" cy="1661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>
                <a:solidFill>
                  <a:schemeClr val="tx1"/>
                </a:solidFill>
                <a:cs typeface="Arial" panose="020B0604020202020204" pitchFamily="34" charset="0"/>
              </a:rPr>
              <a:t>x100</a:t>
            </a:r>
          </a:p>
        </p:txBody>
      </p:sp>
      <p:sp>
        <p:nvSpPr>
          <p:cNvPr id="15" name="Bocadillo: rectángulo con esquinas redondeadas 14">
            <a:extLst>
              <a:ext uri="{FF2B5EF4-FFF2-40B4-BE49-F238E27FC236}">
                <a16:creationId xmlns:a16="http://schemas.microsoft.com/office/drawing/2014/main" id="{3B5F1C14-4F7B-4D10-B5DC-03CC860C0B0A}"/>
              </a:ext>
            </a:extLst>
          </p:cNvPr>
          <p:cNvSpPr/>
          <p:nvPr/>
        </p:nvSpPr>
        <p:spPr>
          <a:xfrm>
            <a:off x="9373101" y="5385288"/>
            <a:ext cx="2006473" cy="832022"/>
          </a:xfrm>
          <a:prstGeom prst="wedgeRoundRectCallout">
            <a:avLst>
              <a:gd name="adj1" fmla="val -73408"/>
              <a:gd name="adj2" fmla="val -45143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000"/>
              <a:t>Calculo de la rotación de personal por gerencia regional: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Antioquia   - Caribe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Centro       - Oriente</a:t>
            </a:r>
          </a:p>
          <a:p>
            <a:pPr marL="268288" indent="-182563">
              <a:buFont typeface="Arial" panose="020B0604020202020204" pitchFamily="34" charset="0"/>
              <a:buChar char="-"/>
            </a:pPr>
            <a:r>
              <a:rPr lang="es-CO" sz="1000">
                <a:solidFill>
                  <a:schemeClr val="tx1"/>
                </a:solidFill>
              </a:rPr>
              <a:t>Occidente</a:t>
            </a:r>
          </a:p>
        </p:txBody>
      </p:sp>
      <p:sp>
        <p:nvSpPr>
          <p:cNvPr id="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F075E3D-37A8-46F2-A5E1-BAFCF5D8AFD4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1" name="Rectángulo 40">
            <a:extLst>
              <a:ext uri="{FF2B5EF4-FFF2-40B4-BE49-F238E27FC236}">
                <a16:creationId xmlns:a16="http://schemas.microsoft.com/office/drawing/2014/main" id="{56A5B9C2-AC45-4DF7-8946-7BEE01DC1C9E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30742422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Solución en primero contacto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si el problema de un cliente ha sido resuelto en el primer contacto con un equipo de asistencia dentro del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Contact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Center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Servicio al Cliente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Servicio al Cliente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que la proporción de las consultas resueltas en el primer contacto aumente el indicador tendrá una tendencia a la alza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favorables en este indican una formación oportuna y desempeño óptimo del equipo de servicio al cliente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Solución en primero contacto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SAC, sesiones de seguimiento de la D. SAC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866700A-96C6-486E-989E-BFE442B21E48}"/>
              </a:ext>
            </a:extLst>
          </p:cNvPr>
          <p:cNvSpPr/>
          <p:nvPr/>
        </p:nvSpPr>
        <p:spPr>
          <a:xfrm>
            <a:off x="7918579" y="2561906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Consultas resueltas en el primer contacto 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DFA6062-404B-420D-8573-37C70DCF7CB8}"/>
              </a:ext>
            </a:extLst>
          </p:cNvPr>
          <p:cNvSpPr/>
          <p:nvPr/>
        </p:nvSpPr>
        <p:spPr>
          <a:xfrm>
            <a:off x="7918579" y="3573453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Número total de contactos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E7FE3171-52C8-400C-BBBB-3267ECBB8204}"/>
              </a:ext>
            </a:extLst>
          </p:cNvPr>
          <p:cNvSpPr/>
          <p:nvPr/>
        </p:nvSpPr>
        <p:spPr>
          <a:xfrm>
            <a:off x="8682884" y="324067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830CE86E-9E26-4CD7-AA54-C2E4AC4776F1}"/>
              </a:ext>
            </a:extLst>
          </p:cNvPr>
          <p:cNvSpPr/>
          <p:nvPr/>
        </p:nvSpPr>
        <p:spPr>
          <a:xfrm>
            <a:off x="6096000" y="3064391"/>
            <a:ext cx="1303573" cy="612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% Solución en primer contacto</a:t>
            </a:r>
          </a:p>
        </p:txBody>
      </p: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F89F331F-0183-4AB1-9FF5-D0A6C3736E8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399573" y="2867906"/>
            <a:ext cx="519006" cy="50248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6DDB17CE-F522-4571-B2BB-8457314F1B59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399573" y="3370391"/>
            <a:ext cx="519006" cy="50906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40964" name="Picture 4" descr="Phone Icons - Download Free Vector Icons | Noun Project">
            <a:extLst>
              <a:ext uri="{FF2B5EF4-FFF2-40B4-BE49-F238E27FC236}">
                <a16:creationId xmlns:a16="http://schemas.microsoft.com/office/drawing/2014/main" id="{BB92C761-11F2-47E1-8EA0-7A38B479CE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8579" y="4480200"/>
            <a:ext cx="375697" cy="375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66" name="Picture 6" descr="Email Icon Large Envelope | Email icon, Icon, Clip art">
            <a:extLst>
              <a:ext uri="{FF2B5EF4-FFF2-40B4-BE49-F238E27FC236}">
                <a16:creationId xmlns:a16="http://schemas.microsoft.com/office/drawing/2014/main" id="{F36A86A5-4A8C-4BE8-814B-E0BC7746E4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20831" y="4548171"/>
            <a:ext cx="403267" cy="28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68" name="Picture 8" descr="Instant messages, messages, sms, text message, text messages icon">
            <a:extLst>
              <a:ext uri="{FF2B5EF4-FFF2-40B4-BE49-F238E27FC236}">
                <a16:creationId xmlns:a16="http://schemas.microsoft.com/office/drawing/2014/main" id="{9B67BA2C-6DE6-4CFC-8CEA-3E84CA9806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7540" y="4486189"/>
            <a:ext cx="423489" cy="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Cerrar llave 14">
            <a:extLst>
              <a:ext uri="{FF2B5EF4-FFF2-40B4-BE49-F238E27FC236}">
                <a16:creationId xmlns:a16="http://schemas.microsoft.com/office/drawing/2014/main" id="{7A128DDB-F740-4480-9A3C-558F4F88C9E5}"/>
              </a:ext>
            </a:extLst>
          </p:cNvPr>
          <p:cNvSpPr/>
          <p:nvPr/>
        </p:nvSpPr>
        <p:spPr>
          <a:xfrm rot="5400000" flipV="1">
            <a:off x="8735946" y="3410823"/>
            <a:ext cx="173040" cy="1807773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9241AF9D-84D7-4999-873E-A97956A05812}"/>
              </a:ext>
            </a:extLst>
          </p:cNvPr>
          <p:cNvSpPr/>
          <p:nvPr/>
        </p:nvSpPr>
        <p:spPr>
          <a:xfrm>
            <a:off x="7561831" y="4804922"/>
            <a:ext cx="2521265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Suma de los contactos en los canales oficiales de SAC</a:t>
            </a:r>
          </a:p>
        </p:txBody>
      </p:sp>
      <p:sp>
        <p:nvSpPr>
          <p:cNvPr id="40" name="Signo de multiplicación 39">
            <a:extLst>
              <a:ext uri="{FF2B5EF4-FFF2-40B4-BE49-F238E27FC236}">
                <a16:creationId xmlns:a16="http://schemas.microsoft.com/office/drawing/2014/main" id="{1A2C4274-7563-4D95-8C33-176B975913E0}"/>
              </a:ext>
            </a:extLst>
          </p:cNvPr>
          <p:cNvSpPr/>
          <p:nvPr/>
        </p:nvSpPr>
        <p:spPr>
          <a:xfrm>
            <a:off x="9896354" y="3232316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91F42AF2-420D-4EF6-A47C-CFE41A3417BC}"/>
              </a:ext>
            </a:extLst>
          </p:cNvPr>
          <p:cNvSpPr/>
          <p:nvPr/>
        </p:nvSpPr>
        <p:spPr>
          <a:xfrm>
            <a:off x="10160828" y="3218999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  <p:sp>
        <p:nvSpPr>
          <p:cNvPr id="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C115782A-407F-4B99-8C15-301E757F256D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5E60C64-7AB4-4FDA-A893-8D493EF7E9CB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63589551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Porcentaje de casos atendidos por canales de autogestión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la capacidad para soportar el servicio a través de canales de autogestión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Servicio al Cliente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Servicio al Cliente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que los canales de autoservicio sean más eficientes y estén alineados con las expectativas de los clientes el % de casos atendidos en canales de autogestión tenderá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Porcentaje de casos atendidos por canales de autogestión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SAC, sesiones de seguimiento de la D. SAC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0FC865C-F025-409A-B718-978635B8406E}"/>
              </a:ext>
            </a:extLst>
          </p:cNvPr>
          <p:cNvSpPr/>
          <p:nvPr/>
        </p:nvSpPr>
        <p:spPr>
          <a:xfrm>
            <a:off x="7918579" y="3113170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Número de casos atendidos en canales de autogestión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E63DE6CD-6670-4004-8EF7-E361562C7DF1}"/>
              </a:ext>
            </a:extLst>
          </p:cNvPr>
          <p:cNvSpPr/>
          <p:nvPr/>
        </p:nvSpPr>
        <p:spPr>
          <a:xfrm>
            <a:off x="7918579" y="4124717"/>
            <a:ext cx="1807773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Número total de casos atendidos</a:t>
            </a: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B9417978-A3C8-4CC4-8E7E-D04F4ACA5B2B}"/>
              </a:ext>
            </a:extLst>
          </p:cNvPr>
          <p:cNvSpPr/>
          <p:nvPr/>
        </p:nvSpPr>
        <p:spPr>
          <a:xfrm>
            <a:off x="8682884" y="3791942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65D8A856-522D-49F0-9FD6-946A16A75955}"/>
              </a:ext>
            </a:extLst>
          </p:cNvPr>
          <p:cNvSpPr/>
          <p:nvPr/>
        </p:nvSpPr>
        <p:spPr>
          <a:xfrm>
            <a:off x="6096000" y="3550717"/>
            <a:ext cx="1303573" cy="76912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% Casos atendidos en canales de autogestión</a:t>
            </a:r>
          </a:p>
        </p:txBody>
      </p: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32EC1D35-22AA-42A0-B419-A574C7E69B3E}"/>
              </a:ext>
            </a:extLst>
          </p:cNvPr>
          <p:cNvCxnSpPr>
            <a:cxnSpLocks/>
            <a:stCxn id="30" idx="3"/>
            <a:endCxn id="27" idx="1"/>
          </p:cNvCxnSpPr>
          <p:nvPr/>
        </p:nvCxnSpPr>
        <p:spPr>
          <a:xfrm flipV="1">
            <a:off x="7399573" y="3419170"/>
            <a:ext cx="519006" cy="51611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9EB6D5E0-099E-414B-ACD9-625111F6BF7B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399573" y="3935282"/>
            <a:ext cx="519006" cy="49543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Signo de multiplicación 32">
            <a:extLst>
              <a:ext uri="{FF2B5EF4-FFF2-40B4-BE49-F238E27FC236}">
                <a16:creationId xmlns:a16="http://schemas.microsoft.com/office/drawing/2014/main" id="{37398AA6-A55B-40E5-B56D-41F2F2D3A298}"/>
              </a:ext>
            </a:extLst>
          </p:cNvPr>
          <p:cNvSpPr/>
          <p:nvPr/>
        </p:nvSpPr>
        <p:spPr>
          <a:xfrm>
            <a:off x="9896354" y="3760209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E7CE2D79-1654-4582-8E15-109AE3AFEED0}"/>
              </a:ext>
            </a:extLst>
          </p:cNvPr>
          <p:cNvSpPr/>
          <p:nvPr/>
        </p:nvSpPr>
        <p:spPr>
          <a:xfrm>
            <a:off x="10160828" y="3746892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E6AF924-19E0-4EFE-B8FF-E4D3835D4BAC}"/>
              </a:ext>
            </a:extLst>
          </p:cNvPr>
          <p:cNvSpPr/>
          <p:nvPr/>
        </p:nvSpPr>
        <p:spPr>
          <a:xfrm rot="10800000">
            <a:off x="10805932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8E713866-4166-43C7-BAF2-1E7D90E39BF5}"/>
              </a:ext>
            </a:extLst>
          </p:cNvPr>
          <p:cNvSpPr/>
          <p:nvPr/>
        </p:nvSpPr>
        <p:spPr>
          <a:xfrm>
            <a:off x="9187887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18643200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Contención de la cartera o Rodamiento de la cartera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y hacer seguimiento al rodamiento de la cartera en la etapa de mora temprana a categorías de mayor riesgo, en las cuales la recuperación se dificulta y resulta más onerosa para los beneficiarios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505728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345284"/>
            <a:ext cx="4552406" cy="237694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Riesgo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55358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La  matriz de rodamiento de cartera permite entender el porcentaje de la cartera por franja de mora que se esta deteriorando, manteniendo, mejorando y normalizando</a:t>
            </a:r>
          </a:p>
          <a:p>
            <a:pPr marL="361950" lvl="2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Las filas representan la franja de mora al inicio del periodo</a:t>
            </a:r>
          </a:p>
          <a:p>
            <a:pPr marL="361950" lvl="2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Las columnas representan el cambio de franja de mora al final del periodo </a:t>
            </a:r>
          </a:p>
          <a:p>
            <a:pPr marL="271463" lvl="2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 b="1">
                <a:latin typeface="Arial" panose="020B0604020202020204" pitchFamily="34" charset="0"/>
                <a:cs typeface="Arial" panose="020B0604020202020204" pitchFamily="34" charset="0"/>
              </a:rPr>
              <a:t>Ejemplo: 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2019 en promedio se deterioró el 85% de la cartera con mora &gt;= 180 y &lt; 360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Contención de la cartera o Rodamiento de la cartera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Comercial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" name="Tabla 14">
            <a:extLst>
              <a:ext uri="{FF2B5EF4-FFF2-40B4-BE49-F238E27FC236}">
                <a16:creationId xmlns:a16="http://schemas.microsoft.com/office/drawing/2014/main" id="{ACE50CAB-B69C-4D4E-9E8E-FD867CE043CF}"/>
              </a:ext>
            </a:extLst>
          </p:cNvPr>
          <p:cNvGraphicFramePr>
            <a:graphicFrameLocks noGrp="1"/>
          </p:cNvGraphicFramePr>
          <p:nvPr/>
        </p:nvGraphicFramePr>
        <p:xfrm>
          <a:off x="6442766" y="2385005"/>
          <a:ext cx="4039198" cy="125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4002">
                  <a:extLst>
                    <a:ext uri="{9D8B030D-6E8A-4147-A177-3AD203B41FA5}">
                      <a16:colId xmlns:a16="http://schemas.microsoft.com/office/drawing/2014/main" val="249248993"/>
                    </a:ext>
                  </a:extLst>
                </a:gridCol>
                <a:gridCol w="748799">
                  <a:extLst>
                    <a:ext uri="{9D8B030D-6E8A-4147-A177-3AD203B41FA5}">
                      <a16:colId xmlns:a16="http://schemas.microsoft.com/office/drawing/2014/main" val="1851726388"/>
                    </a:ext>
                  </a:extLst>
                </a:gridCol>
                <a:gridCol w="748799">
                  <a:extLst>
                    <a:ext uri="{9D8B030D-6E8A-4147-A177-3AD203B41FA5}">
                      <a16:colId xmlns:a16="http://schemas.microsoft.com/office/drawing/2014/main" val="2395697712"/>
                    </a:ext>
                  </a:extLst>
                </a:gridCol>
                <a:gridCol w="748799">
                  <a:extLst>
                    <a:ext uri="{9D8B030D-6E8A-4147-A177-3AD203B41FA5}">
                      <a16:colId xmlns:a16="http://schemas.microsoft.com/office/drawing/2014/main" val="3218543283"/>
                    </a:ext>
                  </a:extLst>
                </a:gridCol>
                <a:gridCol w="748799">
                  <a:extLst>
                    <a:ext uri="{9D8B030D-6E8A-4147-A177-3AD203B41FA5}">
                      <a16:colId xmlns:a16="http://schemas.microsoft.com/office/drawing/2014/main" val="2262225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de Mora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Deteriora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Mantiene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Mejora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Normaliza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6707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al día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76.7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1678.6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695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30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35.6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28.5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40.1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725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60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22.0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9.5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13.3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375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2845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180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11.5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0.1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1.3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179649"/>
                  </a:ext>
                </a:extLst>
              </a:tr>
            </a:tbl>
          </a:graphicData>
        </a:graphic>
      </p:graphicFrame>
      <p:graphicFrame>
        <p:nvGraphicFramePr>
          <p:cNvPr id="29" name="Tabla 14">
            <a:extLst>
              <a:ext uri="{FF2B5EF4-FFF2-40B4-BE49-F238E27FC236}">
                <a16:creationId xmlns:a16="http://schemas.microsoft.com/office/drawing/2014/main" id="{E149F268-D1A6-46D3-89A5-CDA3DB851E2D}"/>
              </a:ext>
            </a:extLst>
          </p:cNvPr>
          <p:cNvGraphicFramePr>
            <a:graphicFrameLocks noGrp="1"/>
          </p:cNvGraphicFramePr>
          <p:nvPr/>
        </p:nvGraphicFramePr>
        <p:xfrm>
          <a:off x="6442766" y="3759182"/>
          <a:ext cx="4039200" cy="125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4000">
                  <a:extLst>
                    <a:ext uri="{9D8B030D-6E8A-4147-A177-3AD203B41FA5}">
                      <a16:colId xmlns:a16="http://schemas.microsoft.com/office/drawing/2014/main" val="249248993"/>
                    </a:ext>
                  </a:extLst>
                </a:gridCol>
                <a:gridCol w="748800">
                  <a:extLst>
                    <a:ext uri="{9D8B030D-6E8A-4147-A177-3AD203B41FA5}">
                      <a16:colId xmlns:a16="http://schemas.microsoft.com/office/drawing/2014/main" val="1851726388"/>
                    </a:ext>
                  </a:extLst>
                </a:gridCol>
                <a:gridCol w="748800">
                  <a:extLst>
                    <a:ext uri="{9D8B030D-6E8A-4147-A177-3AD203B41FA5}">
                      <a16:colId xmlns:a16="http://schemas.microsoft.com/office/drawing/2014/main" val="2395697712"/>
                    </a:ext>
                  </a:extLst>
                </a:gridCol>
                <a:gridCol w="748800">
                  <a:extLst>
                    <a:ext uri="{9D8B030D-6E8A-4147-A177-3AD203B41FA5}">
                      <a16:colId xmlns:a16="http://schemas.microsoft.com/office/drawing/2014/main" val="3218543283"/>
                    </a:ext>
                  </a:extLst>
                </a:gridCol>
                <a:gridCol w="748800">
                  <a:extLst>
                    <a:ext uri="{9D8B030D-6E8A-4147-A177-3AD203B41FA5}">
                      <a16:colId xmlns:a16="http://schemas.microsoft.com/office/drawing/2014/main" val="226222564"/>
                    </a:ext>
                  </a:extLst>
                </a:gridCol>
              </a:tblGrid>
              <a:tr h="137535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de Mora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Deteriora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Mantiene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Mejora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Normaliza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670716"/>
                  </a:ext>
                </a:extLst>
              </a:tr>
              <a:tr h="137535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al día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4%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96%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695451"/>
                  </a:ext>
                </a:extLst>
              </a:tr>
              <a:tr h="137535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30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34%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27%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CO" sz="900" b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39%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7725520"/>
                  </a:ext>
                </a:extLst>
              </a:tr>
              <a:tr h="137535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60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47%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20%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5%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28%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375776"/>
                  </a:ext>
                </a:extLst>
              </a:tr>
              <a:tr h="137535"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…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8578286"/>
                  </a:ext>
                </a:extLst>
              </a:tr>
              <a:tr h="1375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Franja 180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accent1"/>
                          </a:solidFill>
                        </a:rPr>
                        <a:t>85%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4%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900" b="0">
                          <a:solidFill>
                            <a:schemeClr val="tx1"/>
                          </a:solidFill>
                        </a:rPr>
                        <a:t>10%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179649"/>
                  </a:ext>
                </a:extLst>
              </a:tr>
            </a:tbl>
          </a:graphicData>
        </a:graphic>
      </p:graphicFrame>
      <p:sp>
        <p:nvSpPr>
          <p:cNvPr id="35" name="Rectángulo 34">
            <a:extLst>
              <a:ext uri="{FF2B5EF4-FFF2-40B4-BE49-F238E27FC236}">
                <a16:creationId xmlns:a16="http://schemas.microsoft.com/office/drawing/2014/main" id="{6D7546F3-AE12-46A7-9B52-7A655213AA13}"/>
              </a:ext>
            </a:extLst>
          </p:cNvPr>
          <p:cNvSpPr/>
          <p:nvPr/>
        </p:nvSpPr>
        <p:spPr>
          <a:xfrm>
            <a:off x="6111376" y="2138847"/>
            <a:ext cx="4701978" cy="199734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 b="1">
                <a:solidFill>
                  <a:schemeClr val="tx1"/>
                </a:solidFill>
              </a:rPr>
              <a:t>Matriz de Rodamiento de Cartera Promedio Mes a Mes 2019</a:t>
            </a:r>
          </a:p>
        </p:txBody>
      </p:sp>
      <p:sp>
        <p:nvSpPr>
          <p:cNvPr id="37" name="Bocadillo: rectángulo con esquinas redondeadas 36">
            <a:extLst>
              <a:ext uri="{FF2B5EF4-FFF2-40B4-BE49-F238E27FC236}">
                <a16:creationId xmlns:a16="http://schemas.microsoft.com/office/drawing/2014/main" id="{CFF92629-FBBF-4C1D-B1F6-EA5E790AAC3B}"/>
              </a:ext>
            </a:extLst>
          </p:cNvPr>
          <p:cNvSpPr/>
          <p:nvPr/>
        </p:nvSpPr>
        <p:spPr>
          <a:xfrm>
            <a:off x="10606517" y="2509362"/>
            <a:ext cx="1308052" cy="439339"/>
          </a:xfrm>
          <a:prstGeom prst="wedgeRoundRectCallout">
            <a:avLst>
              <a:gd name="adj1" fmla="val -61979"/>
              <a:gd name="adj2" fmla="val -42499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Rodamiento a franja de mora “al día”</a:t>
            </a:r>
          </a:p>
        </p:txBody>
      </p:sp>
      <p:cxnSp>
        <p:nvCxnSpPr>
          <p:cNvPr id="40" name="Conector recto 39">
            <a:extLst>
              <a:ext uri="{FF2B5EF4-FFF2-40B4-BE49-F238E27FC236}">
                <a16:creationId xmlns:a16="http://schemas.microsoft.com/office/drawing/2014/main" id="{CC8AA8D0-5C94-45D3-9437-47B70F8C425C}"/>
              </a:ext>
            </a:extLst>
          </p:cNvPr>
          <p:cNvCxnSpPr>
            <a:cxnSpLocks/>
          </p:cNvCxnSpPr>
          <p:nvPr/>
        </p:nvCxnSpPr>
        <p:spPr>
          <a:xfrm>
            <a:off x="7539097" y="5323230"/>
            <a:ext cx="2952000" cy="0"/>
          </a:xfrm>
          <a:prstGeom prst="line">
            <a:avLst/>
          </a:prstGeom>
          <a:ln w="1905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CuadroTexto 40">
            <a:extLst>
              <a:ext uri="{FF2B5EF4-FFF2-40B4-BE49-F238E27FC236}">
                <a16:creationId xmlns:a16="http://schemas.microsoft.com/office/drawing/2014/main" id="{A41B767B-CA22-44C9-966C-CA9D55A49241}"/>
              </a:ext>
            </a:extLst>
          </p:cNvPr>
          <p:cNvSpPr txBox="1"/>
          <p:nvPr/>
        </p:nvSpPr>
        <p:spPr>
          <a:xfrm>
            <a:off x="6386826" y="5106606"/>
            <a:ext cx="893193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s-CO" sz="1000"/>
              <a:t>Deterioro </a:t>
            </a:r>
            <a:br>
              <a:rPr lang="es-CO" sz="1000"/>
            </a:br>
            <a:r>
              <a:rPr lang="es-CO" sz="1000"/>
              <a:t>de la cartera</a:t>
            </a:r>
          </a:p>
        </p:txBody>
      </p:sp>
      <p:sp>
        <p:nvSpPr>
          <p:cNvPr id="42" name="CuadroTexto 41">
            <a:extLst>
              <a:ext uri="{FF2B5EF4-FFF2-40B4-BE49-F238E27FC236}">
                <a16:creationId xmlns:a16="http://schemas.microsoft.com/office/drawing/2014/main" id="{0F59725D-8566-4D17-89B2-34AFF41F2657}"/>
              </a:ext>
            </a:extLst>
          </p:cNvPr>
          <p:cNvSpPr txBox="1"/>
          <p:nvPr/>
        </p:nvSpPr>
        <p:spPr>
          <a:xfrm>
            <a:off x="7201683" y="5123174"/>
            <a:ext cx="333746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s-CO" sz="2000"/>
              <a:t>=</a:t>
            </a:r>
          </a:p>
        </p:txBody>
      </p:sp>
      <p:sp>
        <p:nvSpPr>
          <p:cNvPr id="45" name="CuadroTexto 44">
            <a:extLst>
              <a:ext uri="{FF2B5EF4-FFF2-40B4-BE49-F238E27FC236}">
                <a16:creationId xmlns:a16="http://schemas.microsoft.com/office/drawing/2014/main" id="{7DB83B74-2865-4124-9005-6B20C86FFA4C}"/>
              </a:ext>
            </a:extLst>
          </p:cNvPr>
          <p:cNvSpPr txBox="1"/>
          <p:nvPr/>
        </p:nvSpPr>
        <p:spPr>
          <a:xfrm>
            <a:off x="7543263" y="5323230"/>
            <a:ext cx="2894849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CO" sz="1000"/>
              <a:t>Cartera total a inicio de mes por franja de mora</a:t>
            </a:r>
            <a:endParaRPr lang="es-CO" sz="1000" baseline="-25000"/>
          </a:p>
        </p:txBody>
      </p:sp>
      <p:sp>
        <p:nvSpPr>
          <p:cNvPr id="46" name="CuadroTexto 45">
            <a:extLst>
              <a:ext uri="{FF2B5EF4-FFF2-40B4-BE49-F238E27FC236}">
                <a16:creationId xmlns:a16="http://schemas.microsoft.com/office/drawing/2014/main" id="{6FC93224-329D-4394-9964-B386B353F78D}"/>
              </a:ext>
            </a:extLst>
          </p:cNvPr>
          <p:cNvSpPr txBox="1"/>
          <p:nvPr/>
        </p:nvSpPr>
        <p:spPr>
          <a:xfrm>
            <a:off x="7535429" y="5084796"/>
            <a:ext cx="2946535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CO" sz="1000"/>
              <a:t>Cartera deteriorada a fin mes por franja de mora</a:t>
            </a:r>
            <a:endParaRPr lang="es-CO" sz="1000" baseline="-25000"/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FC54EE1-B155-49B5-B217-774597813CD7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606A1834-596B-402C-BA0F-497F915EBFB4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88850913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meta de recuperación la cartera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86527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la recuperación de la cartera respecto a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Maximizar la recuperación de la cartera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Recuperación de cartera Promedio 2020: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37.600MM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0468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92689"/>
            <a:ext cx="4552406" cy="499084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="1">
                <a:latin typeface="Arial" panose="020B0604020202020204" pitchFamily="34" charset="0"/>
                <a:cs typeface="Arial" panose="020B0604020202020204" pitchFamily="34" charset="0"/>
              </a:rPr>
              <a:t>Resultado: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G. Cobranza, D. Inteligencia de Cobranza, D. Gestión de Cobranza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073142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361139"/>
            <a:ext cx="4552406" cy="1355563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recup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. de cartera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meta de recuperación la cartera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Cartera o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59D9B43-1EBF-4180-8CB8-C11B73A60FFE}"/>
              </a:ext>
            </a:extLst>
          </p:cNvPr>
          <p:cNvSpPr/>
          <p:nvPr/>
        </p:nvSpPr>
        <p:spPr>
          <a:xfrm>
            <a:off x="8568909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recuperación de cartera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0375C92-BF70-43E1-93B6-68259DEEB5E0}"/>
              </a:ext>
            </a:extLst>
          </p:cNvPr>
          <p:cNvSpPr/>
          <p:nvPr/>
        </p:nvSpPr>
        <p:spPr>
          <a:xfrm>
            <a:off x="8568908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recuperación de cartera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D898E724-0DA3-4A84-8A67-2137CBEF219C}"/>
              </a:ext>
            </a:extLst>
          </p:cNvPr>
          <p:cNvSpPr/>
          <p:nvPr/>
        </p:nvSpPr>
        <p:spPr>
          <a:xfrm>
            <a:off x="9195831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E3F7E2BA-CD02-4DDF-B9F7-8F9CAD444CCB}"/>
              </a:ext>
            </a:extLst>
          </p:cNvPr>
          <p:cNvSpPr/>
          <p:nvPr/>
        </p:nvSpPr>
        <p:spPr>
          <a:xfrm>
            <a:off x="6501985" y="3424728"/>
            <a:ext cx="1583455" cy="81122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meta de recuperación de cartera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A2D9200E-F4D6-4B6F-9C53-1ED3FF66EBDC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85440" y="3323670"/>
            <a:ext cx="483469" cy="50667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4EC865E6-8978-4FFA-BF8D-1554173F873C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85440" y="3830342"/>
            <a:ext cx="483468" cy="53796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EA61B1C-92A8-4E8C-8D37-916738AF5D3F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56529566-F36C-491F-B396-BC83D712F4E0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02278242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Gasto de Provisiones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gasto incurrido por la organización en provisiones para poder anticipar futuras pérdidas en los créditos otorgados 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65393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941934"/>
            <a:ext cx="4552406" cy="657024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Riesgo, G. de Riesgo, D. Analítica de admón. de Cartera, D. Inteligencia de Cobranzas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Gerencia de Riesgo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1574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gasto de provisiones aumenta a la par del crecimiento de la cartera global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Gasto de Provisiones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Riesgo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E1092FFD-430E-4C54-851D-67EFAAA568A4}"/>
              </a:ext>
            </a:extLst>
          </p:cNvPr>
          <p:cNvSpPr/>
          <p:nvPr/>
        </p:nvSpPr>
        <p:spPr>
          <a:xfrm>
            <a:off x="8568909" y="2581662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 de provisión de la cartera morosa del período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3FF93A9D-AAB5-40A4-8CD8-92692AE41EAC}"/>
              </a:ext>
            </a:extLst>
          </p:cNvPr>
          <p:cNvSpPr/>
          <p:nvPr/>
        </p:nvSpPr>
        <p:spPr>
          <a:xfrm>
            <a:off x="8568908" y="362630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Cartera Bruta  promedio del período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0D3BA59C-089B-4327-B5CF-D1D0478BC310}"/>
              </a:ext>
            </a:extLst>
          </p:cNvPr>
          <p:cNvSpPr/>
          <p:nvPr/>
        </p:nvSpPr>
        <p:spPr>
          <a:xfrm>
            <a:off x="9195831" y="322161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98E360CD-E5AD-4F72-BFC7-68D210AD51D3}"/>
              </a:ext>
            </a:extLst>
          </p:cNvPr>
          <p:cNvSpPr/>
          <p:nvPr/>
        </p:nvSpPr>
        <p:spPr>
          <a:xfrm>
            <a:off x="6428987" y="3135559"/>
            <a:ext cx="1471467" cy="560336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Gasto de provisiones</a:t>
            </a:r>
          </a:p>
        </p:txBody>
      </p: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F5182305-5DED-4782-8D07-B538A676B810}"/>
              </a:ext>
            </a:extLst>
          </p:cNvPr>
          <p:cNvCxnSpPr>
            <a:cxnSpLocks/>
            <a:stCxn id="30" idx="3"/>
            <a:endCxn id="27" idx="1"/>
          </p:cNvCxnSpPr>
          <p:nvPr/>
        </p:nvCxnSpPr>
        <p:spPr>
          <a:xfrm flipV="1">
            <a:off x="7900454" y="2869662"/>
            <a:ext cx="668455" cy="54606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DBBF00EF-4386-46D7-B5B7-FD4989D35945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900454" y="3415727"/>
            <a:ext cx="668454" cy="49857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5" name="Rectángulo 34">
            <a:extLst>
              <a:ext uri="{FF2B5EF4-FFF2-40B4-BE49-F238E27FC236}">
                <a16:creationId xmlns:a16="http://schemas.microsoft.com/office/drawing/2014/main" id="{698D170D-8EAB-4A7D-999A-0ADE633DAD62}"/>
              </a:ext>
            </a:extLst>
          </p:cNvPr>
          <p:cNvSpPr/>
          <p:nvPr/>
        </p:nvSpPr>
        <p:spPr>
          <a:xfrm>
            <a:off x="6713461" y="4512019"/>
            <a:ext cx="3963775" cy="86659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indent="-171450">
              <a:buFont typeface="Arial" panose="020B0604020202020204" pitchFamily="34" charset="0"/>
              <a:buChar char="•"/>
            </a:pPr>
            <a:r>
              <a:rPr lang="es-ES" sz="1200" b="1">
                <a:solidFill>
                  <a:schemeClr val="accent1"/>
                </a:solidFill>
              </a:rPr>
              <a:t>Nota: </a:t>
            </a:r>
            <a:r>
              <a:rPr lang="es-ES" sz="1200">
                <a:solidFill>
                  <a:schemeClr val="accent1"/>
                </a:solidFill>
              </a:rPr>
              <a:t>Para las entidades vigiladas por la Superintendencia Financiera, la legislación bancaria y tributaria señala la tasa mínima ante la cual deberán  realizar provisiones para pérdidas en créditos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76D7648-12D4-4565-8D81-78CA3251FC4F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5F16C12-4617-45A2-8382-DD4A57EDB47B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968CB6A7-55DE-4153-9A8F-8CC964258E2D}"/>
              </a:ext>
            </a:extLst>
          </p:cNvPr>
          <p:cNvSpPr/>
          <p:nvPr/>
        </p:nvSpPr>
        <p:spPr>
          <a:xfrm>
            <a:off x="648717" y="807642"/>
            <a:ext cx="1508152" cy="28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 Construcción</a:t>
            </a:r>
          </a:p>
        </p:txBody>
      </p:sp>
    </p:spTree>
    <p:extLst>
      <p:ext uri="{BB962C8B-B14F-4D97-AF65-F5344CB8AC3E}">
        <p14:creationId xmlns:p14="http://schemas.microsoft.com/office/powerpoint/2010/main" val="122415743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Mantenimiento de los rangos de riesgos de liquidez, mercado, crediticio y operativo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136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Medir, controlar y analizar la gestión de los riesgos de crédito (SARC), mercado (SARM), liquidez (SARL) y operativo (SARO) con el fin detectar oportunamente los diversos riesgos que pueden afectar a la organización para, de esta forma, generar estrategias que se anticipen a ellos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Evitar sanciones por parte de la Superintendencia Financiera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645436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933436"/>
            <a:ext cx="4552406" cy="657024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de Riesgo,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Dir. Analítica y Modelos Admón. Cartera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Gerencia de Riesgo</a:t>
            </a: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57397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861972"/>
            <a:ext cx="4552406" cy="701652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que los riesgos de crédito, mercado, liquidez y operativo no sobrepasen los rangos establecidos por la Superintendencia el indicador tendrá un resultado favorable - el incumplimiento podría implica resultar en sanciones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Mantenimiento de los rangos de riesgos de liquidez, mercado, crediticio y operativo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Estrategia de JD, Comité de Riesgo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s-ES" sz="1200">
              <a:solidFill>
                <a:schemeClr val="tx1"/>
              </a:solidFill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152308D-E812-430E-AABE-9339D6B5B9BA}"/>
              </a:ext>
            </a:extLst>
          </p:cNvPr>
          <p:cNvSpPr/>
          <p:nvPr/>
        </p:nvSpPr>
        <p:spPr>
          <a:xfrm>
            <a:off x="6379624" y="2192730"/>
            <a:ext cx="4375462" cy="64215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>
                <a:solidFill>
                  <a:schemeClr val="tx1"/>
                </a:solidFill>
              </a:rPr>
              <a:t>Normativa Vigente según lo establecido por la Superintendencia Financiera - Actualmente rige la Circular Básica Contable y Financiera (Circular Externa 100 de 1995)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1E61D070-D840-452E-98DE-F1EC7D52DA37}"/>
              </a:ext>
            </a:extLst>
          </p:cNvPr>
          <p:cNvSpPr/>
          <p:nvPr/>
        </p:nvSpPr>
        <p:spPr>
          <a:xfrm>
            <a:off x="6379624" y="3156196"/>
            <a:ext cx="4375462" cy="51473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447675"/>
            <a:r>
              <a:rPr lang="es-ES" sz="1200">
                <a:solidFill>
                  <a:schemeClr val="tx1"/>
                </a:solidFill>
              </a:rPr>
              <a:t>Capitulo II – Reglas relativas a la gestión del riesgo crediticio</a:t>
            </a:r>
          </a:p>
        </p:txBody>
      </p:sp>
      <p:pic>
        <p:nvPicPr>
          <p:cNvPr id="40964" name="Picture 4" descr="Credit Icon #150105 - Free Icons Library">
            <a:extLst>
              <a:ext uri="{FF2B5EF4-FFF2-40B4-BE49-F238E27FC236}">
                <a16:creationId xmlns:a16="http://schemas.microsoft.com/office/drawing/2014/main" id="{2A72E511-AEE9-46AE-BAEF-907B6C1652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9724" y="3257198"/>
            <a:ext cx="337334" cy="3166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ángulo 38">
            <a:extLst>
              <a:ext uri="{FF2B5EF4-FFF2-40B4-BE49-F238E27FC236}">
                <a16:creationId xmlns:a16="http://schemas.microsoft.com/office/drawing/2014/main" id="{DFC4C48A-886A-45A3-90BC-9886D46E789B}"/>
              </a:ext>
            </a:extLst>
          </p:cNvPr>
          <p:cNvSpPr/>
          <p:nvPr/>
        </p:nvSpPr>
        <p:spPr>
          <a:xfrm>
            <a:off x="6379624" y="3763349"/>
            <a:ext cx="4375462" cy="51473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447675"/>
            <a:r>
              <a:rPr lang="es-ES" sz="1200">
                <a:solidFill>
                  <a:schemeClr val="tx1"/>
                </a:solidFill>
              </a:rPr>
              <a:t>Capitulo VI -  Reglas relativas al sistema de administración del riesgo de liquidez</a:t>
            </a:r>
          </a:p>
        </p:txBody>
      </p:sp>
      <p:sp>
        <p:nvSpPr>
          <p:cNvPr id="41" name="Rectángulo 40">
            <a:extLst>
              <a:ext uri="{FF2B5EF4-FFF2-40B4-BE49-F238E27FC236}">
                <a16:creationId xmlns:a16="http://schemas.microsoft.com/office/drawing/2014/main" id="{BC01CBF0-F725-4D66-9517-828736A3FDA7}"/>
              </a:ext>
            </a:extLst>
          </p:cNvPr>
          <p:cNvSpPr/>
          <p:nvPr/>
        </p:nvSpPr>
        <p:spPr>
          <a:xfrm>
            <a:off x="6379624" y="4370502"/>
            <a:ext cx="4375462" cy="51473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447675"/>
            <a:r>
              <a:rPr lang="es-ES" sz="1200">
                <a:solidFill>
                  <a:schemeClr val="tx1"/>
                </a:solidFill>
              </a:rPr>
              <a:t>Capitulo XXI - Reglas relativas a la administración del riesgo de mercado</a:t>
            </a:r>
          </a:p>
        </p:txBody>
      </p:sp>
      <p:sp>
        <p:nvSpPr>
          <p:cNvPr id="43" name="Rectángulo 42">
            <a:extLst>
              <a:ext uri="{FF2B5EF4-FFF2-40B4-BE49-F238E27FC236}">
                <a16:creationId xmlns:a16="http://schemas.microsoft.com/office/drawing/2014/main" id="{7D68F18D-8EA2-4BE3-938F-2F2BF2F11BDC}"/>
              </a:ext>
            </a:extLst>
          </p:cNvPr>
          <p:cNvSpPr/>
          <p:nvPr/>
        </p:nvSpPr>
        <p:spPr>
          <a:xfrm>
            <a:off x="6379624" y="4977656"/>
            <a:ext cx="4375462" cy="51473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447675"/>
            <a:r>
              <a:rPr lang="es-ES" sz="1200">
                <a:solidFill>
                  <a:schemeClr val="tx1"/>
                </a:solidFill>
              </a:rPr>
              <a:t>Capitulo XXIII -  Reglas relativas a la administración del riesgo operacional</a:t>
            </a:r>
          </a:p>
        </p:txBody>
      </p:sp>
      <p:pic>
        <p:nvPicPr>
          <p:cNvPr id="40966" name="Picture 6" descr="Capital market, financial market, share market, stock exchange, stock market  icon">
            <a:extLst>
              <a:ext uri="{FF2B5EF4-FFF2-40B4-BE49-F238E27FC236}">
                <a16:creationId xmlns:a16="http://schemas.microsoft.com/office/drawing/2014/main" id="{5559E5F2-A7C5-4D42-940E-29CE0C2C3A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9724" y="4461323"/>
            <a:ext cx="337334" cy="3373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68" name="Picture 8" descr="Liquidity - Free business and finance icons">
            <a:extLst>
              <a:ext uri="{FF2B5EF4-FFF2-40B4-BE49-F238E27FC236}">
                <a16:creationId xmlns:a16="http://schemas.microsoft.com/office/drawing/2014/main" id="{4631A86D-D3F9-49FB-8774-B452F5E2B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9724" y="3904904"/>
            <a:ext cx="337334" cy="3373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Freeform 101">
            <a:extLst>
              <a:ext uri="{FF2B5EF4-FFF2-40B4-BE49-F238E27FC236}">
                <a16:creationId xmlns:a16="http://schemas.microsoft.com/office/drawing/2014/main" id="{57AB27D8-7710-4643-BA9B-31D0ECE661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36769" y="5076693"/>
            <a:ext cx="342278" cy="316664"/>
          </a:xfrm>
          <a:custGeom>
            <a:avLst/>
            <a:gdLst>
              <a:gd name="T0" fmla="*/ 39 w 68"/>
              <a:gd name="T1" fmla="*/ 36 h 63"/>
              <a:gd name="T2" fmla="*/ 41 w 68"/>
              <a:gd name="T3" fmla="*/ 44 h 63"/>
              <a:gd name="T4" fmla="*/ 35 w 68"/>
              <a:gd name="T5" fmla="*/ 50 h 63"/>
              <a:gd name="T6" fmla="*/ 27 w 68"/>
              <a:gd name="T7" fmla="*/ 53 h 63"/>
              <a:gd name="T8" fmla="*/ 18 w 68"/>
              <a:gd name="T9" fmla="*/ 53 h 63"/>
              <a:gd name="T10" fmla="*/ 11 w 68"/>
              <a:gd name="T11" fmla="*/ 50 h 63"/>
              <a:gd name="T12" fmla="*/ 4 w 68"/>
              <a:gd name="T13" fmla="*/ 44 h 63"/>
              <a:gd name="T14" fmla="*/ 6 w 68"/>
              <a:gd name="T15" fmla="*/ 36 h 63"/>
              <a:gd name="T16" fmla="*/ 0 w 68"/>
              <a:gd name="T17" fmla="*/ 28 h 63"/>
              <a:gd name="T18" fmla="*/ 7 w 68"/>
              <a:gd name="T19" fmla="*/ 23 h 63"/>
              <a:gd name="T20" fmla="*/ 4 w 68"/>
              <a:gd name="T21" fmla="*/ 18 h 63"/>
              <a:gd name="T22" fmla="*/ 15 w 68"/>
              <a:gd name="T23" fmla="*/ 16 h 63"/>
              <a:gd name="T24" fmla="*/ 19 w 68"/>
              <a:gd name="T25" fmla="*/ 8 h 63"/>
              <a:gd name="T26" fmla="*/ 28 w 68"/>
              <a:gd name="T27" fmla="*/ 15 h 63"/>
              <a:gd name="T28" fmla="*/ 35 w 68"/>
              <a:gd name="T29" fmla="*/ 12 h 63"/>
              <a:gd name="T30" fmla="*/ 41 w 68"/>
              <a:gd name="T31" fmla="*/ 19 h 63"/>
              <a:gd name="T32" fmla="*/ 45 w 68"/>
              <a:gd name="T33" fmla="*/ 27 h 63"/>
              <a:gd name="T34" fmla="*/ 23 w 68"/>
              <a:gd name="T35" fmla="*/ 22 h 63"/>
              <a:gd name="T36" fmla="*/ 32 w 68"/>
              <a:gd name="T37" fmla="*/ 31 h 63"/>
              <a:gd name="T38" fmla="*/ 63 w 68"/>
              <a:gd name="T39" fmla="*/ 16 h 63"/>
              <a:gd name="T40" fmla="*/ 64 w 68"/>
              <a:gd name="T41" fmla="*/ 24 h 63"/>
              <a:gd name="T42" fmla="*/ 55 w 68"/>
              <a:gd name="T43" fmla="*/ 22 h 63"/>
              <a:gd name="T44" fmla="*/ 46 w 68"/>
              <a:gd name="T45" fmla="*/ 24 h 63"/>
              <a:gd name="T46" fmla="*/ 46 w 68"/>
              <a:gd name="T47" fmla="*/ 16 h 63"/>
              <a:gd name="T48" fmla="*/ 46 w 68"/>
              <a:gd name="T49" fmla="*/ 9 h 63"/>
              <a:gd name="T50" fmla="*/ 46 w 68"/>
              <a:gd name="T51" fmla="*/ 2 h 63"/>
              <a:gd name="T52" fmla="*/ 55 w 68"/>
              <a:gd name="T53" fmla="*/ 4 h 63"/>
              <a:gd name="T54" fmla="*/ 59 w 68"/>
              <a:gd name="T55" fmla="*/ 0 h 63"/>
              <a:gd name="T56" fmla="*/ 62 w 68"/>
              <a:gd name="T57" fmla="*/ 7 h 63"/>
              <a:gd name="T58" fmla="*/ 68 w 68"/>
              <a:gd name="T59" fmla="*/ 15 h 63"/>
              <a:gd name="T60" fmla="*/ 62 w 68"/>
              <a:gd name="T61" fmla="*/ 55 h 63"/>
              <a:gd name="T62" fmla="*/ 59 w 68"/>
              <a:gd name="T63" fmla="*/ 63 h 63"/>
              <a:gd name="T64" fmla="*/ 54 w 68"/>
              <a:gd name="T65" fmla="*/ 59 h 63"/>
              <a:gd name="T66" fmla="*/ 45 w 68"/>
              <a:gd name="T67" fmla="*/ 60 h 63"/>
              <a:gd name="T68" fmla="*/ 41 w 68"/>
              <a:gd name="T69" fmla="*/ 52 h 63"/>
              <a:gd name="T70" fmla="*/ 47 w 68"/>
              <a:gd name="T71" fmla="*/ 44 h 63"/>
              <a:gd name="T72" fmla="*/ 50 w 68"/>
              <a:gd name="T73" fmla="*/ 36 h 63"/>
              <a:gd name="T74" fmla="*/ 56 w 68"/>
              <a:gd name="T75" fmla="*/ 40 h 63"/>
              <a:gd name="T76" fmla="*/ 64 w 68"/>
              <a:gd name="T77" fmla="*/ 39 h 63"/>
              <a:gd name="T78" fmla="*/ 63 w 68"/>
              <a:gd name="T79" fmla="*/ 46 h 63"/>
              <a:gd name="T80" fmla="*/ 55 w 68"/>
              <a:gd name="T81" fmla="*/ 8 h 63"/>
              <a:gd name="T82" fmla="*/ 59 w 68"/>
              <a:gd name="T83" fmla="*/ 13 h 63"/>
              <a:gd name="T84" fmla="*/ 50 w 68"/>
              <a:gd name="T85" fmla="*/ 49 h 63"/>
              <a:gd name="T86" fmla="*/ 55 w 68"/>
              <a:gd name="T87" fmla="*/ 45 h 6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63">
                <a:moveTo>
                  <a:pt x="45" y="35"/>
                </a:moveTo>
                <a:cubicBezTo>
                  <a:pt x="45" y="35"/>
                  <a:pt x="45" y="36"/>
                  <a:pt x="45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8"/>
                  <a:pt x="38" y="39"/>
                </a:cubicBezTo>
                <a:cubicBezTo>
                  <a:pt x="39" y="41"/>
                  <a:pt x="40" y="42"/>
                  <a:pt x="41" y="43"/>
                </a:cubicBezTo>
                <a:cubicBezTo>
                  <a:pt x="41" y="43"/>
                  <a:pt x="41" y="44"/>
                  <a:pt x="41" y="44"/>
                </a:cubicBezTo>
                <a:cubicBezTo>
                  <a:pt x="41" y="44"/>
                  <a:pt x="41" y="44"/>
                  <a:pt x="41" y="45"/>
                </a:cubicBezTo>
                <a:cubicBezTo>
                  <a:pt x="40" y="46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29" y="47"/>
                  <a:pt x="28" y="48"/>
                </a:cubicBezTo>
                <a:cubicBezTo>
                  <a:pt x="28" y="49"/>
                  <a:pt x="27" y="51"/>
                  <a:pt x="27" y="53"/>
                </a:cubicBezTo>
                <a:cubicBezTo>
                  <a:pt x="27" y="54"/>
                  <a:pt x="26" y="54"/>
                  <a:pt x="2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4"/>
                  <a:pt x="18" y="54"/>
                  <a:pt x="18" y="53"/>
                </a:cubicBezTo>
                <a:cubicBezTo>
                  <a:pt x="17" y="48"/>
                  <a:pt x="17" y="48"/>
                  <a:pt x="17" y="48"/>
                </a:cubicBezTo>
                <a:cubicBezTo>
                  <a:pt x="16" y="47"/>
                  <a:pt x="16" y="47"/>
                  <a:pt x="15" y="47"/>
                </a:cubicBez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0"/>
                  <a:pt x="9" y="50"/>
                  <a:pt x="9" y="50"/>
                </a:cubicBezTo>
                <a:cubicBezTo>
                  <a:pt x="8" y="49"/>
                  <a:pt x="4" y="45"/>
                  <a:pt x="4" y="44"/>
                </a:cubicBezTo>
                <a:cubicBezTo>
                  <a:pt x="4" y="44"/>
                  <a:pt x="4" y="44"/>
                  <a:pt x="4" y="43"/>
                </a:cubicBezTo>
                <a:cubicBezTo>
                  <a:pt x="5" y="42"/>
                  <a:pt x="6" y="41"/>
                  <a:pt x="7" y="39"/>
                </a:cubicBezTo>
                <a:cubicBezTo>
                  <a:pt x="7" y="38"/>
                  <a:pt x="6" y="37"/>
                  <a:pt x="6" y="36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6" y="22"/>
                  <a:pt x="5" y="20"/>
                  <a:pt x="4" y="19"/>
                </a:cubicBezTo>
                <a:cubicBezTo>
                  <a:pt x="4" y="19"/>
                  <a:pt x="4" y="19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7"/>
                  <a:pt x="9" y="12"/>
                  <a:pt x="10" y="12"/>
                </a:cubicBezTo>
                <a:cubicBezTo>
                  <a:pt x="10" y="12"/>
                  <a:pt x="10" y="12"/>
                  <a:pt x="11" y="13"/>
                </a:cubicBezTo>
                <a:cubicBezTo>
                  <a:pt x="15" y="16"/>
                  <a:pt x="15" y="16"/>
                  <a:pt x="15" y="16"/>
                </a:cubicBezTo>
                <a:cubicBezTo>
                  <a:pt x="16" y="15"/>
                  <a:pt x="16" y="15"/>
                  <a:pt x="17" y="15"/>
                </a:cubicBezTo>
                <a:cubicBezTo>
                  <a:pt x="18" y="13"/>
                  <a:pt x="18" y="11"/>
                  <a:pt x="18" y="9"/>
                </a:cubicBezTo>
                <a:cubicBezTo>
                  <a:pt x="18" y="9"/>
                  <a:pt x="19" y="8"/>
                  <a:pt x="19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9"/>
                  <a:pt x="27" y="9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5"/>
                  <a:pt x="30" y="15"/>
                  <a:pt x="31" y="16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3"/>
                </a:cubicBezTo>
                <a:cubicBezTo>
                  <a:pt x="37" y="13"/>
                  <a:pt x="41" y="17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20"/>
                  <a:pt x="39" y="22"/>
                  <a:pt x="38" y="23"/>
                </a:cubicBezTo>
                <a:cubicBezTo>
                  <a:pt x="38" y="24"/>
                  <a:pt x="39" y="25"/>
                  <a:pt x="39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8"/>
                </a:cubicBezTo>
                <a:lnTo>
                  <a:pt x="45" y="35"/>
                </a:lnTo>
                <a:close/>
                <a:moveTo>
                  <a:pt x="23" y="22"/>
                </a:moveTo>
                <a:cubicBezTo>
                  <a:pt x="18" y="22"/>
                  <a:pt x="13" y="26"/>
                  <a:pt x="13" y="31"/>
                </a:cubicBezTo>
                <a:cubicBezTo>
                  <a:pt x="13" y="36"/>
                  <a:pt x="18" y="40"/>
                  <a:pt x="23" y="40"/>
                </a:cubicBezTo>
                <a:cubicBezTo>
                  <a:pt x="28" y="40"/>
                  <a:pt x="32" y="36"/>
                  <a:pt x="32" y="31"/>
                </a:cubicBezTo>
                <a:cubicBezTo>
                  <a:pt x="32" y="26"/>
                  <a:pt x="28" y="22"/>
                  <a:pt x="23" y="22"/>
                </a:cubicBezTo>
                <a:close/>
                <a:moveTo>
                  <a:pt x="68" y="15"/>
                </a:moveTo>
                <a:cubicBezTo>
                  <a:pt x="68" y="16"/>
                  <a:pt x="64" y="16"/>
                  <a:pt x="63" y="16"/>
                </a:cubicBezTo>
                <a:cubicBezTo>
                  <a:pt x="63" y="17"/>
                  <a:pt x="62" y="18"/>
                  <a:pt x="62" y="18"/>
                </a:cubicBezTo>
                <a:cubicBezTo>
                  <a:pt x="62" y="19"/>
                  <a:pt x="64" y="23"/>
                  <a:pt x="64" y="23"/>
                </a:cubicBezTo>
                <a:cubicBezTo>
                  <a:pt x="64" y="23"/>
                  <a:pt x="64" y="23"/>
                  <a:pt x="64" y="24"/>
                </a:cubicBezTo>
                <a:cubicBezTo>
                  <a:pt x="63" y="24"/>
                  <a:pt x="59" y="26"/>
                  <a:pt x="59" y="26"/>
                </a:cubicBezTo>
                <a:cubicBezTo>
                  <a:pt x="59" y="26"/>
                  <a:pt x="56" y="22"/>
                  <a:pt x="56" y="22"/>
                </a:cubicBezTo>
                <a:cubicBezTo>
                  <a:pt x="55" y="22"/>
                  <a:pt x="55" y="22"/>
                  <a:pt x="55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53" y="22"/>
                  <a:pt x="50" y="26"/>
                  <a:pt x="50" y="26"/>
                </a:cubicBezTo>
                <a:cubicBezTo>
                  <a:pt x="50" y="26"/>
                  <a:pt x="46" y="24"/>
                  <a:pt x="46" y="24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7" y="19"/>
                  <a:pt x="47" y="18"/>
                </a:cubicBezTo>
                <a:cubicBezTo>
                  <a:pt x="47" y="18"/>
                  <a:pt x="46" y="17"/>
                  <a:pt x="46" y="16"/>
                </a:cubicBezTo>
                <a:cubicBezTo>
                  <a:pt x="45" y="16"/>
                  <a:pt x="41" y="16"/>
                  <a:pt x="41" y="1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5" y="9"/>
                  <a:pt x="46" y="9"/>
                </a:cubicBezTo>
                <a:cubicBezTo>
                  <a:pt x="46" y="9"/>
                  <a:pt x="47" y="8"/>
                  <a:pt x="47" y="7"/>
                </a:cubicBezTo>
                <a:cubicBezTo>
                  <a:pt x="47" y="7"/>
                  <a:pt x="45" y="3"/>
                  <a:pt x="45" y="2"/>
                </a:cubicBezTo>
                <a:cubicBezTo>
                  <a:pt x="45" y="2"/>
                  <a:pt x="45" y="2"/>
                  <a:pt x="46" y="2"/>
                </a:cubicBezTo>
                <a:cubicBezTo>
                  <a:pt x="46" y="2"/>
                  <a:pt x="50" y="0"/>
                  <a:pt x="50" y="0"/>
                </a:cubicBezTo>
                <a:cubicBezTo>
                  <a:pt x="50" y="0"/>
                  <a:pt x="53" y="3"/>
                  <a:pt x="54" y="4"/>
                </a:cubicBezTo>
                <a:cubicBezTo>
                  <a:pt x="54" y="4"/>
                  <a:pt x="54" y="4"/>
                  <a:pt x="55" y="4"/>
                </a:cubicBezTo>
                <a:cubicBezTo>
                  <a:pt x="55" y="4"/>
                  <a:pt x="55" y="4"/>
                  <a:pt x="56" y="4"/>
                </a:cubicBezTo>
                <a:cubicBezTo>
                  <a:pt x="57" y="2"/>
                  <a:pt x="58" y="1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63" y="2"/>
                  <a:pt x="64" y="2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3"/>
                  <a:pt x="62" y="7"/>
                  <a:pt x="62" y="7"/>
                </a:cubicBezTo>
                <a:cubicBezTo>
                  <a:pt x="62" y="8"/>
                  <a:pt x="63" y="9"/>
                  <a:pt x="63" y="9"/>
                </a:cubicBezTo>
                <a:cubicBezTo>
                  <a:pt x="64" y="9"/>
                  <a:pt x="68" y="10"/>
                  <a:pt x="68" y="10"/>
                </a:cubicBezTo>
                <a:lnTo>
                  <a:pt x="68" y="15"/>
                </a:lnTo>
                <a:close/>
                <a:moveTo>
                  <a:pt x="68" y="52"/>
                </a:moveTo>
                <a:cubicBezTo>
                  <a:pt x="68" y="52"/>
                  <a:pt x="64" y="53"/>
                  <a:pt x="63" y="53"/>
                </a:cubicBezTo>
                <a:cubicBezTo>
                  <a:pt x="63" y="54"/>
                  <a:pt x="62" y="54"/>
                  <a:pt x="62" y="55"/>
                </a:cubicBezTo>
                <a:cubicBezTo>
                  <a:pt x="62" y="56"/>
                  <a:pt x="64" y="59"/>
                  <a:pt x="6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3" y="60"/>
                  <a:pt x="59" y="63"/>
                  <a:pt x="59" y="63"/>
                </a:cubicBezTo>
                <a:cubicBezTo>
                  <a:pt x="59" y="63"/>
                  <a:pt x="56" y="59"/>
                  <a:pt x="56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3" y="59"/>
                  <a:pt x="50" y="63"/>
                  <a:pt x="50" y="63"/>
                </a:cubicBezTo>
                <a:cubicBezTo>
                  <a:pt x="50" y="63"/>
                  <a:pt x="46" y="60"/>
                  <a:pt x="46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7" y="56"/>
                  <a:pt x="47" y="55"/>
                </a:cubicBezTo>
                <a:cubicBezTo>
                  <a:pt x="47" y="54"/>
                  <a:pt x="46" y="54"/>
                  <a:pt x="46" y="53"/>
                </a:cubicBezTo>
                <a:cubicBezTo>
                  <a:pt x="45" y="53"/>
                  <a:pt x="41" y="52"/>
                  <a:pt x="41" y="52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6"/>
                  <a:pt x="45" y="46"/>
                  <a:pt x="46" y="46"/>
                </a:cubicBezTo>
                <a:cubicBezTo>
                  <a:pt x="46" y="45"/>
                  <a:pt x="47" y="45"/>
                  <a:pt x="47" y="44"/>
                </a:cubicBezTo>
                <a:cubicBezTo>
                  <a:pt x="47" y="43"/>
                  <a:pt x="45" y="40"/>
                  <a:pt x="45" y="39"/>
                </a:cubicBezTo>
                <a:cubicBezTo>
                  <a:pt x="45" y="39"/>
                  <a:pt x="45" y="39"/>
                  <a:pt x="46" y="39"/>
                </a:cubicBezTo>
                <a:cubicBezTo>
                  <a:pt x="46" y="39"/>
                  <a:pt x="50" y="36"/>
                  <a:pt x="50" y="36"/>
                </a:cubicBezTo>
                <a:cubicBezTo>
                  <a:pt x="50" y="36"/>
                  <a:pt x="53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7" y="39"/>
                  <a:pt x="58" y="38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40"/>
                  <a:pt x="62" y="43"/>
                  <a:pt x="62" y="44"/>
                </a:cubicBezTo>
                <a:cubicBezTo>
                  <a:pt x="62" y="45"/>
                  <a:pt x="63" y="45"/>
                  <a:pt x="63" y="46"/>
                </a:cubicBezTo>
                <a:cubicBezTo>
                  <a:pt x="64" y="46"/>
                  <a:pt x="68" y="46"/>
                  <a:pt x="68" y="47"/>
                </a:cubicBezTo>
                <a:lnTo>
                  <a:pt x="68" y="52"/>
                </a:lnTo>
                <a:close/>
                <a:moveTo>
                  <a:pt x="55" y="8"/>
                </a:moveTo>
                <a:cubicBezTo>
                  <a:pt x="52" y="8"/>
                  <a:pt x="50" y="10"/>
                  <a:pt x="50" y="13"/>
                </a:cubicBezTo>
                <a:cubicBezTo>
                  <a:pt x="50" y="15"/>
                  <a:pt x="52" y="17"/>
                  <a:pt x="55" y="17"/>
                </a:cubicBezTo>
                <a:cubicBezTo>
                  <a:pt x="57" y="17"/>
                  <a:pt x="59" y="15"/>
                  <a:pt x="59" y="13"/>
                </a:cubicBezTo>
                <a:cubicBezTo>
                  <a:pt x="59" y="10"/>
                  <a:pt x="57" y="8"/>
                  <a:pt x="55" y="8"/>
                </a:cubicBezTo>
                <a:close/>
                <a:moveTo>
                  <a:pt x="55" y="45"/>
                </a:moveTo>
                <a:cubicBezTo>
                  <a:pt x="52" y="45"/>
                  <a:pt x="50" y="47"/>
                  <a:pt x="50" y="49"/>
                </a:cubicBezTo>
                <a:cubicBezTo>
                  <a:pt x="50" y="52"/>
                  <a:pt x="52" y="54"/>
                  <a:pt x="55" y="54"/>
                </a:cubicBezTo>
                <a:cubicBezTo>
                  <a:pt x="57" y="54"/>
                  <a:pt x="59" y="52"/>
                  <a:pt x="59" y="49"/>
                </a:cubicBezTo>
                <a:cubicBezTo>
                  <a:pt x="59" y="47"/>
                  <a:pt x="57" y="45"/>
                  <a:pt x="55" y="4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es-CO"/>
          </a:p>
        </p:txBody>
      </p:sp>
      <p:cxnSp>
        <p:nvCxnSpPr>
          <p:cNvPr id="29" name="Conector: angular 28">
            <a:extLst>
              <a:ext uri="{FF2B5EF4-FFF2-40B4-BE49-F238E27FC236}">
                <a16:creationId xmlns:a16="http://schemas.microsoft.com/office/drawing/2014/main" id="{91D8847F-F71D-4A7E-B24D-D92AE82BE6C4}"/>
              </a:ext>
            </a:extLst>
          </p:cNvPr>
          <p:cNvCxnSpPr>
            <a:stCxn id="3" idx="2"/>
            <a:endCxn id="38" idx="1"/>
          </p:cNvCxnSpPr>
          <p:nvPr/>
        </p:nvCxnSpPr>
        <p:spPr>
          <a:xfrm rot="5400000">
            <a:off x="7184148" y="2030358"/>
            <a:ext cx="578685" cy="2187731"/>
          </a:xfrm>
          <a:prstGeom prst="bentConnector4">
            <a:avLst>
              <a:gd name="adj1" fmla="val 27762"/>
              <a:gd name="adj2" fmla="val 11044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Conector: angular 33">
            <a:extLst>
              <a:ext uri="{FF2B5EF4-FFF2-40B4-BE49-F238E27FC236}">
                <a16:creationId xmlns:a16="http://schemas.microsoft.com/office/drawing/2014/main" id="{624B0954-C0A8-45F4-A9AD-DD64E2F568E2}"/>
              </a:ext>
            </a:extLst>
          </p:cNvPr>
          <p:cNvCxnSpPr>
            <a:stCxn id="3" idx="2"/>
            <a:endCxn id="39" idx="1"/>
          </p:cNvCxnSpPr>
          <p:nvPr/>
        </p:nvCxnSpPr>
        <p:spPr>
          <a:xfrm rot="5400000">
            <a:off x="6880571" y="2333935"/>
            <a:ext cx="1185838" cy="2187731"/>
          </a:xfrm>
          <a:prstGeom prst="bentConnector4">
            <a:avLst>
              <a:gd name="adj1" fmla="val 13445"/>
              <a:gd name="adj2" fmla="val 11044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6" name="Conector: angular 45">
            <a:extLst>
              <a:ext uri="{FF2B5EF4-FFF2-40B4-BE49-F238E27FC236}">
                <a16:creationId xmlns:a16="http://schemas.microsoft.com/office/drawing/2014/main" id="{1347C513-212B-4AE4-997D-4AB915A0888D}"/>
              </a:ext>
            </a:extLst>
          </p:cNvPr>
          <p:cNvCxnSpPr>
            <a:stCxn id="3" idx="2"/>
            <a:endCxn id="41" idx="1"/>
          </p:cNvCxnSpPr>
          <p:nvPr/>
        </p:nvCxnSpPr>
        <p:spPr>
          <a:xfrm rot="5400000">
            <a:off x="6576995" y="2637511"/>
            <a:ext cx="1792991" cy="2187731"/>
          </a:xfrm>
          <a:prstGeom prst="bentConnector4">
            <a:avLst>
              <a:gd name="adj1" fmla="val 8649"/>
              <a:gd name="adj2" fmla="val 11044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8" name="Conector: angular 47">
            <a:extLst>
              <a:ext uri="{FF2B5EF4-FFF2-40B4-BE49-F238E27FC236}">
                <a16:creationId xmlns:a16="http://schemas.microsoft.com/office/drawing/2014/main" id="{0592F2B1-4372-4E8F-9323-2D4B49152334}"/>
              </a:ext>
            </a:extLst>
          </p:cNvPr>
          <p:cNvCxnSpPr>
            <a:cxnSpLocks/>
            <a:stCxn id="3" idx="2"/>
            <a:endCxn id="43" idx="1"/>
          </p:cNvCxnSpPr>
          <p:nvPr/>
        </p:nvCxnSpPr>
        <p:spPr>
          <a:xfrm rot="5400000">
            <a:off x="6273418" y="2941088"/>
            <a:ext cx="2400145" cy="2187731"/>
          </a:xfrm>
          <a:prstGeom prst="bentConnector4">
            <a:avLst>
              <a:gd name="adj1" fmla="val 6584"/>
              <a:gd name="adj2" fmla="val 110449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E0569BAB-F142-4F72-9D08-1B73A47729B0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387C64D-D9B2-460B-85EA-EB11A2398728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832390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 de rodamiento de la cartera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gasto de rodamiento de la cartera con el fin de monitorear su desviación respecto al presupuesto inicial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91537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206858"/>
            <a:ext cx="4552406" cy="37611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71463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Nacional de Cobranzas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Nacional de Cobranzas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411443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Si el resultado del indicador es: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significa que el gasto por rodamiento de cartera es mayor al presupuesto proyectado 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quiere decir que el gasto por rodamiento es exactamente igual al presupuesto proyectado de gastos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 significa que el gasto por rodamiento de la cartera no excedió el presupuesto proyectado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 de rodamiento de la cartera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Cartera y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2FCBAF1-DF1A-447E-A149-2E7285B19721}"/>
              </a:ext>
            </a:extLst>
          </p:cNvPr>
          <p:cNvSpPr/>
          <p:nvPr/>
        </p:nvSpPr>
        <p:spPr>
          <a:xfrm>
            <a:off x="8160375" y="2878038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 total por rodamiento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4F3B78F-0C62-4523-85B5-3DD52BF7ECDA}"/>
              </a:ext>
            </a:extLst>
          </p:cNvPr>
          <p:cNvSpPr/>
          <p:nvPr/>
        </p:nvSpPr>
        <p:spPr>
          <a:xfrm>
            <a:off x="8160375" y="4124716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Presupuesto estimado para gastos por </a:t>
            </a:r>
            <a:r>
              <a:rPr lang="es-ES" sz="1200" err="1">
                <a:solidFill>
                  <a:schemeClr val="accent1"/>
                </a:solidFill>
              </a:rPr>
              <a:t>rordamiento</a:t>
            </a:r>
            <a:r>
              <a:rPr lang="es-ES" sz="1200">
                <a:solidFill>
                  <a:schemeClr val="accent1"/>
                </a:solidFill>
              </a:rPr>
              <a:t> de la cartera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BA18FADC-F56F-40CE-A05C-F8B12537B4A0}"/>
              </a:ext>
            </a:extLst>
          </p:cNvPr>
          <p:cNvSpPr/>
          <p:nvPr/>
        </p:nvSpPr>
        <p:spPr>
          <a:xfrm>
            <a:off x="8871764" y="371267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AC469E4-C43E-44B2-AF56-B1D20CD4EB7F}"/>
              </a:ext>
            </a:extLst>
          </p:cNvPr>
          <p:cNvSpPr/>
          <p:nvPr/>
        </p:nvSpPr>
        <p:spPr>
          <a:xfrm>
            <a:off x="6096000" y="3550717"/>
            <a:ext cx="1609837" cy="76912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del presupuesto de gasto de rodamiento de la cartera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D589BAFB-722B-491B-AD2F-61F699A9BEB6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05837" y="3262603"/>
            <a:ext cx="454538" cy="67267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0F89010-E7B7-45E7-8A9A-B9628789B076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05837" y="3935282"/>
            <a:ext cx="454538" cy="57399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2" name="Signo de multiplicación 31">
            <a:extLst>
              <a:ext uri="{FF2B5EF4-FFF2-40B4-BE49-F238E27FC236}">
                <a16:creationId xmlns:a16="http://schemas.microsoft.com/office/drawing/2014/main" id="{F191A431-9437-4619-ACA6-BFA3CC895358}"/>
              </a:ext>
            </a:extLst>
          </p:cNvPr>
          <p:cNvSpPr/>
          <p:nvPr/>
        </p:nvSpPr>
        <p:spPr>
          <a:xfrm>
            <a:off x="9965447" y="3760209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756C2D17-329F-4230-A9A8-57B55EC305B8}"/>
              </a:ext>
            </a:extLst>
          </p:cNvPr>
          <p:cNvSpPr/>
          <p:nvPr/>
        </p:nvSpPr>
        <p:spPr>
          <a:xfrm>
            <a:off x="10229921" y="3746892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4198FA9-903E-4E7E-8A1F-95BD6C6ADE68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ED5696A-A553-4281-BF79-B06CFAA8A354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56406166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129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índice de Cartera Vencida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valor de los créditos morosos con el fin de monitorear la salud de la cartera y tomar decisiones en torno a políticas de riesgo y cobranza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Cobranzas, Director de Gestión de Cobranzas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Cobranzas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la proporción de la cartera de crédito vencida al cierre del periodo con respecto al total de la cartera disminuya, el índice de cartera vencida será menor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la calidad de la cartera de la organización, entre más alto el indicador menor la calidad de la cartera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índice de Cartera Vencida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Cartera y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BFA2DF0A-4900-4BB0-B4E2-188EFAF63357}"/>
              </a:ext>
            </a:extLst>
          </p:cNvPr>
          <p:cNvSpPr/>
          <p:nvPr/>
        </p:nvSpPr>
        <p:spPr>
          <a:xfrm>
            <a:off x="8273391" y="2803410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Saldo de cartera de crédito vencida al cierre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901B6456-41AD-48EE-9AF2-E85EB716EC44}"/>
              </a:ext>
            </a:extLst>
          </p:cNvPr>
          <p:cNvSpPr/>
          <p:nvPr/>
        </p:nvSpPr>
        <p:spPr>
          <a:xfrm>
            <a:off x="8273391" y="4050088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Saldo de la cartera de crédito total al cierre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F6928B03-593B-410C-A2C3-DE2D5217AC81}"/>
              </a:ext>
            </a:extLst>
          </p:cNvPr>
          <p:cNvSpPr/>
          <p:nvPr/>
        </p:nvSpPr>
        <p:spPr>
          <a:xfrm>
            <a:off x="8984780" y="3638043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F16DECFE-0ADC-47EF-A038-2729D0E2871E}"/>
              </a:ext>
            </a:extLst>
          </p:cNvPr>
          <p:cNvSpPr/>
          <p:nvPr/>
        </p:nvSpPr>
        <p:spPr>
          <a:xfrm>
            <a:off x="6209016" y="3476089"/>
            <a:ext cx="1609837" cy="76912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Índice de cartera vencida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409B01AC-C5A2-4F20-9B0D-ABB875C6F42F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818853" y="3187975"/>
            <a:ext cx="454538" cy="67267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6D0AC208-6CCE-4199-B0EC-CFB062009E0E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818853" y="3860654"/>
            <a:ext cx="454538" cy="57399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967AAEB-2775-4B1A-A317-47CF3042842C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DB88D35-B13C-4D9F-8BB2-A91E76581861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70101294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Gasto de Cobranza por Volumen de Cartera Recuperada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los gastos del área de cobranzas por volumen de cartera recuperada con el fin de mantenerlo dentro de niveles saludables para la rentabilidad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Nacional de Cobranzas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Planeación Financiera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indicador aumenta si los gastos de cobranza crecen a una tasa mayor al volumen de recuperación de cartera, el indicador disminuye en caso contrario</a:t>
            </a:r>
          </a:p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nivel de eficiencia en gasto de la recuperación de cartera en la organización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Gasto por Volumen Cartera Difícil Recuperada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Cartera y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F263D97-7074-4D29-952D-CE5F17A70236}"/>
              </a:ext>
            </a:extLst>
          </p:cNvPr>
          <p:cNvSpPr/>
          <p:nvPr/>
        </p:nvSpPr>
        <p:spPr>
          <a:xfrm>
            <a:off x="8477055" y="2813814"/>
            <a:ext cx="1862002" cy="78989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Gastos totales del área de cobranzas durante 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41D0C281-E2A9-400A-B30D-33A97761E8FF}"/>
              </a:ext>
            </a:extLst>
          </p:cNvPr>
          <p:cNvSpPr/>
          <p:nvPr/>
        </p:nvSpPr>
        <p:spPr>
          <a:xfrm>
            <a:off x="8477054" y="4080307"/>
            <a:ext cx="1862001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Volumen total de cartera recuperada durante 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5DBF6E1D-499D-4BAF-B5F1-58217784638A}"/>
              </a:ext>
            </a:extLst>
          </p:cNvPr>
          <p:cNvSpPr/>
          <p:nvPr/>
        </p:nvSpPr>
        <p:spPr>
          <a:xfrm>
            <a:off x="9251454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9E6CDFD6-19DF-4DB2-BAF7-ED55316B6A4F}"/>
              </a:ext>
            </a:extLst>
          </p:cNvPr>
          <p:cNvSpPr/>
          <p:nvPr/>
        </p:nvSpPr>
        <p:spPr>
          <a:xfrm>
            <a:off x="6455664" y="3472518"/>
            <a:ext cx="1592035" cy="78989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Gasto de cobranza por vol. de cartera recuperada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A89DA4B3-772F-4D6D-886C-41F7B5F0AB0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47699" y="3208760"/>
            <a:ext cx="429356" cy="65870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051ACB95-1CBD-4A61-9FC3-C224207220B8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47699" y="3867464"/>
            <a:ext cx="429355" cy="60254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C9FCFA1-8736-4FF5-8FA1-DB65EE9DAADF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E0C64372-7560-4F08-8432-BE2AD8EA7F60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51034709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Índice de gestión de incidentes de seguridad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gestión de incidentes de seguridad con el objetivo de detectar vulnerabilidades no identificadas hasta el momento y controlar futuras amenazas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Seguridad Bancaria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Seguridad Bancaria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número de incidentes de seguridad de la información registrados y gestionados por la dirección de Seguridad Bancaria aumente, el valor del indicador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Índice de gestión de incidentes de seguridad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Riesgo Operativo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Flecha: a la derecha 14">
            <a:extLst>
              <a:ext uri="{FF2B5EF4-FFF2-40B4-BE49-F238E27FC236}">
                <a16:creationId xmlns:a16="http://schemas.microsoft.com/office/drawing/2014/main" id="{5E5EE442-369B-4A77-866C-F5305368DA78}"/>
              </a:ext>
            </a:extLst>
          </p:cNvPr>
          <p:cNvSpPr/>
          <p:nvPr/>
        </p:nvSpPr>
        <p:spPr>
          <a:xfrm>
            <a:off x="5909338" y="2370805"/>
            <a:ext cx="5053188" cy="1441074"/>
          </a:xfrm>
          <a:prstGeom prst="rightArrow">
            <a:avLst>
              <a:gd name="adj1" fmla="val 52662"/>
              <a:gd name="adj2" fmla="val 52854"/>
            </a:avLst>
          </a:prstGeom>
          <a:solidFill>
            <a:srgbClr val="B1B1B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: esquinas redondeadas 2">
            <a:extLst>
              <a:ext uri="{FF2B5EF4-FFF2-40B4-BE49-F238E27FC236}">
                <a16:creationId xmlns:a16="http://schemas.microsoft.com/office/drawing/2014/main" id="{703873B6-362E-40C7-99DB-6DC07111FDDD}"/>
              </a:ext>
            </a:extLst>
          </p:cNvPr>
          <p:cNvSpPr/>
          <p:nvPr/>
        </p:nvSpPr>
        <p:spPr>
          <a:xfrm>
            <a:off x="6002102" y="2800434"/>
            <a:ext cx="864000" cy="58181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Incidente notificado</a:t>
            </a:r>
          </a:p>
        </p:txBody>
      </p:sp>
      <p:sp>
        <p:nvSpPr>
          <p:cNvPr id="29" name="Rectángulo: esquinas redondeadas 28">
            <a:extLst>
              <a:ext uri="{FF2B5EF4-FFF2-40B4-BE49-F238E27FC236}">
                <a16:creationId xmlns:a16="http://schemas.microsoft.com/office/drawing/2014/main" id="{12AE84E6-FB5A-4291-A8AD-DEE12AEBADE0}"/>
              </a:ext>
            </a:extLst>
          </p:cNvPr>
          <p:cNvSpPr/>
          <p:nvPr/>
        </p:nvSpPr>
        <p:spPr>
          <a:xfrm>
            <a:off x="6971388" y="2800434"/>
            <a:ext cx="864000" cy="58181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Incidente clasificado (atendido)</a:t>
            </a:r>
          </a:p>
        </p:txBody>
      </p:sp>
      <p:sp>
        <p:nvSpPr>
          <p:cNvPr id="30" name="Rectángulo: esquinas redondeadas 29">
            <a:extLst>
              <a:ext uri="{FF2B5EF4-FFF2-40B4-BE49-F238E27FC236}">
                <a16:creationId xmlns:a16="http://schemas.microsoft.com/office/drawing/2014/main" id="{C8989529-5FC2-4440-AEB1-75B1D1E8B6F9}"/>
              </a:ext>
            </a:extLst>
          </p:cNvPr>
          <p:cNvSpPr/>
          <p:nvPr/>
        </p:nvSpPr>
        <p:spPr>
          <a:xfrm>
            <a:off x="7940674" y="2800434"/>
            <a:ext cx="864000" cy="58181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Incidente en </a:t>
            </a:r>
            <a:r>
              <a:rPr lang="es-CO" sz="1100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tratam</a:t>
            </a: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31" name="Rectángulo: esquinas redondeadas 30">
            <a:extLst>
              <a:ext uri="{FF2B5EF4-FFF2-40B4-BE49-F238E27FC236}">
                <a16:creationId xmlns:a16="http://schemas.microsoft.com/office/drawing/2014/main" id="{36BEF624-A1A0-48A8-8078-D0E10BE022BC}"/>
              </a:ext>
            </a:extLst>
          </p:cNvPr>
          <p:cNvSpPr/>
          <p:nvPr/>
        </p:nvSpPr>
        <p:spPr>
          <a:xfrm>
            <a:off x="8909960" y="2800434"/>
            <a:ext cx="864000" cy="58181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Incidente solucionado</a:t>
            </a:r>
          </a:p>
        </p:txBody>
      </p:sp>
      <p:sp>
        <p:nvSpPr>
          <p:cNvPr id="32" name="Rectángulo: esquinas redondeadas 31">
            <a:extLst>
              <a:ext uri="{FF2B5EF4-FFF2-40B4-BE49-F238E27FC236}">
                <a16:creationId xmlns:a16="http://schemas.microsoft.com/office/drawing/2014/main" id="{DB5DFDFB-6C3F-4FED-BCE7-3F395DEDFF86}"/>
              </a:ext>
            </a:extLst>
          </p:cNvPr>
          <p:cNvSpPr/>
          <p:nvPr/>
        </p:nvSpPr>
        <p:spPr>
          <a:xfrm>
            <a:off x="9879246" y="2800434"/>
            <a:ext cx="864000" cy="58181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Aprendizaje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A01DC3DD-6AB7-4DC5-8070-79209895F06F}"/>
              </a:ext>
            </a:extLst>
          </p:cNvPr>
          <p:cNvSpPr/>
          <p:nvPr/>
        </p:nvSpPr>
        <p:spPr>
          <a:xfrm>
            <a:off x="6002102" y="3961025"/>
            <a:ext cx="4960424" cy="81560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05FEFF69-A9D1-49B0-9757-82121A43413A}"/>
              </a:ext>
            </a:extLst>
          </p:cNvPr>
          <p:cNvSpPr txBox="1"/>
          <p:nvPr/>
        </p:nvSpPr>
        <p:spPr>
          <a:xfrm>
            <a:off x="6036629" y="4056633"/>
            <a:ext cx="1523906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200" b="1">
                <a:solidFill>
                  <a:schemeClr val="accent1"/>
                </a:solidFill>
              </a:rPr>
              <a:t>Índice de gestión de incidentes de seguridad </a:t>
            </a:r>
            <a:endParaRPr lang="es-CO" sz="1200" b="1">
              <a:solidFill>
                <a:schemeClr val="accent1"/>
              </a:solidFill>
            </a:endParaRPr>
          </a:p>
        </p:txBody>
      </p:sp>
      <p:sp>
        <p:nvSpPr>
          <p:cNvPr id="38" name="CuadroTexto 37">
            <a:extLst>
              <a:ext uri="{FF2B5EF4-FFF2-40B4-BE49-F238E27FC236}">
                <a16:creationId xmlns:a16="http://schemas.microsoft.com/office/drawing/2014/main" id="{042BBD09-6593-40F3-934D-FEB3ADC607AB}"/>
              </a:ext>
            </a:extLst>
          </p:cNvPr>
          <p:cNvSpPr txBox="1"/>
          <p:nvPr/>
        </p:nvSpPr>
        <p:spPr>
          <a:xfrm>
            <a:off x="7282911" y="4148967"/>
            <a:ext cx="3642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2400">
                <a:solidFill>
                  <a:schemeClr val="accent1"/>
                </a:solidFill>
              </a:rPr>
              <a:t>=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CuadroTexto 39">
                <a:extLst>
                  <a:ext uri="{FF2B5EF4-FFF2-40B4-BE49-F238E27FC236}">
                    <a16:creationId xmlns:a16="http://schemas.microsoft.com/office/drawing/2014/main" id="{97F37AA8-B44D-4E51-BE7C-EDBEE3F680E1}"/>
                  </a:ext>
                </a:extLst>
              </p:cNvPr>
              <p:cNvSpPr txBox="1"/>
              <p:nvPr/>
            </p:nvSpPr>
            <p:spPr>
              <a:xfrm>
                <a:off x="7681319" y="4070348"/>
                <a:ext cx="306622" cy="64344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s-CO" sz="16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𝑖</m:t>
                          </m:r>
                        </m:sub>
                        <m:sup>
                          <m: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𝑛</m:t>
                          </m:r>
                        </m:sup>
                        <m:e>
                          <m: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</m:e>
                      </m:nary>
                    </m:oMath>
                  </m:oMathPara>
                </a14:m>
                <a:endParaRPr lang="es-CO" sz="16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40" name="CuadroTexto 39">
                <a:extLst>
                  <a:ext uri="{FF2B5EF4-FFF2-40B4-BE49-F238E27FC236}">
                    <a16:creationId xmlns:a16="http://schemas.microsoft.com/office/drawing/2014/main" id="{97F37AA8-B44D-4E51-BE7C-EDBEE3F680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81319" y="4070348"/>
                <a:ext cx="306622" cy="643446"/>
              </a:xfrm>
              <a:prstGeom prst="rect">
                <a:avLst/>
              </a:prstGeom>
              <a:blipFill>
                <a:blip r:embed="rId2"/>
                <a:stretch>
                  <a:fillRect l="-248000" t="-132692" r="-156000" b="-186538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CuadroTexto 41">
            <a:extLst>
              <a:ext uri="{FF2B5EF4-FFF2-40B4-BE49-F238E27FC236}">
                <a16:creationId xmlns:a16="http://schemas.microsoft.com/office/drawing/2014/main" id="{DC619C45-A687-44C9-8A5E-CA06CCD266BD}"/>
              </a:ext>
            </a:extLst>
          </p:cNvPr>
          <p:cNvSpPr txBox="1"/>
          <p:nvPr/>
        </p:nvSpPr>
        <p:spPr>
          <a:xfrm>
            <a:off x="8850770" y="4267025"/>
            <a:ext cx="184731" cy="2359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s-CO" sz="1400" baseline="-25000"/>
          </a:p>
        </p:txBody>
      </p:sp>
      <p:sp>
        <p:nvSpPr>
          <p:cNvPr id="44" name="CuadroTexto 43">
            <a:extLst>
              <a:ext uri="{FF2B5EF4-FFF2-40B4-BE49-F238E27FC236}">
                <a16:creationId xmlns:a16="http://schemas.microsoft.com/office/drawing/2014/main" id="{652F1093-5DBE-4CF1-9A85-2135FC363A27}"/>
              </a:ext>
            </a:extLst>
          </p:cNvPr>
          <p:cNvSpPr txBox="1"/>
          <p:nvPr/>
        </p:nvSpPr>
        <p:spPr>
          <a:xfrm>
            <a:off x="8010181" y="4096077"/>
            <a:ext cx="2744905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050">
                <a:solidFill>
                  <a:schemeClr val="accent1"/>
                </a:solidFill>
              </a:rPr>
              <a:t>Incidentes de seguridad de la información registrados y gestionados por la Dir. Seguridad Bancaria</a:t>
            </a:r>
            <a:endParaRPr lang="es-CO" sz="1050">
              <a:solidFill>
                <a:schemeClr val="accent1"/>
              </a:solidFill>
            </a:endParaRP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8209D884-7D3F-4D01-B56B-056D9B1C27D7}"/>
              </a:ext>
            </a:extLst>
          </p:cNvPr>
          <p:cNvSpPr/>
          <p:nvPr/>
        </p:nvSpPr>
        <p:spPr>
          <a:xfrm>
            <a:off x="6390526" y="2396255"/>
            <a:ext cx="3495779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 b="1">
                <a:solidFill>
                  <a:schemeClr val="tx1"/>
                </a:solidFill>
              </a:rPr>
              <a:t>Gestión de incidentes de seguridad</a:t>
            </a:r>
          </a:p>
        </p:txBody>
      </p:sp>
      <p:sp>
        <p:nvSpPr>
          <p:cNvPr id="2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C68F47A-5AF5-49BC-AE2D-2B48BF5D3289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F74E751D-166C-46C0-9308-863B4E40D99D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01115444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Índice de perdida de </a:t>
            </a:r>
            <a:r>
              <a:rPr lang="es-CO"/>
              <a:t>r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iesgo operativo como proporción de los ingresos operacionales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gasto y las pérdidas ocasionadas por la materialización de Riesgo Operativo con el objetivo de mantenerlo en niveles saludables y que no afecten la rentabilidad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Seguridad Bancaria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las perdidas ocasionadas por la materialización de Riesgo Operativo aumenten en mayor medida que los ingresos operacionales,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Índice de perdida de riesgo operativo como proporción de los ingresos operacionales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Riesgo Operativo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19EBDD3D-C58C-45AA-B575-8DF903F4622B}"/>
              </a:ext>
            </a:extLst>
          </p:cNvPr>
          <p:cNvSpPr/>
          <p:nvPr/>
        </p:nvSpPr>
        <p:spPr>
          <a:xfrm>
            <a:off x="8273390" y="2857402"/>
            <a:ext cx="2154880" cy="67563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Gasto/perdida contabilizada en las cuentas de riesgo operativo durante el periodo 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3917CA92-0217-456C-A02E-4351F6F45D82}"/>
              </a:ext>
            </a:extLst>
          </p:cNvPr>
          <p:cNvSpPr/>
          <p:nvPr/>
        </p:nvSpPr>
        <p:spPr>
          <a:xfrm>
            <a:off x="8273390" y="4104080"/>
            <a:ext cx="2154879" cy="67563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Ingresos operacionales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8643C708-9D5E-4A57-9A78-F15ED9B4C82C}"/>
              </a:ext>
            </a:extLst>
          </p:cNvPr>
          <p:cNvSpPr/>
          <p:nvPr/>
        </p:nvSpPr>
        <p:spPr>
          <a:xfrm>
            <a:off x="9220786" y="364993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826FC687-D09E-41A2-B447-FCD3289D71FC}"/>
              </a:ext>
            </a:extLst>
          </p:cNvPr>
          <p:cNvSpPr/>
          <p:nvPr/>
        </p:nvSpPr>
        <p:spPr>
          <a:xfrm>
            <a:off x="6209016" y="3367275"/>
            <a:ext cx="1609837" cy="89513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Índice de perdida de Riesgo operativo como proporción de los Ingresos </a:t>
            </a:r>
            <a:r>
              <a:rPr lang="es-ES" sz="1200" err="1">
                <a:solidFill>
                  <a:schemeClr val="accent1"/>
                </a:solidFill>
              </a:rPr>
              <a:t>Op</a:t>
            </a:r>
            <a:r>
              <a:rPr lang="es-ES" sz="1200">
                <a:solidFill>
                  <a:schemeClr val="accent1"/>
                </a:solidFill>
              </a:rPr>
              <a:t>.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B1E9AFBC-BA49-41F5-B75D-169A815A2C8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818853" y="3195218"/>
            <a:ext cx="454537" cy="61962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E56E30F4-4D4C-46EC-ABF4-1DE68AF23363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818853" y="3814843"/>
            <a:ext cx="454537" cy="62705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AC31C35-5F67-42A4-AE57-6B9CCB86AD5F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801085C-A7BC-4A58-B44D-3905F17DF2ED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969903263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meta de recuperación de la cartera difícil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la recuperación de la cartera difícil respecto a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Maximizar la recuperación de la cartera con mora &gt;180 días 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0468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92689"/>
            <a:ext cx="4552406" cy="49028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Dir. Recuperación Activos de Consumo</a:t>
            </a: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	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 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9219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alcanzo la meta de ventas total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la meta del periodo se alcanzó se superaron las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expect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63525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recup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. de cartera difícil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meta de recuperación de la cartera difícil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Cartera o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59D9B43-1EBF-4180-8CB8-C11B73A60FFE}"/>
              </a:ext>
            </a:extLst>
          </p:cNvPr>
          <p:cNvSpPr/>
          <p:nvPr/>
        </p:nvSpPr>
        <p:spPr>
          <a:xfrm>
            <a:off x="8568909" y="3035670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Volumen de recuperación de cartera ICV&gt;360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0375C92-BF70-43E1-93B6-68259DEEB5E0}"/>
              </a:ext>
            </a:extLst>
          </p:cNvPr>
          <p:cNvSpPr/>
          <p:nvPr/>
        </p:nvSpPr>
        <p:spPr>
          <a:xfrm>
            <a:off x="8568908" y="4080308"/>
            <a:ext cx="1548000" cy="576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Meta volumen de recuperación de cartera ICV&gt;360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D898E724-0DA3-4A84-8A67-2137CBEF219C}"/>
              </a:ext>
            </a:extLst>
          </p:cNvPr>
          <p:cNvSpPr/>
          <p:nvPr/>
        </p:nvSpPr>
        <p:spPr>
          <a:xfrm>
            <a:off x="9195831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E3F7E2BA-CD02-4DDF-B9F7-8F9CAD444CCB}"/>
              </a:ext>
            </a:extLst>
          </p:cNvPr>
          <p:cNvSpPr/>
          <p:nvPr/>
        </p:nvSpPr>
        <p:spPr>
          <a:xfrm>
            <a:off x="6448425" y="3424728"/>
            <a:ext cx="1637015" cy="81122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meta de  recuperación de cartera difícil (ICV&gt;360)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A2D9200E-F4D6-4B6F-9C53-1ED3FF66EBDC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85440" y="3323670"/>
            <a:ext cx="483469" cy="50667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4EC865E6-8978-4FFA-BF8D-1554173F873C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85440" y="3830342"/>
            <a:ext cx="483468" cy="53796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C8B6235-BE44-44BD-A093-0E7729E5B3DC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9F828FB2-1351-4B62-B1F7-A024F2AD9280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19266638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Gasto por Volumen </a:t>
            </a:r>
            <a:r>
              <a:rPr lang="es-CO"/>
              <a:t>de 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Cartera Difícil Recuperada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gasto de la unidad de recuperación de cartera difícil con el objetivo de mantenerlo en niveles saludables para la rentabilidad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Recuperación de Activos de Consumo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Recuperación de Activos de Consumo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indicador aumenta si los gastos de recuperación de cartera difícil crecen a una tasa mayor al volumen de recuperación de cartera difícil, el indicador disminuye en caso contrario</a:t>
            </a:r>
          </a:p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nivel de eficiencia en gasto de la recuperación de cartera difícil en la organización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Gasto por Volumen Cartera Difícil Recuperada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Cartera y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F263D97-7074-4D29-952D-CE5F17A70236}"/>
              </a:ext>
            </a:extLst>
          </p:cNvPr>
          <p:cNvSpPr/>
          <p:nvPr/>
        </p:nvSpPr>
        <p:spPr>
          <a:xfrm>
            <a:off x="8477055" y="2813814"/>
            <a:ext cx="1862002" cy="78989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Gastos totales del periodo derivados de la operación de cobranza de cartera difícil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41D0C281-E2A9-400A-B30D-33A97761E8FF}"/>
              </a:ext>
            </a:extLst>
          </p:cNvPr>
          <p:cNvSpPr/>
          <p:nvPr/>
        </p:nvSpPr>
        <p:spPr>
          <a:xfrm>
            <a:off x="8477054" y="4080307"/>
            <a:ext cx="1862001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Volumen de Cartera difícil recuperado en 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5DBF6E1D-499D-4BAF-B5F1-58217784638A}"/>
              </a:ext>
            </a:extLst>
          </p:cNvPr>
          <p:cNvSpPr/>
          <p:nvPr/>
        </p:nvSpPr>
        <p:spPr>
          <a:xfrm>
            <a:off x="9251454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9E6CDFD6-19DF-4DB2-BAF7-ED55316B6A4F}"/>
              </a:ext>
            </a:extLst>
          </p:cNvPr>
          <p:cNvSpPr/>
          <p:nvPr/>
        </p:nvSpPr>
        <p:spPr>
          <a:xfrm>
            <a:off x="6578054" y="3379004"/>
            <a:ext cx="1469645" cy="94724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Gastos por volumen de cartera difícil recuperada 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A89DA4B3-772F-4D6D-886C-41F7B5F0AB0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47699" y="3208760"/>
            <a:ext cx="429356" cy="64386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051ACB95-1CBD-4A61-9FC3-C224207220B8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47699" y="3852628"/>
            <a:ext cx="429355" cy="61738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0EE9CC7-4AE2-42EF-AF6A-2C85C4E668A1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9F9D447D-E58E-4E9F-8A39-EB7C5D90535F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34127912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 de rodamiento de la cartera difícil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gasto de rodamiento de la cartera difícil con el fin de monitorear su desviación respecto al presupuesto inicial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91537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206858"/>
            <a:ext cx="4552406" cy="37611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71463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Recuperación Activos de Consumo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Nacional de Cobranzas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411443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Si el resultado del indicador es: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significa que el gasto por rodamiento de cartera difícil es mayor al presupuesto proyectado 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quiere decir que el gasto por rodamiento de cartera difícil es exactamente igual al presupuesto proyectado de gastos</a:t>
            </a:r>
          </a:p>
          <a:p>
            <a:pPr marL="361950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 significa que el gasto por rodamiento de la cartera difícil no excedió el presupuesto proyectado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 de rodamiento de la cartera difícil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Cartera y Cobranza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2FCBAF1-DF1A-447E-A149-2E7285B19721}"/>
              </a:ext>
            </a:extLst>
          </p:cNvPr>
          <p:cNvSpPr/>
          <p:nvPr/>
        </p:nvSpPr>
        <p:spPr>
          <a:xfrm>
            <a:off x="8160375" y="2878038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Gasto total por rodamiento de cartera difícil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4F3B78F-0C62-4523-85B5-3DD52BF7ECDA}"/>
              </a:ext>
            </a:extLst>
          </p:cNvPr>
          <p:cNvSpPr/>
          <p:nvPr/>
        </p:nvSpPr>
        <p:spPr>
          <a:xfrm>
            <a:off x="8160375" y="4124716"/>
            <a:ext cx="1735980" cy="76912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Presupuesto estimado para gastos por rodamiento de cartera difícil del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BA18FADC-F56F-40CE-A05C-F8B12537B4A0}"/>
              </a:ext>
            </a:extLst>
          </p:cNvPr>
          <p:cNvSpPr/>
          <p:nvPr/>
        </p:nvSpPr>
        <p:spPr>
          <a:xfrm>
            <a:off x="8871764" y="371267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AC469E4-C43E-44B2-AF56-B1D20CD4EB7F}"/>
              </a:ext>
            </a:extLst>
          </p:cNvPr>
          <p:cNvSpPr/>
          <p:nvPr/>
        </p:nvSpPr>
        <p:spPr>
          <a:xfrm>
            <a:off x="6096000" y="3550717"/>
            <a:ext cx="1609837" cy="769129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del presupuesto de gasto de rodamiento de la cartera difícil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D589BAFB-722B-491B-AD2F-61F699A9BEB6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705837" y="3262603"/>
            <a:ext cx="454538" cy="67267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0F89010-E7B7-45E7-8A9A-B9628789B076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705837" y="3935282"/>
            <a:ext cx="454538" cy="57399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2" name="Signo de multiplicación 31">
            <a:extLst>
              <a:ext uri="{FF2B5EF4-FFF2-40B4-BE49-F238E27FC236}">
                <a16:creationId xmlns:a16="http://schemas.microsoft.com/office/drawing/2014/main" id="{F191A431-9437-4619-ACA6-BFA3CC895358}"/>
              </a:ext>
            </a:extLst>
          </p:cNvPr>
          <p:cNvSpPr/>
          <p:nvPr/>
        </p:nvSpPr>
        <p:spPr>
          <a:xfrm>
            <a:off x="9965447" y="3760209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756C2D17-329F-4230-A9A8-57B55EC305B8}"/>
              </a:ext>
            </a:extLst>
          </p:cNvPr>
          <p:cNvSpPr/>
          <p:nvPr/>
        </p:nvSpPr>
        <p:spPr>
          <a:xfrm>
            <a:off x="10229921" y="3746892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29E9288-CC1A-4355-A85A-62A3DE2F8FF0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813C76DA-6DFD-4124-84F1-5EC9202A10FF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28924698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Productividad del equipo de la Fábrica</a:t>
            </a:r>
            <a:r>
              <a:rPr lang="es-CO"/>
              <a:t> de Crédito </a:t>
            </a:r>
            <a:endParaRPr lang="es-ES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eficiencia de procesamiento de créditos por analista, entendiendo por eficiencia el hecho de obtener el mejor o máximo rendimiento utilizando un mínimo de recursos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Fabrica de Crédito</a:t>
            </a: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Fabrica de Crédito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Entre mayor sea el número de créditos procesados por analista de fabrica de crédito, mayor será el valor del indicador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número de créditos que procesa, en promedio, cada uno de los analistas de la Fábrica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Productividad del equipo de la Fábrica de Crédito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Seguimientos Internos Fábrica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729EC666-623B-442B-BFCF-158C8778D73D}"/>
              </a:ext>
            </a:extLst>
          </p:cNvPr>
          <p:cNvSpPr/>
          <p:nvPr/>
        </p:nvSpPr>
        <p:spPr>
          <a:xfrm>
            <a:off x="8311793" y="2904651"/>
            <a:ext cx="1612159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Número total de crédito procesados </a:t>
            </a:r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E22E820A-838C-4A2D-ABBB-5B4BAC5B3593}"/>
              </a:ext>
            </a:extLst>
          </p:cNvPr>
          <p:cNvSpPr/>
          <p:nvPr/>
        </p:nvSpPr>
        <p:spPr>
          <a:xfrm>
            <a:off x="8311793" y="3937042"/>
            <a:ext cx="1612159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Número total de analistas de fabrica de crédito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3365BC96-CF88-4DD7-BBF9-7DD088B2C847}"/>
              </a:ext>
            </a:extLst>
          </p:cNvPr>
          <p:cNvSpPr/>
          <p:nvPr/>
        </p:nvSpPr>
        <p:spPr>
          <a:xfrm>
            <a:off x="9006689" y="356478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4785F65C-9FF5-4412-BE98-CC4304AE14B5}"/>
              </a:ext>
            </a:extLst>
          </p:cNvPr>
          <p:cNvSpPr/>
          <p:nvPr/>
        </p:nvSpPr>
        <p:spPr>
          <a:xfrm>
            <a:off x="6451221" y="3388660"/>
            <a:ext cx="1353482" cy="80151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Productividad por analista de fabrica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9AB730A7-91AD-4742-87DB-87626E8EB50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804703" y="3210651"/>
            <a:ext cx="507090" cy="57876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4D10C184-C90A-43BD-8994-73CCC9157424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804703" y="3789415"/>
            <a:ext cx="507090" cy="45362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F6177B1-A762-4D70-ABD7-12C85967EBD2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C332D169-1CBF-4A5E-9484-88A224C3762A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57324223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 err="1">
                <a:latin typeface="Arial" panose="020B0604020202020204" pitchFamily="34" charset="0"/>
                <a:cs typeface="Arial" panose="020B0604020202020204" pitchFamily="34" charset="0"/>
              </a:rPr>
              <a:t>QR’s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 de la Fabrica de Crédito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79"/>
            <a:ext cx="4552406" cy="108173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números de quejas y reclamos asociados a la Fábrica de Crédito con el fin de mantenerlos en niveles saludables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aseline="0"/>
              <a:t>Identificar y corregir problemas de la Fabrica de Crédito frecuentes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71463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Fabrica de Crédito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Servicio al Cliente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265278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553278"/>
            <a:ext cx="4552406" cy="109347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indicador mejora en la medida que existan menos quejas asociadas a la cadena de valor del área de Fabrica de Crédito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QR’s por temas operativos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Operaciones, Comité de Servicio al Cliente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Picture 4" descr="Phone Icons - Download Free Vector Icons | Noun Project">
            <a:extLst>
              <a:ext uri="{FF2B5EF4-FFF2-40B4-BE49-F238E27FC236}">
                <a16:creationId xmlns:a16="http://schemas.microsoft.com/office/drawing/2014/main" id="{C4ED3F38-0361-468D-83C2-491FE2614E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3936" y="4015865"/>
            <a:ext cx="375697" cy="375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 descr="Email Icon Large Envelope | Email icon, Icon, Clip art">
            <a:extLst>
              <a:ext uri="{FF2B5EF4-FFF2-40B4-BE49-F238E27FC236}">
                <a16:creationId xmlns:a16="http://schemas.microsoft.com/office/drawing/2014/main" id="{5AA70349-529C-46FA-A736-9BC591D2E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4678" y="4125421"/>
            <a:ext cx="403267" cy="28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8" descr="Instant messages, messages, sms, text message, text messages icon">
            <a:extLst>
              <a:ext uri="{FF2B5EF4-FFF2-40B4-BE49-F238E27FC236}">
                <a16:creationId xmlns:a16="http://schemas.microsoft.com/office/drawing/2014/main" id="{47FBB4E7-513D-409C-845F-16D806CF7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5483" y="4057676"/>
            <a:ext cx="423489" cy="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0" name="Picture 2" descr="CG Where The Company Svg Png Icon Free Download (#321446) -  OnlineWebFonts.COM">
            <a:extLst>
              <a:ext uri="{FF2B5EF4-FFF2-40B4-BE49-F238E27FC236}">
                <a16:creationId xmlns:a16="http://schemas.microsoft.com/office/drawing/2014/main" id="{372C9A12-D21E-45F8-A1B4-8593C8B6BA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2132" y="2561766"/>
            <a:ext cx="422432" cy="350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2" name="Picture 4" descr="Avatar Icon Outline - Icon Shop - Download free icons for commercial use">
            <a:extLst>
              <a:ext uri="{FF2B5EF4-FFF2-40B4-BE49-F238E27FC236}">
                <a16:creationId xmlns:a16="http://schemas.microsoft.com/office/drawing/2014/main" id="{35FD5EEF-DDBF-42AD-8470-5D6678E8F0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4116" y="2555226"/>
            <a:ext cx="360562" cy="3605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Rectángulo 28">
            <a:extLst>
              <a:ext uri="{FF2B5EF4-FFF2-40B4-BE49-F238E27FC236}">
                <a16:creationId xmlns:a16="http://schemas.microsoft.com/office/drawing/2014/main" id="{AF2A9B17-3E59-404D-B7DE-EA53F1EF32E6}"/>
              </a:ext>
            </a:extLst>
          </p:cNvPr>
          <p:cNvSpPr/>
          <p:nvPr/>
        </p:nvSpPr>
        <p:spPr>
          <a:xfrm>
            <a:off x="7776006" y="2282934"/>
            <a:ext cx="732445" cy="25540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Natural</a:t>
            </a: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3BD5029D-A387-42BA-978A-D830716BEE2A}"/>
              </a:ext>
            </a:extLst>
          </p:cNvPr>
          <p:cNvSpPr/>
          <p:nvPr/>
        </p:nvSpPr>
        <p:spPr>
          <a:xfrm>
            <a:off x="8508451" y="2317927"/>
            <a:ext cx="869795" cy="179057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Jurídica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4617F50D-1F6E-4FC3-944A-443E373DCDF0}"/>
              </a:ext>
            </a:extLst>
          </p:cNvPr>
          <p:cNvSpPr/>
          <p:nvPr/>
        </p:nvSpPr>
        <p:spPr>
          <a:xfrm>
            <a:off x="6921801" y="3072217"/>
            <a:ext cx="3346618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Quejas o reclamos asociados a la Fabrica de Crédito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0F19C785-53CE-4658-B79E-9DD00DD17C16}"/>
              </a:ext>
            </a:extLst>
          </p:cNvPr>
          <p:cNvSpPr/>
          <p:nvPr/>
        </p:nvSpPr>
        <p:spPr>
          <a:xfrm rot="16200000">
            <a:off x="8501549" y="1912215"/>
            <a:ext cx="119123" cy="3602986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pic>
        <p:nvPicPr>
          <p:cNvPr id="43014" name="Picture 6" descr="App, hand, mobile, phone, smartphone, touch icon">
            <a:extLst>
              <a:ext uri="{FF2B5EF4-FFF2-40B4-BE49-F238E27FC236}">
                <a16:creationId xmlns:a16="http://schemas.microsoft.com/office/drawing/2014/main" id="{D3DA99AB-E469-403E-A195-9262E6567D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4321" y="4052627"/>
            <a:ext cx="423490" cy="423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6" name="Picture 8" descr="Check out Bank icon from IconBros - money, business, building, buildings,  columns, banking, savings, finance and business, fin… | Banks icon, Banks  ads, Credit card">
            <a:extLst>
              <a:ext uri="{FF2B5EF4-FFF2-40B4-BE49-F238E27FC236}">
                <a16:creationId xmlns:a16="http://schemas.microsoft.com/office/drawing/2014/main" id="{0C1C499E-8AA9-4FAD-B256-3DEE3A208C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78542" y="4013550"/>
            <a:ext cx="421766" cy="421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ángulo 38">
            <a:extLst>
              <a:ext uri="{FF2B5EF4-FFF2-40B4-BE49-F238E27FC236}">
                <a16:creationId xmlns:a16="http://schemas.microsoft.com/office/drawing/2014/main" id="{1E855E94-42FB-4DD8-8A48-925C89F355C1}"/>
              </a:ext>
            </a:extLst>
          </p:cNvPr>
          <p:cNvSpPr/>
          <p:nvPr/>
        </p:nvSpPr>
        <p:spPr>
          <a:xfrm>
            <a:off x="7373633" y="3737575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Canales de Servicio al Cliente</a:t>
            </a:r>
          </a:p>
        </p:txBody>
      </p:sp>
      <p:sp>
        <p:nvSpPr>
          <p:cNvPr id="32" name="Triángulo isósceles 31">
            <a:extLst>
              <a:ext uri="{FF2B5EF4-FFF2-40B4-BE49-F238E27FC236}">
                <a16:creationId xmlns:a16="http://schemas.microsoft.com/office/drawing/2014/main" id="{9EDC327F-675E-410B-9154-84BAD50F6555}"/>
              </a:ext>
            </a:extLst>
          </p:cNvPr>
          <p:cNvSpPr/>
          <p:nvPr/>
        </p:nvSpPr>
        <p:spPr>
          <a:xfrm rot="10800000">
            <a:off x="6759617" y="4620918"/>
            <a:ext cx="3540691" cy="177016"/>
          </a:xfrm>
          <a:prstGeom prst="triangl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B8AD116D-8971-4D1A-93E5-AB829A461731}"/>
              </a:ext>
            </a:extLst>
          </p:cNvPr>
          <p:cNvSpPr/>
          <p:nvPr/>
        </p:nvSpPr>
        <p:spPr>
          <a:xfrm>
            <a:off x="7443351" y="5006974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# Total de </a:t>
            </a:r>
            <a:r>
              <a:rPr lang="es-CO" sz="1300" err="1">
                <a:solidFill>
                  <a:schemeClr val="tx1"/>
                </a:solidFill>
              </a:rPr>
              <a:t>QR’s</a:t>
            </a:r>
            <a:r>
              <a:rPr lang="es-CO" sz="1300">
                <a:solidFill>
                  <a:schemeClr val="tx1"/>
                </a:solidFill>
              </a:rPr>
              <a:t> asociados a la Fabrica de Crédito</a:t>
            </a:r>
          </a:p>
        </p:txBody>
      </p:sp>
      <p:sp>
        <p:nvSpPr>
          <p:cNvPr id="26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9664290B-6D91-423F-8F66-5136BE7028C2}"/>
              </a:ext>
            </a:extLst>
          </p:cNvPr>
          <p:cNvSpPr/>
          <p:nvPr/>
        </p:nvSpPr>
        <p:spPr>
          <a:xfrm rot="10800000">
            <a:off x="10809546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E3B6C25D-AEE7-4DD8-A7A4-852E4B220F97}"/>
              </a:ext>
            </a:extLst>
          </p:cNvPr>
          <p:cNvSpPr/>
          <p:nvPr/>
        </p:nvSpPr>
        <p:spPr>
          <a:xfrm>
            <a:off x="10149689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584476728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 los hitos del plan de Transformación a Procesos Lean y Automatización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de transformación a Procesos Lean y Automatización,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Operaciones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hitos del plan de Transformación a Procesos Lean y Automatización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Presidencia, Comité Operativo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505DDFF-C51D-43A4-8AB2-E8E67CE32C6F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09DC6CE1-73FC-4067-969F-51F091082F14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8E289AA5-9959-4B16-828F-E92DFB61B6BA}"/>
              </a:ext>
            </a:extLst>
          </p:cNvPr>
          <p:cNvSpPr/>
          <p:nvPr/>
        </p:nvSpPr>
        <p:spPr>
          <a:xfrm>
            <a:off x="7902639" y="2632108"/>
            <a:ext cx="1671666" cy="8208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DF694CCC-325F-4986-B221-73CF98EF6016}"/>
              </a:ext>
            </a:extLst>
          </p:cNvPr>
          <p:cNvSpPr/>
          <p:nvPr/>
        </p:nvSpPr>
        <p:spPr>
          <a:xfrm>
            <a:off x="7902638" y="3916422"/>
            <a:ext cx="1671667" cy="819299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Total de hitos del plan de </a:t>
            </a:r>
            <a:r>
              <a:rPr lang="es-ES" sz="1200">
                <a:solidFill>
                  <a:schemeClr val="accent1"/>
                </a:solidFill>
              </a:rPr>
              <a:t>Transformación a Procesos Lean y Automatización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0" name="Signo de división 29">
            <a:extLst>
              <a:ext uri="{FF2B5EF4-FFF2-40B4-BE49-F238E27FC236}">
                <a16:creationId xmlns:a16="http://schemas.microsoft.com/office/drawing/2014/main" id="{B3AEBB76-968E-4737-9FF9-43716115C1FB}"/>
              </a:ext>
            </a:extLst>
          </p:cNvPr>
          <p:cNvSpPr/>
          <p:nvPr/>
        </p:nvSpPr>
        <p:spPr>
          <a:xfrm>
            <a:off x="8543034" y="3511734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B6149634-BAA6-44FC-9142-03539521355C}"/>
              </a:ext>
            </a:extLst>
          </p:cNvPr>
          <p:cNvSpPr/>
          <p:nvPr/>
        </p:nvSpPr>
        <p:spPr>
          <a:xfrm>
            <a:off x="6003638" y="3136730"/>
            <a:ext cx="1469645" cy="101965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del plan de Transformación a Procesos Lean y Automatización</a:t>
            </a:r>
          </a:p>
        </p:txBody>
      </p:sp>
      <p:sp>
        <p:nvSpPr>
          <p:cNvPr id="33" name="Cerrar llave 32">
            <a:extLst>
              <a:ext uri="{FF2B5EF4-FFF2-40B4-BE49-F238E27FC236}">
                <a16:creationId xmlns:a16="http://schemas.microsoft.com/office/drawing/2014/main" id="{9890880E-5C1B-44F2-B690-4322A7B6DD3B}"/>
              </a:ext>
            </a:extLst>
          </p:cNvPr>
          <p:cNvSpPr/>
          <p:nvPr/>
        </p:nvSpPr>
        <p:spPr>
          <a:xfrm rot="10800000">
            <a:off x="9716220" y="2820399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D1D90A0C-9F66-4D29-9CF0-36DDB039D21E}"/>
              </a:ext>
            </a:extLst>
          </p:cNvPr>
          <p:cNvSpPr/>
          <p:nvPr/>
        </p:nvSpPr>
        <p:spPr>
          <a:xfrm>
            <a:off x="9761045" y="2769613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35" name="Conector: angular 34">
            <a:extLst>
              <a:ext uri="{FF2B5EF4-FFF2-40B4-BE49-F238E27FC236}">
                <a16:creationId xmlns:a16="http://schemas.microsoft.com/office/drawing/2014/main" id="{4611EC50-CC99-478A-A6C1-00A593C4BE96}"/>
              </a:ext>
            </a:extLst>
          </p:cNvPr>
          <p:cNvCxnSpPr>
            <a:cxnSpLocks/>
            <a:stCxn id="32" idx="3"/>
            <a:endCxn id="27" idx="1"/>
          </p:cNvCxnSpPr>
          <p:nvPr/>
        </p:nvCxnSpPr>
        <p:spPr>
          <a:xfrm flipV="1">
            <a:off x="7473283" y="3042508"/>
            <a:ext cx="429356" cy="60405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C89292C1-F005-4996-A269-D9E7EAC3333B}"/>
              </a:ext>
            </a:extLst>
          </p:cNvPr>
          <p:cNvCxnSpPr>
            <a:cxnSpLocks/>
            <a:stCxn id="32" idx="3"/>
            <a:endCxn id="28" idx="1"/>
          </p:cNvCxnSpPr>
          <p:nvPr/>
        </p:nvCxnSpPr>
        <p:spPr>
          <a:xfrm>
            <a:off x="7473283" y="3646559"/>
            <a:ext cx="429355" cy="67951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029448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139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 err="1">
                <a:latin typeface="Arial" panose="020B0604020202020204" pitchFamily="34" charset="0"/>
                <a:cs typeface="Arial" panose="020B0604020202020204" pitchFamily="34" charset="0"/>
              </a:rPr>
              <a:t>QR’s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 por temas operativos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79"/>
            <a:ext cx="4552406" cy="108173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números de quejas y reclamos asociados a la cadena de valor del área de Operaciones con el fin de mantenerlos en niveles saludables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 baseline="0"/>
              <a:t>Identificar y corregir problemas operativos frecuentes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de Operaciones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Servicio al Cliente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265278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553278"/>
            <a:ext cx="4552406" cy="109347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indicador mejora en la medida que existan menos quejas asociadas a la cadena de valor del área de Operaciones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QR’s por temas operativos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Operaciones, Comité de Servicio al Cliente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Picture 4" descr="Phone Icons - Download Free Vector Icons | Noun Project">
            <a:extLst>
              <a:ext uri="{FF2B5EF4-FFF2-40B4-BE49-F238E27FC236}">
                <a16:creationId xmlns:a16="http://schemas.microsoft.com/office/drawing/2014/main" id="{C4ED3F38-0361-468D-83C2-491FE2614E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3936" y="4015865"/>
            <a:ext cx="375697" cy="375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 descr="Email Icon Large Envelope | Email icon, Icon, Clip art">
            <a:extLst>
              <a:ext uri="{FF2B5EF4-FFF2-40B4-BE49-F238E27FC236}">
                <a16:creationId xmlns:a16="http://schemas.microsoft.com/office/drawing/2014/main" id="{5AA70349-529C-46FA-A736-9BC591D2E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4678" y="4125421"/>
            <a:ext cx="403267" cy="28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8" descr="Instant messages, messages, sms, text message, text messages icon">
            <a:extLst>
              <a:ext uri="{FF2B5EF4-FFF2-40B4-BE49-F238E27FC236}">
                <a16:creationId xmlns:a16="http://schemas.microsoft.com/office/drawing/2014/main" id="{47FBB4E7-513D-409C-845F-16D806CF7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5483" y="4057676"/>
            <a:ext cx="423489" cy="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0" name="Picture 2" descr="CG Where The Company Svg Png Icon Free Download (#321446) -  OnlineWebFonts.COM">
            <a:extLst>
              <a:ext uri="{FF2B5EF4-FFF2-40B4-BE49-F238E27FC236}">
                <a16:creationId xmlns:a16="http://schemas.microsoft.com/office/drawing/2014/main" id="{372C9A12-D21E-45F8-A1B4-8593C8B6BA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2132" y="2561766"/>
            <a:ext cx="422432" cy="350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2" name="Picture 4" descr="Avatar Icon Outline - Icon Shop - Download free icons for commercial use">
            <a:extLst>
              <a:ext uri="{FF2B5EF4-FFF2-40B4-BE49-F238E27FC236}">
                <a16:creationId xmlns:a16="http://schemas.microsoft.com/office/drawing/2014/main" id="{35FD5EEF-DDBF-42AD-8470-5D6678E8F0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4116" y="2555226"/>
            <a:ext cx="360562" cy="3605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Rectángulo 28">
            <a:extLst>
              <a:ext uri="{FF2B5EF4-FFF2-40B4-BE49-F238E27FC236}">
                <a16:creationId xmlns:a16="http://schemas.microsoft.com/office/drawing/2014/main" id="{AF2A9B17-3E59-404D-B7DE-EA53F1EF32E6}"/>
              </a:ext>
            </a:extLst>
          </p:cNvPr>
          <p:cNvSpPr/>
          <p:nvPr/>
        </p:nvSpPr>
        <p:spPr>
          <a:xfrm>
            <a:off x="7776006" y="2282934"/>
            <a:ext cx="732445" cy="25540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Natural</a:t>
            </a: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3BD5029D-A387-42BA-978A-D830716BEE2A}"/>
              </a:ext>
            </a:extLst>
          </p:cNvPr>
          <p:cNvSpPr/>
          <p:nvPr/>
        </p:nvSpPr>
        <p:spPr>
          <a:xfrm>
            <a:off x="8508451" y="2317927"/>
            <a:ext cx="869795" cy="179057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Jurídica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4617F50D-1F6E-4FC3-944A-443E373DCDF0}"/>
              </a:ext>
            </a:extLst>
          </p:cNvPr>
          <p:cNvSpPr/>
          <p:nvPr/>
        </p:nvSpPr>
        <p:spPr>
          <a:xfrm>
            <a:off x="6921801" y="3072217"/>
            <a:ext cx="3346618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Quejas o reclamos asociados a la cadena de valor del área de Operaciones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0F19C785-53CE-4658-B79E-9DD00DD17C16}"/>
              </a:ext>
            </a:extLst>
          </p:cNvPr>
          <p:cNvSpPr/>
          <p:nvPr/>
        </p:nvSpPr>
        <p:spPr>
          <a:xfrm rot="16200000">
            <a:off x="8501549" y="1912215"/>
            <a:ext cx="119123" cy="3602986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pic>
        <p:nvPicPr>
          <p:cNvPr id="43014" name="Picture 6" descr="App, hand, mobile, phone, smartphone, touch icon">
            <a:extLst>
              <a:ext uri="{FF2B5EF4-FFF2-40B4-BE49-F238E27FC236}">
                <a16:creationId xmlns:a16="http://schemas.microsoft.com/office/drawing/2014/main" id="{D3DA99AB-E469-403E-A195-9262E6567D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4321" y="4052627"/>
            <a:ext cx="423490" cy="423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016" name="Picture 8" descr="Check out Bank icon from IconBros - money, business, building, buildings,  columns, banking, savings, finance and business, fin… | Banks icon, Banks  ads, Credit card">
            <a:extLst>
              <a:ext uri="{FF2B5EF4-FFF2-40B4-BE49-F238E27FC236}">
                <a16:creationId xmlns:a16="http://schemas.microsoft.com/office/drawing/2014/main" id="{0C1C499E-8AA9-4FAD-B256-3DEE3A208C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78542" y="4013550"/>
            <a:ext cx="421766" cy="421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ángulo 38">
            <a:extLst>
              <a:ext uri="{FF2B5EF4-FFF2-40B4-BE49-F238E27FC236}">
                <a16:creationId xmlns:a16="http://schemas.microsoft.com/office/drawing/2014/main" id="{1E855E94-42FB-4DD8-8A48-925C89F355C1}"/>
              </a:ext>
            </a:extLst>
          </p:cNvPr>
          <p:cNvSpPr/>
          <p:nvPr/>
        </p:nvSpPr>
        <p:spPr>
          <a:xfrm>
            <a:off x="7373633" y="3737575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Canales de Servicio al Cliente</a:t>
            </a:r>
          </a:p>
        </p:txBody>
      </p:sp>
      <p:sp>
        <p:nvSpPr>
          <p:cNvPr id="32" name="Triángulo isósceles 31">
            <a:extLst>
              <a:ext uri="{FF2B5EF4-FFF2-40B4-BE49-F238E27FC236}">
                <a16:creationId xmlns:a16="http://schemas.microsoft.com/office/drawing/2014/main" id="{9EDC327F-675E-410B-9154-84BAD50F6555}"/>
              </a:ext>
            </a:extLst>
          </p:cNvPr>
          <p:cNvSpPr/>
          <p:nvPr/>
        </p:nvSpPr>
        <p:spPr>
          <a:xfrm rot="10800000">
            <a:off x="6759617" y="4620918"/>
            <a:ext cx="3540691" cy="177016"/>
          </a:xfrm>
          <a:prstGeom prst="triangl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B8AD116D-8971-4D1A-93E5-AB829A461731}"/>
              </a:ext>
            </a:extLst>
          </p:cNvPr>
          <p:cNvSpPr/>
          <p:nvPr/>
        </p:nvSpPr>
        <p:spPr>
          <a:xfrm>
            <a:off x="7443351" y="5006974"/>
            <a:ext cx="2442954" cy="29816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tx1"/>
                </a:solidFill>
              </a:rPr>
              <a:t># Total de </a:t>
            </a:r>
            <a:r>
              <a:rPr lang="es-CO" sz="1300" err="1">
                <a:solidFill>
                  <a:schemeClr val="tx1"/>
                </a:solidFill>
              </a:rPr>
              <a:t>QR’s</a:t>
            </a:r>
            <a:r>
              <a:rPr lang="es-CO" sz="1300">
                <a:solidFill>
                  <a:schemeClr val="tx1"/>
                </a:solidFill>
              </a:rPr>
              <a:t> asociados al área de operaciones </a:t>
            </a:r>
          </a:p>
        </p:txBody>
      </p:sp>
      <p:sp>
        <p:nvSpPr>
          <p:cNvPr id="38" name="Botón de acción: Hacia delante o Siguiente 3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9B3C5E23-7974-487A-9DE7-594FFE42FD39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E83A67EB-8AAC-4EF7-8476-1915DAC098FF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299945770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Gasto de Operación por Volumen Desembolsado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los gastos del área de operaciones por volumen desembolsado con el fin de mantenerlo dentro de niveles saludables para la rentabilidad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Operaciones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El indicador de Gastos de operación por volumen desembolsado puede afectarse por dos factores:</a:t>
            </a:r>
          </a:p>
          <a:p>
            <a:pPr marL="452438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Aumento en gastos totales de operación con el mismo volumen total de desembolsos brutos del periodo</a:t>
            </a:r>
          </a:p>
          <a:p>
            <a:pPr marL="452438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Optimización de gastos en relación al volumen total de desembolsos</a:t>
            </a:r>
          </a:p>
          <a:p>
            <a:pPr marL="26035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Gasto de Operación por Volumen Desembolsado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Operaciones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3EEEEA84-24D5-4188-BA8E-7CCFFC0E9EAF}"/>
              </a:ext>
            </a:extLst>
          </p:cNvPr>
          <p:cNvSpPr/>
          <p:nvPr/>
        </p:nvSpPr>
        <p:spPr>
          <a:xfrm>
            <a:off x="8311793" y="2904651"/>
            <a:ext cx="1612159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Gastos Totales del área de operaciones durante el periodo</a:t>
            </a:r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8327013-43A9-4650-8700-F8BE14B6F5F0}"/>
              </a:ext>
            </a:extLst>
          </p:cNvPr>
          <p:cNvSpPr/>
          <p:nvPr/>
        </p:nvSpPr>
        <p:spPr>
          <a:xfrm>
            <a:off x="8311793" y="3937042"/>
            <a:ext cx="1612159" cy="612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Volumen Total de desembolsos Brutos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CE324234-1122-47F7-BB9C-0A6036283E0B}"/>
              </a:ext>
            </a:extLst>
          </p:cNvPr>
          <p:cNvSpPr/>
          <p:nvPr/>
        </p:nvSpPr>
        <p:spPr>
          <a:xfrm>
            <a:off x="9006689" y="3564781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7BD1C7C8-447F-4858-9B03-5D0AEF751508}"/>
              </a:ext>
            </a:extLst>
          </p:cNvPr>
          <p:cNvSpPr/>
          <p:nvPr/>
        </p:nvSpPr>
        <p:spPr>
          <a:xfrm>
            <a:off x="6451221" y="3388660"/>
            <a:ext cx="1353482" cy="80151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Gastos de operación por volumen desembolsado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C17AC97D-92FF-41CC-9DA3-6301A02309B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804703" y="3210651"/>
            <a:ext cx="507090" cy="578764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48BD270B-962A-4DC6-B9DE-FAD34C31C7CD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804703" y="3789415"/>
            <a:ext cx="507090" cy="45362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AA6EAE5-80A2-4AA3-85C9-D58ACE9B3E87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B0E4D47-E38C-491A-B039-3142867B33CE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2730914140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/>
              <a:t>Cumplimiento a</a:t>
            </a: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cuerdos de nivel de servicio interno (ANS)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los niveles de satisfacción del cliente interno respecto a los servicios prestados por el área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Promover una cultura de servicio al interior de la organización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653934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Área responsable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4941933"/>
            <a:ext cx="4552406" cy="64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G. Operaciones, VP TI, VP Financiero y Admin., G. Gestión del Talento - y su equipo de Gerentes y Directores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Disponibilidad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de Gestión del Talento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9"/>
            <a:ext cx="4552406" cy="1152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En la medida que la calidad y eficiencia del servicio prestado por las diferentes áreas de la organización (p.ej Tecnología, Operaciones) aumente, la calificación del nivel de servicio será más alta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acuerdos de nivel de servicio interno (ANS)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Comités Primarios de la Vicepresidencia o Gerencia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E1397CE8-8AE0-4D6C-9466-277E4279487F}"/>
              </a:ext>
            </a:extLst>
          </p:cNvPr>
          <p:cNvSpPr/>
          <p:nvPr/>
        </p:nvSpPr>
        <p:spPr>
          <a:xfrm>
            <a:off x="6465679" y="2258427"/>
            <a:ext cx="1239691" cy="39546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Proveedor del servicio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32" name="Flecha: a la derecha 31">
            <a:extLst>
              <a:ext uri="{FF2B5EF4-FFF2-40B4-BE49-F238E27FC236}">
                <a16:creationId xmlns:a16="http://schemas.microsoft.com/office/drawing/2014/main" id="{C62E3E69-2A9F-4CEA-B277-7483655DDE79}"/>
              </a:ext>
            </a:extLst>
          </p:cNvPr>
          <p:cNvSpPr/>
          <p:nvPr/>
        </p:nvSpPr>
        <p:spPr>
          <a:xfrm rot="5400000">
            <a:off x="9398676" y="2998828"/>
            <a:ext cx="734433" cy="180654"/>
          </a:xfrm>
          <a:prstGeom prst="right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8F49F0C8-E161-4799-9B2D-5D29CD34199A}"/>
              </a:ext>
            </a:extLst>
          </p:cNvPr>
          <p:cNvSpPr/>
          <p:nvPr/>
        </p:nvSpPr>
        <p:spPr>
          <a:xfrm>
            <a:off x="9328909" y="2258427"/>
            <a:ext cx="1239691" cy="39546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Cliente interno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43" name="Flecha: arriba y abajo 42">
            <a:extLst>
              <a:ext uri="{FF2B5EF4-FFF2-40B4-BE49-F238E27FC236}">
                <a16:creationId xmlns:a16="http://schemas.microsoft.com/office/drawing/2014/main" id="{3C36EFDB-2E24-4969-B1F1-A1EDC5A3F475}"/>
              </a:ext>
            </a:extLst>
          </p:cNvPr>
          <p:cNvSpPr/>
          <p:nvPr/>
        </p:nvSpPr>
        <p:spPr>
          <a:xfrm rot="5400000">
            <a:off x="8434800" y="1757240"/>
            <a:ext cx="164700" cy="1436921"/>
          </a:xfrm>
          <a:prstGeom prst="up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94D2CC55-48A5-4F13-B809-616AF1FED991}"/>
              </a:ext>
            </a:extLst>
          </p:cNvPr>
          <p:cNvSpPr/>
          <p:nvPr/>
        </p:nvSpPr>
        <p:spPr>
          <a:xfrm>
            <a:off x="7825501" y="2494106"/>
            <a:ext cx="1354903" cy="521323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Acuerdo de nivel </a:t>
            </a:r>
            <a:br>
              <a:rPr lang="es-CO" sz="1200">
                <a:solidFill>
                  <a:schemeClr val="tx1"/>
                </a:solidFill>
              </a:rPr>
            </a:br>
            <a:r>
              <a:rPr lang="es-CO" sz="1200">
                <a:solidFill>
                  <a:schemeClr val="tx1"/>
                </a:solidFill>
              </a:rPr>
              <a:t>de servicio</a:t>
            </a: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0B61E183-D5F8-4D52-B6D1-FC0E9EF23479}"/>
              </a:ext>
            </a:extLst>
          </p:cNvPr>
          <p:cNvSpPr/>
          <p:nvPr/>
        </p:nvSpPr>
        <p:spPr>
          <a:xfrm>
            <a:off x="6378824" y="3564951"/>
            <a:ext cx="4276650" cy="1624594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accent1"/>
                </a:solidFill>
              </a:rPr>
              <a:t>Encuesta interna de calificación de servicio:</a:t>
            </a:r>
          </a:p>
          <a:p>
            <a:pPr marL="361950" indent="-171450">
              <a:buFont typeface="Arial" panose="020B0604020202020204" pitchFamily="34" charset="0"/>
              <a:buChar char="-"/>
            </a:pPr>
            <a:r>
              <a:rPr lang="es-ES" sz="1100">
                <a:solidFill>
                  <a:schemeClr val="accent1"/>
                </a:solidFill>
              </a:rPr>
              <a:t>Cumplimiento de requisitos de calidad de servicio</a:t>
            </a:r>
          </a:p>
          <a:p>
            <a:pPr marL="361950" indent="-171450">
              <a:buFont typeface="Arial" panose="020B0604020202020204" pitchFamily="34" charset="0"/>
              <a:buChar char="-"/>
            </a:pPr>
            <a:r>
              <a:rPr lang="es-ES" sz="1100">
                <a:solidFill>
                  <a:schemeClr val="accent1"/>
                </a:solidFill>
              </a:rPr>
              <a:t>Entrega oportuna los compromisos de servicio</a:t>
            </a:r>
          </a:p>
          <a:p>
            <a:pPr marL="361950" indent="-171450">
              <a:buFont typeface="Arial" panose="020B0604020202020204" pitchFamily="34" charset="0"/>
              <a:buChar char="-"/>
            </a:pPr>
            <a:r>
              <a:rPr lang="es-ES" sz="1100">
                <a:solidFill>
                  <a:schemeClr val="accent1"/>
                </a:solidFill>
              </a:rPr>
              <a:t>Proactividad en la identificación y resolución de problemas relacionados con servicios </a:t>
            </a:r>
          </a:p>
          <a:p>
            <a:pPr marL="361950" indent="-171450">
              <a:buFont typeface="Arial" panose="020B0604020202020204" pitchFamily="34" charset="0"/>
              <a:buChar char="-"/>
            </a:pPr>
            <a:r>
              <a:rPr lang="es-ES" sz="1100">
                <a:solidFill>
                  <a:schemeClr val="accent1"/>
                </a:solidFill>
              </a:rPr>
              <a:t>Preocupación interna en la mejora de la eficiencia del servicio</a:t>
            </a:r>
          </a:p>
          <a:p>
            <a:pPr marL="361950" indent="-171450">
              <a:buFont typeface="Arial" panose="020B0604020202020204" pitchFamily="34" charset="0"/>
              <a:buChar char="-"/>
            </a:pPr>
            <a:r>
              <a:rPr lang="es-ES" sz="1100">
                <a:solidFill>
                  <a:schemeClr val="accent1"/>
                </a:solidFill>
              </a:rPr>
              <a:t>Planificación del trabajo para atender mejor las necesidades de servicio</a:t>
            </a:r>
          </a:p>
        </p:txBody>
      </p:sp>
      <p:sp>
        <p:nvSpPr>
          <p:cNvPr id="51" name="Rectángulo 50">
            <a:extLst>
              <a:ext uri="{FF2B5EF4-FFF2-40B4-BE49-F238E27FC236}">
                <a16:creationId xmlns:a16="http://schemas.microsoft.com/office/drawing/2014/main" id="{64052F81-D9A8-4EBD-B692-EE4526A19D84}"/>
              </a:ext>
            </a:extLst>
          </p:cNvPr>
          <p:cNvSpPr/>
          <p:nvPr/>
        </p:nvSpPr>
        <p:spPr>
          <a:xfrm rot="2571516">
            <a:off x="10053033" y="3610731"/>
            <a:ext cx="890968" cy="216000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Conceptual</a:t>
            </a:r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5E200BB-454E-4272-AC24-72295458D244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4C4E3691-9799-4DAE-927A-F22B58344F04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  <p:sp>
        <p:nvSpPr>
          <p:cNvPr id="26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F741EAD-151D-4F92-8E54-493A98A49E2B}"/>
              </a:ext>
            </a:extLst>
          </p:cNvPr>
          <p:cNvSpPr/>
          <p:nvPr/>
        </p:nvSpPr>
        <p:spPr>
          <a:xfrm rot="10800000">
            <a:off x="9420674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A510BF1A-4842-4B17-9372-14832F89774C}"/>
              </a:ext>
            </a:extLst>
          </p:cNvPr>
          <p:cNvSpPr/>
          <p:nvPr/>
        </p:nvSpPr>
        <p:spPr>
          <a:xfrm>
            <a:off x="8434970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  <p:sp>
        <p:nvSpPr>
          <p:cNvPr id="2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DF67910-204E-451C-9582-9B3261AA2324}"/>
              </a:ext>
            </a:extLst>
          </p:cNvPr>
          <p:cNvSpPr/>
          <p:nvPr/>
        </p:nvSpPr>
        <p:spPr>
          <a:xfrm rot="10800000">
            <a:off x="79309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BA44ED5F-DAC3-4A21-9475-547B7C80B279}"/>
              </a:ext>
            </a:extLst>
          </p:cNvPr>
          <p:cNvSpPr/>
          <p:nvPr/>
        </p:nvSpPr>
        <p:spPr>
          <a:xfrm>
            <a:off x="6555918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748790448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y avance de los proyectos a cargo de TI - (Hitos, calidad, tiempos, presupuesto)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 los proyectos de tecnología,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VP de Tecnología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y avance de los proyectos a cargo de TO - (Hitos, calidad, tiempos, presupuesto)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Comité de Presidencia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3034463"/>
            <a:ext cx="1593990" cy="5796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7"/>
            <a:ext cx="1593990" cy="580317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Total de hitos del plan de proyectos de TI</a:t>
            </a: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568657"/>
            <a:ext cx="146964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del plan de </a:t>
            </a:r>
            <a:r>
              <a:rPr lang="es-ES" sz="1300" err="1">
                <a:solidFill>
                  <a:schemeClr val="accent1"/>
                </a:solidFill>
              </a:rPr>
              <a:t>proy</a:t>
            </a:r>
            <a:r>
              <a:rPr lang="es-ES" sz="1300">
                <a:solidFill>
                  <a:schemeClr val="accent1"/>
                </a:solidFill>
              </a:rPr>
              <a:t>. de tecnología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766958" y="3080197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11783" y="3029411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324263"/>
            <a:ext cx="429356" cy="53455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58816"/>
            <a:ext cx="429356" cy="51165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DB4180E-DC36-480F-A85D-14C43F644744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679691DA-ED29-419B-921F-0125995180F9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03907169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Disponibilidad de las plataformas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tiempo disponible de las plataformas con el fin de asegurar que la infraestructura, los procesos, las herramientas y las funciones de TI sean adecuados para cumplir con los objetivos de disponibilidad propuestos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100%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de Tecnología, Director de Soporte de TI, Director de Infraestructura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Vicepresidencia de Tecnología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número total de horas en que las plataformas están disponibles en el mes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número total de horas en que las plataformas están paradas por mantenimiento disminuya, la disponibilidad de las plataformas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Disponibilidad de las plataformas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Operaciones, Comité Primario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D771E3DA-79C2-4FEE-BCA8-11D4ADF57B23}"/>
              </a:ext>
            </a:extLst>
          </p:cNvPr>
          <p:cNvSpPr/>
          <p:nvPr/>
        </p:nvSpPr>
        <p:spPr>
          <a:xfrm>
            <a:off x="7290603" y="3033326"/>
            <a:ext cx="1822169" cy="550506"/>
          </a:xfrm>
          <a:prstGeom prst="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Horas disponibles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FD16E255-8A4F-4162-88BA-B44F7832F08A}"/>
              </a:ext>
            </a:extLst>
          </p:cNvPr>
          <p:cNvSpPr/>
          <p:nvPr/>
        </p:nvSpPr>
        <p:spPr>
          <a:xfrm>
            <a:off x="9112773" y="3033326"/>
            <a:ext cx="709842" cy="550506"/>
          </a:xfrm>
          <a:prstGeom prst="rect">
            <a:avLst/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Horas en parada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9F8FD3EE-E222-458A-9E34-331CE406E17B}"/>
              </a:ext>
            </a:extLst>
          </p:cNvPr>
          <p:cNvSpPr/>
          <p:nvPr/>
        </p:nvSpPr>
        <p:spPr>
          <a:xfrm>
            <a:off x="7974043" y="2570606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 b="1">
                <a:solidFill>
                  <a:schemeClr val="tx1"/>
                </a:solidFill>
              </a:rPr>
              <a:t>Horas Totales 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504134C4-9666-4EFE-8909-8CEFD771CBB4}"/>
              </a:ext>
            </a:extLst>
          </p:cNvPr>
          <p:cNvSpPr/>
          <p:nvPr/>
        </p:nvSpPr>
        <p:spPr>
          <a:xfrm>
            <a:off x="6443318" y="4046552"/>
            <a:ext cx="4143245" cy="967167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CuadroTexto 37">
            <a:extLst>
              <a:ext uri="{FF2B5EF4-FFF2-40B4-BE49-F238E27FC236}">
                <a16:creationId xmlns:a16="http://schemas.microsoft.com/office/drawing/2014/main" id="{28AEAF50-E8CA-4AD8-852C-F96C37323A1B}"/>
              </a:ext>
            </a:extLst>
          </p:cNvPr>
          <p:cNvSpPr txBox="1"/>
          <p:nvPr/>
        </p:nvSpPr>
        <p:spPr>
          <a:xfrm>
            <a:off x="7929640" y="4188370"/>
            <a:ext cx="1183132" cy="27699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CO" sz="1200"/>
              <a:t>Horas totales</a:t>
            </a:r>
            <a:endParaRPr lang="es-CO" sz="1200" baseline="-25000"/>
          </a:p>
        </p:txBody>
      </p:sp>
      <p:cxnSp>
        <p:nvCxnSpPr>
          <p:cNvPr id="40" name="Conector recto 39">
            <a:extLst>
              <a:ext uri="{FF2B5EF4-FFF2-40B4-BE49-F238E27FC236}">
                <a16:creationId xmlns:a16="http://schemas.microsoft.com/office/drawing/2014/main" id="{1868A633-6234-49B1-AA44-FF2CB9B90E82}"/>
              </a:ext>
            </a:extLst>
          </p:cNvPr>
          <p:cNvCxnSpPr>
            <a:cxnSpLocks/>
          </p:cNvCxnSpPr>
          <p:nvPr/>
        </p:nvCxnSpPr>
        <p:spPr>
          <a:xfrm>
            <a:off x="8079200" y="4615930"/>
            <a:ext cx="2426800" cy="0"/>
          </a:xfrm>
          <a:prstGeom prst="line">
            <a:avLst/>
          </a:prstGeom>
          <a:ln w="1905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CuadroTexto 40">
            <a:extLst>
              <a:ext uri="{FF2B5EF4-FFF2-40B4-BE49-F238E27FC236}">
                <a16:creationId xmlns:a16="http://schemas.microsoft.com/office/drawing/2014/main" id="{6B5FFBCA-CD12-4E02-96AD-FF1C556CF28D}"/>
              </a:ext>
            </a:extLst>
          </p:cNvPr>
          <p:cNvSpPr txBox="1"/>
          <p:nvPr/>
        </p:nvSpPr>
        <p:spPr>
          <a:xfrm>
            <a:off x="6520510" y="4342280"/>
            <a:ext cx="1391727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s-CO" sz="1200"/>
              <a:t>Disponibilidad de </a:t>
            </a:r>
            <a:br>
              <a:rPr lang="es-CO" sz="1200"/>
            </a:br>
            <a:r>
              <a:rPr lang="es-CO" sz="1200"/>
              <a:t>la plataformas</a:t>
            </a:r>
          </a:p>
        </p:txBody>
      </p:sp>
      <p:sp>
        <p:nvSpPr>
          <p:cNvPr id="42" name="CuadroTexto 41">
            <a:extLst>
              <a:ext uri="{FF2B5EF4-FFF2-40B4-BE49-F238E27FC236}">
                <a16:creationId xmlns:a16="http://schemas.microsoft.com/office/drawing/2014/main" id="{47D4B775-7BC0-464B-9F6F-C96943BC1433}"/>
              </a:ext>
            </a:extLst>
          </p:cNvPr>
          <p:cNvSpPr txBox="1"/>
          <p:nvPr/>
        </p:nvSpPr>
        <p:spPr>
          <a:xfrm>
            <a:off x="7747539" y="4386653"/>
            <a:ext cx="364202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s-CO" sz="2400"/>
              <a:t>=</a:t>
            </a:r>
          </a:p>
        </p:txBody>
      </p:sp>
      <p:sp>
        <p:nvSpPr>
          <p:cNvPr id="43" name="CuadroTexto 42">
            <a:extLst>
              <a:ext uri="{FF2B5EF4-FFF2-40B4-BE49-F238E27FC236}">
                <a16:creationId xmlns:a16="http://schemas.microsoft.com/office/drawing/2014/main" id="{0CFE7146-6EF6-40BD-80D8-267E332A4A23}"/>
              </a:ext>
            </a:extLst>
          </p:cNvPr>
          <p:cNvSpPr txBox="1"/>
          <p:nvPr/>
        </p:nvSpPr>
        <p:spPr>
          <a:xfrm>
            <a:off x="9132320" y="4105887"/>
            <a:ext cx="1454244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s-CO" sz="1200"/>
              <a:t>Horas en parada</a:t>
            </a:r>
            <a:br>
              <a:rPr lang="es-CO" sz="1200"/>
            </a:br>
            <a:r>
              <a:rPr lang="es-CO" sz="1200"/>
              <a:t>por mantenimiento</a:t>
            </a:r>
            <a:endParaRPr lang="es-CO" sz="1200" baseline="-25000"/>
          </a:p>
        </p:txBody>
      </p:sp>
      <p:sp>
        <p:nvSpPr>
          <p:cNvPr id="44" name="CuadroTexto 43">
            <a:extLst>
              <a:ext uri="{FF2B5EF4-FFF2-40B4-BE49-F238E27FC236}">
                <a16:creationId xmlns:a16="http://schemas.microsoft.com/office/drawing/2014/main" id="{4579C67E-42F9-4507-BE91-1543E519637F}"/>
              </a:ext>
            </a:extLst>
          </p:cNvPr>
          <p:cNvSpPr txBox="1"/>
          <p:nvPr/>
        </p:nvSpPr>
        <p:spPr>
          <a:xfrm>
            <a:off x="8930671" y="4001430"/>
            <a:ext cx="287258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s-CO" sz="3200"/>
              <a:t>-</a:t>
            </a:r>
          </a:p>
        </p:txBody>
      </p:sp>
      <p:sp>
        <p:nvSpPr>
          <p:cNvPr id="45" name="CuadroTexto 44">
            <a:extLst>
              <a:ext uri="{FF2B5EF4-FFF2-40B4-BE49-F238E27FC236}">
                <a16:creationId xmlns:a16="http://schemas.microsoft.com/office/drawing/2014/main" id="{1FF8B711-DFCF-426F-A648-5A9035AAFBE0}"/>
              </a:ext>
            </a:extLst>
          </p:cNvPr>
          <p:cNvSpPr txBox="1"/>
          <p:nvPr/>
        </p:nvSpPr>
        <p:spPr>
          <a:xfrm>
            <a:off x="8687244" y="4682699"/>
            <a:ext cx="1244437" cy="27699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CO" sz="1200"/>
              <a:t>Horas totales</a:t>
            </a:r>
            <a:endParaRPr lang="es-CO" sz="1200" baseline="-25000"/>
          </a:p>
        </p:txBody>
      </p:sp>
      <p:pic>
        <p:nvPicPr>
          <p:cNvPr id="39938" name="Picture 2" descr="App, hand, mobile, phone, smartphone, touch icon">
            <a:extLst>
              <a:ext uri="{FF2B5EF4-FFF2-40B4-BE49-F238E27FC236}">
                <a16:creationId xmlns:a16="http://schemas.microsoft.com/office/drawing/2014/main" id="{16D8D3BB-21EE-4A64-8D53-BDFD10C3A3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0316" y="3003542"/>
            <a:ext cx="566057" cy="5660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6ED3B546-4432-4C79-9952-6C1679079D93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FB1DA73E-F5BE-400B-A345-65E90A700137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1973292659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 los hitos de implementación modelo de Transformación digital de la organización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 los proyectos de transformación digital hacia adentro,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Director de Desarrollo, Director de Soporte de TI, Director de Gestión de Datos, Director de Proyectos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hitos de implementación modelo de Transformación digital de la organización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Comités Primarios VP TI, seguimientos internos equipo de TI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2813815"/>
            <a:ext cx="1593990" cy="7812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7"/>
            <a:ext cx="1593990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Total de hitos del plan de proyectos de Transformación Digital interna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379004"/>
            <a:ext cx="1469645" cy="94724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</a:t>
            </a:r>
            <a:r>
              <a:rPr lang="es-ES" sz="1300" err="1">
                <a:solidFill>
                  <a:schemeClr val="accent1"/>
                </a:solidFill>
              </a:rPr>
              <a:t>proy</a:t>
            </a:r>
            <a:r>
              <a:rPr lang="es-ES" sz="1300">
                <a:solidFill>
                  <a:schemeClr val="accent1"/>
                </a:solidFill>
              </a:rPr>
              <a:t>. de Transformación Digital interna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805436" y="2940201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50261" y="2889415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204415"/>
            <a:ext cx="429356" cy="64821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52628"/>
            <a:ext cx="429356" cy="61738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48EA614E-6B55-47D2-A973-137C6156D6A3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311AFEA4-3BE1-4113-B59D-B4E5DA820C56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64941437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Conversión a producción (Time to </a:t>
            </a:r>
            <a:r>
              <a:rPr lang="es-ES" sz="2000" err="1">
                <a:latin typeface="Arial" panose="020B0604020202020204" pitchFamily="34" charset="0"/>
                <a:cs typeface="Arial" panose="020B0604020202020204" pitchFamily="34" charset="0"/>
              </a:rPr>
              <a:t>Market</a:t>
            </a: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tiempo de ciclo de desarrollo del entregable (producto o proyecto) desde la conceptualización hasta su lanzamiento y puesta en producción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Desarrollo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Desarrollo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número de días necesarios para desarrollar un entregable (producto o proyecto) desde la etapa de conceptualización hasta la entrega el producto al cliente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Conversión a producción (Time to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Market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Seguimiento Internos de Tecnología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Flecha: a la derecha 1">
            <a:extLst>
              <a:ext uri="{FF2B5EF4-FFF2-40B4-BE49-F238E27FC236}">
                <a16:creationId xmlns:a16="http://schemas.microsoft.com/office/drawing/2014/main" id="{AB4B5903-E0D0-4F6F-87E0-1D10D15161FF}"/>
              </a:ext>
            </a:extLst>
          </p:cNvPr>
          <p:cNvSpPr/>
          <p:nvPr/>
        </p:nvSpPr>
        <p:spPr>
          <a:xfrm>
            <a:off x="5911510" y="2498435"/>
            <a:ext cx="5169113" cy="418032"/>
          </a:xfrm>
          <a:prstGeom prst="rightArrow">
            <a:avLst>
              <a:gd name="adj1" fmla="val 52662"/>
              <a:gd name="adj2" fmla="val 52854"/>
            </a:avLst>
          </a:prstGeom>
          <a:solidFill>
            <a:schemeClr val="bg1">
              <a:lumMod val="5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0" name="Grupo 39">
            <a:extLst>
              <a:ext uri="{FF2B5EF4-FFF2-40B4-BE49-F238E27FC236}">
                <a16:creationId xmlns:a16="http://schemas.microsoft.com/office/drawing/2014/main" id="{CEF56181-74C2-49B0-B096-DA5246F50A47}"/>
              </a:ext>
            </a:extLst>
          </p:cNvPr>
          <p:cNvGrpSpPr/>
          <p:nvPr/>
        </p:nvGrpSpPr>
        <p:grpSpPr>
          <a:xfrm>
            <a:off x="6107773" y="2446187"/>
            <a:ext cx="534170" cy="534170"/>
            <a:chOff x="6362387" y="2566070"/>
            <a:chExt cx="607786" cy="607786"/>
          </a:xfrm>
        </p:grpSpPr>
        <p:sp>
          <p:nvSpPr>
            <p:cNvPr id="42" name="Elipse 41">
              <a:extLst>
                <a:ext uri="{FF2B5EF4-FFF2-40B4-BE49-F238E27FC236}">
                  <a16:creationId xmlns:a16="http://schemas.microsoft.com/office/drawing/2014/main" id="{672488CD-31AB-4CF7-B97C-ACF9A95A09F5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Elipse 42">
              <a:extLst>
                <a:ext uri="{FF2B5EF4-FFF2-40B4-BE49-F238E27FC236}">
                  <a16:creationId xmlns:a16="http://schemas.microsoft.com/office/drawing/2014/main" id="{BADCEC20-9342-437A-A5AC-CA0B0DBBC9F5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5" name="Grupo 44">
            <a:extLst>
              <a:ext uri="{FF2B5EF4-FFF2-40B4-BE49-F238E27FC236}">
                <a16:creationId xmlns:a16="http://schemas.microsoft.com/office/drawing/2014/main" id="{38218DF6-B120-4CB0-AEBF-AEE9FA855E8D}"/>
              </a:ext>
            </a:extLst>
          </p:cNvPr>
          <p:cNvGrpSpPr/>
          <p:nvPr/>
        </p:nvGrpSpPr>
        <p:grpSpPr>
          <a:xfrm>
            <a:off x="7127895" y="2446187"/>
            <a:ext cx="534170" cy="534170"/>
            <a:chOff x="6362387" y="2566070"/>
            <a:chExt cx="607786" cy="607786"/>
          </a:xfrm>
        </p:grpSpPr>
        <p:sp>
          <p:nvSpPr>
            <p:cNvPr id="47" name="Elipse 46">
              <a:extLst>
                <a:ext uri="{FF2B5EF4-FFF2-40B4-BE49-F238E27FC236}">
                  <a16:creationId xmlns:a16="http://schemas.microsoft.com/office/drawing/2014/main" id="{269E6F10-4F6E-4AB7-8E85-65B9A5FF3F02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Elipse 47">
              <a:extLst>
                <a:ext uri="{FF2B5EF4-FFF2-40B4-BE49-F238E27FC236}">
                  <a16:creationId xmlns:a16="http://schemas.microsoft.com/office/drawing/2014/main" id="{E53CAC79-1730-4995-B240-BECB3CC590FA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9" name="Grupo 48">
            <a:extLst>
              <a:ext uri="{FF2B5EF4-FFF2-40B4-BE49-F238E27FC236}">
                <a16:creationId xmlns:a16="http://schemas.microsoft.com/office/drawing/2014/main" id="{565B8BD2-D781-4555-A1E2-C5E7884AB8EB}"/>
              </a:ext>
            </a:extLst>
          </p:cNvPr>
          <p:cNvGrpSpPr/>
          <p:nvPr/>
        </p:nvGrpSpPr>
        <p:grpSpPr>
          <a:xfrm>
            <a:off x="8148017" y="2446187"/>
            <a:ext cx="534170" cy="534170"/>
            <a:chOff x="6362387" y="2566070"/>
            <a:chExt cx="607786" cy="607786"/>
          </a:xfrm>
        </p:grpSpPr>
        <p:sp>
          <p:nvSpPr>
            <p:cNvPr id="50" name="Elipse 49">
              <a:extLst>
                <a:ext uri="{FF2B5EF4-FFF2-40B4-BE49-F238E27FC236}">
                  <a16:creationId xmlns:a16="http://schemas.microsoft.com/office/drawing/2014/main" id="{47C5EA82-452E-41A6-B8B4-7781C812B3FB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Elipse 50">
              <a:extLst>
                <a:ext uri="{FF2B5EF4-FFF2-40B4-BE49-F238E27FC236}">
                  <a16:creationId xmlns:a16="http://schemas.microsoft.com/office/drawing/2014/main" id="{3E784057-D662-437B-91B3-5ECCC1302CBC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3" name="Grupo 52">
            <a:extLst>
              <a:ext uri="{FF2B5EF4-FFF2-40B4-BE49-F238E27FC236}">
                <a16:creationId xmlns:a16="http://schemas.microsoft.com/office/drawing/2014/main" id="{498B17D9-F536-4624-B4A9-209CF931ECBD}"/>
              </a:ext>
            </a:extLst>
          </p:cNvPr>
          <p:cNvGrpSpPr/>
          <p:nvPr/>
        </p:nvGrpSpPr>
        <p:grpSpPr>
          <a:xfrm>
            <a:off x="9168139" y="2446187"/>
            <a:ext cx="534170" cy="534170"/>
            <a:chOff x="6362387" y="2566070"/>
            <a:chExt cx="607786" cy="607786"/>
          </a:xfrm>
        </p:grpSpPr>
        <p:sp>
          <p:nvSpPr>
            <p:cNvPr id="55" name="Elipse 54">
              <a:extLst>
                <a:ext uri="{FF2B5EF4-FFF2-40B4-BE49-F238E27FC236}">
                  <a16:creationId xmlns:a16="http://schemas.microsoft.com/office/drawing/2014/main" id="{605ED772-6F0E-458A-A917-0697770ABA1B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Elipse 55">
              <a:extLst>
                <a:ext uri="{FF2B5EF4-FFF2-40B4-BE49-F238E27FC236}">
                  <a16:creationId xmlns:a16="http://schemas.microsoft.com/office/drawing/2014/main" id="{A55EC11A-7AC6-4E68-9F9D-A4BD2A31DE20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3" name="Grupo 62">
            <a:extLst>
              <a:ext uri="{FF2B5EF4-FFF2-40B4-BE49-F238E27FC236}">
                <a16:creationId xmlns:a16="http://schemas.microsoft.com/office/drawing/2014/main" id="{BF1A9BCB-626C-4C86-93C4-C07508930714}"/>
              </a:ext>
            </a:extLst>
          </p:cNvPr>
          <p:cNvGrpSpPr/>
          <p:nvPr/>
        </p:nvGrpSpPr>
        <p:grpSpPr>
          <a:xfrm>
            <a:off x="10188260" y="2446187"/>
            <a:ext cx="534170" cy="534170"/>
            <a:chOff x="6362387" y="2566070"/>
            <a:chExt cx="607786" cy="607786"/>
          </a:xfrm>
        </p:grpSpPr>
        <p:sp>
          <p:nvSpPr>
            <p:cNvPr id="65" name="Elipse 64">
              <a:extLst>
                <a:ext uri="{FF2B5EF4-FFF2-40B4-BE49-F238E27FC236}">
                  <a16:creationId xmlns:a16="http://schemas.microsoft.com/office/drawing/2014/main" id="{CF892CE9-F223-4BE9-B385-1F1D7D804062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Elipse 65">
              <a:extLst>
                <a:ext uri="{FF2B5EF4-FFF2-40B4-BE49-F238E27FC236}">
                  <a16:creationId xmlns:a16="http://schemas.microsoft.com/office/drawing/2014/main" id="{81FD334E-C2CC-4108-BEF7-0390DF1B0CEB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67" name="Rectángulo 66">
            <a:extLst>
              <a:ext uri="{FF2B5EF4-FFF2-40B4-BE49-F238E27FC236}">
                <a16:creationId xmlns:a16="http://schemas.microsoft.com/office/drawing/2014/main" id="{DF1FD1B3-2D9F-483B-B126-5E63CF239C62}"/>
              </a:ext>
            </a:extLst>
          </p:cNvPr>
          <p:cNvSpPr/>
          <p:nvPr/>
        </p:nvSpPr>
        <p:spPr>
          <a:xfrm>
            <a:off x="5854478" y="3027876"/>
            <a:ext cx="1079333" cy="559219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Definición del alcance del proyecto</a:t>
            </a:r>
          </a:p>
        </p:txBody>
      </p:sp>
      <p:sp>
        <p:nvSpPr>
          <p:cNvPr id="68" name="Rectángulo 67">
            <a:extLst>
              <a:ext uri="{FF2B5EF4-FFF2-40B4-BE49-F238E27FC236}">
                <a16:creationId xmlns:a16="http://schemas.microsoft.com/office/drawing/2014/main" id="{AB943D35-50DC-4FF8-B882-332A743F5DD0}"/>
              </a:ext>
            </a:extLst>
          </p:cNvPr>
          <p:cNvSpPr/>
          <p:nvPr/>
        </p:nvSpPr>
        <p:spPr>
          <a:xfrm>
            <a:off x="6857494" y="3027876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Desarrollo</a:t>
            </a:r>
          </a:p>
        </p:txBody>
      </p:sp>
      <p:sp>
        <p:nvSpPr>
          <p:cNvPr id="69" name="Rectángulo 68">
            <a:extLst>
              <a:ext uri="{FF2B5EF4-FFF2-40B4-BE49-F238E27FC236}">
                <a16:creationId xmlns:a16="http://schemas.microsoft.com/office/drawing/2014/main" id="{2AC4CD91-61B7-443F-8591-343366A61241}"/>
              </a:ext>
            </a:extLst>
          </p:cNvPr>
          <p:cNvSpPr/>
          <p:nvPr/>
        </p:nvSpPr>
        <p:spPr>
          <a:xfrm>
            <a:off x="7925042" y="3027876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Estabilización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671FBD29-F829-4A27-86BE-44C6ED4BF0A0}"/>
              </a:ext>
            </a:extLst>
          </p:cNvPr>
          <p:cNvSpPr/>
          <p:nvPr/>
        </p:nvSpPr>
        <p:spPr>
          <a:xfrm>
            <a:off x="8895557" y="3027876"/>
            <a:ext cx="1079333" cy="534169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Entrega del producto al cliente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78866250-CA70-49A7-889C-62AD1D223FD4}"/>
              </a:ext>
            </a:extLst>
          </p:cNvPr>
          <p:cNvSpPr/>
          <p:nvPr/>
        </p:nvSpPr>
        <p:spPr>
          <a:xfrm>
            <a:off x="9915678" y="3027876"/>
            <a:ext cx="1164946" cy="45124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Mantenimiento y soporte</a:t>
            </a:r>
          </a:p>
        </p:txBody>
      </p:sp>
      <p:pic>
        <p:nvPicPr>
          <p:cNvPr id="39938" name="Picture 2" descr="Lookup Icons - Download Free Vector Icons | Noun Project">
            <a:extLst>
              <a:ext uri="{FF2B5EF4-FFF2-40B4-BE49-F238E27FC236}">
                <a16:creationId xmlns:a16="http://schemas.microsoft.com/office/drawing/2014/main" id="{82F394E4-B826-4E80-8FBC-8FE9B80CBF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9022" y="2592938"/>
            <a:ext cx="271671" cy="2716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942" name="Picture 6" descr="Programming Icon - Free Download, PNG and Vector">
            <a:extLst>
              <a:ext uri="{FF2B5EF4-FFF2-40B4-BE49-F238E27FC236}">
                <a16:creationId xmlns:a16="http://schemas.microsoft.com/office/drawing/2014/main" id="{6A9040FA-DC89-4363-B7FC-CBAB5E595D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84868" y="2597024"/>
            <a:ext cx="286786" cy="286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Imagen 75">
            <a:extLst>
              <a:ext uri="{FF2B5EF4-FFF2-40B4-BE49-F238E27FC236}">
                <a16:creationId xmlns:a16="http://schemas.microsoft.com/office/drawing/2014/main" id="{F2187379-37B2-46C0-9009-102C8B57F2E5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9315888" y="2590791"/>
            <a:ext cx="279611" cy="279611"/>
          </a:xfrm>
          <a:prstGeom prst="rect">
            <a:avLst/>
          </a:prstGeom>
        </p:spPr>
      </p:pic>
      <p:pic>
        <p:nvPicPr>
          <p:cNvPr id="39944" name="Picture 8">
            <a:extLst>
              <a:ext uri="{FF2B5EF4-FFF2-40B4-BE49-F238E27FC236}">
                <a16:creationId xmlns:a16="http://schemas.microsoft.com/office/drawing/2014/main" id="{94C2BF45-39D5-4A99-9C9B-1B28A15E6B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10109" y="2565860"/>
            <a:ext cx="323072" cy="3230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946" name="Picture 10" descr="Programing - Free multimedia icons">
            <a:extLst>
              <a:ext uri="{FF2B5EF4-FFF2-40B4-BE49-F238E27FC236}">
                <a16:creationId xmlns:a16="http://schemas.microsoft.com/office/drawing/2014/main" id="{F1DF1D5E-29EF-4044-BC69-28EA1846D6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6570" y="2549180"/>
            <a:ext cx="356819" cy="3568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2" name="Rectángulo 91">
            <a:extLst>
              <a:ext uri="{FF2B5EF4-FFF2-40B4-BE49-F238E27FC236}">
                <a16:creationId xmlns:a16="http://schemas.microsoft.com/office/drawing/2014/main" id="{BA77858E-BBD0-40D1-8CDF-973D3C2C2C47}"/>
              </a:ext>
            </a:extLst>
          </p:cNvPr>
          <p:cNvSpPr/>
          <p:nvPr/>
        </p:nvSpPr>
        <p:spPr>
          <a:xfrm>
            <a:off x="6408042" y="4378557"/>
            <a:ext cx="4438009" cy="694324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3" name="CuadroTexto 92">
            <a:extLst>
              <a:ext uri="{FF2B5EF4-FFF2-40B4-BE49-F238E27FC236}">
                <a16:creationId xmlns:a16="http://schemas.microsoft.com/office/drawing/2014/main" id="{216A6702-5F57-4939-AC88-40F58D260687}"/>
              </a:ext>
            </a:extLst>
          </p:cNvPr>
          <p:cNvSpPr txBox="1"/>
          <p:nvPr/>
        </p:nvSpPr>
        <p:spPr>
          <a:xfrm>
            <a:off x="7747501" y="4404768"/>
            <a:ext cx="1278504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Fecha (día) de producto al cliente</a:t>
            </a:r>
          </a:p>
        </p:txBody>
      </p:sp>
      <p:sp>
        <p:nvSpPr>
          <p:cNvPr id="95" name="CuadroTexto 94">
            <a:extLst>
              <a:ext uri="{FF2B5EF4-FFF2-40B4-BE49-F238E27FC236}">
                <a16:creationId xmlns:a16="http://schemas.microsoft.com/office/drawing/2014/main" id="{D1A99C19-79DC-40BC-9EB6-94DD2261FE70}"/>
              </a:ext>
            </a:extLst>
          </p:cNvPr>
          <p:cNvSpPr txBox="1"/>
          <p:nvPr/>
        </p:nvSpPr>
        <p:spPr>
          <a:xfrm>
            <a:off x="6408042" y="4513662"/>
            <a:ext cx="1204882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Time to market</a:t>
            </a:r>
            <a:br>
              <a:rPr lang="es-CO" sz="1200">
                <a:solidFill>
                  <a:schemeClr val="accent1"/>
                </a:solidFill>
              </a:rPr>
            </a:br>
            <a:r>
              <a:rPr lang="es-CO" sz="1200">
                <a:solidFill>
                  <a:schemeClr val="accent1"/>
                </a:solidFill>
              </a:rPr>
              <a:t>(días)</a:t>
            </a:r>
          </a:p>
        </p:txBody>
      </p:sp>
      <p:sp>
        <p:nvSpPr>
          <p:cNvPr id="96" name="CuadroTexto 95">
            <a:extLst>
              <a:ext uri="{FF2B5EF4-FFF2-40B4-BE49-F238E27FC236}">
                <a16:creationId xmlns:a16="http://schemas.microsoft.com/office/drawing/2014/main" id="{B3FC7618-4438-4D94-BA44-4C805A1BAF72}"/>
              </a:ext>
            </a:extLst>
          </p:cNvPr>
          <p:cNvSpPr txBox="1"/>
          <p:nvPr/>
        </p:nvSpPr>
        <p:spPr>
          <a:xfrm>
            <a:off x="7479964" y="4469150"/>
            <a:ext cx="364202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s-CO" sz="2400">
                <a:solidFill>
                  <a:schemeClr val="accent1"/>
                </a:solidFill>
              </a:rPr>
              <a:t>=</a:t>
            </a:r>
          </a:p>
        </p:txBody>
      </p:sp>
      <p:sp>
        <p:nvSpPr>
          <p:cNvPr id="97" name="CuadroTexto 96">
            <a:extLst>
              <a:ext uri="{FF2B5EF4-FFF2-40B4-BE49-F238E27FC236}">
                <a16:creationId xmlns:a16="http://schemas.microsoft.com/office/drawing/2014/main" id="{E72B63FE-F496-48EA-B9BB-DA6F7ABDA9C3}"/>
              </a:ext>
            </a:extLst>
          </p:cNvPr>
          <p:cNvSpPr txBox="1"/>
          <p:nvPr/>
        </p:nvSpPr>
        <p:spPr>
          <a:xfrm>
            <a:off x="9137274" y="4381832"/>
            <a:ext cx="1702807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Fecha (día) de conceptualización del proyecto o entregable</a:t>
            </a:r>
          </a:p>
        </p:txBody>
      </p:sp>
      <p:sp>
        <p:nvSpPr>
          <p:cNvPr id="98" name="CuadroTexto 97">
            <a:extLst>
              <a:ext uri="{FF2B5EF4-FFF2-40B4-BE49-F238E27FC236}">
                <a16:creationId xmlns:a16="http://schemas.microsoft.com/office/drawing/2014/main" id="{EBC85A41-513E-41BB-A56E-B9E3976C431E}"/>
              </a:ext>
            </a:extLst>
          </p:cNvPr>
          <p:cNvSpPr txBox="1"/>
          <p:nvPr/>
        </p:nvSpPr>
        <p:spPr>
          <a:xfrm>
            <a:off x="8931545" y="4378558"/>
            <a:ext cx="287258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s-CO" sz="3200">
                <a:solidFill>
                  <a:schemeClr val="accent1"/>
                </a:solidFill>
              </a:rPr>
              <a:t>-</a:t>
            </a:r>
          </a:p>
        </p:txBody>
      </p:sp>
      <p:cxnSp>
        <p:nvCxnSpPr>
          <p:cNvPr id="89" name="Conector recto 88">
            <a:extLst>
              <a:ext uri="{FF2B5EF4-FFF2-40B4-BE49-F238E27FC236}">
                <a16:creationId xmlns:a16="http://schemas.microsoft.com/office/drawing/2014/main" id="{20739D9B-F8B5-47E6-873C-F20110E5E240}"/>
              </a:ext>
            </a:extLst>
          </p:cNvPr>
          <p:cNvCxnSpPr>
            <a:cxnSpLocks/>
          </p:cNvCxnSpPr>
          <p:nvPr/>
        </p:nvCxnSpPr>
        <p:spPr>
          <a:xfrm flipV="1">
            <a:off x="6374857" y="3676675"/>
            <a:ext cx="3080836" cy="10248"/>
          </a:xfrm>
          <a:prstGeom prst="line">
            <a:avLst/>
          </a:prstGeom>
          <a:ln>
            <a:headEnd type="oval"/>
            <a:tailEnd type="oval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sp>
        <p:nvSpPr>
          <p:cNvPr id="85" name="Rectángulo 84">
            <a:extLst>
              <a:ext uri="{FF2B5EF4-FFF2-40B4-BE49-F238E27FC236}">
                <a16:creationId xmlns:a16="http://schemas.microsoft.com/office/drawing/2014/main" id="{725DD808-08CC-45A4-BDC6-CEE304B3541E}"/>
              </a:ext>
            </a:extLst>
          </p:cNvPr>
          <p:cNvSpPr/>
          <p:nvPr/>
        </p:nvSpPr>
        <p:spPr>
          <a:xfrm>
            <a:off x="7333918" y="3490602"/>
            <a:ext cx="1162714" cy="359931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Time to market</a:t>
            </a:r>
          </a:p>
        </p:txBody>
      </p:sp>
      <p:sp>
        <p:nvSpPr>
          <p:cNvPr id="3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8713B14F-BB10-43BB-8668-86BC0EF0ABE1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F41D8DC0-5BF7-4ABB-997F-D43206A8D85B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0244094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Cumplimiento caso de negocio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beneficios (económicos, mejora en productividad, reducción de tiempos, entre otros) establecidos en el caso de negocio de cada uno de los proyectos ejecutados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79078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167078"/>
            <a:ext cx="4552406" cy="4159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Proyectos de TI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Vicepresidencia de TI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3732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 quiere decir que no se alcanzaron los beneficios planteados en el caso de negocio a satisfacción </a:t>
            </a: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se alcanzaron los beneficios planteados en el caso del negocio del proyecto </a:t>
            </a: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número de beneficios alcanzados supera la expectativa planteada en el caso de negocio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400"/>
              <a:t>Cumplimiento caso de negocio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Comités Primarios VP TI, Seguimientos internos Equipo TI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0DE1F5F-FAB1-4511-80B7-1CAC05B1CA6F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F79D1BF5-E85F-4C08-9D62-A626D4C805CD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3E1BD7B7-E977-4977-8D0F-9B18CE0EBE00}"/>
              </a:ext>
            </a:extLst>
          </p:cNvPr>
          <p:cNvSpPr/>
          <p:nvPr/>
        </p:nvSpPr>
        <p:spPr>
          <a:xfrm>
            <a:off x="7800097" y="2813815"/>
            <a:ext cx="1593990" cy="7812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 # beneficios alcanzados a satisfacción por el proyecto</a:t>
            </a:r>
            <a:endParaRPr lang="es-CO" sz="13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8476782F-D310-4AE4-BC64-002604EBCC43}"/>
              </a:ext>
            </a:extLst>
          </p:cNvPr>
          <p:cNvSpPr/>
          <p:nvPr/>
        </p:nvSpPr>
        <p:spPr>
          <a:xfrm>
            <a:off x="7800097" y="4080307"/>
            <a:ext cx="1593990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Total de beneficios planteados en el caso de negocio del proyecto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5E7AE539-141D-44CC-8EBE-56FF622630B1}"/>
              </a:ext>
            </a:extLst>
          </p:cNvPr>
          <p:cNvSpPr/>
          <p:nvPr/>
        </p:nvSpPr>
        <p:spPr>
          <a:xfrm>
            <a:off x="8440492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7969725F-488A-402E-943F-77FD2C7A06E7}"/>
              </a:ext>
            </a:extLst>
          </p:cNvPr>
          <p:cNvSpPr/>
          <p:nvPr/>
        </p:nvSpPr>
        <p:spPr>
          <a:xfrm>
            <a:off x="5901097" y="3379004"/>
            <a:ext cx="1446574" cy="94724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caso de negocio</a:t>
            </a:r>
          </a:p>
        </p:txBody>
      </p:sp>
      <p:sp>
        <p:nvSpPr>
          <p:cNvPr id="31" name="Cerrar llave 30">
            <a:extLst>
              <a:ext uri="{FF2B5EF4-FFF2-40B4-BE49-F238E27FC236}">
                <a16:creationId xmlns:a16="http://schemas.microsoft.com/office/drawing/2014/main" id="{9C5299A4-D4FC-48C9-9323-21A1918F3327}"/>
              </a:ext>
            </a:extLst>
          </p:cNvPr>
          <p:cNvSpPr/>
          <p:nvPr/>
        </p:nvSpPr>
        <p:spPr>
          <a:xfrm rot="10800000">
            <a:off x="9530526" y="2538262"/>
            <a:ext cx="57467" cy="1010755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C19FC747-9D6A-4C3F-9DA4-A0838B363C4D}"/>
              </a:ext>
            </a:extLst>
          </p:cNvPr>
          <p:cNvSpPr/>
          <p:nvPr/>
        </p:nvSpPr>
        <p:spPr>
          <a:xfrm>
            <a:off x="9587994" y="2577204"/>
            <a:ext cx="1466714" cy="939931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Económicos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Mejoras en Productividad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Reducción de 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Otros beneficios</a:t>
            </a:r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37C3E37C-5FB4-409F-AB67-A787A9EFB7DB}"/>
              </a:ext>
            </a:extLst>
          </p:cNvPr>
          <p:cNvCxnSpPr>
            <a:cxnSpLocks/>
            <a:stCxn id="30" idx="3"/>
            <a:endCxn id="26" idx="1"/>
          </p:cNvCxnSpPr>
          <p:nvPr/>
        </p:nvCxnSpPr>
        <p:spPr>
          <a:xfrm flipV="1">
            <a:off x="7347671" y="3204415"/>
            <a:ext cx="452426" cy="64821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Conector: angular 33">
            <a:extLst>
              <a:ext uri="{FF2B5EF4-FFF2-40B4-BE49-F238E27FC236}">
                <a16:creationId xmlns:a16="http://schemas.microsoft.com/office/drawing/2014/main" id="{1D4CF466-ACDB-496E-83D4-995D422E661E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347671" y="3852628"/>
            <a:ext cx="452426" cy="61738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Signo de multiplicación 1">
            <a:extLst>
              <a:ext uri="{FF2B5EF4-FFF2-40B4-BE49-F238E27FC236}">
                <a16:creationId xmlns:a16="http://schemas.microsoft.com/office/drawing/2014/main" id="{B2C964B7-8696-41CF-BC1B-87BE029FA3CD}"/>
              </a:ext>
            </a:extLst>
          </p:cNvPr>
          <p:cNvSpPr/>
          <p:nvPr/>
        </p:nvSpPr>
        <p:spPr>
          <a:xfrm>
            <a:off x="9431394" y="3688936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1671B2A2-CECB-4760-9AB1-67EC3E9B92F4}"/>
              </a:ext>
            </a:extLst>
          </p:cNvPr>
          <p:cNvSpPr/>
          <p:nvPr/>
        </p:nvSpPr>
        <p:spPr>
          <a:xfrm>
            <a:off x="9695868" y="3675619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</p:spTree>
    <p:extLst>
      <p:ext uri="{BB962C8B-B14F-4D97-AF65-F5344CB8AC3E}">
        <p14:creationId xmlns:p14="http://schemas.microsoft.com/office/powerpoint/2010/main" val="127913339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 los hitos del plan de modernización de la Infraestructura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de modernización de la infraestructura,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Director de Infraestructura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hitos del plan de modernización de la Infraestructura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Comité de Presidencia, Comité de Innovación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2813815"/>
            <a:ext cx="1593990" cy="7812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7"/>
            <a:ext cx="1593990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Número total de hitos del plan de modernización de la infraestructura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379004"/>
            <a:ext cx="1469645" cy="94724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los hitos del plan de modern. de la Infraestructura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766958" y="2925549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11783" y="2874763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204415"/>
            <a:ext cx="429356" cy="64821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52628"/>
            <a:ext cx="429356" cy="61738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50C6BD7-062F-4B23-ABF3-58A0697935E9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64EEEDCB-B60A-47CE-94A1-1FF82FD277E7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353840774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Materializaciones de riesgo de vulnerabilidad de datos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desviación del número de hechos materializados respecto a la meta de materializaciones de riesgo de vulnerabilidad de datos establecidos para la organización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Gestión de Datos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 Datos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indicado la desviación de la meta materializaciones de riesgo de vulnerabilidad de datos</a:t>
            </a:r>
          </a:p>
          <a:p>
            <a:pPr marL="4429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100%: se materializaron menos eventos de lo esperado</a:t>
            </a:r>
          </a:p>
          <a:p>
            <a:pPr marL="4429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= 100% el número total de eventos materializados esta acorde a lo esperado</a:t>
            </a:r>
          </a:p>
          <a:p>
            <a:pPr marL="4429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es&gt; 100% se materializaron más eventos de lo esperado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Materializaciones de riesgo de vulnerabilidad de datos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Riesgo Operativo, Comité de Operaciones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9A761E4D-861F-4D5A-B941-6500150A9571}"/>
              </a:ext>
            </a:extLst>
          </p:cNvPr>
          <p:cNvSpPr/>
          <p:nvPr/>
        </p:nvSpPr>
        <p:spPr>
          <a:xfrm>
            <a:off x="8477055" y="2813815"/>
            <a:ext cx="1593990" cy="7812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Número total de eventos materializados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062DC39A-4A25-418A-8F7A-62AE186AB2AD}"/>
              </a:ext>
            </a:extLst>
          </p:cNvPr>
          <p:cNvSpPr/>
          <p:nvPr/>
        </p:nvSpPr>
        <p:spPr>
          <a:xfrm>
            <a:off x="8477055" y="4080307"/>
            <a:ext cx="1593990" cy="7794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Meta de número de eventos de riesgo de vulnerabilidad de datos esperados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095B9B7C-9240-4EB4-89EF-AE7C3322DD03}"/>
              </a:ext>
            </a:extLst>
          </p:cNvPr>
          <p:cNvSpPr/>
          <p:nvPr/>
        </p:nvSpPr>
        <p:spPr>
          <a:xfrm>
            <a:off x="9117450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A8924E2D-6476-4AB8-8ECC-1A27F2BCAC7D}"/>
              </a:ext>
            </a:extLst>
          </p:cNvPr>
          <p:cNvSpPr/>
          <p:nvPr/>
        </p:nvSpPr>
        <p:spPr>
          <a:xfrm>
            <a:off x="6578054" y="3379004"/>
            <a:ext cx="1469645" cy="947247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Materializaciones de Vulnerabilidad de Datos </a:t>
            </a:r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327FEFD1-8C6D-487C-B9E6-FC1659698997}"/>
              </a:ext>
            </a:extLst>
          </p:cNvPr>
          <p:cNvCxnSpPr>
            <a:cxnSpLocks/>
            <a:stCxn id="30" idx="3"/>
            <a:endCxn id="27" idx="1"/>
          </p:cNvCxnSpPr>
          <p:nvPr/>
        </p:nvCxnSpPr>
        <p:spPr>
          <a:xfrm flipV="1">
            <a:off x="8047699" y="3204415"/>
            <a:ext cx="429356" cy="64821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Conector: angular 33">
            <a:extLst>
              <a:ext uri="{FF2B5EF4-FFF2-40B4-BE49-F238E27FC236}">
                <a16:creationId xmlns:a16="http://schemas.microsoft.com/office/drawing/2014/main" id="{2C62590A-C482-4F07-BB0E-5C2A2B040BE4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8047699" y="3852628"/>
            <a:ext cx="429356" cy="61738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47634A2-9228-4046-9E1A-E0671C7C3C46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EDB90501-A92A-4170-B8C9-490FCB4BA3F5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119106950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149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DQ Audit </a:t>
            </a:r>
            <a:r>
              <a:rPr lang="es-ES" err="1"/>
              <a:t>F</a:t>
            </a:r>
            <a:r>
              <a:rPr lang="es-ES" sz="2000" err="1">
                <a:latin typeface="Arial" panose="020B0604020202020204" pitchFamily="34" charset="0"/>
                <a:cs typeface="Arial" panose="020B0604020202020204" pitchFamily="34" charset="0"/>
              </a:rPr>
              <a:t>indings</a:t>
            </a: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 (Violaciones reportadas en auditoría relacionadas con mala calidad de datos)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número de hallazgos de auditoría cuya causa raíz sea la mala calidad de los datos entregados por el sistema Data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Warehouse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con el fin de evitar la materialización de riesgos por mala calidad de la data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Gestión de Datos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Trimestral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Reportes de Auditoria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la calidad de los datos entregados por el sistema de Data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Warehouse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mejore, el número de DQ hallazgos de auditoria disminuirá</a:t>
            </a:r>
          </a:p>
          <a:p>
            <a:pPr marL="88900" lvl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DQ Audit findings (Violaciones reportadas en auditoría relacionadas con mala calidad de datos)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Seguimientos internos VP de Tecnología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Rectángulo 46">
            <a:extLst>
              <a:ext uri="{FF2B5EF4-FFF2-40B4-BE49-F238E27FC236}">
                <a16:creationId xmlns:a16="http://schemas.microsoft.com/office/drawing/2014/main" id="{1D4352FE-5FAB-4489-8B06-06D63287A879}"/>
              </a:ext>
            </a:extLst>
          </p:cNvPr>
          <p:cNvSpPr/>
          <p:nvPr/>
        </p:nvSpPr>
        <p:spPr>
          <a:xfrm>
            <a:off x="5642277" y="3178502"/>
            <a:ext cx="1168706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Fuentes de información</a:t>
            </a:r>
          </a:p>
        </p:txBody>
      </p:sp>
      <p:sp>
        <p:nvSpPr>
          <p:cNvPr id="41" name="Rectángulo 40">
            <a:extLst>
              <a:ext uri="{FF2B5EF4-FFF2-40B4-BE49-F238E27FC236}">
                <a16:creationId xmlns:a16="http://schemas.microsoft.com/office/drawing/2014/main" id="{9FADC06D-686F-4F03-BEDE-E8F43EA231B2}"/>
              </a:ext>
            </a:extLst>
          </p:cNvPr>
          <p:cNvSpPr/>
          <p:nvPr/>
        </p:nvSpPr>
        <p:spPr>
          <a:xfrm>
            <a:off x="6052057" y="3961025"/>
            <a:ext cx="4802210" cy="81560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AA49BCB9-C33B-4B3A-A605-74790379EE52}"/>
              </a:ext>
            </a:extLst>
          </p:cNvPr>
          <p:cNvSpPr txBox="1"/>
          <p:nvPr/>
        </p:nvSpPr>
        <p:spPr>
          <a:xfrm>
            <a:off x="6169063" y="4148966"/>
            <a:ext cx="112430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CO" sz="1200">
                <a:solidFill>
                  <a:schemeClr val="accent1"/>
                </a:solidFill>
              </a:rPr>
              <a:t>DQ Hallazgos de auditoría</a:t>
            </a:r>
          </a:p>
        </p:txBody>
      </p:sp>
      <p:sp>
        <p:nvSpPr>
          <p:cNvPr id="28" name="CuadroTexto 27">
            <a:extLst>
              <a:ext uri="{FF2B5EF4-FFF2-40B4-BE49-F238E27FC236}">
                <a16:creationId xmlns:a16="http://schemas.microsoft.com/office/drawing/2014/main" id="{E20CBDC4-88C1-42DA-816A-30E725E17386}"/>
              </a:ext>
            </a:extLst>
          </p:cNvPr>
          <p:cNvSpPr txBox="1"/>
          <p:nvPr/>
        </p:nvSpPr>
        <p:spPr>
          <a:xfrm>
            <a:off x="7282911" y="4148967"/>
            <a:ext cx="3642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2400">
                <a:solidFill>
                  <a:schemeClr val="accent1"/>
                </a:solidFill>
              </a:rPr>
              <a:t>=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CuadroTexto 29">
                <a:extLst>
                  <a:ext uri="{FF2B5EF4-FFF2-40B4-BE49-F238E27FC236}">
                    <a16:creationId xmlns:a16="http://schemas.microsoft.com/office/drawing/2014/main" id="{D0CB8912-2DC9-4559-AC24-BBBD523A4876}"/>
                  </a:ext>
                </a:extLst>
              </p:cNvPr>
              <p:cNvSpPr txBox="1"/>
              <p:nvPr/>
            </p:nvSpPr>
            <p:spPr>
              <a:xfrm>
                <a:off x="7681319" y="4070348"/>
                <a:ext cx="306622" cy="64344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ctrlPr>
                            <a:rPr lang="es-CO" sz="16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𝑖</m:t>
                          </m:r>
                        </m:sub>
                        <m:sup>
                          <m: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𝑛</m:t>
                          </m:r>
                        </m:sup>
                        <m:e>
                          <m:r>
                            <a:rPr lang="es-CO" sz="16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</m:e>
                      </m:nary>
                    </m:oMath>
                  </m:oMathPara>
                </a14:m>
                <a:endParaRPr lang="es-CO" sz="16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0" name="CuadroTexto 29">
                <a:extLst>
                  <a:ext uri="{FF2B5EF4-FFF2-40B4-BE49-F238E27FC236}">
                    <a16:creationId xmlns:a16="http://schemas.microsoft.com/office/drawing/2014/main" id="{D0CB8912-2DC9-4559-AC24-BBBD523A48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81319" y="4070348"/>
                <a:ext cx="306622" cy="643446"/>
              </a:xfrm>
              <a:prstGeom prst="rect">
                <a:avLst/>
              </a:prstGeom>
              <a:blipFill>
                <a:blip r:embed="rId2"/>
                <a:stretch>
                  <a:fillRect l="-248000" t="-132692" r="-156000" b="-186538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CuadroTexto 30">
            <a:extLst>
              <a:ext uri="{FF2B5EF4-FFF2-40B4-BE49-F238E27FC236}">
                <a16:creationId xmlns:a16="http://schemas.microsoft.com/office/drawing/2014/main" id="{808E67B1-2196-4993-B7B8-2DE2B93E85D8}"/>
              </a:ext>
            </a:extLst>
          </p:cNvPr>
          <p:cNvSpPr txBox="1"/>
          <p:nvPr/>
        </p:nvSpPr>
        <p:spPr>
          <a:xfrm>
            <a:off x="8850770" y="4267025"/>
            <a:ext cx="184731" cy="2359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s-CO" sz="1400" baseline="-25000"/>
          </a:p>
        </p:txBody>
      </p:sp>
      <p:sp>
        <p:nvSpPr>
          <p:cNvPr id="15" name="CuadroTexto 14">
            <a:extLst>
              <a:ext uri="{FF2B5EF4-FFF2-40B4-BE49-F238E27FC236}">
                <a16:creationId xmlns:a16="http://schemas.microsoft.com/office/drawing/2014/main" id="{B9064C89-BBA6-490F-848C-8A151C375913}"/>
              </a:ext>
            </a:extLst>
          </p:cNvPr>
          <p:cNvSpPr txBox="1"/>
          <p:nvPr/>
        </p:nvSpPr>
        <p:spPr>
          <a:xfrm>
            <a:off x="8010181" y="4096077"/>
            <a:ext cx="2744905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CO" sz="1050">
                <a:solidFill>
                  <a:schemeClr val="accent1"/>
                </a:solidFill>
              </a:rPr>
              <a:t>Eventos y hallazgos reportados por auditoría relacionados con mala calidad de los datos</a:t>
            </a:r>
          </a:p>
        </p:txBody>
      </p:sp>
      <p:pic>
        <p:nvPicPr>
          <p:cNvPr id="40964" name="Picture 4" descr="Magnifying Glass Svg Png Icon Free Download (#491257) - OnlineWebFonts.COM">
            <a:extLst>
              <a:ext uri="{FF2B5EF4-FFF2-40B4-BE49-F238E27FC236}">
                <a16:creationId xmlns:a16="http://schemas.microsoft.com/office/drawing/2014/main" id="{C9DFEA4F-E8CA-468D-8A49-F120A16DB9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9359" y="2705839"/>
            <a:ext cx="358656" cy="3594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66" name="Picture 6" descr="Data Collection Icons - Download Free Vector Icons | Noun Project">
            <a:extLst>
              <a:ext uri="{FF2B5EF4-FFF2-40B4-BE49-F238E27FC236}">
                <a16:creationId xmlns:a16="http://schemas.microsoft.com/office/drawing/2014/main" id="{70C86201-8300-4F8E-8F1A-71B8295C59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4703" y="2649235"/>
            <a:ext cx="392401" cy="392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3F5DDC2B-42F8-464E-9BC2-B522AE4CEB2C}"/>
              </a:ext>
            </a:extLst>
          </p:cNvPr>
          <p:cNvSpPr/>
          <p:nvPr/>
        </p:nvSpPr>
        <p:spPr>
          <a:xfrm>
            <a:off x="6595138" y="3178502"/>
            <a:ext cx="128156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Data </a:t>
            </a:r>
            <a:br>
              <a:rPr lang="es-CO" sz="1100">
                <a:solidFill>
                  <a:schemeClr val="tx1"/>
                </a:solidFill>
              </a:rPr>
            </a:br>
            <a:r>
              <a:rPr lang="es-CO" sz="1100" err="1">
                <a:solidFill>
                  <a:schemeClr val="tx1"/>
                </a:solidFill>
              </a:rPr>
              <a:t>Warehouse</a:t>
            </a:r>
            <a:endParaRPr lang="es-CO" sz="1100">
              <a:solidFill>
                <a:schemeClr val="tx1"/>
              </a:solidFill>
            </a:endParaRP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F111A444-3183-4866-98C9-EEC09D0832B0}"/>
              </a:ext>
            </a:extLst>
          </p:cNvPr>
          <p:cNvSpPr/>
          <p:nvPr/>
        </p:nvSpPr>
        <p:spPr>
          <a:xfrm>
            <a:off x="8757905" y="3121808"/>
            <a:ext cx="128156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Auditoria</a:t>
            </a:r>
          </a:p>
        </p:txBody>
      </p:sp>
      <p:pic>
        <p:nvPicPr>
          <p:cNvPr id="40972" name="Picture 12" descr="Data Warehouse Icon - Quantum Computing">
            <a:extLst>
              <a:ext uri="{FF2B5EF4-FFF2-40B4-BE49-F238E27FC236}">
                <a16:creationId xmlns:a16="http://schemas.microsoft.com/office/drawing/2014/main" id="{3D1B357C-AB6D-4A26-ACDB-4F9A1248D3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4775" y="2614239"/>
            <a:ext cx="453378" cy="4533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Rectángulo 44">
            <a:extLst>
              <a:ext uri="{FF2B5EF4-FFF2-40B4-BE49-F238E27FC236}">
                <a16:creationId xmlns:a16="http://schemas.microsoft.com/office/drawing/2014/main" id="{C65BC3A5-D916-4004-BC82-CC4174B7B817}"/>
              </a:ext>
            </a:extLst>
          </p:cNvPr>
          <p:cNvSpPr/>
          <p:nvPr/>
        </p:nvSpPr>
        <p:spPr>
          <a:xfrm>
            <a:off x="7624795" y="3108905"/>
            <a:ext cx="128156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Datos</a:t>
            </a:r>
          </a:p>
        </p:txBody>
      </p:sp>
      <p:pic>
        <p:nvPicPr>
          <p:cNvPr id="46" name="Imagen 45">
            <a:extLst>
              <a:ext uri="{FF2B5EF4-FFF2-40B4-BE49-F238E27FC236}">
                <a16:creationId xmlns:a16="http://schemas.microsoft.com/office/drawing/2014/main" id="{8661ECF8-C107-4A57-A31A-09D46CC4AB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14745" y="2643848"/>
            <a:ext cx="423769" cy="423769"/>
          </a:xfrm>
          <a:prstGeom prst="rect">
            <a:avLst/>
          </a:prstGeom>
        </p:spPr>
      </p:pic>
      <p:sp>
        <p:nvSpPr>
          <p:cNvPr id="35" name="Flecha: hacia abajo 34">
            <a:extLst>
              <a:ext uri="{FF2B5EF4-FFF2-40B4-BE49-F238E27FC236}">
                <a16:creationId xmlns:a16="http://schemas.microsoft.com/office/drawing/2014/main" id="{94777E36-643D-4D64-BF40-A5916ACC75FB}"/>
              </a:ext>
            </a:extLst>
          </p:cNvPr>
          <p:cNvSpPr/>
          <p:nvPr/>
        </p:nvSpPr>
        <p:spPr>
          <a:xfrm rot="16200000">
            <a:off x="6621704" y="2642799"/>
            <a:ext cx="243840" cy="393579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Flecha: hacia abajo 49">
            <a:extLst>
              <a:ext uri="{FF2B5EF4-FFF2-40B4-BE49-F238E27FC236}">
                <a16:creationId xmlns:a16="http://schemas.microsoft.com/office/drawing/2014/main" id="{C46AE043-3F34-4A6A-ABF3-D6154D70AF01}"/>
              </a:ext>
            </a:extLst>
          </p:cNvPr>
          <p:cNvSpPr/>
          <p:nvPr/>
        </p:nvSpPr>
        <p:spPr>
          <a:xfrm rot="16200000">
            <a:off x="7683495" y="2643389"/>
            <a:ext cx="243840" cy="392400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2" name="Flecha: hacia abajo 61">
            <a:extLst>
              <a:ext uri="{FF2B5EF4-FFF2-40B4-BE49-F238E27FC236}">
                <a16:creationId xmlns:a16="http://schemas.microsoft.com/office/drawing/2014/main" id="{C65AC4A6-F8D9-44FD-B4E3-DFF8F20F1A89}"/>
              </a:ext>
            </a:extLst>
          </p:cNvPr>
          <p:cNvSpPr/>
          <p:nvPr/>
        </p:nvSpPr>
        <p:spPr>
          <a:xfrm rot="5400000">
            <a:off x="8715063" y="2659532"/>
            <a:ext cx="243840" cy="392400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3" name="Rectángulo 62">
            <a:extLst>
              <a:ext uri="{FF2B5EF4-FFF2-40B4-BE49-F238E27FC236}">
                <a16:creationId xmlns:a16="http://schemas.microsoft.com/office/drawing/2014/main" id="{DD588E12-73D5-4858-A5A5-BADB2ECAA98C}"/>
              </a:ext>
            </a:extLst>
          </p:cNvPr>
          <p:cNvSpPr/>
          <p:nvPr/>
        </p:nvSpPr>
        <p:spPr>
          <a:xfrm>
            <a:off x="8267922" y="2452521"/>
            <a:ext cx="128156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tx1"/>
                </a:solidFill>
              </a:rPr>
              <a:t>Auditoria calidad de los datos</a:t>
            </a:r>
          </a:p>
        </p:txBody>
      </p:sp>
      <p:sp>
        <p:nvSpPr>
          <p:cNvPr id="65" name="CuadroTexto 64">
            <a:extLst>
              <a:ext uri="{FF2B5EF4-FFF2-40B4-BE49-F238E27FC236}">
                <a16:creationId xmlns:a16="http://schemas.microsoft.com/office/drawing/2014/main" id="{474C4B34-8610-4D5E-857A-2B245B197CE2}"/>
              </a:ext>
            </a:extLst>
          </p:cNvPr>
          <p:cNvSpPr txBox="1"/>
          <p:nvPr/>
        </p:nvSpPr>
        <p:spPr>
          <a:xfrm>
            <a:off x="9994386" y="2651635"/>
            <a:ext cx="1092235" cy="43088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s-CO" sz="1100" b="1"/>
              <a:t>DQ Hallazgos de auditoría</a:t>
            </a:r>
          </a:p>
        </p:txBody>
      </p:sp>
      <p:sp>
        <p:nvSpPr>
          <p:cNvPr id="66" name="Flecha: hacia abajo 65">
            <a:extLst>
              <a:ext uri="{FF2B5EF4-FFF2-40B4-BE49-F238E27FC236}">
                <a16:creationId xmlns:a16="http://schemas.microsoft.com/office/drawing/2014/main" id="{143A50CE-E4C0-4310-8431-EC790556E0F8}"/>
              </a:ext>
            </a:extLst>
          </p:cNvPr>
          <p:cNvSpPr/>
          <p:nvPr/>
        </p:nvSpPr>
        <p:spPr>
          <a:xfrm rot="16200000">
            <a:off x="9623765" y="2643389"/>
            <a:ext cx="243840" cy="392400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4DC43FCF-C06E-4055-ADFD-287211877D24}"/>
              </a:ext>
            </a:extLst>
          </p:cNvPr>
          <p:cNvSpPr/>
          <p:nvPr/>
        </p:nvSpPr>
        <p:spPr>
          <a:xfrm rot="10800000">
            <a:off x="10852892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41648247-7817-4B4D-9FDE-63E2A348B8BC}"/>
              </a:ext>
            </a:extLst>
          </p:cNvPr>
          <p:cNvSpPr/>
          <p:nvPr/>
        </p:nvSpPr>
        <p:spPr>
          <a:xfrm>
            <a:off x="9867188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662281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estratégico de Gestión del Talento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del plan de gestión del talento de la organización,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CO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Gestión del Talento</a:t>
            </a:r>
          </a:p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100%: no se alcanzo el avance esperado- se evidencia retraso respecto al plan inicial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on-track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hitos del plan estratégico de Gestión del Talento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 Comité de Presidencia, Comité de Gestión del Talento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C33BDC9C-AD11-49E7-8984-BFC99F63F53D}"/>
              </a:ext>
            </a:extLst>
          </p:cNvPr>
          <p:cNvSpPr/>
          <p:nvPr/>
        </p:nvSpPr>
        <p:spPr>
          <a:xfrm>
            <a:off x="8042488" y="325598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CEA6CD9-1007-4174-B4D3-F92EB5A9A398}"/>
              </a:ext>
            </a:extLst>
          </p:cNvPr>
          <p:cNvSpPr/>
          <p:nvPr/>
        </p:nvSpPr>
        <p:spPr>
          <a:xfrm>
            <a:off x="8042488" y="4080308"/>
            <a:ext cx="159399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Total de hitos del plan estratégico</a:t>
            </a:r>
          </a:p>
        </p:txBody>
      </p:sp>
      <p:sp>
        <p:nvSpPr>
          <p:cNvPr id="26" name="Signo de división 25">
            <a:extLst>
              <a:ext uri="{FF2B5EF4-FFF2-40B4-BE49-F238E27FC236}">
                <a16:creationId xmlns:a16="http://schemas.microsoft.com/office/drawing/2014/main" id="{34E506B0-53DC-43D2-B5AA-BFEF95941BE4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B649E9F4-9F07-4BD2-AB3A-4E245BD24E49}"/>
              </a:ext>
            </a:extLst>
          </p:cNvPr>
          <p:cNvSpPr/>
          <p:nvPr/>
        </p:nvSpPr>
        <p:spPr>
          <a:xfrm>
            <a:off x="6143487" y="3424728"/>
            <a:ext cx="1469645" cy="779401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del plan estratégico de G. del Talento</a:t>
            </a:r>
          </a:p>
        </p:txBody>
      </p:sp>
      <p:sp>
        <p:nvSpPr>
          <p:cNvPr id="30" name="Cerrar llave 29">
            <a:extLst>
              <a:ext uri="{FF2B5EF4-FFF2-40B4-BE49-F238E27FC236}">
                <a16:creationId xmlns:a16="http://schemas.microsoft.com/office/drawing/2014/main" id="{59D992BE-9D98-4847-B391-645F8615F512}"/>
              </a:ext>
            </a:extLst>
          </p:cNvPr>
          <p:cNvSpPr/>
          <p:nvPr/>
        </p:nvSpPr>
        <p:spPr>
          <a:xfrm rot="10800000">
            <a:off x="9805436" y="3180103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C1EFEA23-2D7A-41F6-B91D-97D7A83FE7DE}"/>
              </a:ext>
            </a:extLst>
          </p:cNvPr>
          <p:cNvSpPr/>
          <p:nvPr/>
        </p:nvSpPr>
        <p:spPr>
          <a:xfrm>
            <a:off x="9850261" y="312931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3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71" name="Conector: angular 70">
            <a:extLst>
              <a:ext uri="{FF2B5EF4-FFF2-40B4-BE49-F238E27FC236}">
                <a16:creationId xmlns:a16="http://schemas.microsoft.com/office/drawing/2014/main" id="{6E0D5613-A60F-4A20-A21C-0336B5B22BFD}"/>
              </a:ext>
            </a:extLst>
          </p:cNvPr>
          <p:cNvCxnSpPr>
            <a:cxnSpLocks/>
            <a:stCxn id="55" idx="3"/>
            <a:endCxn id="2" idx="1"/>
          </p:cNvCxnSpPr>
          <p:nvPr/>
        </p:nvCxnSpPr>
        <p:spPr>
          <a:xfrm flipV="1">
            <a:off x="7613132" y="3435988"/>
            <a:ext cx="429356" cy="37844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Conector: angular 75">
            <a:extLst>
              <a:ext uri="{FF2B5EF4-FFF2-40B4-BE49-F238E27FC236}">
                <a16:creationId xmlns:a16="http://schemas.microsoft.com/office/drawing/2014/main" id="{B5744290-8858-45F1-B4E5-323254A21083}"/>
              </a:ext>
            </a:extLst>
          </p:cNvPr>
          <p:cNvCxnSpPr>
            <a:cxnSpLocks/>
            <a:stCxn id="55" idx="3"/>
            <a:endCxn id="15" idx="1"/>
          </p:cNvCxnSpPr>
          <p:nvPr/>
        </p:nvCxnSpPr>
        <p:spPr>
          <a:xfrm>
            <a:off x="7613132" y="3814429"/>
            <a:ext cx="429356" cy="44587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CuadroTexto 2">
            <a:extLst>
              <a:ext uri="{FF2B5EF4-FFF2-40B4-BE49-F238E27FC236}">
                <a16:creationId xmlns:a16="http://schemas.microsoft.com/office/drawing/2014/main" id="{A202BB90-C7D3-4B46-AA3B-86AE6E20FFD5}"/>
              </a:ext>
            </a:extLst>
          </p:cNvPr>
          <p:cNvSpPr txBox="1"/>
          <p:nvPr/>
        </p:nvSpPr>
        <p:spPr>
          <a:xfrm>
            <a:off x="9718041" y="6471687"/>
            <a:ext cx="1370349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09302E96-6F78-4462-B4FA-ED0401BE7138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4E450DA-3DD4-4376-A463-2F04FC1ED85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1997370263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Rotación de la planta - Retención del personal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1814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número de empleados (de todas las áreas) que entran y salen de la compañía de forma voluntaria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Rotación de personal 2019: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38% - causas voluntarias e involuntarias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Gestión del talento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Gerencia de Gestión del Talento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4897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2895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Entre mayor sea el número de empleados salientes, mayor será el nivel de rotación de personal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Altos niveles de rotación tienen en implicaciones negativas en materia de costo de personal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Es fundamental hacer seguimiento a las causas de los altos niveles de rotación de personal– voluntaria vs involuntaria</a:t>
            </a:r>
          </a:p>
          <a:p>
            <a:pPr marL="88900" lvl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Rotación de la planta - Retención del personal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Gestión del Talento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6" name="Conector angular 26">
            <a:extLst>
              <a:ext uri="{FF2B5EF4-FFF2-40B4-BE49-F238E27FC236}">
                <a16:creationId xmlns:a16="http://schemas.microsoft.com/office/drawing/2014/main" id="{483B6195-6D9D-4F67-808D-487690120152}"/>
              </a:ext>
            </a:extLst>
          </p:cNvPr>
          <p:cNvCxnSpPr>
            <a:cxnSpLocks/>
          </p:cNvCxnSpPr>
          <p:nvPr/>
        </p:nvCxnSpPr>
        <p:spPr>
          <a:xfrm>
            <a:off x="6652832" y="2486897"/>
            <a:ext cx="3888000" cy="1584000"/>
          </a:xfrm>
          <a:prstGeom prst="bentConnector3">
            <a:avLst>
              <a:gd name="adj1" fmla="val 180"/>
            </a:avLst>
          </a:prstGeom>
          <a:ln w="19050" cmpd="sng">
            <a:solidFill>
              <a:schemeClr val="tx1"/>
            </a:solidFill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CuadroTexto 26">
            <a:extLst>
              <a:ext uri="{FF2B5EF4-FFF2-40B4-BE49-F238E27FC236}">
                <a16:creationId xmlns:a16="http://schemas.microsoft.com/office/drawing/2014/main" id="{5D25B929-7565-48EF-8615-C2A23027E3C5}"/>
              </a:ext>
            </a:extLst>
          </p:cNvPr>
          <p:cNvSpPr txBox="1"/>
          <p:nvPr/>
        </p:nvSpPr>
        <p:spPr>
          <a:xfrm rot="16200000">
            <a:off x="5799897" y="3203020"/>
            <a:ext cx="14318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Número de Clientes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04E298DA-0472-408F-B654-17F9AF9390D7}"/>
              </a:ext>
            </a:extLst>
          </p:cNvPr>
          <p:cNvSpPr/>
          <p:nvPr/>
        </p:nvSpPr>
        <p:spPr>
          <a:xfrm>
            <a:off x="6793422" y="3055585"/>
            <a:ext cx="540000" cy="10098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3DEFE98B-04C4-4426-B25E-3E647F73D0A1}"/>
              </a:ext>
            </a:extLst>
          </p:cNvPr>
          <p:cNvSpPr/>
          <p:nvPr/>
        </p:nvSpPr>
        <p:spPr>
          <a:xfrm>
            <a:off x="8333208" y="3296180"/>
            <a:ext cx="540000" cy="769241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197F3083-70F2-4AE8-8C30-70663D8070DB}"/>
              </a:ext>
            </a:extLst>
          </p:cNvPr>
          <p:cNvSpPr/>
          <p:nvPr/>
        </p:nvSpPr>
        <p:spPr>
          <a:xfrm>
            <a:off x="7563315" y="3055585"/>
            <a:ext cx="540000" cy="240596"/>
          </a:xfrm>
          <a:prstGeom prst="rect">
            <a:avLst/>
          </a:prstGeom>
          <a:solidFill>
            <a:schemeClr val="accent5"/>
          </a:solidFill>
          <a:ln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EDBF4673-AFB6-4601-B3DC-10A12C10256B}"/>
              </a:ext>
            </a:extLst>
          </p:cNvPr>
          <p:cNvSpPr/>
          <p:nvPr/>
        </p:nvSpPr>
        <p:spPr>
          <a:xfrm>
            <a:off x="9103101" y="2803761"/>
            <a:ext cx="540000" cy="496641"/>
          </a:xfrm>
          <a:prstGeom prst="rect">
            <a:avLst/>
          </a:prstGeom>
          <a:solidFill>
            <a:srgbClr val="B1B1B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4D48B4CF-FC03-498F-A783-9424B9040B48}"/>
              </a:ext>
            </a:extLst>
          </p:cNvPr>
          <p:cNvSpPr/>
          <p:nvPr/>
        </p:nvSpPr>
        <p:spPr>
          <a:xfrm>
            <a:off x="9872994" y="2803761"/>
            <a:ext cx="540000" cy="125909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41591C94-977A-4B88-9EBA-CF581451711F}"/>
              </a:ext>
            </a:extLst>
          </p:cNvPr>
          <p:cNvSpPr txBox="1"/>
          <p:nvPr/>
        </p:nvSpPr>
        <p:spPr>
          <a:xfrm>
            <a:off x="6666076" y="4065424"/>
            <a:ext cx="7633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Planta T</a:t>
            </a:r>
            <a:r>
              <a:rPr lang="es-CO" sz="1100" baseline="-25000">
                <a:solidFill>
                  <a:prstClr val="black"/>
                </a:solidFill>
              </a:rPr>
              <a:t>0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1A82B06E-1073-419B-8378-6C579F06ABCB}"/>
              </a:ext>
            </a:extLst>
          </p:cNvPr>
          <p:cNvSpPr txBox="1"/>
          <p:nvPr/>
        </p:nvSpPr>
        <p:spPr>
          <a:xfrm>
            <a:off x="8192678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Retención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5" name="CuadroTexto 34">
            <a:extLst>
              <a:ext uri="{FF2B5EF4-FFF2-40B4-BE49-F238E27FC236}">
                <a16:creationId xmlns:a16="http://schemas.microsoft.com/office/drawing/2014/main" id="{3568EC63-FB18-45B7-B74D-92212ED65BD2}"/>
              </a:ext>
            </a:extLst>
          </p:cNvPr>
          <p:cNvSpPr txBox="1"/>
          <p:nvPr/>
        </p:nvSpPr>
        <p:spPr>
          <a:xfrm>
            <a:off x="7435441" y="4065424"/>
            <a:ext cx="8210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Deserción</a:t>
            </a:r>
            <a:endParaRPr lang="es-CO" sz="1100" baseline="-25000">
              <a:solidFill>
                <a:prstClr val="black"/>
              </a:solidFill>
            </a:endParaRP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7E7372D2-95A5-4D81-B2E8-C43DF3C8543F}"/>
              </a:ext>
            </a:extLst>
          </p:cNvPr>
          <p:cNvSpPr txBox="1"/>
          <p:nvPr/>
        </p:nvSpPr>
        <p:spPr>
          <a:xfrm>
            <a:off x="9822717" y="4065424"/>
            <a:ext cx="7633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Planta T</a:t>
            </a:r>
            <a:r>
              <a:rPr lang="es-CO" sz="1100" baseline="-25000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69783C92-BE45-45E3-B509-CC6425C6D2D8}"/>
              </a:ext>
            </a:extLst>
          </p:cNvPr>
          <p:cNvSpPr txBox="1"/>
          <p:nvPr/>
        </p:nvSpPr>
        <p:spPr>
          <a:xfrm>
            <a:off x="9041119" y="4065424"/>
            <a:ext cx="6639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O" sz="1100">
                <a:solidFill>
                  <a:prstClr val="black"/>
                </a:solidFill>
              </a:rPr>
              <a:t>Nuevos</a:t>
            </a:r>
            <a:endParaRPr lang="es-CO" sz="1100" baseline="-25000">
              <a:solidFill>
                <a:prstClr val="black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CuadroTexto 37">
                <a:extLst>
                  <a:ext uri="{FF2B5EF4-FFF2-40B4-BE49-F238E27FC236}">
                    <a16:creationId xmlns:a16="http://schemas.microsoft.com/office/drawing/2014/main" id="{84EC1A34-E94E-476E-9CEE-15FEC2DCC846}"/>
                  </a:ext>
                </a:extLst>
              </p:cNvPr>
              <p:cNvSpPr txBox="1"/>
              <p:nvPr/>
            </p:nvSpPr>
            <p:spPr>
              <a:xfrm>
                <a:off x="6646603" y="4824244"/>
                <a:ext cx="3495124" cy="36619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𝐑𝐨𝐭𝐚𝐜𝐢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ó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𝐧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𝐝𝐞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𝐩𝐞𝐫𝐬𝐨𝐧𝐚𝐥</m:t>
                      </m:r>
                      <m:r>
                        <a:rPr lang="es-CO" sz="1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r>
                        <a:rPr lang="es-CO" sz="1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 </m:t>
                      </m:r>
                      <m:f>
                        <m:fPr>
                          <m:ctrlPr>
                            <a:rPr lang="es-ES" sz="12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Deserci</m:t>
                          </m:r>
                          <m: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ó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n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Prom</m:t>
                          </m:r>
                          <m: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.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Planta</m:t>
                          </m:r>
                          <m:r>
                            <m:rPr>
                              <m:nor/>
                            </m:rPr>
                            <a:rPr lang="es-CO" sz="1200" dirty="0" smtClean="0">
                              <a:solidFill>
                                <a:schemeClr val="tx1"/>
                              </a:solidFill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s-CO" sz="1200" baseline="-25000" dirty="0" smtClean="0">
                              <a:solidFill>
                                <a:schemeClr val="tx1"/>
                              </a:solidFill>
                            </a:rPr>
                            <m:t>0</m:t>
                          </m:r>
                          <m:r>
                            <a:rPr lang="es-CO" sz="1200" b="0" i="0" baseline="-25000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nor/>
                            </m:rPr>
                            <a:rPr lang="es-CO" sz="1200" b="0" i="0" smtClean="0">
                              <a:solidFill>
                                <a:schemeClr val="tx1"/>
                              </a:solidFill>
                              <a:cs typeface="Arial" panose="020B0604020202020204" pitchFamily="34" charset="0"/>
                            </a:rPr>
                            <m:t>Planta</m:t>
                          </m:r>
                          <m:r>
                            <m:rPr>
                              <m:nor/>
                            </m:rPr>
                            <a:rPr lang="es-CO" sz="1200" dirty="0">
                              <a:solidFill>
                                <a:schemeClr val="tx1"/>
                              </a:solidFill>
                            </a:rPr>
                            <m:t>T</m:t>
                          </m:r>
                          <m:r>
                            <m:rPr>
                              <m:nor/>
                            </m:rPr>
                            <a:rPr lang="es-CO" sz="1200" baseline="-25000" dirty="0">
                              <a:solidFill>
                                <a:schemeClr val="tx1"/>
                              </a:solidFill>
                            </a:rPr>
                            <m:t>1</m:t>
                          </m:r>
                        </m:den>
                      </m:f>
                    </m:oMath>
                  </m:oMathPara>
                </a14:m>
                <a:endParaRPr lang="es-CO" sz="12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8" name="CuadroTexto 37">
                <a:extLst>
                  <a:ext uri="{FF2B5EF4-FFF2-40B4-BE49-F238E27FC236}">
                    <a16:creationId xmlns:a16="http://schemas.microsoft.com/office/drawing/2014/main" id="{84EC1A34-E94E-476E-9CEE-15FEC2DCC8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46603" y="4824244"/>
                <a:ext cx="3495124" cy="366190"/>
              </a:xfrm>
              <a:prstGeom prst="rect">
                <a:avLst/>
              </a:prstGeom>
              <a:blipFill>
                <a:blip r:embed="rId2"/>
                <a:stretch>
                  <a:fillRect t="-6667" b="-1000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CuadroTexto 38">
            <a:extLst>
              <a:ext uri="{FF2B5EF4-FFF2-40B4-BE49-F238E27FC236}">
                <a16:creationId xmlns:a16="http://schemas.microsoft.com/office/drawing/2014/main" id="{96B13E18-2BD4-4754-9B36-C6F42D1645DE}"/>
              </a:ext>
            </a:extLst>
          </p:cNvPr>
          <p:cNvSpPr txBox="1"/>
          <p:nvPr/>
        </p:nvSpPr>
        <p:spPr>
          <a:xfrm>
            <a:off x="10173529" y="4901381"/>
            <a:ext cx="331822" cy="1661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200">
                <a:solidFill>
                  <a:schemeClr val="tx1"/>
                </a:solidFill>
                <a:cs typeface="Arial" panose="020B0604020202020204" pitchFamily="34" charset="0"/>
              </a:rPr>
              <a:t>x100</a:t>
            </a:r>
          </a:p>
        </p:txBody>
      </p:sp>
      <p:sp>
        <p:nvSpPr>
          <p:cNvPr id="2" name="Bocadillo: rectángulo con esquinas redondeadas 1">
            <a:extLst>
              <a:ext uri="{FF2B5EF4-FFF2-40B4-BE49-F238E27FC236}">
                <a16:creationId xmlns:a16="http://schemas.microsoft.com/office/drawing/2014/main" id="{F7727631-6386-4EA7-AC1C-4F3133D9D63E}"/>
              </a:ext>
            </a:extLst>
          </p:cNvPr>
          <p:cNvSpPr/>
          <p:nvPr/>
        </p:nvSpPr>
        <p:spPr>
          <a:xfrm>
            <a:off x="7488740" y="2263921"/>
            <a:ext cx="1450422" cy="610196"/>
          </a:xfrm>
          <a:prstGeom prst="wedgeRoundRectCallout">
            <a:avLst>
              <a:gd name="adj1" fmla="val -29565"/>
              <a:gd name="adj2" fmla="val 83404"/>
              <a:gd name="adj3" fmla="val 16667"/>
            </a:avLst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000">
                <a:latin typeface="Arial" panose="020B0604020202020204" pitchFamily="34" charset="0"/>
                <a:cs typeface="Arial" panose="020B0604020202020204" pitchFamily="34" charset="0"/>
              </a:rPr>
              <a:t>Personal que se desvinculó de la empresa en el período de forma voluntaria</a:t>
            </a: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F16B3892-4D69-43B2-BB66-EB0D3A729AC0}"/>
              </a:ext>
            </a:extLst>
          </p:cNvPr>
          <p:cNvSpPr txBox="1"/>
          <p:nvPr/>
        </p:nvSpPr>
        <p:spPr>
          <a:xfrm>
            <a:off x="9718041" y="6471687"/>
            <a:ext cx="1370349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CFC7D8D9-F9CD-45DF-9E0B-9E189B3E52EB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77122F1-8572-442D-852E-02E78D3531F2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27299133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n-US" sz="2000">
                <a:latin typeface="Arial" panose="020B0604020202020204" pitchFamily="34" charset="0"/>
                <a:cs typeface="Arial" panose="020B0604020202020204" pitchFamily="34" charset="0"/>
              </a:rPr>
              <a:t>ENPS - Employee Net Promoted Score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79"/>
            <a:ext cx="4552406" cy="9324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nivel de satisfacción y compromiso de los empleados dentro de su ciclo de vida en BCF/CV e identificar oportunidades de mejora - implicaciones en los resultados de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Gestión del Talento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Trimestral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Gestión del Talento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19562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07562"/>
            <a:ext cx="4536000" cy="123918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la probabilidad de que un empleado recomiende CV/CF como un buen lugar para trabajar</a:t>
            </a:r>
          </a:p>
          <a:p>
            <a:pPr marL="271463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  <a:tabLst>
                <a:tab pos="271463" algn="l"/>
              </a:tabLst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nivel de compromiso y satisfacción de los empleados respecto a sus condiciones y experiencias laborales y aumente los resultados serán más favorables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n-US" sz="1200">
                <a:latin typeface="Arial" panose="020B0604020202020204" pitchFamily="34" charset="0"/>
                <a:cs typeface="Arial" panose="020B0604020202020204" pitchFamily="34" charset="0"/>
              </a:rPr>
              <a:t>ENPS - Employee Net Promoted Score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de Gestión del Talento</a:t>
            </a:r>
          </a:p>
        </p:txBody>
      </p:sp>
      <p:pic>
        <p:nvPicPr>
          <p:cNvPr id="39978" name="Imagen 3997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3B6F14ED-EA9C-4005-B641-C2400EBA9E26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8943989" y="4150457"/>
            <a:ext cx="360000" cy="360000"/>
          </a:xfrm>
          <a:prstGeom prst="rect">
            <a:avLst/>
          </a:prstGeom>
        </p:spPr>
      </p:pic>
      <p:pic>
        <p:nvPicPr>
          <p:cNvPr id="39979" name="Imagen 39978" descr="Imagen que contiene dibujo, reloj&#10;&#10;Descripción generada automáticamente">
            <a:extLst>
              <a:ext uri="{FF2B5EF4-FFF2-40B4-BE49-F238E27FC236}">
                <a16:creationId xmlns:a16="http://schemas.microsoft.com/office/drawing/2014/main" id="{D8D885DF-DEA7-4BA9-AC79-40A82B7F27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60067" y="4149509"/>
            <a:ext cx="360000" cy="360000"/>
          </a:xfrm>
          <a:prstGeom prst="rect">
            <a:avLst/>
          </a:prstGeom>
        </p:spPr>
      </p:pic>
      <p:pic>
        <p:nvPicPr>
          <p:cNvPr id="39980" name="Imagen 39979" descr="Imagen que contiene dibujo&#10;&#10;Descripción generada automáticamente">
            <a:extLst>
              <a:ext uri="{FF2B5EF4-FFF2-40B4-BE49-F238E27FC236}">
                <a16:creationId xmlns:a16="http://schemas.microsoft.com/office/drawing/2014/main" id="{310038AE-CE73-4CD6-B96D-8C6CAD12C175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6195755" y="4166067"/>
            <a:ext cx="360000" cy="360000"/>
          </a:xfrm>
          <a:prstGeom prst="rect">
            <a:avLst/>
          </a:prstGeom>
        </p:spPr>
      </p:pic>
      <p:pic>
        <p:nvPicPr>
          <p:cNvPr id="39981" name="Imagen 39980" descr="Imagen que contiene dibujo&#10;&#10;Descripción generada automáticamente">
            <a:extLst>
              <a:ext uri="{FF2B5EF4-FFF2-40B4-BE49-F238E27FC236}">
                <a16:creationId xmlns:a16="http://schemas.microsoft.com/office/drawing/2014/main" id="{0EB90C91-91B2-4C46-984E-544EF1D96527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6653794" y="4166067"/>
            <a:ext cx="360000" cy="360000"/>
          </a:xfrm>
          <a:prstGeom prst="rect">
            <a:avLst/>
          </a:prstGeom>
        </p:spPr>
      </p:pic>
      <p:pic>
        <p:nvPicPr>
          <p:cNvPr id="39982" name="Imagen 39981" descr="Imagen que contiene dibujo&#10;&#10;Descripción generada automáticamente">
            <a:extLst>
              <a:ext uri="{FF2B5EF4-FFF2-40B4-BE49-F238E27FC236}">
                <a16:creationId xmlns:a16="http://schemas.microsoft.com/office/drawing/2014/main" id="{12CA85A1-C8B1-4616-ABDE-124B5DB064E8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111833" y="4166067"/>
            <a:ext cx="360000" cy="360000"/>
          </a:xfrm>
          <a:prstGeom prst="rect">
            <a:avLst/>
          </a:prstGeom>
        </p:spPr>
      </p:pic>
      <p:pic>
        <p:nvPicPr>
          <p:cNvPr id="39983" name="Imagen 39982" descr="Imagen que contiene dibujo&#10;&#10;Descripción generada automáticamente">
            <a:extLst>
              <a:ext uri="{FF2B5EF4-FFF2-40B4-BE49-F238E27FC236}">
                <a16:creationId xmlns:a16="http://schemas.microsoft.com/office/drawing/2014/main" id="{24AB49F9-262B-44C6-BF4A-BB50F5BD1A39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569872" y="4166067"/>
            <a:ext cx="360000" cy="360000"/>
          </a:xfrm>
          <a:prstGeom prst="rect">
            <a:avLst/>
          </a:prstGeom>
        </p:spPr>
      </p:pic>
      <p:pic>
        <p:nvPicPr>
          <p:cNvPr id="39984" name="Imagen 39983" descr="Imagen que contiene dibujo&#10;&#10;Descripción generada automáticamente">
            <a:extLst>
              <a:ext uri="{FF2B5EF4-FFF2-40B4-BE49-F238E27FC236}">
                <a16:creationId xmlns:a16="http://schemas.microsoft.com/office/drawing/2014/main" id="{5076A400-0C2A-4F5D-8562-CF7AEC6F841A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8027911" y="4166067"/>
            <a:ext cx="360000" cy="360000"/>
          </a:xfrm>
          <a:prstGeom prst="rect">
            <a:avLst/>
          </a:prstGeom>
        </p:spPr>
      </p:pic>
      <p:pic>
        <p:nvPicPr>
          <p:cNvPr id="39985" name="Imagen 39984" descr="Imagen que contiene dibujo&#10;&#10;Descripción generada automáticamente">
            <a:extLst>
              <a:ext uri="{FF2B5EF4-FFF2-40B4-BE49-F238E27FC236}">
                <a16:creationId xmlns:a16="http://schemas.microsoft.com/office/drawing/2014/main" id="{E65974A6-5203-4F80-BC3C-587260452A59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8485950" y="4166067"/>
            <a:ext cx="360000" cy="360000"/>
          </a:xfrm>
          <a:prstGeom prst="rect">
            <a:avLst/>
          </a:prstGeom>
        </p:spPr>
      </p:pic>
      <p:pic>
        <p:nvPicPr>
          <p:cNvPr id="39986" name="Imagen 39985" descr="Imagen que contiene dibujo&#10;&#10;Descripción generada automáticamente">
            <a:extLst>
              <a:ext uri="{FF2B5EF4-FFF2-40B4-BE49-F238E27FC236}">
                <a16:creationId xmlns:a16="http://schemas.microsoft.com/office/drawing/2014/main" id="{5EC29375-5CC9-4AC5-B08C-1FE8759D4F49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9402028" y="4150457"/>
            <a:ext cx="360000" cy="360000"/>
          </a:xfrm>
          <a:prstGeom prst="rect">
            <a:avLst/>
          </a:prstGeom>
        </p:spPr>
      </p:pic>
      <p:pic>
        <p:nvPicPr>
          <p:cNvPr id="39987" name="Imagen 39986" descr="Imagen que contiene dibujo, reloj&#10;&#10;Descripción generada automáticamente">
            <a:extLst>
              <a:ext uri="{FF2B5EF4-FFF2-40B4-BE49-F238E27FC236}">
                <a16:creationId xmlns:a16="http://schemas.microsoft.com/office/drawing/2014/main" id="{991DF2EE-229E-41D0-9744-6375D55A4D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18106" y="4149509"/>
            <a:ext cx="360000" cy="360000"/>
          </a:xfrm>
          <a:prstGeom prst="rect">
            <a:avLst/>
          </a:prstGeom>
        </p:spPr>
      </p:pic>
      <p:sp>
        <p:nvSpPr>
          <p:cNvPr id="39988" name="Rectángulo: esquinas redondeadas 39987">
            <a:extLst>
              <a:ext uri="{FF2B5EF4-FFF2-40B4-BE49-F238E27FC236}">
                <a16:creationId xmlns:a16="http://schemas.microsoft.com/office/drawing/2014/main" id="{8F6084C9-583C-400A-A53E-19C28785364C}"/>
              </a:ext>
            </a:extLst>
          </p:cNvPr>
          <p:cNvSpPr/>
          <p:nvPr/>
        </p:nvSpPr>
        <p:spPr>
          <a:xfrm>
            <a:off x="6338991" y="4609856"/>
            <a:ext cx="2367456" cy="151200"/>
          </a:xfrm>
          <a:prstGeom prst="roundRect">
            <a:avLst/>
          </a:prstGeom>
          <a:solidFill>
            <a:srgbClr val="B1B1B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89" name="Elipse 39988">
            <a:extLst>
              <a:ext uri="{FF2B5EF4-FFF2-40B4-BE49-F238E27FC236}">
                <a16:creationId xmlns:a16="http://schemas.microsoft.com/office/drawing/2014/main" id="{69CDEA85-CDF7-44BF-A672-CF0F4B6B0628}"/>
              </a:ext>
            </a:extLst>
          </p:cNvPr>
          <p:cNvSpPr/>
          <p:nvPr/>
        </p:nvSpPr>
        <p:spPr>
          <a:xfrm>
            <a:off x="6292158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39990" name="Elipse 39989">
            <a:extLst>
              <a:ext uri="{FF2B5EF4-FFF2-40B4-BE49-F238E27FC236}">
                <a16:creationId xmlns:a16="http://schemas.microsoft.com/office/drawing/2014/main" id="{0E8B5C6C-0C6B-4ECB-88E4-59FB569702AB}"/>
              </a:ext>
            </a:extLst>
          </p:cNvPr>
          <p:cNvSpPr/>
          <p:nvPr/>
        </p:nvSpPr>
        <p:spPr>
          <a:xfrm>
            <a:off x="6750197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9991" name="Elipse 39990">
            <a:extLst>
              <a:ext uri="{FF2B5EF4-FFF2-40B4-BE49-F238E27FC236}">
                <a16:creationId xmlns:a16="http://schemas.microsoft.com/office/drawing/2014/main" id="{43650915-28CD-4ABA-B8F1-6175175A6CFA}"/>
              </a:ext>
            </a:extLst>
          </p:cNvPr>
          <p:cNvSpPr/>
          <p:nvPr/>
        </p:nvSpPr>
        <p:spPr>
          <a:xfrm>
            <a:off x="7208236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9992" name="Elipse 39991">
            <a:extLst>
              <a:ext uri="{FF2B5EF4-FFF2-40B4-BE49-F238E27FC236}">
                <a16:creationId xmlns:a16="http://schemas.microsoft.com/office/drawing/2014/main" id="{8F137604-34FE-4983-A42E-039E66377404}"/>
              </a:ext>
            </a:extLst>
          </p:cNvPr>
          <p:cNvSpPr/>
          <p:nvPr/>
        </p:nvSpPr>
        <p:spPr>
          <a:xfrm>
            <a:off x="7666275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39993" name="Elipse 39992">
            <a:extLst>
              <a:ext uri="{FF2B5EF4-FFF2-40B4-BE49-F238E27FC236}">
                <a16:creationId xmlns:a16="http://schemas.microsoft.com/office/drawing/2014/main" id="{6CA63BC1-B695-4AA8-888C-79BB42195EE1}"/>
              </a:ext>
            </a:extLst>
          </p:cNvPr>
          <p:cNvSpPr/>
          <p:nvPr/>
        </p:nvSpPr>
        <p:spPr>
          <a:xfrm>
            <a:off x="8124314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39994" name="Elipse 39993">
            <a:extLst>
              <a:ext uri="{FF2B5EF4-FFF2-40B4-BE49-F238E27FC236}">
                <a16:creationId xmlns:a16="http://schemas.microsoft.com/office/drawing/2014/main" id="{4F3D7FFC-0AE5-4759-BF5B-20900350B8C5}"/>
              </a:ext>
            </a:extLst>
          </p:cNvPr>
          <p:cNvSpPr/>
          <p:nvPr/>
        </p:nvSpPr>
        <p:spPr>
          <a:xfrm>
            <a:off x="8582353" y="4601860"/>
            <a:ext cx="167193" cy="167193"/>
          </a:xfrm>
          <a:prstGeom prst="ellipse">
            <a:avLst/>
          </a:prstGeom>
          <a:solidFill>
            <a:schemeClr val="tx2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</a:p>
        </p:txBody>
      </p:sp>
      <p:sp>
        <p:nvSpPr>
          <p:cNvPr id="39995" name="Rectángulo: esquinas redondeadas 39994">
            <a:extLst>
              <a:ext uri="{FF2B5EF4-FFF2-40B4-BE49-F238E27FC236}">
                <a16:creationId xmlns:a16="http://schemas.microsoft.com/office/drawing/2014/main" id="{84744FC2-89F9-4B3C-97E6-428022C7E35A}"/>
              </a:ext>
            </a:extLst>
          </p:cNvPr>
          <p:cNvSpPr/>
          <p:nvPr/>
        </p:nvSpPr>
        <p:spPr>
          <a:xfrm>
            <a:off x="9123988" y="4609856"/>
            <a:ext cx="468133" cy="151200"/>
          </a:xfrm>
          <a:prstGeom prst="round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96" name="Elipse 39995">
            <a:extLst>
              <a:ext uri="{FF2B5EF4-FFF2-40B4-BE49-F238E27FC236}">
                <a16:creationId xmlns:a16="http://schemas.microsoft.com/office/drawing/2014/main" id="{2713E8B4-697A-4E8D-B11D-6A4B198E09B2}"/>
              </a:ext>
            </a:extLst>
          </p:cNvPr>
          <p:cNvSpPr/>
          <p:nvPr/>
        </p:nvSpPr>
        <p:spPr>
          <a:xfrm>
            <a:off x="9040392" y="4601860"/>
            <a:ext cx="167193" cy="167193"/>
          </a:xfrm>
          <a:prstGeom prst="ellipse">
            <a:avLst/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</a:p>
        </p:txBody>
      </p:sp>
      <p:sp>
        <p:nvSpPr>
          <p:cNvPr id="39997" name="Elipse 39996">
            <a:extLst>
              <a:ext uri="{FF2B5EF4-FFF2-40B4-BE49-F238E27FC236}">
                <a16:creationId xmlns:a16="http://schemas.microsoft.com/office/drawing/2014/main" id="{C24903E4-4DE6-4C39-A64A-66666957E7CC}"/>
              </a:ext>
            </a:extLst>
          </p:cNvPr>
          <p:cNvSpPr/>
          <p:nvPr/>
        </p:nvSpPr>
        <p:spPr>
          <a:xfrm>
            <a:off x="9498431" y="4601860"/>
            <a:ext cx="167193" cy="167193"/>
          </a:xfrm>
          <a:prstGeom prst="ellipse">
            <a:avLst/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</a:t>
            </a:r>
          </a:p>
        </p:txBody>
      </p:sp>
      <p:sp>
        <p:nvSpPr>
          <p:cNvPr id="39998" name="Rectángulo: esquinas redondeadas 39997">
            <a:extLst>
              <a:ext uri="{FF2B5EF4-FFF2-40B4-BE49-F238E27FC236}">
                <a16:creationId xmlns:a16="http://schemas.microsoft.com/office/drawing/2014/main" id="{3CD72595-D4C7-4DA7-A961-FAA17696272A}"/>
              </a:ext>
            </a:extLst>
          </p:cNvPr>
          <p:cNvSpPr/>
          <p:nvPr/>
        </p:nvSpPr>
        <p:spPr>
          <a:xfrm>
            <a:off x="10035020" y="4609856"/>
            <a:ext cx="468133" cy="151200"/>
          </a:xfrm>
          <a:prstGeom prst="round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999" name="Elipse 39998">
            <a:extLst>
              <a:ext uri="{FF2B5EF4-FFF2-40B4-BE49-F238E27FC236}">
                <a16:creationId xmlns:a16="http://schemas.microsoft.com/office/drawing/2014/main" id="{5B3061B2-BE92-4EB3-A839-0CE462E3578D}"/>
              </a:ext>
            </a:extLst>
          </p:cNvPr>
          <p:cNvSpPr/>
          <p:nvPr/>
        </p:nvSpPr>
        <p:spPr>
          <a:xfrm>
            <a:off x="9956470" y="4601860"/>
            <a:ext cx="167193" cy="167193"/>
          </a:xfrm>
          <a:prstGeom prst="ellipse">
            <a:avLst/>
          </a:prstGeom>
          <a:solidFill>
            <a:schemeClr val="accent6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</a:t>
            </a:r>
          </a:p>
        </p:txBody>
      </p:sp>
      <p:sp>
        <p:nvSpPr>
          <p:cNvPr id="65" name="Elipse 64">
            <a:extLst>
              <a:ext uri="{FF2B5EF4-FFF2-40B4-BE49-F238E27FC236}">
                <a16:creationId xmlns:a16="http://schemas.microsoft.com/office/drawing/2014/main" id="{CC20B79E-E34F-464D-8D44-AA94F6A8E922}"/>
              </a:ext>
            </a:extLst>
          </p:cNvPr>
          <p:cNvSpPr/>
          <p:nvPr/>
        </p:nvSpPr>
        <p:spPr>
          <a:xfrm>
            <a:off x="10414509" y="4601860"/>
            <a:ext cx="167193" cy="167193"/>
          </a:xfrm>
          <a:prstGeom prst="ellipse">
            <a:avLst/>
          </a:prstGeom>
          <a:solidFill>
            <a:schemeClr val="accent6">
              <a:lumMod val="75000"/>
            </a:schemeClr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11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7" name="Rectángulo 66">
            <a:extLst>
              <a:ext uri="{FF2B5EF4-FFF2-40B4-BE49-F238E27FC236}">
                <a16:creationId xmlns:a16="http://schemas.microsoft.com/office/drawing/2014/main" id="{6E12FCF4-EBF3-47EE-B08C-4CAEC8C18AF8}"/>
              </a:ext>
            </a:extLst>
          </p:cNvPr>
          <p:cNvSpPr/>
          <p:nvPr/>
        </p:nvSpPr>
        <p:spPr>
          <a:xfrm>
            <a:off x="7017901" y="4783768"/>
            <a:ext cx="1009636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Detractores</a:t>
            </a:r>
          </a:p>
        </p:txBody>
      </p:sp>
      <p:sp>
        <p:nvSpPr>
          <p:cNvPr id="69" name="Rectángulo 68">
            <a:extLst>
              <a:ext uri="{FF2B5EF4-FFF2-40B4-BE49-F238E27FC236}">
                <a16:creationId xmlns:a16="http://schemas.microsoft.com/office/drawing/2014/main" id="{886C2A67-4D6C-4A52-96AA-3FF43176C79E}"/>
              </a:ext>
            </a:extLst>
          </p:cNvPr>
          <p:cNvSpPr/>
          <p:nvPr/>
        </p:nvSpPr>
        <p:spPr>
          <a:xfrm>
            <a:off x="8959998" y="4783768"/>
            <a:ext cx="783952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Neutros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65A926F4-DE1E-49E4-8FAA-466D361AAF7F}"/>
              </a:ext>
            </a:extLst>
          </p:cNvPr>
          <p:cNvSpPr/>
          <p:nvPr/>
        </p:nvSpPr>
        <p:spPr>
          <a:xfrm>
            <a:off x="9783086" y="4783768"/>
            <a:ext cx="972000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>
                <a:solidFill>
                  <a:schemeClr val="tx1"/>
                </a:solidFill>
              </a:rPr>
              <a:t>Promotores</a:t>
            </a:r>
          </a:p>
        </p:txBody>
      </p:sp>
      <p:sp>
        <p:nvSpPr>
          <p:cNvPr id="73" name="Rectángulo 72">
            <a:extLst>
              <a:ext uri="{FF2B5EF4-FFF2-40B4-BE49-F238E27FC236}">
                <a16:creationId xmlns:a16="http://schemas.microsoft.com/office/drawing/2014/main" id="{A3A938EC-EDC7-4957-9F03-939CA22B0534}"/>
              </a:ext>
            </a:extLst>
          </p:cNvPr>
          <p:cNvSpPr/>
          <p:nvPr/>
        </p:nvSpPr>
        <p:spPr>
          <a:xfrm>
            <a:off x="10411303" y="4595978"/>
            <a:ext cx="163449" cy="179562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10</a:t>
            </a:r>
          </a:p>
        </p:txBody>
      </p:sp>
      <p:cxnSp>
        <p:nvCxnSpPr>
          <p:cNvPr id="207" name="Conector recto 206">
            <a:extLst>
              <a:ext uri="{FF2B5EF4-FFF2-40B4-BE49-F238E27FC236}">
                <a16:creationId xmlns:a16="http://schemas.microsoft.com/office/drawing/2014/main" id="{077BEF7D-DBB0-4CEA-84D1-FCA71AD40029}"/>
              </a:ext>
            </a:extLst>
          </p:cNvPr>
          <p:cNvCxnSpPr>
            <a:cxnSpLocks/>
          </p:cNvCxnSpPr>
          <p:nvPr/>
        </p:nvCxnSpPr>
        <p:spPr>
          <a:xfrm flipV="1">
            <a:off x="6094900" y="2722327"/>
            <a:ext cx="4725500" cy="1"/>
          </a:xfrm>
          <a:prstGeom prst="line">
            <a:avLst/>
          </a:prstGeom>
          <a:ln w="28575">
            <a:solidFill>
              <a:srgbClr val="B1B1B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Grupo 90">
            <a:extLst>
              <a:ext uri="{FF2B5EF4-FFF2-40B4-BE49-F238E27FC236}">
                <a16:creationId xmlns:a16="http://schemas.microsoft.com/office/drawing/2014/main" id="{380445DE-A039-46EF-93A4-04994F59291E}"/>
              </a:ext>
            </a:extLst>
          </p:cNvPr>
          <p:cNvGrpSpPr/>
          <p:nvPr/>
        </p:nvGrpSpPr>
        <p:grpSpPr>
          <a:xfrm>
            <a:off x="5970990" y="2455240"/>
            <a:ext cx="534170" cy="534170"/>
            <a:chOff x="5868341" y="2592982"/>
            <a:chExt cx="534170" cy="534170"/>
          </a:xfrm>
        </p:grpSpPr>
        <p:grpSp>
          <p:nvGrpSpPr>
            <p:cNvPr id="81" name="Grupo 80">
              <a:extLst>
                <a:ext uri="{FF2B5EF4-FFF2-40B4-BE49-F238E27FC236}">
                  <a16:creationId xmlns:a16="http://schemas.microsoft.com/office/drawing/2014/main" id="{79BE2C3A-7FF5-4BC7-9DDA-DD0167F1FF62}"/>
                </a:ext>
              </a:extLst>
            </p:cNvPr>
            <p:cNvGrpSpPr/>
            <p:nvPr/>
          </p:nvGrpSpPr>
          <p:grpSpPr>
            <a:xfrm>
              <a:off x="5868341" y="2592982"/>
              <a:ext cx="534170" cy="534170"/>
              <a:chOff x="6362387" y="2566070"/>
              <a:chExt cx="607786" cy="607786"/>
            </a:xfrm>
          </p:grpSpPr>
          <p:sp>
            <p:nvSpPr>
              <p:cNvPr id="208" name="Elipse 207">
                <a:extLst>
                  <a:ext uri="{FF2B5EF4-FFF2-40B4-BE49-F238E27FC236}">
                    <a16:creationId xmlns:a16="http://schemas.microsoft.com/office/drawing/2014/main" id="{6953AB61-12AC-44AE-B100-E39F3D933C37}"/>
                  </a:ext>
                </a:extLst>
              </p:cNvPr>
              <p:cNvSpPr/>
              <p:nvPr/>
            </p:nvSpPr>
            <p:spPr>
              <a:xfrm>
                <a:off x="6362387" y="2566070"/>
                <a:ext cx="607786" cy="607786"/>
              </a:xfrm>
              <a:prstGeom prst="ellipse">
                <a:avLst/>
              </a:prstGeom>
              <a:solidFill>
                <a:srgbClr val="B1B1B1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Elipse 208">
                <a:extLst>
                  <a:ext uri="{FF2B5EF4-FFF2-40B4-BE49-F238E27FC236}">
                    <a16:creationId xmlns:a16="http://schemas.microsoft.com/office/drawing/2014/main" id="{92E733AA-F031-4877-8D5A-77FD4EC99B9A}"/>
                  </a:ext>
                </a:extLst>
              </p:cNvPr>
              <p:cNvSpPr/>
              <p:nvPr/>
            </p:nvSpPr>
            <p:spPr>
              <a:xfrm>
                <a:off x="6409140" y="2612823"/>
                <a:ext cx="514280" cy="514280"/>
              </a:xfrm>
              <a:prstGeom prst="ellipse">
                <a:avLst/>
              </a:prstGeom>
              <a:solidFill>
                <a:schemeClr val="accent4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39938" name="Picture 2" descr="Writing note Icon of Line style - Available in SVG, PNG, EPS, AI &amp; Icon  fonts">
              <a:extLst>
                <a:ext uri="{FF2B5EF4-FFF2-40B4-BE49-F238E27FC236}">
                  <a16:creationId xmlns:a16="http://schemas.microsoft.com/office/drawing/2014/main" id="{224A9ACB-32E1-44D2-90AF-F4CABD686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048" y="2718338"/>
              <a:ext cx="298834" cy="2988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3" name="Grupo 92">
            <a:extLst>
              <a:ext uri="{FF2B5EF4-FFF2-40B4-BE49-F238E27FC236}">
                <a16:creationId xmlns:a16="http://schemas.microsoft.com/office/drawing/2014/main" id="{83DA4AE5-E278-4804-83C8-4AF5A07B08A9}"/>
              </a:ext>
            </a:extLst>
          </p:cNvPr>
          <p:cNvGrpSpPr/>
          <p:nvPr/>
        </p:nvGrpSpPr>
        <p:grpSpPr>
          <a:xfrm>
            <a:off x="6838147" y="2455240"/>
            <a:ext cx="534170" cy="534170"/>
            <a:chOff x="7151619" y="2592982"/>
            <a:chExt cx="534170" cy="534170"/>
          </a:xfrm>
        </p:grpSpPr>
        <p:grpSp>
          <p:nvGrpSpPr>
            <p:cNvPr id="226" name="Grupo 225">
              <a:extLst>
                <a:ext uri="{FF2B5EF4-FFF2-40B4-BE49-F238E27FC236}">
                  <a16:creationId xmlns:a16="http://schemas.microsoft.com/office/drawing/2014/main" id="{EB3DBA2B-24A0-424E-A39F-CCFFD08F2A51}"/>
                </a:ext>
              </a:extLst>
            </p:cNvPr>
            <p:cNvGrpSpPr/>
            <p:nvPr/>
          </p:nvGrpSpPr>
          <p:grpSpPr>
            <a:xfrm>
              <a:off x="7151619" y="2592982"/>
              <a:ext cx="534170" cy="534170"/>
              <a:chOff x="6362387" y="2566070"/>
              <a:chExt cx="607786" cy="607786"/>
            </a:xfrm>
          </p:grpSpPr>
          <p:sp>
            <p:nvSpPr>
              <p:cNvPr id="227" name="Elipse 226">
                <a:extLst>
                  <a:ext uri="{FF2B5EF4-FFF2-40B4-BE49-F238E27FC236}">
                    <a16:creationId xmlns:a16="http://schemas.microsoft.com/office/drawing/2014/main" id="{493841C2-86A3-43DF-8DA2-EBBF2E59CC21}"/>
                  </a:ext>
                </a:extLst>
              </p:cNvPr>
              <p:cNvSpPr/>
              <p:nvPr/>
            </p:nvSpPr>
            <p:spPr>
              <a:xfrm>
                <a:off x="6362387" y="2566070"/>
                <a:ext cx="607786" cy="607786"/>
              </a:xfrm>
              <a:prstGeom prst="ellipse">
                <a:avLst/>
              </a:prstGeom>
              <a:solidFill>
                <a:srgbClr val="B1B1B1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Elipse 227">
                <a:extLst>
                  <a:ext uri="{FF2B5EF4-FFF2-40B4-BE49-F238E27FC236}">
                    <a16:creationId xmlns:a16="http://schemas.microsoft.com/office/drawing/2014/main" id="{BACA4B8F-FA06-4AD5-B5A3-503DE2E03658}"/>
                  </a:ext>
                </a:extLst>
              </p:cNvPr>
              <p:cNvSpPr/>
              <p:nvPr/>
            </p:nvSpPr>
            <p:spPr>
              <a:xfrm>
                <a:off x="6409140" y="2612823"/>
                <a:ext cx="514280" cy="514280"/>
              </a:xfrm>
              <a:prstGeom prst="ellipse">
                <a:avLst/>
              </a:prstGeom>
              <a:solidFill>
                <a:schemeClr val="accent4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39940" name="Picture 4" descr="Organization structure Icon of Line style - Available in SVG, PNG, EPS, AI  &amp; Icon fonts">
              <a:extLst>
                <a:ext uri="{FF2B5EF4-FFF2-40B4-BE49-F238E27FC236}">
                  <a16:creationId xmlns:a16="http://schemas.microsoft.com/office/drawing/2014/main" id="{C131F828-E219-4407-8B01-DA80563997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58944" y="2683843"/>
              <a:ext cx="327124" cy="327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29" name="Grupo 228">
            <a:extLst>
              <a:ext uri="{FF2B5EF4-FFF2-40B4-BE49-F238E27FC236}">
                <a16:creationId xmlns:a16="http://schemas.microsoft.com/office/drawing/2014/main" id="{8D503746-40D9-4C3C-859B-802B8280913C}"/>
              </a:ext>
            </a:extLst>
          </p:cNvPr>
          <p:cNvGrpSpPr/>
          <p:nvPr/>
        </p:nvGrpSpPr>
        <p:grpSpPr>
          <a:xfrm>
            <a:off x="7705304" y="2455240"/>
            <a:ext cx="534170" cy="534170"/>
            <a:chOff x="6362387" y="2566070"/>
            <a:chExt cx="607786" cy="607786"/>
          </a:xfrm>
        </p:grpSpPr>
        <p:sp>
          <p:nvSpPr>
            <p:cNvPr id="230" name="Elipse 229">
              <a:extLst>
                <a:ext uri="{FF2B5EF4-FFF2-40B4-BE49-F238E27FC236}">
                  <a16:creationId xmlns:a16="http://schemas.microsoft.com/office/drawing/2014/main" id="{A901430C-EDFB-49CE-8FE0-E04FF968E927}"/>
                </a:ext>
              </a:extLst>
            </p:cNvPr>
            <p:cNvSpPr/>
            <p:nvPr/>
          </p:nvSpPr>
          <p:spPr>
            <a:xfrm>
              <a:off x="6362387" y="2566070"/>
              <a:ext cx="607786" cy="607786"/>
            </a:xfrm>
            <a:prstGeom prst="ellipse">
              <a:avLst/>
            </a:prstGeom>
            <a:solidFill>
              <a:srgbClr val="B1B1B1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1" name="Elipse 230">
              <a:extLst>
                <a:ext uri="{FF2B5EF4-FFF2-40B4-BE49-F238E27FC236}">
                  <a16:creationId xmlns:a16="http://schemas.microsoft.com/office/drawing/2014/main" id="{1E6BD373-7A7E-4825-A8A8-873BB99AC5DB}"/>
                </a:ext>
              </a:extLst>
            </p:cNvPr>
            <p:cNvSpPr/>
            <p:nvPr/>
          </p:nvSpPr>
          <p:spPr>
            <a:xfrm>
              <a:off x="6409140" y="2612823"/>
              <a:ext cx="514280" cy="514280"/>
            </a:xfrm>
            <a:prstGeom prst="ellipse">
              <a:avLst/>
            </a:prstGeom>
            <a:solidFill>
              <a:schemeClr val="accent4"/>
            </a:solidFill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7" name="Grupo 96">
            <a:extLst>
              <a:ext uri="{FF2B5EF4-FFF2-40B4-BE49-F238E27FC236}">
                <a16:creationId xmlns:a16="http://schemas.microsoft.com/office/drawing/2014/main" id="{60F2F93B-7545-4E09-A70B-5F0CEDE81092}"/>
              </a:ext>
            </a:extLst>
          </p:cNvPr>
          <p:cNvGrpSpPr/>
          <p:nvPr/>
        </p:nvGrpSpPr>
        <p:grpSpPr>
          <a:xfrm>
            <a:off x="8572461" y="2455240"/>
            <a:ext cx="534170" cy="534170"/>
            <a:chOff x="8652179" y="2592982"/>
            <a:chExt cx="534170" cy="534170"/>
          </a:xfrm>
        </p:grpSpPr>
        <p:grpSp>
          <p:nvGrpSpPr>
            <p:cNvPr id="232" name="Grupo 231">
              <a:extLst>
                <a:ext uri="{FF2B5EF4-FFF2-40B4-BE49-F238E27FC236}">
                  <a16:creationId xmlns:a16="http://schemas.microsoft.com/office/drawing/2014/main" id="{F0D5C8F8-D79D-4998-B173-B71A134B3130}"/>
                </a:ext>
              </a:extLst>
            </p:cNvPr>
            <p:cNvGrpSpPr/>
            <p:nvPr/>
          </p:nvGrpSpPr>
          <p:grpSpPr>
            <a:xfrm>
              <a:off x="8652179" y="2592982"/>
              <a:ext cx="534170" cy="534170"/>
              <a:chOff x="6362387" y="2566070"/>
              <a:chExt cx="607786" cy="607786"/>
            </a:xfrm>
          </p:grpSpPr>
          <p:sp>
            <p:nvSpPr>
              <p:cNvPr id="233" name="Elipse 232">
                <a:extLst>
                  <a:ext uri="{FF2B5EF4-FFF2-40B4-BE49-F238E27FC236}">
                    <a16:creationId xmlns:a16="http://schemas.microsoft.com/office/drawing/2014/main" id="{2D42DA9A-9538-45A2-BF3E-5B1149E3921D}"/>
                  </a:ext>
                </a:extLst>
              </p:cNvPr>
              <p:cNvSpPr/>
              <p:nvPr/>
            </p:nvSpPr>
            <p:spPr>
              <a:xfrm>
                <a:off x="6362387" y="2566070"/>
                <a:ext cx="607786" cy="607786"/>
              </a:xfrm>
              <a:prstGeom prst="ellipse">
                <a:avLst/>
              </a:prstGeom>
              <a:solidFill>
                <a:srgbClr val="B1B1B1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Elipse 233">
                <a:extLst>
                  <a:ext uri="{FF2B5EF4-FFF2-40B4-BE49-F238E27FC236}">
                    <a16:creationId xmlns:a16="http://schemas.microsoft.com/office/drawing/2014/main" id="{D2183B6B-258E-46B6-8190-11CC8D252F59}"/>
                  </a:ext>
                </a:extLst>
              </p:cNvPr>
              <p:cNvSpPr/>
              <p:nvPr/>
            </p:nvSpPr>
            <p:spPr>
              <a:xfrm>
                <a:off x="6409140" y="2612823"/>
                <a:ext cx="514280" cy="514280"/>
              </a:xfrm>
              <a:prstGeom prst="ellipse">
                <a:avLst/>
              </a:prstGeom>
              <a:solidFill>
                <a:schemeClr val="accent4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39946" name="Picture 10" descr="Handshake Icon | Line Iconset | IconsMind">
              <a:extLst>
                <a:ext uri="{FF2B5EF4-FFF2-40B4-BE49-F238E27FC236}">
                  <a16:creationId xmlns:a16="http://schemas.microsoft.com/office/drawing/2014/main" id="{149EC13D-5D32-4400-BAA0-801D1CE139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39996" y="2689423"/>
              <a:ext cx="377229" cy="3772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1" name="Grupo 100">
            <a:extLst>
              <a:ext uri="{FF2B5EF4-FFF2-40B4-BE49-F238E27FC236}">
                <a16:creationId xmlns:a16="http://schemas.microsoft.com/office/drawing/2014/main" id="{E22C3862-9B1F-4AB9-837B-84F2D8077B9E}"/>
              </a:ext>
            </a:extLst>
          </p:cNvPr>
          <p:cNvGrpSpPr/>
          <p:nvPr/>
        </p:nvGrpSpPr>
        <p:grpSpPr>
          <a:xfrm>
            <a:off x="10306775" y="2455240"/>
            <a:ext cx="534170" cy="534170"/>
            <a:chOff x="10152739" y="2592982"/>
            <a:chExt cx="534170" cy="534170"/>
          </a:xfrm>
        </p:grpSpPr>
        <p:grpSp>
          <p:nvGrpSpPr>
            <p:cNvPr id="238" name="Grupo 237">
              <a:extLst>
                <a:ext uri="{FF2B5EF4-FFF2-40B4-BE49-F238E27FC236}">
                  <a16:creationId xmlns:a16="http://schemas.microsoft.com/office/drawing/2014/main" id="{1AF0AC45-5627-4D3C-90F5-5EA0C3E0AE5A}"/>
                </a:ext>
              </a:extLst>
            </p:cNvPr>
            <p:cNvGrpSpPr/>
            <p:nvPr/>
          </p:nvGrpSpPr>
          <p:grpSpPr>
            <a:xfrm>
              <a:off x="10152739" y="2592982"/>
              <a:ext cx="534170" cy="534170"/>
              <a:chOff x="6362387" y="2566070"/>
              <a:chExt cx="607786" cy="607786"/>
            </a:xfrm>
          </p:grpSpPr>
          <p:sp>
            <p:nvSpPr>
              <p:cNvPr id="239" name="Elipse 238">
                <a:extLst>
                  <a:ext uri="{FF2B5EF4-FFF2-40B4-BE49-F238E27FC236}">
                    <a16:creationId xmlns:a16="http://schemas.microsoft.com/office/drawing/2014/main" id="{995DE4A8-D027-43C2-B5CD-AFAFCD6D0CF8}"/>
                  </a:ext>
                </a:extLst>
              </p:cNvPr>
              <p:cNvSpPr/>
              <p:nvPr/>
            </p:nvSpPr>
            <p:spPr>
              <a:xfrm>
                <a:off x="6362387" y="2566070"/>
                <a:ext cx="607786" cy="607786"/>
              </a:xfrm>
              <a:prstGeom prst="ellipse">
                <a:avLst/>
              </a:prstGeom>
              <a:solidFill>
                <a:srgbClr val="B1B1B1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Elipse 239">
                <a:extLst>
                  <a:ext uri="{FF2B5EF4-FFF2-40B4-BE49-F238E27FC236}">
                    <a16:creationId xmlns:a16="http://schemas.microsoft.com/office/drawing/2014/main" id="{680EDC4F-E42D-4119-B0EC-55B1297F4407}"/>
                  </a:ext>
                </a:extLst>
              </p:cNvPr>
              <p:cNvSpPr/>
              <p:nvPr/>
            </p:nvSpPr>
            <p:spPr>
              <a:xfrm>
                <a:off x="6409140" y="2612823"/>
                <a:ext cx="514280" cy="514280"/>
              </a:xfrm>
              <a:prstGeom prst="ellipse">
                <a:avLst/>
              </a:prstGeom>
              <a:solidFill>
                <a:schemeClr val="accent4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39952" name="Picture 16" descr="Game, puzzle, puzzles, thinking icon">
              <a:extLst>
                <a:ext uri="{FF2B5EF4-FFF2-40B4-BE49-F238E27FC236}">
                  <a16:creationId xmlns:a16="http://schemas.microsoft.com/office/drawing/2014/main" id="{9B87195D-25AE-45D6-A6AC-946C75C0C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81124" y="2682930"/>
              <a:ext cx="322472" cy="3224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9" name="Grupo 98">
            <a:extLst>
              <a:ext uri="{FF2B5EF4-FFF2-40B4-BE49-F238E27FC236}">
                <a16:creationId xmlns:a16="http://schemas.microsoft.com/office/drawing/2014/main" id="{55A7AF8A-5DFE-44CF-B71A-6A87BBB18D71}"/>
              </a:ext>
            </a:extLst>
          </p:cNvPr>
          <p:cNvGrpSpPr/>
          <p:nvPr/>
        </p:nvGrpSpPr>
        <p:grpSpPr>
          <a:xfrm>
            <a:off x="9439618" y="2455240"/>
            <a:ext cx="534170" cy="534170"/>
            <a:chOff x="9402459" y="2592982"/>
            <a:chExt cx="534170" cy="534170"/>
          </a:xfrm>
        </p:grpSpPr>
        <p:grpSp>
          <p:nvGrpSpPr>
            <p:cNvPr id="235" name="Grupo 234">
              <a:extLst>
                <a:ext uri="{FF2B5EF4-FFF2-40B4-BE49-F238E27FC236}">
                  <a16:creationId xmlns:a16="http://schemas.microsoft.com/office/drawing/2014/main" id="{6B44CE53-13DF-4EA1-8183-BC35D66167AB}"/>
                </a:ext>
              </a:extLst>
            </p:cNvPr>
            <p:cNvGrpSpPr/>
            <p:nvPr/>
          </p:nvGrpSpPr>
          <p:grpSpPr>
            <a:xfrm>
              <a:off x="9402459" y="2592982"/>
              <a:ext cx="534170" cy="534170"/>
              <a:chOff x="6362387" y="2566070"/>
              <a:chExt cx="607786" cy="607786"/>
            </a:xfrm>
          </p:grpSpPr>
          <p:sp>
            <p:nvSpPr>
              <p:cNvPr id="236" name="Elipse 235">
                <a:extLst>
                  <a:ext uri="{FF2B5EF4-FFF2-40B4-BE49-F238E27FC236}">
                    <a16:creationId xmlns:a16="http://schemas.microsoft.com/office/drawing/2014/main" id="{D09DBA97-42B1-4E78-9888-4CDAFECD2538}"/>
                  </a:ext>
                </a:extLst>
              </p:cNvPr>
              <p:cNvSpPr/>
              <p:nvPr/>
            </p:nvSpPr>
            <p:spPr>
              <a:xfrm>
                <a:off x="6362387" y="2566070"/>
                <a:ext cx="607786" cy="607786"/>
              </a:xfrm>
              <a:prstGeom prst="ellipse">
                <a:avLst/>
              </a:prstGeom>
              <a:solidFill>
                <a:srgbClr val="B1B1B1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Elipse 236">
                <a:extLst>
                  <a:ext uri="{FF2B5EF4-FFF2-40B4-BE49-F238E27FC236}">
                    <a16:creationId xmlns:a16="http://schemas.microsoft.com/office/drawing/2014/main" id="{A0B100FF-C9A8-4975-8B5C-A6BBC7289C4C}"/>
                  </a:ext>
                </a:extLst>
              </p:cNvPr>
              <p:cNvSpPr/>
              <p:nvPr/>
            </p:nvSpPr>
            <p:spPr>
              <a:xfrm>
                <a:off x="6409140" y="2612823"/>
                <a:ext cx="514280" cy="514280"/>
              </a:xfrm>
              <a:prstGeom prst="ellipse">
                <a:avLst/>
              </a:prstGeom>
              <a:solidFill>
                <a:schemeClr val="accent4"/>
              </a:solidFill>
            </p:spPr>
            <p:txBody>
  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4625" indent="-174625" algn="l"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bg2"/>
                  </a:buClr>
                  <a:buFont typeface="Arial" panose="020B0604020202020204" pitchFamily="34" charset="0"/>
                  <a:buChar char="•"/>
                </a:pPr>
                <a:endParaRPr lang="es-CO" sz="1200" err="1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39954" name="Picture 18" descr="Crossed arrows, music, shuffle, two arrows icon">
              <a:extLst>
                <a:ext uri="{FF2B5EF4-FFF2-40B4-BE49-F238E27FC236}">
                  <a16:creationId xmlns:a16="http://schemas.microsoft.com/office/drawing/2014/main" id="{AC24FE7C-E571-44AC-A6E7-13B2FA7A794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6670"/>
            <a:stretch/>
          </p:blipFill>
          <p:spPr bwMode="auto">
            <a:xfrm>
              <a:off x="9525797" y="2768990"/>
              <a:ext cx="299054" cy="189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0" name="Rectángulo 249">
            <a:extLst>
              <a:ext uri="{FF2B5EF4-FFF2-40B4-BE49-F238E27FC236}">
                <a16:creationId xmlns:a16="http://schemas.microsoft.com/office/drawing/2014/main" id="{EEBDE4F1-105D-4E09-8CF0-B975367A9893}"/>
              </a:ext>
            </a:extLst>
          </p:cNvPr>
          <p:cNvSpPr/>
          <p:nvPr/>
        </p:nvSpPr>
        <p:spPr>
          <a:xfrm>
            <a:off x="6081401" y="3677051"/>
            <a:ext cx="4941891" cy="35305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b="1">
                <a:solidFill>
                  <a:schemeClr val="tx1"/>
                </a:solidFill>
              </a:rPr>
              <a:t>Encuesta a empleados: </a:t>
            </a:r>
            <a:r>
              <a:rPr lang="es-ES" sz="1200">
                <a:solidFill>
                  <a:schemeClr val="tx1"/>
                </a:solidFill>
              </a:rPr>
              <a:t>En una escala de 1 -10 en que medida está dispuesto a recomendar BCF/CV como un buen lugar para trabajar</a:t>
            </a:r>
            <a:endParaRPr lang="es-CO" sz="120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CuadroTexto 88">
                <a:extLst>
                  <a:ext uri="{FF2B5EF4-FFF2-40B4-BE49-F238E27FC236}">
                    <a16:creationId xmlns:a16="http://schemas.microsoft.com/office/drawing/2014/main" id="{1303D724-AB0D-4B53-9EAC-2931DBAA456B}"/>
                  </a:ext>
                </a:extLst>
              </p:cNvPr>
              <p:cNvSpPr txBox="1"/>
              <p:nvPr/>
            </p:nvSpPr>
            <p:spPr>
              <a:xfrm>
                <a:off x="6681665" y="5156128"/>
                <a:ext cx="3696333" cy="1938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r>
                  <a:rPr lang="es-CO" sz="1200" b="1">
                    <a:cs typeface="Arial" panose="020B0604020202020204" pitchFamily="34" charset="0"/>
                  </a:rPr>
                  <a:t>Employee NPS</a:t>
                </a:r>
                <a14:m>
                  <m:oMath xmlns:m="http://schemas.openxmlformats.org/officeDocument/2006/math">
                    <m:r>
                      <a:rPr lang="es-CO" sz="14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=% </m:t>
                    </m:r>
                    <m:r>
                      <m:rPr>
                        <m:sty m:val="p"/>
                      </m:rPr>
                      <a:rPr lang="es-CO" sz="14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Promotores</m:t>
                    </m:r>
                    <m:r>
                      <a:rPr lang="es-CO" sz="14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 −%</m:t>
                    </m:r>
                    <m:r>
                      <m:rPr>
                        <m:sty m:val="p"/>
                      </m:rPr>
                      <a:rPr lang="es-CO" sz="14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Detractores</m:t>
                    </m:r>
                  </m:oMath>
                </a14:m>
                <a:endParaRPr lang="es-CO" sz="1400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9" name="CuadroTexto 88">
                <a:extLst>
                  <a:ext uri="{FF2B5EF4-FFF2-40B4-BE49-F238E27FC236}">
                    <a16:creationId xmlns:a16="http://schemas.microsoft.com/office/drawing/2014/main" id="{1303D724-AB0D-4B53-9EAC-2931DBAA45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1665" y="5156128"/>
                <a:ext cx="3696333" cy="193899"/>
              </a:xfrm>
              <a:prstGeom prst="rect">
                <a:avLst/>
              </a:prstGeom>
              <a:blipFill>
                <a:blip r:embed="rId10"/>
                <a:stretch>
                  <a:fillRect l="-2749" t="-25000" r="-687" b="-4375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3" name="Rectángulo 252">
            <a:extLst>
              <a:ext uri="{FF2B5EF4-FFF2-40B4-BE49-F238E27FC236}">
                <a16:creationId xmlns:a16="http://schemas.microsoft.com/office/drawing/2014/main" id="{26B08BC0-F3FD-4DF0-8CAF-8F7F63893E5A}"/>
              </a:ext>
            </a:extLst>
          </p:cNvPr>
          <p:cNvSpPr/>
          <p:nvPr/>
        </p:nvSpPr>
        <p:spPr>
          <a:xfrm>
            <a:off x="5697969" y="3039283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Incorporación</a:t>
            </a:r>
          </a:p>
        </p:txBody>
      </p:sp>
      <p:sp>
        <p:nvSpPr>
          <p:cNvPr id="254" name="Rectángulo 253">
            <a:extLst>
              <a:ext uri="{FF2B5EF4-FFF2-40B4-BE49-F238E27FC236}">
                <a16:creationId xmlns:a16="http://schemas.microsoft.com/office/drawing/2014/main" id="{73826C27-3976-41FA-9683-059F93F8C8D7}"/>
              </a:ext>
            </a:extLst>
          </p:cNvPr>
          <p:cNvSpPr/>
          <p:nvPr/>
        </p:nvSpPr>
        <p:spPr>
          <a:xfrm>
            <a:off x="6547960" y="3037585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Día a día</a:t>
            </a:r>
          </a:p>
        </p:txBody>
      </p:sp>
      <p:sp>
        <p:nvSpPr>
          <p:cNvPr id="261" name="Rectángulo 260">
            <a:extLst>
              <a:ext uri="{FF2B5EF4-FFF2-40B4-BE49-F238E27FC236}">
                <a16:creationId xmlns:a16="http://schemas.microsoft.com/office/drawing/2014/main" id="{6B409693-61E1-4AB3-8287-695C34858D3A}"/>
              </a:ext>
            </a:extLst>
          </p:cNvPr>
          <p:cNvSpPr/>
          <p:nvPr/>
        </p:nvSpPr>
        <p:spPr>
          <a:xfrm>
            <a:off x="7432722" y="3036929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Entrenam.</a:t>
            </a:r>
          </a:p>
        </p:txBody>
      </p:sp>
      <p:sp>
        <p:nvSpPr>
          <p:cNvPr id="262" name="Rectángulo 261">
            <a:extLst>
              <a:ext uri="{FF2B5EF4-FFF2-40B4-BE49-F238E27FC236}">
                <a16:creationId xmlns:a16="http://schemas.microsoft.com/office/drawing/2014/main" id="{CF62E086-0B3A-4618-B77D-84B2F6732D5B}"/>
              </a:ext>
            </a:extLst>
          </p:cNvPr>
          <p:cNvSpPr/>
          <p:nvPr/>
        </p:nvSpPr>
        <p:spPr>
          <a:xfrm>
            <a:off x="8306283" y="3105564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Acompañ. Formal</a:t>
            </a:r>
          </a:p>
        </p:txBody>
      </p:sp>
      <p:sp>
        <p:nvSpPr>
          <p:cNvPr id="263" name="Rectángulo 262">
            <a:extLst>
              <a:ext uri="{FF2B5EF4-FFF2-40B4-BE49-F238E27FC236}">
                <a16:creationId xmlns:a16="http://schemas.microsoft.com/office/drawing/2014/main" id="{39EE2294-39F9-467A-BA83-8188E6181FD9}"/>
              </a:ext>
            </a:extLst>
          </p:cNvPr>
          <p:cNvSpPr/>
          <p:nvPr/>
        </p:nvSpPr>
        <p:spPr>
          <a:xfrm>
            <a:off x="9156274" y="3105564"/>
            <a:ext cx="1079333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Gestión del Cambio</a:t>
            </a:r>
          </a:p>
        </p:txBody>
      </p:sp>
      <p:sp>
        <p:nvSpPr>
          <p:cNvPr id="264" name="Rectángulo 263">
            <a:extLst>
              <a:ext uri="{FF2B5EF4-FFF2-40B4-BE49-F238E27FC236}">
                <a16:creationId xmlns:a16="http://schemas.microsoft.com/office/drawing/2014/main" id="{2FD6F024-394D-4007-9BFB-EEA17B5E3089}"/>
              </a:ext>
            </a:extLst>
          </p:cNvPr>
          <p:cNvSpPr/>
          <p:nvPr/>
        </p:nvSpPr>
        <p:spPr>
          <a:xfrm>
            <a:off x="10007365" y="3038268"/>
            <a:ext cx="1162982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100">
                <a:solidFill>
                  <a:schemeClr val="tx1"/>
                </a:solidFill>
              </a:rPr>
              <a:t>Desvinculación</a:t>
            </a:r>
          </a:p>
        </p:txBody>
      </p:sp>
      <p:pic>
        <p:nvPicPr>
          <p:cNvPr id="103" name="Picture 20" descr="Training Icon - Free Download, PNG and Vector">
            <a:extLst>
              <a:ext uri="{FF2B5EF4-FFF2-40B4-BE49-F238E27FC236}">
                <a16:creationId xmlns:a16="http://schemas.microsoft.com/office/drawing/2014/main" id="{8ECF7640-69BC-4E02-95F8-CAC8B4E14A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9935" y="2580596"/>
            <a:ext cx="314621" cy="3146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6" name="Rectángulo 265">
            <a:extLst>
              <a:ext uri="{FF2B5EF4-FFF2-40B4-BE49-F238E27FC236}">
                <a16:creationId xmlns:a16="http://schemas.microsoft.com/office/drawing/2014/main" id="{8C42B084-AC3B-41D2-A050-4C8046AAB321}"/>
              </a:ext>
            </a:extLst>
          </p:cNvPr>
          <p:cNvSpPr/>
          <p:nvPr/>
        </p:nvSpPr>
        <p:spPr>
          <a:xfrm>
            <a:off x="7145724" y="2150109"/>
            <a:ext cx="2574220" cy="24413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200" b="1">
                <a:solidFill>
                  <a:schemeClr val="tx1"/>
                </a:solidFill>
              </a:rPr>
              <a:t>Ciclo de vida de los empleados</a:t>
            </a:r>
          </a:p>
        </p:txBody>
      </p:sp>
      <p:sp>
        <p:nvSpPr>
          <p:cNvPr id="107" name="Triángulo isósceles 106">
            <a:extLst>
              <a:ext uri="{FF2B5EF4-FFF2-40B4-BE49-F238E27FC236}">
                <a16:creationId xmlns:a16="http://schemas.microsoft.com/office/drawing/2014/main" id="{90E7B959-4CEA-4BFA-9654-CC3EB49D95D5}"/>
              </a:ext>
            </a:extLst>
          </p:cNvPr>
          <p:cNvSpPr/>
          <p:nvPr/>
        </p:nvSpPr>
        <p:spPr>
          <a:xfrm rot="10800000">
            <a:off x="6759616" y="3418859"/>
            <a:ext cx="3540691" cy="129509"/>
          </a:xfrm>
          <a:prstGeom prst="triangl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400">
              <a:solidFill>
                <a:prstClr val="white"/>
              </a:solidFill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BCC0E613-97B0-46E8-A333-E4B8BE4D021D}"/>
              </a:ext>
            </a:extLst>
          </p:cNvPr>
          <p:cNvSpPr txBox="1"/>
          <p:nvPr/>
        </p:nvSpPr>
        <p:spPr>
          <a:xfrm>
            <a:off x="9718041" y="6471687"/>
            <a:ext cx="1370349" cy="2308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6857FFB-25F1-4230-9435-E8A14360D417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Botón de acción: Hacia delante o Siguiente 3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65CD1809-A00A-4503-A36A-8CE23B250D9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80895628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Costo Financiero del fondeo de corto plazo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costo financiero del fondeo de corto plazo con el fin de tomar decisiones sobre el financiamiento de sus activos y su estructura de capital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Financiero y Administrativo, Director de Tesorería CV, Director de Tesorería CF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costo de financiamiento obtenido a través de los diversos mecanismos de corto plazo aumente, el valor del indicador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Costo Financiero del fondeo de corto plazo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uadroTexto 25">
                <a:extLst>
                  <a:ext uri="{FF2B5EF4-FFF2-40B4-BE49-F238E27FC236}">
                    <a16:creationId xmlns:a16="http://schemas.microsoft.com/office/drawing/2014/main" id="{F92FC621-07A6-4520-8ACA-DDDAED942D3A}"/>
                  </a:ext>
                </a:extLst>
              </p:cNvPr>
              <p:cNvSpPr txBox="1"/>
              <p:nvPr/>
            </p:nvSpPr>
            <p:spPr>
              <a:xfrm>
                <a:off x="6286133" y="3887122"/>
                <a:ext cx="4378289" cy="151925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/>
                </a:solidFill>
              </a:ln>
            </p:spPr>
            <p:txBody>
              <a:bodyPr wrap="square" lIns="36000" tIns="36000" rIns="36000" bIns="36000">
                <a:spAutoFit/>
              </a:bodyPr>
              <a:lstStyle/>
              <a:p>
                <a:r>
                  <a:rPr lang="es-CO" sz="1400" b="1">
                    <a:solidFill>
                      <a:schemeClr val="accent1"/>
                    </a:solidFill>
                  </a:rPr>
                  <a:t>Donde: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400" b="1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400" b="1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𝑲</m:t>
                        </m:r>
                      </m:e>
                      <m:sub>
                        <m:r>
                          <a:rPr lang="es-CO" sz="1400" b="1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𝑪𝑷</m:t>
                        </m:r>
                      </m:sub>
                    </m:sSub>
                  </m:oMath>
                </a14:m>
                <a:r>
                  <a:rPr lang="es-CO" sz="1400">
                    <a:solidFill>
                      <a:schemeClr val="accent1"/>
                    </a:solidFill>
                  </a:rPr>
                  <a:t> es el costo del fondeo de corto plazo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:r>
                  <a:rPr lang="es-CO" sz="1400">
                    <a:solidFill>
                      <a:schemeClr val="accent1"/>
                    </a:solidFill>
                  </a:rPr>
                  <a:t>i es la tasa de interés aplicada por la financiación obtenida </a:t>
                </a:r>
                <a:r>
                  <a:rPr lang="es-ES" sz="1400">
                    <a:solidFill>
                      <a:schemeClr val="accent1"/>
                    </a:solidFill>
                  </a:rPr>
                  <a:t>a través de los diversos mecanismos de CP (captación, banca comercial, inversionistas, …)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:r>
                  <a:rPr lang="es-CO" sz="1400">
                    <a:solidFill>
                      <a:schemeClr val="accent1"/>
                    </a:solidFill>
                  </a:rPr>
                  <a:t>TX es la tasa impositiva</a:t>
                </a:r>
              </a:p>
            </p:txBody>
          </p:sp>
        </mc:Choice>
        <mc:Fallback xmlns="">
          <p:sp>
            <p:nvSpPr>
              <p:cNvPr id="26" name="CuadroTexto 25">
                <a:extLst>
                  <a:ext uri="{FF2B5EF4-FFF2-40B4-BE49-F238E27FC236}">
                    <a16:creationId xmlns:a16="http://schemas.microsoft.com/office/drawing/2014/main" id="{F92FC621-07A6-4520-8ACA-DDDAED942D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6133" y="3887122"/>
                <a:ext cx="4378289" cy="1519253"/>
              </a:xfrm>
              <a:prstGeom prst="rect">
                <a:avLst/>
              </a:prstGeom>
              <a:blipFill>
                <a:blip r:embed="rId2"/>
                <a:stretch>
                  <a:fillRect l="-1441" t="-820" r="-865" b="-3279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CuadroTexto 35">
            <a:extLst>
              <a:ext uri="{FF2B5EF4-FFF2-40B4-BE49-F238E27FC236}">
                <a16:creationId xmlns:a16="http://schemas.microsoft.com/office/drawing/2014/main" id="{29CEC6A4-54EE-44EE-AC77-ED95D56BB13E}"/>
              </a:ext>
            </a:extLst>
          </p:cNvPr>
          <p:cNvSpPr txBox="1"/>
          <p:nvPr/>
        </p:nvSpPr>
        <p:spPr>
          <a:xfrm>
            <a:off x="6286133" y="2303582"/>
            <a:ext cx="4378290" cy="59093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pPr marL="88900" lvl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Costo que tiene la organización para desarrollar su actividad o un proyecto de inversión a través de su financiación en forma de créditos y préstamos o emisión de deuda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24BE31C3-EEEA-4725-935E-786E7F0AE1E6}"/>
              </a:ext>
            </a:extLst>
          </p:cNvPr>
          <p:cNvSpPr/>
          <p:nvPr/>
        </p:nvSpPr>
        <p:spPr>
          <a:xfrm>
            <a:off x="7334622" y="3332739"/>
            <a:ext cx="2120794" cy="437763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Flecha: hacia abajo 37">
            <a:extLst>
              <a:ext uri="{FF2B5EF4-FFF2-40B4-BE49-F238E27FC236}">
                <a16:creationId xmlns:a16="http://schemas.microsoft.com/office/drawing/2014/main" id="{E28EE0A6-EA10-4CB0-8063-1D1AF4D14A08}"/>
              </a:ext>
            </a:extLst>
          </p:cNvPr>
          <p:cNvSpPr/>
          <p:nvPr/>
        </p:nvSpPr>
        <p:spPr>
          <a:xfrm>
            <a:off x="7822677" y="2982279"/>
            <a:ext cx="243840" cy="305076"/>
          </a:xfrm>
          <a:prstGeom prst="downArrow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Flecha: hacia abajo 38">
            <a:extLst>
              <a:ext uri="{FF2B5EF4-FFF2-40B4-BE49-F238E27FC236}">
                <a16:creationId xmlns:a16="http://schemas.microsoft.com/office/drawing/2014/main" id="{4CDB9157-2836-432F-863C-2CF6F71C2F4A}"/>
              </a:ext>
            </a:extLst>
          </p:cNvPr>
          <p:cNvSpPr/>
          <p:nvPr/>
        </p:nvSpPr>
        <p:spPr>
          <a:xfrm>
            <a:off x="8634437" y="2962350"/>
            <a:ext cx="243840" cy="305076"/>
          </a:xfrm>
          <a:prstGeom prst="downArrow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uadroTexto 27">
                <a:extLst>
                  <a:ext uri="{FF2B5EF4-FFF2-40B4-BE49-F238E27FC236}">
                    <a16:creationId xmlns:a16="http://schemas.microsoft.com/office/drawing/2014/main" id="{0DE83B34-254A-40D6-B396-B6C3D6B85784}"/>
                  </a:ext>
                </a:extLst>
              </p:cNvPr>
              <p:cNvSpPr txBox="1"/>
              <p:nvPr/>
            </p:nvSpPr>
            <p:spPr>
              <a:xfrm>
                <a:off x="7356394" y="3413239"/>
                <a:ext cx="2043540" cy="287771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b="1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b="1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𝑲</m:t>
                          </m:r>
                        </m:e>
                        <m:sub>
                          <m:r>
                            <a:rPr lang="es-CO" b="1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𝑪𝑷</m:t>
                          </m:r>
                        </m:sub>
                      </m:sSub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𝐢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∗(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𝟏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−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𝐓𝐱</m:t>
                      </m:r>
                      <m:r>
                        <a:rPr lang="es-CO" b="1" i="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)</m:t>
                      </m:r>
                    </m:oMath>
                  </m:oMathPara>
                </a14:m>
                <a:endParaRPr lang="es-CO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8" name="CuadroTexto 27">
                <a:extLst>
                  <a:ext uri="{FF2B5EF4-FFF2-40B4-BE49-F238E27FC236}">
                    <a16:creationId xmlns:a16="http://schemas.microsoft.com/office/drawing/2014/main" id="{0DE83B34-254A-40D6-B396-B6C3D6B857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56394" y="3413239"/>
                <a:ext cx="2043540" cy="287771"/>
              </a:xfrm>
              <a:prstGeom prst="rect">
                <a:avLst/>
              </a:prstGeom>
              <a:blipFill>
                <a:blip r:embed="rId3"/>
                <a:stretch>
                  <a:fillRect t="-8333" r="-617" b="-20833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A2D7834-ED2E-4AD1-8A72-54AB2628F24C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8F892334-DFC3-446C-9052-4CF7056BFC11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15945617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Nota: (1) </a:t>
            </a:r>
            <a:r>
              <a:rPr lang="es-ES_tradnl" err="1"/>
              <a:t>Equity</a:t>
            </a:r>
            <a:r>
              <a:rPr lang="es-ES_tradnl"/>
              <a:t> </a:t>
            </a:r>
            <a:r>
              <a:rPr lang="es-ES_tradnl" err="1"/>
              <a:t>to</a:t>
            </a:r>
            <a:r>
              <a:rPr lang="es-ES_tradnl"/>
              <a:t> </a:t>
            </a:r>
            <a:r>
              <a:rPr lang="es-ES_tradnl" err="1"/>
              <a:t>assets</a:t>
            </a:r>
            <a:r>
              <a:rPr lang="es-ES_tradnl"/>
              <a:t>; (2) </a:t>
            </a:r>
            <a:r>
              <a:rPr lang="es-CO" sz="900" err="1">
                <a:latin typeface="Arial" panose="020B0604020202020204" pitchFamily="34" charset="0"/>
                <a:cs typeface="Arial" panose="020B0604020202020204" pitchFamily="34" charset="0"/>
              </a:rPr>
              <a:t>Unencumbered</a:t>
            </a:r>
            <a:r>
              <a:rPr lang="es-CO" sz="9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sz="900" err="1">
                <a:latin typeface="Arial" panose="020B0604020202020204" pitchFamily="34" charset="0"/>
                <a:cs typeface="Arial" panose="020B0604020202020204" pitchFamily="34" charset="0"/>
              </a:rPr>
              <a:t>assets</a:t>
            </a:r>
            <a:r>
              <a:rPr lang="es-CO" sz="9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sz="900" err="1">
                <a:latin typeface="Arial" panose="020B0604020202020204" pitchFamily="34" charset="0"/>
                <a:cs typeface="Arial" panose="020B0604020202020204" pitchFamily="34" charset="0"/>
              </a:rPr>
              <a:t>to</a:t>
            </a:r>
            <a:r>
              <a:rPr lang="es-CO" sz="9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sz="900" err="1">
                <a:latin typeface="Arial" panose="020B0604020202020204" pitchFamily="34" charset="0"/>
                <a:cs typeface="Arial" panose="020B0604020202020204" pitchFamily="34" charset="0"/>
              </a:rPr>
              <a:t>unsecured</a:t>
            </a:r>
            <a:r>
              <a:rPr lang="es-CO" sz="9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sz="900" err="1">
                <a:latin typeface="Arial" panose="020B0604020202020204" pitchFamily="34" charset="0"/>
                <a:cs typeface="Arial" panose="020B0604020202020204" pitchFamily="34" charset="0"/>
              </a:rPr>
              <a:t>debt</a:t>
            </a:r>
            <a:endParaRPr lang="es-ES_tradnl"/>
          </a:p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 los Covenants (ANS contractuales)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64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cumplimiento de los Covenants y mantenerlos dentro de los niveles pactados contractualmente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Ver descripción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Financiera y Administrativa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2839935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127933"/>
            <a:ext cx="4552406" cy="1510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la meta de ahorros alcanzada. Es decir: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 quiere decir que no se alcanzó el total de la meta para el periodo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= 100% se alcanzó el total de la meta de ahorros tributarios para el periodo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&gt; 100% La meta para el periodo se alcanzó y se superaron las expectativas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 los Covenants (ANS contractuales)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97C12D05-E79F-4AA8-9C68-AC7089791C09}"/>
              </a:ext>
            </a:extLst>
          </p:cNvPr>
          <p:cNvSpPr/>
          <p:nvPr/>
        </p:nvSpPr>
        <p:spPr>
          <a:xfrm>
            <a:off x="8547173" y="2327962"/>
            <a:ext cx="1490625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Ahorros tributarios alcanzados en el periodo 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EAF397DE-544D-449E-899A-98E6200A64AE}"/>
              </a:ext>
            </a:extLst>
          </p:cNvPr>
          <p:cNvSpPr/>
          <p:nvPr/>
        </p:nvSpPr>
        <p:spPr>
          <a:xfrm>
            <a:off x="8547174" y="3462512"/>
            <a:ext cx="1490624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Meta de ahorros tributarios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7D53706B-B63B-4CB9-8E61-2CFD1F6FE841}"/>
              </a:ext>
            </a:extLst>
          </p:cNvPr>
          <p:cNvSpPr/>
          <p:nvPr/>
        </p:nvSpPr>
        <p:spPr>
          <a:xfrm>
            <a:off x="9129389" y="3014417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35161B63-1D47-48B7-A901-832567425C30}"/>
              </a:ext>
            </a:extLst>
          </p:cNvPr>
          <p:cNvSpPr/>
          <p:nvPr/>
        </p:nvSpPr>
        <p:spPr>
          <a:xfrm>
            <a:off x="6684857" y="2731754"/>
            <a:ext cx="1407779" cy="89513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de los Covenants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6AF954AC-E758-4CEB-B1F2-43AC4EE1D4D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92636" y="2619003"/>
            <a:ext cx="454537" cy="56031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65DC0E03-B9D3-45CF-A829-FCAFD0275F6B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92636" y="3179322"/>
            <a:ext cx="454538" cy="57423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AE8B55C-8180-49D6-AB70-20FFBE2C6CA3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09909A95-30CC-4F93-ADFD-F76397872EA5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784EA450-25A7-42CD-9FB9-A0B315B62055}"/>
              </a:ext>
            </a:extLst>
          </p:cNvPr>
          <p:cNvSpPr/>
          <p:nvPr/>
        </p:nvSpPr>
        <p:spPr>
          <a:xfrm>
            <a:off x="5879975" y="4417327"/>
            <a:ext cx="1666800" cy="288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Covenants IFC</a:t>
            </a: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263B53F1-AA1D-48E2-BB4B-75AD4FE8022A}"/>
              </a:ext>
            </a:extLst>
          </p:cNvPr>
          <p:cNvSpPr/>
          <p:nvPr/>
        </p:nvSpPr>
        <p:spPr>
          <a:xfrm>
            <a:off x="5879975" y="4709855"/>
            <a:ext cx="1666800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CAR &gt;=12%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Equity to A</a:t>
            </a:r>
            <a:r>
              <a:rPr lang="es-ES" sz="1100" baseline="30000">
                <a:solidFill>
                  <a:schemeClr val="accent1"/>
                </a:solidFill>
              </a:rPr>
              <a:t>1</a:t>
            </a:r>
            <a:r>
              <a:rPr lang="es-ES" sz="1100">
                <a:solidFill>
                  <a:schemeClr val="accent1"/>
                </a:solidFill>
              </a:rPr>
              <a:t>.: &gt;=8%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Liquidity &gt;= 8%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3E965C88-CA3D-443F-9509-77CBCA3E90CA}"/>
              </a:ext>
            </a:extLst>
          </p:cNvPr>
          <p:cNvSpPr/>
          <p:nvPr/>
        </p:nvSpPr>
        <p:spPr>
          <a:xfrm>
            <a:off x="7614847" y="4417327"/>
            <a:ext cx="1666800" cy="288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Covenants Tesorería</a:t>
            </a: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A320AB5D-3502-49AF-B47B-17CADEAC6D08}"/>
              </a:ext>
            </a:extLst>
          </p:cNvPr>
          <p:cNvSpPr/>
          <p:nvPr/>
        </p:nvSpPr>
        <p:spPr>
          <a:xfrm>
            <a:off x="7614847" y="4709855"/>
            <a:ext cx="1666800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BTG </a:t>
            </a:r>
            <a:r>
              <a:rPr lang="es-ES" sz="1100" err="1">
                <a:solidFill>
                  <a:schemeClr val="accent1"/>
                </a:solidFill>
              </a:rPr>
              <a:t>Pactual</a:t>
            </a:r>
            <a:r>
              <a:rPr lang="es-ES" sz="1100">
                <a:solidFill>
                  <a:schemeClr val="accent1"/>
                </a:solidFill>
              </a:rPr>
              <a:t> &gt;= 10%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PA Sindicado &gt;= 13%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PA Sindicado &gt;= 90%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43A31E5C-9A7F-4EB9-AF33-56B91DABD818}"/>
              </a:ext>
            </a:extLst>
          </p:cNvPr>
          <p:cNvSpPr/>
          <p:nvPr/>
        </p:nvSpPr>
        <p:spPr>
          <a:xfrm>
            <a:off x="9349719" y="4417327"/>
            <a:ext cx="1666800" cy="288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Covenants </a:t>
            </a:r>
            <a:r>
              <a:rPr lang="es-ES" sz="1100" err="1">
                <a:solidFill>
                  <a:schemeClr val="accent1"/>
                </a:solidFill>
              </a:rPr>
              <a:t>Compliance</a:t>
            </a:r>
            <a:endParaRPr lang="es-ES" sz="1100">
              <a:solidFill>
                <a:schemeClr val="accent1"/>
              </a:solidFill>
            </a:endParaRPr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E4613933-043D-4390-A795-65BB18AF4EFE}"/>
              </a:ext>
            </a:extLst>
          </p:cNvPr>
          <p:cNvSpPr/>
          <p:nvPr/>
        </p:nvSpPr>
        <p:spPr>
          <a:xfrm>
            <a:off x="9349719" y="4709855"/>
            <a:ext cx="1666800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Capitalización &gt;= 13.5%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</a:rPr>
              <a:t>UA to UD</a:t>
            </a:r>
            <a:r>
              <a:rPr lang="es-ES" sz="1100" baseline="30000">
                <a:solidFill>
                  <a:schemeClr val="accent1"/>
                </a:solidFill>
              </a:rPr>
              <a:t>2</a:t>
            </a:r>
            <a:r>
              <a:rPr lang="es-ES" sz="1100">
                <a:solidFill>
                  <a:schemeClr val="accent1"/>
                </a:solidFill>
              </a:rPr>
              <a:t> &gt;=110%</a:t>
            </a:r>
          </a:p>
        </p:txBody>
      </p:sp>
    </p:spTree>
    <p:extLst>
      <p:ext uri="{BB962C8B-B14F-4D97-AF65-F5344CB8AC3E}">
        <p14:creationId xmlns:p14="http://schemas.microsoft.com/office/powerpoint/2010/main" val="70713364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gastos generales y de administración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el total de gastos generales y de administración de la organización con el fin de monitorear su desviación respecto al presupuesto inicial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44492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135971"/>
            <a:ext cx="4552406" cy="44700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Financiero y Administrativo, Director de Administración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7"/>
            <a:ext cx="4552406" cy="136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Si el resultado del indicador es: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significa que los gastos generales y de admón. son superiores al presupuesto proyectado 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10% quiere decir que los gastos generales y admón. son exactamente iguales al presupuesto proyectado de gastos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 significa que los gastos generales y de admón. no excedieron el presupuesto proyectado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del presupuesto de gastos generales y de administración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0879221-66EB-4A2D-A6A5-D96B1400EB07}"/>
              </a:ext>
            </a:extLst>
          </p:cNvPr>
          <p:cNvSpPr/>
          <p:nvPr/>
        </p:nvSpPr>
        <p:spPr>
          <a:xfrm>
            <a:off x="8064342" y="2857402"/>
            <a:ext cx="1826108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Total de Gastos Generales y de Admón. del periodo 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BB0DD088-1A0F-472B-B759-E3C5D25A85C6}"/>
              </a:ext>
            </a:extLst>
          </p:cNvPr>
          <p:cNvSpPr/>
          <p:nvPr/>
        </p:nvSpPr>
        <p:spPr>
          <a:xfrm>
            <a:off x="8064342" y="4104080"/>
            <a:ext cx="1826107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Presupuesto estimado para Gastos Generales y de Admón. del periodo 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42650919-A3BD-45AD-A2B1-683DBDF3F633}"/>
              </a:ext>
            </a:extLst>
          </p:cNvPr>
          <p:cNvSpPr/>
          <p:nvPr/>
        </p:nvSpPr>
        <p:spPr>
          <a:xfrm>
            <a:off x="8820795" y="364993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53738044-ACBE-4BD9-ABE6-20E0D12CD1D6}"/>
              </a:ext>
            </a:extLst>
          </p:cNvPr>
          <p:cNvSpPr/>
          <p:nvPr/>
        </p:nvSpPr>
        <p:spPr>
          <a:xfrm>
            <a:off x="6202026" y="3367275"/>
            <a:ext cx="1407779" cy="89513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de </a:t>
            </a:r>
            <a:r>
              <a:rPr lang="es-ES" sz="1200" err="1">
                <a:solidFill>
                  <a:schemeClr val="accent1"/>
                </a:solidFill>
              </a:rPr>
              <a:t>ppto</a:t>
            </a:r>
            <a:r>
              <a:rPr lang="es-ES" sz="1200">
                <a:solidFill>
                  <a:schemeClr val="accent1"/>
                </a:solidFill>
              </a:rPr>
              <a:t> de gastos generales y de administración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DC18C061-402F-4E74-9FC4-57A8206A036A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609805" y="3227608"/>
            <a:ext cx="454537" cy="587235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4A8EC37D-9939-44CB-9378-7C49C36E906A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609805" y="3814843"/>
            <a:ext cx="454537" cy="659443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7" name="Signo de multiplicación 36">
            <a:extLst>
              <a:ext uri="{FF2B5EF4-FFF2-40B4-BE49-F238E27FC236}">
                <a16:creationId xmlns:a16="http://schemas.microsoft.com/office/drawing/2014/main" id="{D073A64F-6021-4FF1-816A-8E6FF5670C19}"/>
              </a:ext>
            </a:extLst>
          </p:cNvPr>
          <p:cNvSpPr/>
          <p:nvPr/>
        </p:nvSpPr>
        <p:spPr>
          <a:xfrm>
            <a:off x="9913614" y="3677774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65E5F303-614F-4B23-9CC9-4B3FFF67DE44}"/>
              </a:ext>
            </a:extLst>
          </p:cNvPr>
          <p:cNvSpPr/>
          <p:nvPr/>
        </p:nvSpPr>
        <p:spPr>
          <a:xfrm>
            <a:off x="10178088" y="3664457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3D0FC8A-1B41-456B-A771-828356F5772F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30D076F0-34B9-4ACB-910F-75234288DFC7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95752023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Optimización de impuestos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69799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optimización de impuestos respecto a la meta establecida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84966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135971"/>
            <a:ext cx="4552406" cy="44700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Contabilidad e Impuestos, Director de Contabilidad 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2881542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169539"/>
            <a:ext cx="4552406" cy="1620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la meta de ahorros alcanzada: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100%, no se alcanzó el total de la meta para el periodo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= 100% se alcanzó el total de la meta de ahorros tributarios para el periodo</a:t>
            </a:r>
          </a:p>
          <a:p>
            <a:pPr marL="36036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es&gt; 100% la meta para el periodo se alcanzó y se superaron las expectativas</a:t>
            </a:r>
          </a:p>
          <a:p>
            <a:pPr marL="266700" lvl="1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Resultados cercanos o superiores al 100% indican una implementación exitosa de la estrategia de opt. de impuestos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Optimización de impuestos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Desempeño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Económico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92CD648-BEC7-43C9-B8A1-961E80598033}"/>
              </a:ext>
            </a:extLst>
          </p:cNvPr>
          <p:cNvSpPr/>
          <p:nvPr/>
        </p:nvSpPr>
        <p:spPr>
          <a:xfrm>
            <a:off x="8516350" y="2892889"/>
            <a:ext cx="1490625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Ahorros tributarios alcanzados en el periodo 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FA316E98-D86B-41A5-AFA9-30B1750C44D0}"/>
              </a:ext>
            </a:extLst>
          </p:cNvPr>
          <p:cNvSpPr/>
          <p:nvPr/>
        </p:nvSpPr>
        <p:spPr>
          <a:xfrm>
            <a:off x="8516351" y="4027439"/>
            <a:ext cx="1490624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Meta de ahorros tributarios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BF590060-ADD0-4D6B-A2A8-3A64CA646E6D}"/>
              </a:ext>
            </a:extLst>
          </p:cNvPr>
          <p:cNvSpPr/>
          <p:nvPr/>
        </p:nvSpPr>
        <p:spPr>
          <a:xfrm>
            <a:off x="9098566" y="3579344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0B1A0B0F-2F1C-4291-9D51-9C71E6A1359F}"/>
              </a:ext>
            </a:extLst>
          </p:cNvPr>
          <p:cNvSpPr/>
          <p:nvPr/>
        </p:nvSpPr>
        <p:spPr>
          <a:xfrm>
            <a:off x="6654034" y="3296681"/>
            <a:ext cx="1407779" cy="89513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de optimización de impuestos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1CF9D5AC-196E-4281-96AE-56C44031AA91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8061813" y="3183930"/>
            <a:ext cx="454537" cy="56031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7F3A345A-9153-4446-A616-F7DFE24266C8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8061813" y="3744249"/>
            <a:ext cx="454538" cy="57423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F466D74-4C91-41CC-8984-DA8C3B602044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988AA59-3048-42CB-BE09-29325459E136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83580203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Homologación de los niveles de servicio de CV y BCF</a:t>
            </a:r>
            <a:endParaRPr lang="es-CO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Asegurar que el alistamiento de los EEFF y los informes financieros relevantes de CV se entregan con los mismo estándares de tiempo y calidad que el banco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Gerente de Contabilidad, Director de Contabilidad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Vicepresidencia Financiera y Administrativa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refleja el nivel de homologación de los niveles de servicio contables de CV y BCF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valor del indicador se acerque al 100% el nivel de homologación entre ambas entidades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/>
              <a:t>Homologación de los niveles de servicio de CV y BCF (Aplica para el 1er año)</a:t>
            </a:r>
            <a:endParaRPr lang="es-CO" sz="1200"/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 y Administrativa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DD69A27-14CE-4EA2-8E90-A551B8C3DD57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70A593E1-B6E7-4E33-AE60-925C293D6EBD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F78E5BFB-1EB7-4163-AAA6-AEBFEA8E0A24}"/>
              </a:ext>
            </a:extLst>
          </p:cNvPr>
          <p:cNvSpPr/>
          <p:nvPr/>
        </p:nvSpPr>
        <p:spPr>
          <a:xfrm>
            <a:off x="8064342" y="2857402"/>
            <a:ext cx="1826108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Tiempo de alistamiento y cierre de los EEFF de CV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C1C3594-9016-4B77-8F6A-F325D7BEAED8}"/>
              </a:ext>
            </a:extLst>
          </p:cNvPr>
          <p:cNvSpPr/>
          <p:nvPr/>
        </p:nvSpPr>
        <p:spPr>
          <a:xfrm>
            <a:off x="8064342" y="4104080"/>
            <a:ext cx="1826107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Tiempos de entrega y alistamiento de los EEFF de BCF</a:t>
            </a: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00E17D49-A0CB-48FF-B1B8-CD5DCF9C55FC}"/>
              </a:ext>
            </a:extLst>
          </p:cNvPr>
          <p:cNvSpPr/>
          <p:nvPr/>
        </p:nvSpPr>
        <p:spPr>
          <a:xfrm>
            <a:off x="8820795" y="364993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6FE107FB-9AAF-45CB-AB61-E61FABD1F24B}"/>
              </a:ext>
            </a:extLst>
          </p:cNvPr>
          <p:cNvSpPr/>
          <p:nvPr/>
        </p:nvSpPr>
        <p:spPr>
          <a:xfrm>
            <a:off x="6090554" y="3521998"/>
            <a:ext cx="1519251" cy="74041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% Homologación Niveles de Servicio CV y BCF</a:t>
            </a:r>
          </a:p>
        </p:txBody>
      </p: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D0A62DFC-5294-4366-B734-9A9D6249DA27}"/>
              </a:ext>
            </a:extLst>
          </p:cNvPr>
          <p:cNvCxnSpPr>
            <a:cxnSpLocks/>
            <a:stCxn id="30" idx="3"/>
            <a:endCxn id="26" idx="1"/>
          </p:cNvCxnSpPr>
          <p:nvPr/>
        </p:nvCxnSpPr>
        <p:spPr>
          <a:xfrm flipV="1">
            <a:off x="7609805" y="3227608"/>
            <a:ext cx="454537" cy="66459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B8F4657E-A1DA-40B5-98D3-FC460E9BF587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609805" y="3892204"/>
            <a:ext cx="454537" cy="58208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Signo de multiplicación 32">
            <a:extLst>
              <a:ext uri="{FF2B5EF4-FFF2-40B4-BE49-F238E27FC236}">
                <a16:creationId xmlns:a16="http://schemas.microsoft.com/office/drawing/2014/main" id="{1AC402D9-E7DF-4679-A249-5FAEA80F6EF7}"/>
              </a:ext>
            </a:extLst>
          </p:cNvPr>
          <p:cNvSpPr/>
          <p:nvPr/>
        </p:nvSpPr>
        <p:spPr>
          <a:xfrm>
            <a:off x="9913614" y="3677774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D69F52C7-5646-4AB9-9DDC-281F0844C147}"/>
              </a:ext>
            </a:extLst>
          </p:cNvPr>
          <p:cNvSpPr/>
          <p:nvPr/>
        </p:nvSpPr>
        <p:spPr>
          <a:xfrm>
            <a:off x="10178088" y="3664457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</p:spTree>
    <p:extLst>
      <p:ext uri="{BB962C8B-B14F-4D97-AF65-F5344CB8AC3E}">
        <p14:creationId xmlns:p14="http://schemas.microsoft.com/office/powerpoint/2010/main" val="11615277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158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Rentabilidad del patrimonio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rendimiento que obtienen los accionistas de los fondos invertidos en la sociedad; es decir, medir la capacidad que tiene la empresa de remunerar a sus accionistas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Planeación Financiera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rendimiento que obtienen los accionistas de los fondos invertidos en la sociedad 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Cuanto más alto sea el indicador, mayor será la rentabilidad que BCG/CV puede llegar a tener en función de los recursos propios que emplea para su financiación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/>
              <a:t>Rentabilidad del patrimonio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Financiero, Comité Económico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8E1433A-96DF-4BBB-A614-13E194FE633A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0BEC594B-F346-489C-9955-9CFA990AB360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4928D291-2253-4769-9A45-F45962D71487}"/>
              </a:ext>
            </a:extLst>
          </p:cNvPr>
          <p:cNvSpPr/>
          <p:nvPr/>
        </p:nvSpPr>
        <p:spPr>
          <a:xfrm>
            <a:off x="7999027" y="2857402"/>
            <a:ext cx="1308259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Utilidad Operacional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79B59254-AE17-4FB6-B85D-AA9AC71089B7}"/>
              </a:ext>
            </a:extLst>
          </p:cNvPr>
          <p:cNvSpPr/>
          <p:nvPr/>
        </p:nvSpPr>
        <p:spPr>
          <a:xfrm>
            <a:off x="7999028" y="4104080"/>
            <a:ext cx="1308258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Patrimonio</a:t>
            </a: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9292889D-7A00-4824-A529-38210F761EF1}"/>
              </a:ext>
            </a:extLst>
          </p:cNvPr>
          <p:cNvSpPr/>
          <p:nvPr/>
        </p:nvSpPr>
        <p:spPr>
          <a:xfrm>
            <a:off x="8526880" y="3693482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7595A07D-CACA-4A49-8BEC-C4C2C2012DB1}"/>
              </a:ext>
            </a:extLst>
          </p:cNvPr>
          <p:cNvSpPr/>
          <p:nvPr/>
        </p:nvSpPr>
        <p:spPr>
          <a:xfrm>
            <a:off x="6025239" y="3521998"/>
            <a:ext cx="1519251" cy="74041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Rentabilidad Operacional del Patrimonio</a:t>
            </a:r>
          </a:p>
        </p:txBody>
      </p: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F51FE560-08FC-4A74-8ABE-4BB6E6B3939B}"/>
              </a:ext>
            </a:extLst>
          </p:cNvPr>
          <p:cNvCxnSpPr>
            <a:cxnSpLocks/>
            <a:stCxn id="30" idx="3"/>
            <a:endCxn id="26" idx="1"/>
          </p:cNvCxnSpPr>
          <p:nvPr/>
        </p:nvCxnSpPr>
        <p:spPr>
          <a:xfrm flipV="1">
            <a:off x="7544490" y="3227608"/>
            <a:ext cx="454537" cy="66459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85D41B16-E787-46C2-A885-E2E384E7F3CB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544490" y="3892204"/>
            <a:ext cx="454538" cy="58208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Rectángulo 1">
            <a:extLst>
              <a:ext uri="{FF2B5EF4-FFF2-40B4-BE49-F238E27FC236}">
                <a16:creationId xmlns:a16="http://schemas.microsoft.com/office/drawing/2014/main" id="{310B0DA3-8A6F-4670-BB7D-E9CB6E7A573D}"/>
              </a:ext>
            </a:extLst>
          </p:cNvPr>
          <p:cNvSpPr/>
          <p:nvPr/>
        </p:nvSpPr>
        <p:spPr>
          <a:xfrm>
            <a:off x="9617064" y="3493408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(-) Gasto operacional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2273DC00-007E-483F-B6FD-36A96B863D0D}"/>
              </a:ext>
            </a:extLst>
          </p:cNvPr>
          <p:cNvSpPr/>
          <p:nvPr/>
        </p:nvSpPr>
        <p:spPr>
          <a:xfrm>
            <a:off x="9617064" y="2675403"/>
            <a:ext cx="1296000" cy="410385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Margen de Intermediación</a:t>
            </a:r>
          </a:p>
        </p:txBody>
      </p:sp>
      <p:sp>
        <p:nvSpPr>
          <p:cNvPr id="48" name="Rectángulo 47">
            <a:extLst>
              <a:ext uri="{FF2B5EF4-FFF2-40B4-BE49-F238E27FC236}">
                <a16:creationId xmlns:a16="http://schemas.microsoft.com/office/drawing/2014/main" id="{AB3070DB-2B53-4CB5-B890-AB14513DB6DE}"/>
              </a:ext>
            </a:extLst>
          </p:cNvPr>
          <p:cNvSpPr/>
          <p:nvPr/>
        </p:nvSpPr>
        <p:spPr>
          <a:xfrm>
            <a:off x="9617064" y="3109598"/>
            <a:ext cx="1296000" cy="36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300">
                <a:solidFill>
                  <a:schemeClr val="accent1"/>
                </a:solidFill>
              </a:rPr>
              <a:t>(+) Ingresos por comisiones</a:t>
            </a:r>
          </a:p>
        </p:txBody>
      </p:sp>
      <p:sp>
        <p:nvSpPr>
          <p:cNvPr id="54" name="Cerrar llave 53">
            <a:extLst>
              <a:ext uri="{FF2B5EF4-FFF2-40B4-BE49-F238E27FC236}">
                <a16:creationId xmlns:a16="http://schemas.microsoft.com/office/drawing/2014/main" id="{231A15D6-72BB-4A01-AC8A-04AD45EBAD17}"/>
              </a:ext>
            </a:extLst>
          </p:cNvPr>
          <p:cNvSpPr/>
          <p:nvPr/>
        </p:nvSpPr>
        <p:spPr>
          <a:xfrm rot="10800000">
            <a:off x="9431196" y="2679510"/>
            <a:ext cx="185867" cy="1173898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73101456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159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Efectividad de las proyecciones (volumen, liquidez y utilidad) </a:t>
            </a:r>
            <a:endParaRPr lang="es-CO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la precisión y robustez de los modelos de proyección financiera para anticipar eventuales utilidades o pérdidas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921951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226231"/>
            <a:ext cx="4552406" cy="35674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Planeación Financiera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Financiera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418253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Si el resultado del indicador es igual a:</a:t>
            </a:r>
          </a:p>
          <a:p>
            <a:pPr marL="446088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100%,  las proyecciones cuentan con la capacidad para anticipar la realidad del negocio</a:t>
            </a:r>
          </a:p>
          <a:p>
            <a:pPr marL="446088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&lt; 100%, los modelos de proyección subestiman la realidad del negocio para generar utilidades</a:t>
            </a:r>
          </a:p>
          <a:p>
            <a:pPr marL="446088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100%, los modelos de proyección sobreestiman la capacidad del negocio para generar utilidades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/>
              <a:t>Efectividad de las proyecciones (volumen, liquidez y utilidad)</a:t>
            </a:r>
            <a:endParaRPr lang="es-CO" sz="1200"/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1ACEFDF-9B38-480B-A581-890F60215109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D4DA1336-0930-4C98-A6B7-C2505F3DCEFB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283D5F94-B3BC-4521-A313-D454DE33770E}"/>
              </a:ext>
            </a:extLst>
          </p:cNvPr>
          <p:cNvSpPr/>
          <p:nvPr/>
        </p:nvSpPr>
        <p:spPr>
          <a:xfrm>
            <a:off x="8064342" y="2857402"/>
            <a:ext cx="1826108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Utilidad o Pérdida proyectada para 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18D86AF8-104D-4F3B-BAE2-B15830ED3BCC}"/>
              </a:ext>
            </a:extLst>
          </p:cNvPr>
          <p:cNvSpPr/>
          <p:nvPr/>
        </p:nvSpPr>
        <p:spPr>
          <a:xfrm>
            <a:off x="8064342" y="4104080"/>
            <a:ext cx="1826107" cy="74041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Utilidad o Pérdida Real del periodo </a:t>
            </a: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F537ED17-F43D-4857-B573-94C14B5A5806}"/>
              </a:ext>
            </a:extLst>
          </p:cNvPr>
          <p:cNvSpPr/>
          <p:nvPr/>
        </p:nvSpPr>
        <p:spPr>
          <a:xfrm>
            <a:off x="8820795" y="364993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A885281F-CE02-4D95-8BCC-8E06DA09D3E3}"/>
              </a:ext>
            </a:extLst>
          </p:cNvPr>
          <p:cNvSpPr/>
          <p:nvPr/>
        </p:nvSpPr>
        <p:spPr>
          <a:xfrm>
            <a:off x="6090554" y="3521998"/>
            <a:ext cx="1519251" cy="74041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Efectividad de proyecciones </a:t>
            </a:r>
          </a:p>
        </p:txBody>
      </p: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BA593F5D-144F-4981-A70A-D9FF50A48666}"/>
              </a:ext>
            </a:extLst>
          </p:cNvPr>
          <p:cNvCxnSpPr>
            <a:cxnSpLocks/>
            <a:stCxn id="30" idx="3"/>
            <a:endCxn id="26" idx="1"/>
          </p:cNvCxnSpPr>
          <p:nvPr/>
        </p:nvCxnSpPr>
        <p:spPr>
          <a:xfrm flipV="1">
            <a:off x="7609805" y="3227608"/>
            <a:ext cx="454537" cy="664596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4E464E0C-1C24-44E0-80B9-3F55D9C35B9F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609805" y="3892204"/>
            <a:ext cx="454537" cy="58208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Signo de multiplicación 32">
            <a:extLst>
              <a:ext uri="{FF2B5EF4-FFF2-40B4-BE49-F238E27FC236}">
                <a16:creationId xmlns:a16="http://schemas.microsoft.com/office/drawing/2014/main" id="{4AE8606A-889F-4C41-98B6-E654E6CDA1D1}"/>
              </a:ext>
            </a:extLst>
          </p:cNvPr>
          <p:cNvSpPr/>
          <p:nvPr/>
        </p:nvSpPr>
        <p:spPr>
          <a:xfrm>
            <a:off x="9913614" y="3677774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F1467A76-E358-4844-A2EF-C949C9D712BA}"/>
              </a:ext>
            </a:extLst>
          </p:cNvPr>
          <p:cNvSpPr/>
          <p:nvPr/>
        </p:nvSpPr>
        <p:spPr>
          <a:xfrm>
            <a:off x="10178088" y="3664457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</p:spTree>
    <p:extLst>
      <p:ext uri="{BB962C8B-B14F-4D97-AF65-F5344CB8AC3E}">
        <p14:creationId xmlns:p14="http://schemas.microsoft.com/office/powerpoint/2010/main" val="2723888212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160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Cumplimiento de los hitos de Implementación modelo de rentabilidad basado en el concepto Central de Fondos</a:t>
            </a:r>
            <a:endParaRPr lang="es-CO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avance y cumplimiento de hitos de la implementación del modelo de rentabilidad basado en el concepto central de fondos, en términos de calidad, tiempos y presupuesto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Rentabilidad y Costos 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Rentabilidad y Costos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cumplimiento alcanzado. Es decir:</a:t>
            </a: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 quiere decir que no se alcanzó el avance esperado - se evidencia retraso respecto al plan inicial</a:t>
            </a: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= 100% el avance es acorde a lo esperado - el plan está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on</a:t>
            </a: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" sz="1100" err="1">
                <a:latin typeface="Arial" panose="020B0604020202020204" pitchFamily="34" charset="0"/>
                <a:cs typeface="Arial" panose="020B0604020202020204" pitchFamily="34" charset="0"/>
              </a:rPr>
              <a:t>track</a:t>
            </a:r>
            <a:endParaRPr lang="es-ES" sz="11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5877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&gt; 100% el avance es superior al esperado - existen tareas adelantadas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400"/>
              <a:t>Cumplimiento de los hitos de Implementación modelo de rentabilidad basado en el concepto Central de Fondos </a:t>
            </a:r>
            <a:endParaRPr lang="es-CO" sz="1400"/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Transformación Estratégica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Comités Primarios VP Financiera y Administrativa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0AF7E7D-EADD-42D1-A547-FCA48F9D182F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F3FDACA1-4A36-46D3-A196-40BEB661A941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626A780C-A54D-4498-A0A7-1B5A683FCC6C}"/>
              </a:ext>
            </a:extLst>
          </p:cNvPr>
          <p:cNvSpPr/>
          <p:nvPr/>
        </p:nvSpPr>
        <p:spPr>
          <a:xfrm>
            <a:off x="8042488" y="2885008"/>
            <a:ext cx="1593990" cy="72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300">
                <a:solidFill>
                  <a:schemeClr val="accent1"/>
                </a:solidFill>
              </a:rPr>
              <a:t>Número de hitos alcanzados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7F7F2E26-14BE-41A4-BF27-AF1BF6F7A1FD}"/>
              </a:ext>
            </a:extLst>
          </p:cNvPr>
          <p:cNvSpPr/>
          <p:nvPr/>
        </p:nvSpPr>
        <p:spPr>
          <a:xfrm>
            <a:off x="8042488" y="4080308"/>
            <a:ext cx="1593990" cy="72000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Total de hitos del plan de implem. del modelo de rentabilidad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Signo de división 28">
            <a:extLst>
              <a:ext uri="{FF2B5EF4-FFF2-40B4-BE49-F238E27FC236}">
                <a16:creationId xmlns:a16="http://schemas.microsoft.com/office/drawing/2014/main" id="{D909C2B3-A984-4BF4-B0FF-2873E61D88D9}"/>
              </a:ext>
            </a:extLst>
          </p:cNvPr>
          <p:cNvSpPr/>
          <p:nvPr/>
        </p:nvSpPr>
        <p:spPr>
          <a:xfrm>
            <a:off x="8682883" y="3675619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54DED9A4-8544-4967-B91B-2B3A20F9B3EF}"/>
              </a:ext>
            </a:extLst>
          </p:cNvPr>
          <p:cNvSpPr/>
          <p:nvPr/>
        </p:nvSpPr>
        <p:spPr>
          <a:xfrm>
            <a:off x="6143487" y="3568657"/>
            <a:ext cx="1469645" cy="58031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300">
                <a:solidFill>
                  <a:schemeClr val="accent1"/>
                </a:solidFill>
              </a:rPr>
              <a:t>Cumplimiento de hitos del plan estratégico</a:t>
            </a:r>
          </a:p>
        </p:txBody>
      </p:sp>
      <p:sp>
        <p:nvSpPr>
          <p:cNvPr id="31" name="Cerrar llave 30">
            <a:extLst>
              <a:ext uri="{FF2B5EF4-FFF2-40B4-BE49-F238E27FC236}">
                <a16:creationId xmlns:a16="http://schemas.microsoft.com/office/drawing/2014/main" id="{A97C73DC-6923-43B6-9B8E-BEE8EF7A88F0}"/>
              </a:ext>
            </a:extLst>
          </p:cNvPr>
          <p:cNvSpPr/>
          <p:nvPr/>
        </p:nvSpPr>
        <p:spPr>
          <a:xfrm rot="10800000">
            <a:off x="9774392" y="2989443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2369B80D-229C-44CA-AD67-E935AA913967}"/>
              </a:ext>
            </a:extLst>
          </p:cNvPr>
          <p:cNvSpPr/>
          <p:nvPr/>
        </p:nvSpPr>
        <p:spPr>
          <a:xfrm>
            <a:off x="9819217" y="2938657"/>
            <a:ext cx="1296000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Calidad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Tiempos</a:t>
            </a:r>
          </a:p>
          <a:p>
            <a:pPr marL="182563" indent="-182563"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tx1"/>
                </a:solidFill>
              </a:rPr>
              <a:t>Presupuesto</a:t>
            </a:r>
          </a:p>
        </p:txBody>
      </p: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183D11FF-6A39-4DF0-98AE-D8FFF4BB6CDD}"/>
              </a:ext>
            </a:extLst>
          </p:cNvPr>
          <p:cNvCxnSpPr>
            <a:cxnSpLocks/>
            <a:stCxn id="30" idx="3"/>
            <a:endCxn id="26" idx="1"/>
          </p:cNvCxnSpPr>
          <p:nvPr/>
        </p:nvCxnSpPr>
        <p:spPr>
          <a:xfrm flipV="1">
            <a:off x="7613132" y="3245008"/>
            <a:ext cx="429356" cy="61380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Conector: angular 33">
            <a:extLst>
              <a:ext uri="{FF2B5EF4-FFF2-40B4-BE49-F238E27FC236}">
                <a16:creationId xmlns:a16="http://schemas.microsoft.com/office/drawing/2014/main" id="{4299F0A9-10EF-43CD-84F7-60A470E99C5C}"/>
              </a:ext>
            </a:extLst>
          </p:cNvPr>
          <p:cNvCxnSpPr>
            <a:cxnSpLocks/>
            <a:stCxn id="30" idx="3"/>
            <a:endCxn id="28" idx="1"/>
          </p:cNvCxnSpPr>
          <p:nvPr/>
        </p:nvCxnSpPr>
        <p:spPr>
          <a:xfrm>
            <a:off x="7613132" y="3858816"/>
            <a:ext cx="429356" cy="58149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Cerrar llave 35">
            <a:extLst>
              <a:ext uri="{FF2B5EF4-FFF2-40B4-BE49-F238E27FC236}">
                <a16:creationId xmlns:a16="http://schemas.microsoft.com/office/drawing/2014/main" id="{439F702B-7A95-43C4-B0D2-8B2CD20FFDC1}"/>
              </a:ext>
            </a:extLst>
          </p:cNvPr>
          <p:cNvSpPr/>
          <p:nvPr/>
        </p:nvSpPr>
        <p:spPr>
          <a:xfrm rot="5400000">
            <a:off x="8803036" y="4112975"/>
            <a:ext cx="72893" cy="159399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33609E55-9B80-4AFD-9272-E214EA6FD567}"/>
              </a:ext>
            </a:extLst>
          </p:cNvPr>
          <p:cNvSpPr/>
          <p:nvPr/>
        </p:nvSpPr>
        <p:spPr>
          <a:xfrm>
            <a:off x="7827810" y="4904824"/>
            <a:ext cx="1946582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tx1"/>
                </a:solidFill>
              </a:rPr>
              <a:t>Basado en el concepto Central de Fondos </a:t>
            </a:r>
            <a:endParaRPr lang="es-CO" sz="12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006911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1" name="Rectángulo 210">
            <a:extLst>
              <a:ext uri="{FF2B5EF4-FFF2-40B4-BE49-F238E27FC236}">
                <a16:creationId xmlns:a16="http://schemas.microsoft.com/office/drawing/2014/main" id="{04E9E622-6A06-4362-A3E4-30AE5B14B1F0}"/>
              </a:ext>
            </a:extLst>
          </p:cNvPr>
          <p:cNvSpPr/>
          <p:nvPr/>
        </p:nvSpPr>
        <p:spPr>
          <a:xfrm>
            <a:off x="6094901" y="3477188"/>
            <a:ext cx="4757990" cy="131931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161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Rentabilidad Portafolio de Productos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del portafolio de productos para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Rentabilidad y Costos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Rentabilidad y Costos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la rentabilidad promedio ponderado de todos los productos de BCF/CV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la rentabilidad individual de los productos sea más alta, el indicador el valor del indicador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/>
              <a:t>Rentabilidad Portafolio de Productos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 y Administrativa</a:t>
            </a: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DB01E95-D043-40BF-9408-C3A202DD5A12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F644D91E-0E33-4A8A-9607-43EA95304211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CuadroTexto 112">
                <a:extLst>
                  <a:ext uri="{FF2B5EF4-FFF2-40B4-BE49-F238E27FC236}">
                    <a16:creationId xmlns:a16="http://schemas.microsoft.com/office/drawing/2014/main" id="{BCC1B51F-5E38-4E5C-89EB-0D0C27BA3752}"/>
                  </a:ext>
                </a:extLst>
              </p:cNvPr>
              <p:cNvSpPr txBox="1"/>
              <p:nvPr/>
            </p:nvSpPr>
            <p:spPr>
              <a:xfrm>
                <a:off x="6094901" y="2690305"/>
                <a:ext cx="4757990" cy="73442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/>
                </a:solidFill>
              </a:ln>
            </p:spPr>
            <p:txBody>
              <a:bodyPr wrap="square" lIns="36000" tIns="36000" rIns="36000" bIns="36000">
                <a:spAutoFit/>
              </a:bodyPr>
              <a:lstStyle/>
              <a:p>
                <a:r>
                  <a:rPr lang="es-CO" sz="1200" b="1">
                    <a:solidFill>
                      <a:schemeClr val="accent1"/>
                    </a:solidFill>
                  </a:rPr>
                  <a:t>Donde: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40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4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𝑅</m:t>
                        </m:r>
                      </m:e>
                      <m:sub>
                        <m:r>
                          <a:rPr lang="es-CO" sz="14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𝑃𝑖</m:t>
                        </m:r>
                      </m:sub>
                    </m:sSub>
                  </m:oMath>
                </a14:m>
                <a:r>
                  <a:rPr lang="es-CO" sz="1400">
                    <a:solidFill>
                      <a:schemeClr val="accent1"/>
                    </a:solidFill>
                  </a:rPr>
                  <a:t> </a:t>
                </a:r>
                <a:r>
                  <a:rPr lang="es-CO" sz="1200">
                    <a:solidFill>
                      <a:schemeClr val="accent1"/>
                    </a:solidFill>
                  </a:rPr>
                  <a:t>es la rentabilidad del producto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20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𝑊</m:t>
                        </m:r>
                      </m:e>
                      <m:sub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𝑃𝑖</m:t>
                        </m:r>
                      </m:sub>
                    </m:sSub>
                  </m:oMath>
                </a14:m>
                <a:r>
                  <a:rPr lang="es-CO" sz="1200">
                    <a:solidFill>
                      <a:schemeClr val="accent1"/>
                    </a:solidFill>
                  </a:rPr>
                  <a:t> es la ponderación del producto </a:t>
                </a:r>
              </a:p>
            </p:txBody>
          </p:sp>
        </mc:Choice>
        <mc:Fallback xmlns="">
          <p:sp>
            <p:nvSpPr>
              <p:cNvPr id="113" name="CuadroTexto 112">
                <a:extLst>
                  <a:ext uri="{FF2B5EF4-FFF2-40B4-BE49-F238E27FC236}">
                    <a16:creationId xmlns:a16="http://schemas.microsoft.com/office/drawing/2014/main" id="{BCC1B51F-5E38-4E5C-89EB-0D0C27BA37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4901" y="2690305"/>
                <a:ext cx="4757990" cy="734423"/>
              </a:xfrm>
              <a:prstGeom prst="rect">
                <a:avLst/>
              </a:prstGeom>
              <a:blipFill>
                <a:blip r:embed="rId3"/>
                <a:stretch>
                  <a:fillRect l="-1064" t="-1667" b="-6667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ectángulo 77">
            <a:extLst>
              <a:ext uri="{FF2B5EF4-FFF2-40B4-BE49-F238E27FC236}">
                <a16:creationId xmlns:a16="http://schemas.microsoft.com/office/drawing/2014/main" id="{CD4DF3E1-D812-4E4A-B77A-0F3CEC4A2E50}"/>
              </a:ext>
            </a:extLst>
          </p:cNvPr>
          <p:cNvSpPr/>
          <p:nvPr/>
        </p:nvSpPr>
        <p:spPr>
          <a:xfrm>
            <a:off x="6094901" y="2195385"/>
            <a:ext cx="4757990" cy="44246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CuadroTexto 83">
                <a:extLst>
                  <a:ext uri="{FF2B5EF4-FFF2-40B4-BE49-F238E27FC236}">
                    <a16:creationId xmlns:a16="http://schemas.microsoft.com/office/drawing/2014/main" id="{716D7AFE-23C8-4E79-95F0-27DB05E1F9DB}"/>
                  </a:ext>
                </a:extLst>
              </p:cNvPr>
              <p:cNvSpPr txBox="1"/>
              <p:nvPr/>
            </p:nvSpPr>
            <p:spPr>
              <a:xfrm>
                <a:off x="7743708" y="2318520"/>
                <a:ext cx="2966575" cy="20467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=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1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1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+</m:t>
                      </m:r>
                      <m:sSub>
                        <m:sSubPr>
                          <m:ctrlPr>
                            <a:rPr lang="es-CO" sz="120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2</m:t>
                          </m:r>
                        </m:sub>
                      </m:sSub>
                      <m:r>
                        <a:rPr lang="es-CO" sz="1200" b="0" i="1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2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+…+</m:t>
                      </m:r>
                      <m:sSub>
                        <m:sSubPr>
                          <m:ctrlPr>
                            <a:rPr lang="es-CO" sz="120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𝑛</m:t>
                          </m:r>
                        </m:sub>
                      </m:sSub>
                      <m:r>
                        <a:rPr lang="es-CO" sz="1200" b="0" i="1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4" name="CuadroTexto 83">
                <a:extLst>
                  <a:ext uri="{FF2B5EF4-FFF2-40B4-BE49-F238E27FC236}">
                    <a16:creationId xmlns:a16="http://schemas.microsoft.com/office/drawing/2014/main" id="{716D7AFE-23C8-4E79-95F0-27DB05E1F9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3708" y="2318520"/>
                <a:ext cx="2966575" cy="20467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5" name="Rectángulo 114">
            <a:extLst>
              <a:ext uri="{FF2B5EF4-FFF2-40B4-BE49-F238E27FC236}">
                <a16:creationId xmlns:a16="http://schemas.microsoft.com/office/drawing/2014/main" id="{293459CB-6854-4A9E-B794-9BAADCC5BAF8}"/>
              </a:ext>
            </a:extLst>
          </p:cNvPr>
          <p:cNvSpPr/>
          <p:nvPr/>
        </p:nvSpPr>
        <p:spPr>
          <a:xfrm>
            <a:off x="6094900" y="2124424"/>
            <a:ext cx="1946582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i="1">
                <a:solidFill>
                  <a:schemeClr val="accent1"/>
                </a:solidFill>
              </a:rPr>
              <a:t>Rentab. del portafolio </a:t>
            </a:r>
            <a:br>
              <a:rPr lang="es-ES" sz="1200" i="1">
                <a:solidFill>
                  <a:schemeClr val="accent1"/>
                </a:solidFill>
              </a:rPr>
            </a:br>
            <a:r>
              <a:rPr lang="es-ES" sz="1200" i="1">
                <a:solidFill>
                  <a:schemeClr val="accent1"/>
                </a:solidFill>
              </a:rPr>
              <a:t>de productos</a:t>
            </a:r>
            <a:endParaRPr lang="es-CO" sz="1200" i="1">
              <a:solidFill>
                <a:schemeClr val="accent1"/>
              </a:solidFill>
            </a:endParaRPr>
          </a:p>
        </p:txBody>
      </p:sp>
      <p:sp>
        <p:nvSpPr>
          <p:cNvPr id="116" name="Rectángulo 115">
            <a:extLst>
              <a:ext uri="{FF2B5EF4-FFF2-40B4-BE49-F238E27FC236}">
                <a16:creationId xmlns:a16="http://schemas.microsoft.com/office/drawing/2014/main" id="{97876DDF-3910-4AEB-9BB1-981DDAF66275}"/>
              </a:ext>
            </a:extLst>
          </p:cNvPr>
          <p:cNvSpPr/>
          <p:nvPr/>
        </p:nvSpPr>
        <p:spPr>
          <a:xfrm>
            <a:off x="6277431" y="4007504"/>
            <a:ext cx="900000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Rentabilidad del producto</a:t>
            </a:r>
          </a:p>
        </p:txBody>
      </p:sp>
      <p:sp>
        <p:nvSpPr>
          <p:cNvPr id="117" name="Rectángulo 116">
            <a:extLst>
              <a:ext uri="{FF2B5EF4-FFF2-40B4-BE49-F238E27FC236}">
                <a16:creationId xmlns:a16="http://schemas.microsoft.com/office/drawing/2014/main" id="{30858F05-937A-48B2-AF62-6C11168C373C}"/>
              </a:ext>
            </a:extLst>
          </p:cNvPr>
          <p:cNvSpPr/>
          <p:nvPr/>
        </p:nvSpPr>
        <p:spPr>
          <a:xfrm>
            <a:off x="7428375" y="3769052"/>
            <a:ext cx="1331101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118" name="Rectángulo 117">
            <a:extLst>
              <a:ext uri="{FF2B5EF4-FFF2-40B4-BE49-F238E27FC236}">
                <a16:creationId xmlns:a16="http://schemas.microsoft.com/office/drawing/2014/main" id="{36E554B5-DFD5-404D-A9C8-8F5BFE4DDF53}"/>
              </a:ext>
            </a:extLst>
          </p:cNvPr>
          <p:cNvSpPr/>
          <p:nvPr/>
        </p:nvSpPr>
        <p:spPr>
          <a:xfrm>
            <a:off x="7440187" y="4269572"/>
            <a:ext cx="1331102" cy="332776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Ingresos por intereses y comisiones</a:t>
            </a:r>
          </a:p>
        </p:txBody>
      </p:sp>
      <p:cxnSp>
        <p:nvCxnSpPr>
          <p:cNvPr id="130" name="Conector: angular 129">
            <a:extLst>
              <a:ext uri="{FF2B5EF4-FFF2-40B4-BE49-F238E27FC236}">
                <a16:creationId xmlns:a16="http://schemas.microsoft.com/office/drawing/2014/main" id="{5BE66186-08A0-475D-A48C-858D9D662859}"/>
              </a:ext>
            </a:extLst>
          </p:cNvPr>
          <p:cNvCxnSpPr>
            <a:cxnSpLocks/>
            <a:stCxn id="116" idx="3"/>
            <a:endCxn id="117" idx="1"/>
          </p:cNvCxnSpPr>
          <p:nvPr/>
        </p:nvCxnSpPr>
        <p:spPr>
          <a:xfrm flipV="1">
            <a:off x="7177431" y="3877052"/>
            <a:ext cx="250944" cy="296840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7" name="Signo de división 136">
            <a:extLst>
              <a:ext uri="{FF2B5EF4-FFF2-40B4-BE49-F238E27FC236}">
                <a16:creationId xmlns:a16="http://schemas.microsoft.com/office/drawing/2014/main" id="{FB5140D6-B2CF-42F3-A052-DF605F3BED6A}"/>
              </a:ext>
            </a:extLst>
          </p:cNvPr>
          <p:cNvSpPr/>
          <p:nvPr/>
        </p:nvSpPr>
        <p:spPr>
          <a:xfrm>
            <a:off x="7967926" y="3988085"/>
            <a:ext cx="252000" cy="288000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2" name="Rectángulo 141">
            <a:extLst>
              <a:ext uri="{FF2B5EF4-FFF2-40B4-BE49-F238E27FC236}">
                <a16:creationId xmlns:a16="http://schemas.microsoft.com/office/drawing/2014/main" id="{D694C5D4-344C-45A7-82EF-B070DCB052CA}"/>
              </a:ext>
            </a:extLst>
          </p:cNvPr>
          <p:cNvSpPr/>
          <p:nvPr/>
        </p:nvSpPr>
        <p:spPr>
          <a:xfrm>
            <a:off x="9119841" y="4485182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Gasto operacional</a:t>
            </a:r>
          </a:p>
        </p:txBody>
      </p:sp>
      <p:sp>
        <p:nvSpPr>
          <p:cNvPr id="144" name="Rectángulo 143">
            <a:extLst>
              <a:ext uri="{FF2B5EF4-FFF2-40B4-BE49-F238E27FC236}">
                <a16:creationId xmlns:a16="http://schemas.microsoft.com/office/drawing/2014/main" id="{8F8F00D5-76D0-40C8-993F-E41C0E2D7722}"/>
              </a:ext>
            </a:extLst>
          </p:cNvPr>
          <p:cNvSpPr/>
          <p:nvPr/>
        </p:nvSpPr>
        <p:spPr>
          <a:xfrm>
            <a:off x="9119841" y="3572920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146" name="Rectángulo 145">
            <a:extLst>
              <a:ext uri="{FF2B5EF4-FFF2-40B4-BE49-F238E27FC236}">
                <a16:creationId xmlns:a16="http://schemas.microsoft.com/office/drawing/2014/main" id="{904E5F17-3517-49E5-91ED-1DEC0C0D5F1F}"/>
              </a:ext>
            </a:extLst>
          </p:cNvPr>
          <p:cNvSpPr/>
          <p:nvPr/>
        </p:nvSpPr>
        <p:spPr>
          <a:xfrm>
            <a:off x="9119841" y="4029051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Ingresos por comisiones</a:t>
            </a:r>
          </a:p>
        </p:txBody>
      </p:sp>
      <p:cxnSp>
        <p:nvCxnSpPr>
          <p:cNvPr id="151" name="Conector: angular 150">
            <a:extLst>
              <a:ext uri="{FF2B5EF4-FFF2-40B4-BE49-F238E27FC236}">
                <a16:creationId xmlns:a16="http://schemas.microsoft.com/office/drawing/2014/main" id="{795C44FB-DFBD-47AF-8305-3F06CD62D816}"/>
              </a:ext>
            </a:extLst>
          </p:cNvPr>
          <p:cNvCxnSpPr>
            <a:cxnSpLocks/>
            <a:stCxn id="118" idx="1"/>
            <a:endCxn id="116" idx="3"/>
          </p:cNvCxnSpPr>
          <p:nvPr/>
        </p:nvCxnSpPr>
        <p:spPr>
          <a:xfrm rot="10800000">
            <a:off x="7177431" y="4173892"/>
            <a:ext cx="262756" cy="26206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6" name="Conector: angular 185">
            <a:extLst>
              <a:ext uri="{FF2B5EF4-FFF2-40B4-BE49-F238E27FC236}">
                <a16:creationId xmlns:a16="http://schemas.microsoft.com/office/drawing/2014/main" id="{BA470506-B6AD-4FFA-ABE6-9D0F3A2C1BC6}"/>
              </a:ext>
            </a:extLst>
          </p:cNvPr>
          <p:cNvCxnSpPr>
            <a:cxnSpLocks/>
            <a:stCxn id="117" idx="3"/>
            <a:endCxn id="144" idx="1"/>
          </p:cNvCxnSpPr>
          <p:nvPr/>
        </p:nvCxnSpPr>
        <p:spPr>
          <a:xfrm flipV="1">
            <a:off x="8759476" y="3680920"/>
            <a:ext cx="360365" cy="19613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9" name="Conector: angular 188">
            <a:extLst>
              <a:ext uri="{FF2B5EF4-FFF2-40B4-BE49-F238E27FC236}">
                <a16:creationId xmlns:a16="http://schemas.microsoft.com/office/drawing/2014/main" id="{0CC6E008-BE59-4CC1-9074-DAD5B419DEF0}"/>
              </a:ext>
            </a:extLst>
          </p:cNvPr>
          <p:cNvCxnSpPr>
            <a:cxnSpLocks/>
            <a:stCxn id="117" idx="3"/>
            <a:endCxn id="146" idx="1"/>
          </p:cNvCxnSpPr>
          <p:nvPr/>
        </p:nvCxnSpPr>
        <p:spPr>
          <a:xfrm>
            <a:off x="8759476" y="3877052"/>
            <a:ext cx="360365" cy="259999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2" name="Conector: angular 191">
            <a:extLst>
              <a:ext uri="{FF2B5EF4-FFF2-40B4-BE49-F238E27FC236}">
                <a16:creationId xmlns:a16="http://schemas.microsoft.com/office/drawing/2014/main" id="{5409E6C1-6595-40B2-B14B-AE449F01F3FF}"/>
              </a:ext>
            </a:extLst>
          </p:cNvPr>
          <p:cNvCxnSpPr>
            <a:cxnSpLocks/>
            <a:stCxn id="117" idx="3"/>
            <a:endCxn id="142" idx="1"/>
          </p:cNvCxnSpPr>
          <p:nvPr/>
        </p:nvCxnSpPr>
        <p:spPr>
          <a:xfrm>
            <a:off x="8759476" y="3877052"/>
            <a:ext cx="360365" cy="71613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7" name="Signo más 196">
            <a:extLst>
              <a:ext uri="{FF2B5EF4-FFF2-40B4-BE49-F238E27FC236}">
                <a16:creationId xmlns:a16="http://schemas.microsoft.com/office/drawing/2014/main" id="{8C84CCB8-611E-4C08-A637-07020D1CC731}"/>
              </a:ext>
            </a:extLst>
          </p:cNvPr>
          <p:cNvSpPr/>
          <p:nvPr/>
        </p:nvSpPr>
        <p:spPr>
          <a:xfrm>
            <a:off x="9767841" y="3791327"/>
            <a:ext cx="252000" cy="252000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9" name="Signo menos 198">
            <a:extLst>
              <a:ext uri="{FF2B5EF4-FFF2-40B4-BE49-F238E27FC236}">
                <a16:creationId xmlns:a16="http://schemas.microsoft.com/office/drawing/2014/main" id="{BCD903C6-DB04-4DC8-968C-966A59E47D52}"/>
              </a:ext>
            </a:extLst>
          </p:cNvPr>
          <p:cNvSpPr/>
          <p:nvPr/>
        </p:nvSpPr>
        <p:spPr>
          <a:xfrm>
            <a:off x="9767841" y="4325041"/>
            <a:ext cx="2520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9" name="CuadroTexto 208">
            <a:extLst>
              <a:ext uri="{FF2B5EF4-FFF2-40B4-BE49-F238E27FC236}">
                <a16:creationId xmlns:a16="http://schemas.microsoft.com/office/drawing/2014/main" id="{814F2B29-4DBC-4690-8C2D-AB2BDE5C0472}"/>
              </a:ext>
            </a:extLst>
          </p:cNvPr>
          <p:cNvSpPr txBox="1"/>
          <p:nvPr/>
        </p:nvSpPr>
        <p:spPr>
          <a:xfrm>
            <a:off x="6094901" y="4848957"/>
            <a:ext cx="4757990" cy="6821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wrap="square" lIns="36000" tIns="36000" rIns="36000" bIns="36000">
            <a:spAutoFit/>
          </a:bodyPr>
          <a:lstStyle/>
          <a:p>
            <a:pPr marL="171450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 ponderación o peso para cada uno de los productos se asigna en conjunto con el jefe directo del cargo atendiendo variables relevantes como por ejemplo: Cartera Bruta por producto, Cartera Productiva por producto, entre otros.</a:t>
            </a:r>
            <a:endParaRPr lang="es-CO" sz="11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3997990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162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Rentabilidad de los Canales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la capacidad de los canales para la generación de rentabilidad para 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Rentabilidad y Costos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Rentabilidad y Costos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la rentabilidad promedio ponderado de todos los Canales de Venta de BCF/CV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la rentabilidad individual de los Canales de Venta sea más alta, el indicador el valor del indicador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/>
              <a:t>Rentabilidad de los Canales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5DAAE9F-A62C-4626-9038-7A9EDBB0E3E6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B63109C5-FFA3-4F3C-A105-92242BFFD780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0C2C0ACF-8ED5-4071-BE5D-126F8344997F}"/>
              </a:ext>
            </a:extLst>
          </p:cNvPr>
          <p:cNvSpPr/>
          <p:nvPr/>
        </p:nvSpPr>
        <p:spPr>
          <a:xfrm>
            <a:off x="6094901" y="3477188"/>
            <a:ext cx="4757990" cy="131931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uadroTexto 28">
                <a:extLst>
                  <a:ext uri="{FF2B5EF4-FFF2-40B4-BE49-F238E27FC236}">
                    <a16:creationId xmlns:a16="http://schemas.microsoft.com/office/drawing/2014/main" id="{199C31FE-2B6B-4F0A-B012-A39CE5AE536C}"/>
                  </a:ext>
                </a:extLst>
              </p:cNvPr>
              <p:cNvSpPr txBox="1"/>
              <p:nvPr/>
            </p:nvSpPr>
            <p:spPr>
              <a:xfrm>
                <a:off x="6094901" y="2690305"/>
                <a:ext cx="4757990" cy="73442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/>
                </a:solidFill>
              </a:ln>
            </p:spPr>
            <p:txBody>
              <a:bodyPr wrap="square" lIns="36000" tIns="36000" rIns="36000" bIns="36000">
                <a:spAutoFit/>
              </a:bodyPr>
              <a:lstStyle/>
              <a:p>
                <a:r>
                  <a:rPr lang="es-CO" sz="1200" b="1">
                    <a:solidFill>
                      <a:schemeClr val="accent1"/>
                    </a:solidFill>
                  </a:rPr>
                  <a:t>Donde: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40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4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𝑅</m:t>
                        </m:r>
                      </m:e>
                      <m:sub>
                        <m:r>
                          <a:rPr lang="es-CO" sz="14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𝐶𝑖</m:t>
                        </m:r>
                      </m:sub>
                    </m:sSub>
                  </m:oMath>
                </a14:m>
                <a:r>
                  <a:rPr lang="es-CO" sz="1400">
                    <a:solidFill>
                      <a:schemeClr val="accent1"/>
                    </a:solidFill>
                  </a:rPr>
                  <a:t> </a:t>
                </a:r>
                <a:r>
                  <a:rPr lang="es-CO" sz="1200">
                    <a:solidFill>
                      <a:schemeClr val="accent1"/>
                    </a:solidFill>
                  </a:rPr>
                  <a:t>es la rentabilidad del canal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20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𝑊</m:t>
                        </m:r>
                      </m:e>
                      <m:sub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𝐶𝑖</m:t>
                        </m:r>
                      </m:sub>
                    </m:sSub>
                  </m:oMath>
                </a14:m>
                <a:r>
                  <a:rPr lang="es-CO" sz="1200">
                    <a:solidFill>
                      <a:schemeClr val="accent1"/>
                    </a:solidFill>
                  </a:rPr>
                  <a:t> es la ponderación del canal</a:t>
                </a:r>
              </a:p>
            </p:txBody>
          </p:sp>
        </mc:Choice>
        <mc:Fallback xmlns="">
          <p:sp>
            <p:nvSpPr>
              <p:cNvPr id="29" name="CuadroTexto 28">
                <a:extLst>
                  <a:ext uri="{FF2B5EF4-FFF2-40B4-BE49-F238E27FC236}">
                    <a16:creationId xmlns:a16="http://schemas.microsoft.com/office/drawing/2014/main" id="{199C31FE-2B6B-4F0A-B012-A39CE5AE5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4901" y="2690305"/>
                <a:ext cx="4757990" cy="734423"/>
              </a:xfrm>
              <a:prstGeom prst="rect">
                <a:avLst/>
              </a:prstGeom>
              <a:blipFill>
                <a:blip r:embed="rId3"/>
                <a:stretch>
                  <a:fillRect l="-1064" t="-1667" b="-6667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ángulo 29">
            <a:extLst>
              <a:ext uri="{FF2B5EF4-FFF2-40B4-BE49-F238E27FC236}">
                <a16:creationId xmlns:a16="http://schemas.microsoft.com/office/drawing/2014/main" id="{8E32BBBA-4E2C-43B2-A83C-1DF54AC72F3A}"/>
              </a:ext>
            </a:extLst>
          </p:cNvPr>
          <p:cNvSpPr/>
          <p:nvPr/>
        </p:nvSpPr>
        <p:spPr>
          <a:xfrm>
            <a:off x="6094901" y="2195385"/>
            <a:ext cx="4757990" cy="44246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uadroTexto 30">
                <a:extLst>
                  <a:ext uri="{FF2B5EF4-FFF2-40B4-BE49-F238E27FC236}">
                    <a16:creationId xmlns:a16="http://schemas.microsoft.com/office/drawing/2014/main" id="{BE6037FC-018F-4380-971C-59C562681B0D}"/>
                  </a:ext>
                </a:extLst>
              </p:cNvPr>
              <p:cNvSpPr txBox="1"/>
              <p:nvPr/>
            </p:nvSpPr>
            <p:spPr>
              <a:xfrm>
                <a:off x="7557672" y="2318520"/>
                <a:ext cx="2966575" cy="20467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=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1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1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+</m:t>
                      </m:r>
                      <m:sSub>
                        <m:sSubPr>
                          <m:ctrlPr>
                            <a:rPr lang="es-CO" sz="120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2</m:t>
                          </m:r>
                        </m:sub>
                      </m:sSub>
                      <m:r>
                        <a:rPr lang="es-CO" sz="1200" b="0" i="1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2</m:t>
                          </m:r>
                        </m:sub>
                      </m:sSub>
                      <m:r>
                        <a:rPr lang="es-CO" sz="1200" b="0" i="1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+…+</m:t>
                      </m:r>
                      <m:sSub>
                        <m:sSubPr>
                          <m:ctrlPr>
                            <a:rPr lang="es-CO" sz="120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𝑅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𝐶𝑛</m:t>
                          </m:r>
                        </m:sub>
                      </m:sSub>
                      <m:r>
                        <a:rPr lang="es-CO" sz="1200" b="0" i="1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</m:t>
                      </m:r>
                      <m:sSub>
                        <m:sSubPr>
                          <m:ctrlPr>
                            <a:rPr lang="es-CO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sz="1200" b="0" i="1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𝑊</m:t>
                          </m:r>
                        </m:e>
                        <m:sub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𝐶𝑛</m:t>
                          </m:r>
                        </m:sub>
                      </m:sSub>
                    </m:oMath>
                  </m:oMathPara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1" name="CuadroTexto 30">
                <a:extLst>
                  <a:ext uri="{FF2B5EF4-FFF2-40B4-BE49-F238E27FC236}">
                    <a16:creationId xmlns:a16="http://schemas.microsoft.com/office/drawing/2014/main" id="{BE6037FC-018F-4380-971C-59C562681B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7672" y="2318520"/>
                <a:ext cx="2966575" cy="20467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Rectángulo 31">
            <a:extLst>
              <a:ext uri="{FF2B5EF4-FFF2-40B4-BE49-F238E27FC236}">
                <a16:creationId xmlns:a16="http://schemas.microsoft.com/office/drawing/2014/main" id="{F55105F2-11AD-4EC2-9BF8-D2E790A245AA}"/>
              </a:ext>
            </a:extLst>
          </p:cNvPr>
          <p:cNvSpPr/>
          <p:nvPr/>
        </p:nvSpPr>
        <p:spPr>
          <a:xfrm>
            <a:off x="6703364" y="2253521"/>
            <a:ext cx="1051327" cy="32618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i="1">
                <a:solidFill>
                  <a:schemeClr val="accent1"/>
                </a:solidFill>
              </a:rPr>
              <a:t>Rentab. de</a:t>
            </a:r>
            <a:br>
              <a:rPr lang="es-ES" sz="1200" i="1">
                <a:solidFill>
                  <a:schemeClr val="accent1"/>
                </a:solidFill>
              </a:rPr>
            </a:br>
            <a:r>
              <a:rPr lang="es-ES" sz="1200" i="1">
                <a:solidFill>
                  <a:schemeClr val="accent1"/>
                </a:solidFill>
              </a:rPr>
              <a:t>los canales</a:t>
            </a:r>
            <a:endParaRPr lang="es-CO" sz="1200" i="1">
              <a:solidFill>
                <a:schemeClr val="accent1"/>
              </a:solidFill>
            </a:endParaRP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408FCC5A-831C-456D-A470-32CDDDD7E0B6}"/>
              </a:ext>
            </a:extLst>
          </p:cNvPr>
          <p:cNvSpPr/>
          <p:nvPr/>
        </p:nvSpPr>
        <p:spPr>
          <a:xfrm>
            <a:off x="6277431" y="4007504"/>
            <a:ext cx="900000" cy="33277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Rentabilidad del canal</a:t>
            </a:r>
          </a:p>
        </p:txBody>
      </p:sp>
      <p:sp>
        <p:nvSpPr>
          <p:cNvPr id="34" name="Rectángulo 33">
            <a:extLst>
              <a:ext uri="{FF2B5EF4-FFF2-40B4-BE49-F238E27FC236}">
                <a16:creationId xmlns:a16="http://schemas.microsoft.com/office/drawing/2014/main" id="{2D1A3D64-2851-4EA3-8E42-E861FB6ACA82}"/>
              </a:ext>
            </a:extLst>
          </p:cNvPr>
          <p:cNvSpPr/>
          <p:nvPr/>
        </p:nvSpPr>
        <p:spPr>
          <a:xfrm>
            <a:off x="7428375" y="3769052"/>
            <a:ext cx="1331101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Utilidad Operacional</a:t>
            </a: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4681DD4C-0F89-46E0-B8CC-32107C653322}"/>
              </a:ext>
            </a:extLst>
          </p:cNvPr>
          <p:cNvSpPr/>
          <p:nvPr/>
        </p:nvSpPr>
        <p:spPr>
          <a:xfrm>
            <a:off x="7440187" y="4269572"/>
            <a:ext cx="1331102" cy="332776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Ingresos por intereses y comisiones</a:t>
            </a:r>
          </a:p>
        </p:txBody>
      </p:sp>
      <p:cxnSp>
        <p:nvCxnSpPr>
          <p:cNvPr id="36" name="Conector: angular 35">
            <a:extLst>
              <a:ext uri="{FF2B5EF4-FFF2-40B4-BE49-F238E27FC236}">
                <a16:creationId xmlns:a16="http://schemas.microsoft.com/office/drawing/2014/main" id="{369FCD44-8BFF-4570-8E83-4B1069553C76}"/>
              </a:ext>
            </a:extLst>
          </p:cNvPr>
          <p:cNvCxnSpPr>
            <a:cxnSpLocks/>
            <a:stCxn id="33" idx="3"/>
            <a:endCxn id="34" idx="1"/>
          </p:cNvCxnSpPr>
          <p:nvPr/>
        </p:nvCxnSpPr>
        <p:spPr>
          <a:xfrm flipV="1">
            <a:off x="7177431" y="3877052"/>
            <a:ext cx="250944" cy="296840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7" name="Signo de división 36">
            <a:extLst>
              <a:ext uri="{FF2B5EF4-FFF2-40B4-BE49-F238E27FC236}">
                <a16:creationId xmlns:a16="http://schemas.microsoft.com/office/drawing/2014/main" id="{858910B4-F220-4512-B827-ECB88885450B}"/>
              </a:ext>
            </a:extLst>
          </p:cNvPr>
          <p:cNvSpPr/>
          <p:nvPr/>
        </p:nvSpPr>
        <p:spPr>
          <a:xfrm>
            <a:off x="7967926" y="3988085"/>
            <a:ext cx="252000" cy="288000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1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Rectángulo 37">
            <a:extLst>
              <a:ext uri="{FF2B5EF4-FFF2-40B4-BE49-F238E27FC236}">
                <a16:creationId xmlns:a16="http://schemas.microsoft.com/office/drawing/2014/main" id="{4BD7F3C1-0DBA-4FEF-855D-9C5833F56439}"/>
              </a:ext>
            </a:extLst>
          </p:cNvPr>
          <p:cNvSpPr/>
          <p:nvPr/>
        </p:nvSpPr>
        <p:spPr>
          <a:xfrm>
            <a:off x="9119841" y="4485182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Gasto operacional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8BE6B5BB-F4D2-4712-A62C-D0971D9C595C}"/>
              </a:ext>
            </a:extLst>
          </p:cNvPr>
          <p:cNvSpPr/>
          <p:nvPr/>
        </p:nvSpPr>
        <p:spPr>
          <a:xfrm>
            <a:off x="9119841" y="3572920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Margen de Intermediación</a:t>
            </a:r>
          </a:p>
        </p:txBody>
      </p:sp>
      <p:sp>
        <p:nvSpPr>
          <p:cNvPr id="40" name="Rectángulo 39">
            <a:extLst>
              <a:ext uri="{FF2B5EF4-FFF2-40B4-BE49-F238E27FC236}">
                <a16:creationId xmlns:a16="http://schemas.microsoft.com/office/drawing/2014/main" id="{01097AAE-EE5D-40C1-A1B8-7879E5A8FBA1}"/>
              </a:ext>
            </a:extLst>
          </p:cNvPr>
          <p:cNvSpPr/>
          <p:nvPr/>
        </p:nvSpPr>
        <p:spPr>
          <a:xfrm>
            <a:off x="9119841" y="4029051"/>
            <a:ext cx="1548000" cy="21600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000">
                <a:solidFill>
                  <a:schemeClr val="accent1"/>
                </a:solidFill>
              </a:rPr>
              <a:t>Ingresos por comisiones</a:t>
            </a:r>
          </a:p>
        </p:txBody>
      </p:sp>
      <p:cxnSp>
        <p:nvCxnSpPr>
          <p:cNvPr id="41" name="Conector: angular 40">
            <a:extLst>
              <a:ext uri="{FF2B5EF4-FFF2-40B4-BE49-F238E27FC236}">
                <a16:creationId xmlns:a16="http://schemas.microsoft.com/office/drawing/2014/main" id="{595488D5-5031-4D7A-9A5D-14CD890E6E40}"/>
              </a:ext>
            </a:extLst>
          </p:cNvPr>
          <p:cNvCxnSpPr>
            <a:cxnSpLocks/>
            <a:stCxn id="35" idx="1"/>
            <a:endCxn id="33" idx="3"/>
          </p:cNvCxnSpPr>
          <p:nvPr/>
        </p:nvCxnSpPr>
        <p:spPr>
          <a:xfrm rot="10800000">
            <a:off x="7177431" y="4173892"/>
            <a:ext cx="262756" cy="262068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Conector: angular 41">
            <a:extLst>
              <a:ext uri="{FF2B5EF4-FFF2-40B4-BE49-F238E27FC236}">
                <a16:creationId xmlns:a16="http://schemas.microsoft.com/office/drawing/2014/main" id="{BAC2A7DB-95DD-4382-8A17-302976FF0944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8759476" y="3680920"/>
            <a:ext cx="360365" cy="196132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Conector: angular 42">
            <a:extLst>
              <a:ext uri="{FF2B5EF4-FFF2-40B4-BE49-F238E27FC236}">
                <a16:creationId xmlns:a16="http://schemas.microsoft.com/office/drawing/2014/main" id="{1F7E97C1-8177-4202-B852-A69744298CCA}"/>
              </a:ext>
            </a:extLst>
          </p:cNvPr>
          <p:cNvCxnSpPr>
            <a:cxnSpLocks/>
            <a:stCxn id="34" idx="3"/>
            <a:endCxn id="40" idx="1"/>
          </p:cNvCxnSpPr>
          <p:nvPr/>
        </p:nvCxnSpPr>
        <p:spPr>
          <a:xfrm>
            <a:off x="8759476" y="3877052"/>
            <a:ext cx="360365" cy="259999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" name="Conector: angular 43">
            <a:extLst>
              <a:ext uri="{FF2B5EF4-FFF2-40B4-BE49-F238E27FC236}">
                <a16:creationId xmlns:a16="http://schemas.microsoft.com/office/drawing/2014/main" id="{D8B283CF-E73B-4D7F-83BD-E1466B4DD702}"/>
              </a:ext>
            </a:extLst>
          </p:cNvPr>
          <p:cNvCxnSpPr>
            <a:cxnSpLocks/>
            <a:stCxn id="34" idx="3"/>
            <a:endCxn id="38" idx="1"/>
          </p:cNvCxnSpPr>
          <p:nvPr/>
        </p:nvCxnSpPr>
        <p:spPr>
          <a:xfrm>
            <a:off x="8759476" y="3877052"/>
            <a:ext cx="360365" cy="716130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5" name="Signo más 44">
            <a:extLst>
              <a:ext uri="{FF2B5EF4-FFF2-40B4-BE49-F238E27FC236}">
                <a16:creationId xmlns:a16="http://schemas.microsoft.com/office/drawing/2014/main" id="{7D281084-6DF6-4D3C-8FF0-17A91FA507BF}"/>
              </a:ext>
            </a:extLst>
          </p:cNvPr>
          <p:cNvSpPr/>
          <p:nvPr/>
        </p:nvSpPr>
        <p:spPr>
          <a:xfrm>
            <a:off x="9767841" y="3791327"/>
            <a:ext cx="252000" cy="252000"/>
          </a:xfrm>
          <a:prstGeom prst="mathPlus">
            <a:avLst>
              <a:gd name="adj1" fmla="val 9234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Signo menos 45">
            <a:extLst>
              <a:ext uri="{FF2B5EF4-FFF2-40B4-BE49-F238E27FC236}">
                <a16:creationId xmlns:a16="http://schemas.microsoft.com/office/drawing/2014/main" id="{9E05C39D-7CD9-4507-B8FF-234BF4438260}"/>
              </a:ext>
            </a:extLst>
          </p:cNvPr>
          <p:cNvSpPr/>
          <p:nvPr/>
        </p:nvSpPr>
        <p:spPr>
          <a:xfrm>
            <a:off x="9767841" y="4325041"/>
            <a:ext cx="252000" cy="118792"/>
          </a:xfrm>
          <a:prstGeom prst="mathMinus">
            <a:avLst/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CuadroTexto 46">
            <a:extLst>
              <a:ext uri="{FF2B5EF4-FFF2-40B4-BE49-F238E27FC236}">
                <a16:creationId xmlns:a16="http://schemas.microsoft.com/office/drawing/2014/main" id="{5211A8AC-F1B7-407B-86CB-532CB6805075}"/>
              </a:ext>
            </a:extLst>
          </p:cNvPr>
          <p:cNvSpPr txBox="1"/>
          <p:nvPr/>
        </p:nvSpPr>
        <p:spPr>
          <a:xfrm>
            <a:off x="6094901" y="4848957"/>
            <a:ext cx="4757990" cy="682101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txBody>
          <a:bodyPr wrap="square" lIns="36000" tIns="36000" rIns="36000" bIns="36000">
            <a:spAutoFit/>
          </a:bodyPr>
          <a:lstStyle/>
          <a:p>
            <a:pPr marL="171450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1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 ponderación o peso para cada uno de los canales se asigna en conjunto con el jefe directo del cargo atendiendo variables relevantes como por ejemplo: Cartera Bruta por canal, Cartera Productiva por canal, entre otros</a:t>
            </a:r>
          </a:p>
        </p:txBody>
      </p:sp>
    </p:spTree>
    <p:extLst>
      <p:ext uri="{BB962C8B-B14F-4D97-AF65-F5344CB8AC3E}">
        <p14:creationId xmlns:p14="http://schemas.microsoft.com/office/powerpoint/2010/main" val="3392936489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163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2000">
                <a:latin typeface="Arial" panose="020B0604020202020204" pitchFamily="34" charset="0"/>
                <a:cs typeface="Arial" panose="020B0604020202020204" pitchFamily="34" charset="0"/>
              </a:rPr>
              <a:t>Ahorro total de costes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los ahorros alcanzados en el proceso de compras con el fin de medir el esfuerzo a la hora de reducir o evitar costes para la organización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Administrativo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Planeación Financiera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los ahorros alcanzados en el proceso de compras como proporción de los costos aumente, el indicador tendrá una tendencia a la alza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Ahorro total de costes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Primario VP Financiera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D702F86E-FCEC-42AB-91A1-2A30FA3E0745}"/>
              </a:ext>
            </a:extLst>
          </p:cNvPr>
          <p:cNvSpPr/>
          <p:nvPr/>
        </p:nvSpPr>
        <p:spPr>
          <a:xfrm>
            <a:off x="6059204" y="2397852"/>
            <a:ext cx="4780031" cy="34352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Este indicador se puede medir en dos o más dimensiones</a:t>
            </a: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8AD8CAA0-8396-43DE-A2D6-0B58A32364A0}"/>
              </a:ext>
            </a:extLst>
          </p:cNvPr>
          <p:cNvSpPr/>
          <p:nvPr/>
        </p:nvSpPr>
        <p:spPr>
          <a:xfrm>
            <a:off x="6059205" y="2960465"/>
            <a:ext cx="1342505" cy="59887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100">
              <a:solidFill>
                <a:schemeClr val="accen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DAE5506C-0788-44E4-BC43-B2C831821AF4}"/>
                  </a:ext>
                </a:extLst>
              </p:cNvPr>
              <p:cNvSpPr txBox="1"/>
              <p:nvPr/>
            </p:nvSpPr>
            <p:spPr>
              <a:xfrm>
                <a:off x="6118881" y="3099528"/>
                <a:ext cx="1197379" cy="38209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s-ES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Ahorros</m:t>
                          </m:r>
                          <m: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pre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𝑣𝑖𝑠𝑜𝑠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Costos</m:t>
                          </m:r>
                          <m: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previstos</m:t>
                          </m:r>
                        </m:den>
                      </m:f>
                    </m:oMath>
                  </m:oMathPara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" name="CuadroTexto 1">
                <a:extLst>
                  <a:ext uri="{FF2B5EF4-FFF2-40B4-BE49-F238E27FC236}">
                    <a16:creationId xmlns:a16="http://schemas.microsoft.com/office/drawing/2014/main" id="{DAE5506C-0788-44E4-BC43-B2C831821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8881" y="3099528"/>
                <a:ext cx="1197379" cy="382092"/>
              </a:xfrm>
              <a:prstGeom prst="rect">
                <a:avLst/>
              </a:prstGeom>
              <a:blipFill>
                <a:blip r:embed="rId2"/>
                <a:stretch>
                  <a:fillRect l="-1053" t="-12500" r="-2105" b="-9375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Rectángulo 30">
            <a:extLst>
              <a:ext uri="{FF2B5EF4-FFF2-40B4-BE49-F238E27FC236}">
                <a16:creationId xmlns:a16="http://schemas.microsoft.com/office/drawing/2014/main" id="{6DA17316-AA79-401E-AE08-05E2BE11CC62}"/>
              </a:ext>
            </a:extLst>
          </p:cNvPr>
          <p:cNvSpPr/>
          <p:nvPr/>
        </p:nvSpPr>
        <p:spPr>
          <a:xfrm>
            <a:off x="6059205" y="3803607"/>
            <a:ext cx="1342505" cy="59887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1CC53DE8-3B41-4393-BE72-C360BF832066}"/>
              </a:ext>
            </a:extLst>
          </p:cNvPr>
          <p:cNvSpPr/>
          <p:nvPr/>
        </p:nvSpPr>
        <p:spPr>
          <a:xfrm>
            <a:off x="6059205" y="4646749"/>
            <a:ext cx="1342505" cy="59887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CO" sz="1100">
              <a:solidFill>
                <a:schemeClr val="accen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uadroTexto 27">
                <a:extLst>
                  <a:ext uri="{FF2B5EF4-FFF2-40B4-BE49-F238E27FC236}">
                    <a16:creationId xmlns:a16="http://schemas.microsoft.com/office/drawing/2014/main" id="{EB2B851C-BB24-4747-8F65-A3EC269F5928}"/>
                  </a:ext>
                </a:extLst>
              </p:cNvPr>
              <p:cNvSpPr txBox="1"/>
              <p:nvPr/>
            </p:nvSpPr>
            <p:spPr>
              <a:xfrm>
                <a:off x="6275826" y="3930145"/>
                <a:ext cx="904157" cy="35298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s-ES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Ahorros</m:t>
                          </m:r>
                          <m: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𝑟𝑒𝑎𝑙</m:t>
                          </m:r>
                        </m:num>
                        <m:den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𝐶𝑜𝑠𝑡𝑒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𝑟𝑒𝑎𝑙</m:t>
                          </m:r>
                        </m:den>
                      </m:f>
                    </m:oMath>
                  </m:oMathPara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8" name="CuadroTexto 27">
                <a:extLst>
                  <a:ext uri="{FF2B5EF4-FFF2-40B4-BE49-F238E27FC236}">
                    <a16:creationId xmlns:a16="http://schemas.microsoft.com/office/drawing/2014/main" id="{EB2B851C-BB24-4747-8F65-A3EC269F5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5826" y="3930145"/>
                <a:ext cx="904157" cy="352982"/>
              </a:xfrm>
              <a:prstGeom prst="rect">
                <a:avLst/>
              </a:prstGeom>
              <a:blipFill>
                <a:blip r:embed="rId3"/>
                <a:stretch>
                  <a:fillRect l="-1370" t="-17241" r="-1370" b="-20690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uadroTexto 28">
                <a:extLst>
                  <a:ext uri="{FF2B5EF4-FFF2-40B4-BE49-F238E27FC236}">
                    <a16:creationId xmlns:a16="http://schemas.microsoft.com/office/drawing/2014/main" id="{66201E1E-DFB4-4A0D-8906-29E5B5E4A2B5}"/>
                  </a:ext>
                </a:extLst>
              </p:cNvPr>
              <p:cNvSpPr txBox="1"/>
              <p:nvPr/>
            </p:nvSpPr>
            <p:spPr>
              <a:xfrm>
                <a:off x="6204331" y="4766654"/>
                <a:ext cx="1047146" cy="38209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s-ES" sz="120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Ahorros</m:t>
                          </m:r>
                          <m:r>
                            <a:rPr lang="es-CO" sz="1200" b="0" i="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𝑟𝑒𝑎𝑙</m:t>
                          </m:r>
                        </m:num>
                        <m:den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𝐶𝑜𝑠𝑡𝑒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s-CO" sz="1200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𝑝𝑟𝑒𝑣𝑖𝑠𝑡𝑜</m:t>
                          </m:r>
                        </m:den>
                      </m:f>
                    </m:oMath>
                  </m:oMathPara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29" name="CuadroTexto 28">
                <a:extLst>
                  <a:ext uri="{FF2B5EF4-FFF2-40B4-BE49-F238E27FC236}">
                    <a16:creationId xmlns:a16="http://schemas.microsoft.com/office/drawing/2014/main" id="{66201E1E-DFB4-4A0D-8906-29E5B5E4A2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4331" y="4766654"/>
                <a:ext cx="1047146" cy="382092"/>
              </a:xfrm>
              <a:prstGeom prst="rect">
                <a:avLst/>
              </a:prstGeom>
              <a:blipFill>
                <a:blip r:embed="rId4"/>
                <a:stretch>
                  <a:fillRect l="-2381" t="-16129" r="-2381" b="-12903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Elipse 14">
            <a:extLst>
              <a:ext uri="{FF2B5EF4-FFF2-40B4-BE49-F238E27FC236}">
                <a16:creationId xmlns:a16="http://schemas.microsoft.com/office/drawing/2014/main" id="{7C72B307-3E72-415C-A7F9-A02A246818A3}"/>
              </a:ext>
            </a:extLst>
          </p:cNvPr>
          <p:cNvSpPr/>
          <p:nvPr/>
        </p:nvSpPr>
        <p:spPr>
          <a:xfrm>
            <a:off x="5966738" y="2855256"/>
            <a:ext cx="190692" cy="190692"/>
          </a:xfrm>
          <a:prstGeom prst="ellipse">
            <a:avLst/>
          </a:prstGeom>
          <a:solidFill>
            <a:schemeClr val="accent5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33" name="Elipse 32">
            <a:extLst>
              <a:ext uri="{FF2B5EF4-FFF2-40B4-BE49-F238E27FC236}">
                <a16:creationId xmlns:a16="http://schemas.microsoft.com/office/drawing/2014/main" id="{9C53741E-70CE-4CF0-A46D-C09384A0A6EC}"/>
              </a:ext>
            </a:extLst>
          </p:cNvPr>
          <p:cNvSpPr/>
          <p:nvPr/>
        </p:nvSpPr>
        <p:spPr>
          <a:xfrm>
            <a:off x="5966738" y="3717469"/>
            <a:ext cx="190692" cy="190692"/>
          </a:xfrm>
          <a:prstGeom prst="ellipse">
            <a:avLst/>
          </a:prstGeom>
          <a:solidFill>
            <a:schemeClr val="accent5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4" name="Elipse 33">
            <a:extLst>
              <a:ext uri="{FF2B5EF4-FFF2-40B4-BE49-F238E27FC236}">
                <a16:creationId xmlns:a16="http://schemas.microsoft.com/office/drawing/2014/main" id="{8D8784E6-B628-40A4-87C9-2159E2BFC074}"/>
              </a:ext>
            </a:extLst>
          </p:cNvPr>
          <p:cNvSpPr/>
          <p:nvPr/>
        </p:nvSpPr>
        <p:spPr>
          <a:xfrm>
            <a:off x="5966738" y="4579682"/>
            <a:ext cx="190692" cy="190692"/>
          </a:xfrm>
          <a:prstGeom prst="ellipse">
            <a:avLst/>
          </a:prstGeom>
          <a:solidFill>
            <a:schemeClr val="accent5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5" name="Rectángulo 34">
            <a:extLst>
              <a:ext uri="{FF2B5EF4-FFF2-40B4-BE49-F238E27FC236}">
                <a16:creationId xmlns:a16="http://schemas.microsoft.com/office/drawing/2014/main" id="{615D9437-2BF3-4E19-8300-D13AAC04578C}"/>
              </a:ext>
            </a:extLst>
          </p:cNvPr>
          <p:cNvSpPr/>
          <p:nvPr/>
        </p:nvSpPr>
        <p:spPr>
          <a:xfrm>
            <a:off x="7546836" y="2960465"/>
            <a:ext cx="3292400" cy="59887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Este ratio, mide los resultados de la negociación respecto a un comportamiento de consumo previsto de antemano</a:t>
            </a:r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36" name="Rectángulo 35">
            <a:extLst>
              <a:ext uri="{FF2B5EF4-FFF2-40B4-BE49-F238E27FC236}">
                <a16:creationId xmlns:a16="http://schemas.microsoft.com/office/drawing/2014/main" id="{AA47F39F-DFAE-478F-86B5-9023C678A54C}"/>
              </a:ext>
            </a:extLst>
          </p:cNvPr>
          <p:cNvSpPr/>
          <p:nvPr/>
        </p:nvSpPr>
        <p:spPr>
          <a:xfrm>
            <a:off x="7546836" y="3803607"/>
            <a:ext cx="3292400" cy="59887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Este ratio mide el impacto real que tiene el ahorro en nuestra cuenta de resultados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21EBC123-EE01-446E-BB2A-3BE56178FA01}"/>
              </a:ext>
            </a:extLst>
          </p:cNvPr>
          <p:cNvSpPr/>
          <p:nvPr/>
        </p:nvSpPr>
        <p:spPr>
          <a:xfrm>
            <a:off x="7546836" y="4646749"/>
            <a:ext cx="3292400" cy="598870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100">
                <a:solidFill>
                  <a:schemeClr val="accent1"/>
                </a:solidFill>
              </a:rPr>
              <a:t>Este ratio excluye el factor volumen, es decir aislamos el impacto de un aumento/disminución de consumo en el resultado</a:t>
            </a:r>
            <a:endParaRPr lang="es-CO" sz="1100">
              <a:solidFill>
                <a:schemeClr val="accent1"/>
              </a:solidFill>
            </a:endParaRPr>
          </a:p>
        </p:txBody>
      </p:sp>
      <p:sp>
        <p:nvSpPr>
          <p:cNvPr id="27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7D2D1FFE-AAE8-457F-A14B-67CBDF8D3B93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5EE14487-259A-4120-A6D7-574B485F36F7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69523772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Rendimiento de las inversiones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Medir la rentabilidad de una inversión; es decir, la relación que existe entre las utilidades o ganancias obtenidas o que se esperan obtener, y la inversión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500179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301719"/>
            <a:ext cx="4552406" cy="281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Director de Tesorería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Tesorería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510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porcentaje de las inversiones que se ha recuperado o ganado. Es decir:</a:t>
            </a:r>
          </a:p>
          <a:p>
            <a:pPr marL="442913" lvl="2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&gt; 100%, los beneficios superaron el valor de la inversión – la inversión fue rentable</a:t>
            </a:r>
          </a:p>
          <a:p>
            <a:pPr marL="442913" lvl="2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=100%, los beneficios fueron iguales al valor de la inv. – se recuperó la inversión pero no se generaron beneficios</a:t>
            </a:r>
          </a:p>
          <a:p>
            <a:pPr marL="442913" lvl="2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&lt;100% los beneficios fueron menores al valor de l inv. – la inversión no fue rentable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CO" sz="1200"/>
              <a:t>Rendimiento de las inversiones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008FF6A-C526-4AF8-A898-608EEEA36009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258FFBAB-0CC4-435D-8B6D-1A682ADB85B4}"/>
              </a:ext>
            </a:extLst>
          </p:cNvPr>
          <p:cNvSpPr/>
          <p:nvPr/>
        </p:nvSpPr>
        <p:spPr>
          <a:xfrm>
            <a:off x="9477817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E42EA427-C10C-4B33-B3C4-F9EB9B500E16}"/>
              </a:ext>
            </a:extLst>
          </p:cNvPr>
          <p:cNvSpPr/>
          <p:nvPr/>
        </p:nvSpPr>
        <p:spPr>
          <a:xfrm>
            <a:off x="7453408" y="3260171"/>
            <a:ext cx="1407780" cy="440824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Utilidad/ganancia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C3B85F45-323B-4DE0-B071-E6E35ABF9A3C}"/>
              </a:ext>
            </a:extLst>
          </p:cNvPr>
          <p:cNvSpPr/>
          <p:nvPr/>
        </p:nvSpPr>
        <p:spPr>
          <a:xfrm>
            <a:off x="7453408" y="4199297"/>
            <a:ext cx="1407779" cy="440824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Inversión</a:t>
            </a:r>
          </a:p>
        </p:txBody>
      </p:sp>
      <p:sp>
        <p:nvSpPr>
          <p:cNvPr id="30" name="Signo de división 29">
            <a:extLst>
              <a:ext uri="{FF2B5EF4-FFF2-40B4-BE49-F238E27FC236}">
                <a16:creationId xmlns:a16="http://schemas.microsoft.com/office/drawing/2014/main" id="{4E89892D-E751-4C1A-90F9-7A593F5F02D0}"/>
              </a:ext>
            </a:extLst>
          </p:cNvPr>
          <p:cNvSpPr/>
          <p:nvPr/>
        </p:nvSpPr>
        <p:spPr>
          <a:xfrm>
            <a:off x="7981586" y="3765152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24FA439C-EF6C-4D8C-A044-2D002694F1AB}"/>
              </a:ext>
            </a:extLst>
          </p:cNvPr>
          <p:cNvSpPr/>
          <p:nvPr/>
        </p:nvSpPr>
        <p:spPr>
          <a:xfrm>
            <a:off x="6149339" y="3721416"/>
            <a:ext cx="849531" cy="461171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ROI</a:t>
            </a:r>
          </a:p>
        </p:txBody>
      </p:sp>
      <p:cxnSp>
        <p:nvCxnSpPr>
          <p:cNvPr id="32" name="Conector: angular 31">
            <a:extLst>
              <a:ext uri="{FF2B5EF4-FFF2-40B4-BE49-F238E27FC236}">
                <a16:creationId xmlns:a16="http://schemas.microsoft.com/office/drawing/2014/main" id="{D4D2687C-5879-484A-A5F1-4B3723DA0B31}"/>
              </a:ext>
            </a:extLst>
          </p:cNvPr>
          <p:cNvCxnSpPr>
            <a:cxnSpLocks/>
            <a:stCxn id="31" idx="3"/>
            <a:endCxn id="28" idx="1"/>
          </p:cNvCxnSpPr>
          <p:nvPr/>
        </p:nvCxnSpPr>
        <p:spPr>
          <a:xfrm flipV="1">
            <a:off x="6998870" y="3480583"/>
            <a:ext cx="454538" cy="47141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Conector: angular 32">
            <a:extLst>
              <a:ext uri="{FF2B5EF4-FFF2-40B4-BE49-F238E27FC236}">
                <a16:creationId xmlns:a16="http://schemas.microsoft.com/office/drawing/2014/main" id="{1353B1AC-F630-4562-8655-C0AFEFE31EDF}"/>
              </a:ext>
            </a:extLst>
          </p:cNvPr>
          <p:cNvCxnSpPr>
            <a:cxnSpLocks/>
            <a:stCxn id="31" idx="3"/>
            <a:endCxn id="29" idx="1"/>
          </p:cNvCxnSpPr>
          <p:nvPr/>
        </p:nvCxnSpPr>
        <p:spPr>
          <a:xfrm>
            <a:off x="6998870" y="3952002"/>
            <a:ext cx="454538" cy="467707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1" name="Cerrar llave 40">
            <a:extLst>
              <a:ext uri="{FF2B5EF4-FFF2-40B4-BE49-F238E27FC236}">
                <a16:creationId xmlns:a16="http://schemas.microsoft.com/office/drawing/2014/main" id="{429BFD4B-923A-4D04-83E0-8CFEE6E99D15}"/>
              </a:ext>
            </a:extLst>
          </p:cNvPr>
          <p:cNvSpPr/>
          <p:nvPr/>
        </p:nvSpPr>
        <p:spPr>
          <a:xfrm rot="10800000">
            <a:off x="8967350" y="3207010"/>
            <a:ext cx="89651" cy="547451"/>
          </a:xfrm>
          <a:prstGeom prst="rightBrace">
            <a:avLst/>
          </a:prstGeom>
          <a:ln w="1905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43" name="Rectángulo 42">
            <a:extLst>
              <a:ext uri="{FF2B5EF4-FFF2-40B4-BE49-F238E27FC236}">
                <a16:creationId xmlns:a16="http://schemas.microsoft.com/office/drawing/2014/main" id="{B92325DA-B373-43C2-B3D9-826F76DEC49B}"/>
              </a:ext>
            </a:extLst>
          </p:cNvPr>
          <p:cNvSpPr/>
          <p:nvPr/>
        </p:nvSpPr>
        <p:spPr>
          <a:xfrm>
            <a:off x="9057001" y="3165735"/>
            <a:ext cx="1952054" cy="6300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Font typeface="Arial" panose="020B0604020202020204" pitchFamily="34" charset="0"/>
              <a:buChar char="•"/>
            </a:pPr>
            <a:r>
              <a:rPr lang="es-ES" sz="1200">
                <a:solidFill>
                  <a:schemeClr val="tx1"/>
                </a:solidFill>
              </a:rPr>
              <a:t>Beneficios obtenidos durante un periodo de tiempo</a:t>
            </a:r>
            <a:endParaRPr lang="es-CO" sz="1200">
              <a:solidFill>
                <a:schemeClr val="tx1"/>
              </a:solidFill>
            </a:endParaRPr>
          </a:p>
        </p:txBody>
      </p:sp>
      <p:sp>
        <p:nvSpPr>
          <p:cNvPr id="47" name="Signo de multiplicación 46">
            <a:extLst>
              <a:ext uri="{FF2B5EF4-FFF2-40B4-BE49-F238E27FC236}">
                <a16:creationId xmlns:a16="http://schemas.microsoft.com/office/drawing/2014/main" id="{7989E1F2-5853-4C93-9056-DFB2E4E81B31}"/>
              </a:ext>
            </a:extLst>
          </p:cNvPr>
          <p:cNvSpPr/>
          <p:nvPr/>
        </p:nvSpPr>
        <p:spPr>
          <a:xfrm>
            <a:off x="8874449" y="3791690"/>
            <a:ext cx="313200" cy="313200"/>
          </a:xfrm>
          <a:prstGeom prst="mathMultiply">
            <a:avLst>
              <a:gd name="adj1" fmla="val 17169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45026222-14BC-45EC-A69F-C19FDE2EB210}"/>
              </a:ext>
            </a:extLst>
          </p:cNvPr>
          <p:cNvSpPr/>
          <p:nvPr/>
        </p:nvSpPr>
        <p:spPr>
          <a:xfrm>
            <a:off x="9086117" y="3766764"/>
            <a:ext cx="734213" cy="338126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CO" sz="1600" b="1">
                <a:solidFill>
                  <a:schemeClr val="accent1"/>
                </a:solidFill>
              </a:rPr>
              <a:t>100</a:t>
            </a:r>
          </a:p>
        </p:txBody>
      </p:sp>
    </p:spTree>
    <p:extLst>
      <p:ext uri="{BB962C8B-B14F-4D97-AF65-F5344CB8AC3E}">
        <p14:creationId xmlns:p14="http://schemas.microsoft.com/office/powerpoint/2010/main" val="2424778801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165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Cumplimiento volúmenes de fondeo de Largo Plazo</a:t>
            </a:r>
          </a:p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66658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cumplimiento de los requerimientos de fondeo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Volúmenes de Fondeo 2020: 320MM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Dirección de 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2866816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154814"/>
            <a:ext cx="4552406" cy="1491935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indica el % de la meta de fondeo de LP alcanzado. Es decir: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&lt; 100% quiere decir que no se alcanzó el total de la meta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= 100% se alcanzó el total de la meta de fondeo de LP para el periodo</a:t>
            </a:r>
          </a:p>
          <a:p>
            <a:pPr marL="354013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-"/>
            </a:pPr>
            <a:r>
              <a:rPr lang="es-ES" sz="1100">
                <a:latin typeface="Arial" panose="020B0604020202020204" pitchFamily="34" charset="0"/>
                <a:cs typeface="Arial" panose="020B0604020202020204" pitchFamily="34" charset="0"/>
              </a:rPr>
              <a:t>Si es &gt; 100% La meta para el periodo se alcanzó y se superaron las expectativas</a:t>
            </a:r>
            <a:endParaRPr lang="es-ES" sz="1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Cumplimiento volúmenes de fondeo de Largo Plazo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48191084-36E4-42DF-9F9E-27022AF91CCC}"/>
              </a:ext>
            </a:extLst>
          </p:cNvPr>
          <p:cNvSpPr/>
          <p:nvPr/>
        </p:nvSpPr>
        <p:spPr>
          <a:xfrm>
            <a:off x="8434157" y="2963483"/>
            <a:ext cx="1652235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Volúmenes de fondeo de LP alcanzado en el periodo</a:t>
            </a:r>
            <a:endParaRPr lang="es-CO" sz="1200">
              <a:solidFill>
                <a:schemeClr val="accent1"/>
              </a:solidFill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374B1FC0-64E5-4F6E-BD55-ADF1FFADD6D1}"/>
              </a:ext>
            </a:extLst>
          </p:cNvPr>
          <p:cNvSpPr/>
          <p:nvPr/>
        </p:nvSpPr>
        <p:spPr>
          <a:xfrm>
            <a:off x="8434158" y="4098033"/>
            <a:ext cx="1652234" cy="582082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Meta de volúmenes de fondeo de LP del periodo</a:t>
            </a:r>
          </a:p>
        </p:txBody>
      </p:sp>
      <p:sp>
        <p:nvSpPr>
          <p:cNvPr id="28" name="Signo de división 27">
            <a:extLst>
              <a:ext uri="{FF2B5EF4-FFF2-40B4-BE49-F238E27FC236}">
                <a16:creationId xmlns:a16="http://schemas.microsoft.com/office/drawing/2014/main" id="{58DB24D7-84F7-43FF-ADAE-30583007FC0D}"/>
              </a:ext>
            </a:extLst>
          </p:cNvPr>
          <p:cNvSpPr/>
          <p:nvPr/>
        </p:nvSpPr>
        <p:spPr>
          <a:xfrm>
            <a:off x="9103674" y="3649938"/>
            <a:ext cx="313200" cy="332775"/>
          </a:xfrm>
          <a:prstGeom prst="mathDivide">
            <a:avLst>
              <a:gd name="adj1" fmla="val 9639"/>
              <a:gd name="adj2" fmla="val 5243"/>
              <a:gd name="adj3" fmla="val 9446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542ABC83-16E1-4554-B763-8F0105762DB4}"/>
              </a:ext>
            </a:extLst>
          </p:cNvPr>
          <p:cNvSpPr/>
          <p:nvPr/>
        </p:nvSpPr>
        <p:spPr>
          <a:xfrm>
            <a:off x="6571841" y="3367275"/>
            <a:ext cx="1407779" cy="895135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>
                <a:solidFill>
                  <a:schemeClr val="accent1"/>
                </a:solidFill>
              </a:rPr>
              <a:t>Cumplimiento volúmenes de fondeo de LP</a:t>
            </a:r>
          </a:p>
        </p:txBody>
      </p:sp>
      <p:cxnSp>
        <p:nvCxnSpPr>
          <p:cNvPr id="30" name="Conector: angular 29">
            <a:extLst>
              <a:ext uri="{FF2B5EF4-FFF2-40B4-BE49-F238E27FC236}">
                <a16:creationId xmlns:a16="http://schemas.microsoft.com/office/drawing/2014/main" id="{BAB8D5C0-1426-479F-ACE3-EBF3D612875E}"/>
              </a:ext>
            </a:extLst>
          </p:cNvPr>
          <p:cNvCxnSpPr>
            <a:cxnSpLocks/>
            <a:stCxn id="29" idx="3"/>
            <a:endCxn id="26" idx="1"/>
          </p:cNvCxnSpPr>
          <p:nvPr/>
        </p:nvCxnSpPr>
        <p:spPr>
          <a:xfrm flipV="1">
            <a:off x="7979620" y="3254524"/>
            <a:ext cx="454537" cy="560319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2A5360E2-79BD-4A05-9DFF-FADBC5B742EE}"/>
              </a:ext>
            </a:extLst>
          </p:cNvPr>
          <p:cNvCxnSpPr>
            <a:cxnSpLocks/>
            <a:stCxn id="29" idx="3"/>
            <a:endCxn id="27" idx="1"/>
          </p:cNvCxnSpPr>
          <p:nvPr/>
        </p:nvCxnSpPr>
        <p:spPr>
          <a:xfrm>
            <a:off x="7979620" y="3814843"/>
            <a:ext cx="454538" cy="574231"/>
          </a:xfrm>
          <a:prstGeom prst="bentConnector3">
            <a:avLst>
              <a:gd name="adj1" fmla="val 50000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77CED8C-E688-4188-BCE4-EEBB38AFCF77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6234848-F44A-43C4-A540-C5BFB9CEBE24}"/>
              </a:ext>
            </a:extLst>
          </p:cNvPr>
          <p:cNvSpPr/>
          <p:nvPr/>
        </p:nvSpPr>
        <p:spPr>
          <a:xfrm>
            <a:off x="9154431" y="6473795"/>
            <a:ext cx="195335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</p:spTree>
    <p:extLst>
      <p:ext uri="{BB962C8B-B14F-4D97-AF65-F5344CB8AC3E}">
        <p14:creationId xmlns:p14="http://schemas.microsoft.com/office/powerpoint/2010/main" val="2217016901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166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2000">
                <a:latin typeface="Arial" panose="020B0604020202020204" pitchFamily="34" charset="0"/>
                <a:cs typeface="Arial" panose="020B0604020202020204" pitchFamily="34" charset="0"/>
              </a:rPr>
              <a:t>Costo Financiero del fondeo de largo plazo</a:t>
            </a:r>
            <a:endParaRPr lang="es-CO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costo financiero del fondeo de largo plazo con el fin de tomar decisiones sobre el financiamiento de sus activos y su estructura de capital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Área responsable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Financiero y Administrativo, Director de Tesorería CV, Director de Tesorería CF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Planeación y Control Financiero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En la medida que el costo de financiamiento obtenido a través de los diversos mecanismos de largo plazo aumente, el valor del indicador será mayor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Costo Financiero del fondeo de largo plazo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uadroTexto 25">
                <a:extLst>
                  <a:ext uri="{FF2B5EF4-FFF2-40B4-BE49-F238E27FC236}">
                    <a16:creationId xmlns:a16="http://schemas.microsoft.com/office/drawing/2014/main" id="{F92FC621-07A6-4520-8ACA-DDDAED942D3A}"/>
                  </a:ext>
                </a:extLst>
              </p:cNvPr>
              <p:cNvSpPr txBox="1"/>
              <p:nvPr/>
            </p:nvSpPr>
            <p:spPr>
              <a:xfrm>
                <a:off x="6286133" y="3887122"/>
                <a:ext cx="4378289" cy="151925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txBody>
              <a:bodyPr wrap="square" lIns="36000" tIns="36000" rIns="36000" bIns="36000">
                <a:spAutoFit/>
              </a:bodyPr>
              <a:lstStyle/>
              <a:p>
                <a:r>
                  <a:rPr lang="es-CO" sz="1400" b="1"/>
                  <a:t>Donde: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𝑲</m:t>
                        </m:r>
                      </m:e>
                      <m:sub>
                        <m:r>
                          <a:rPr lang="es-CO" sz="1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𝑳𝑷</m:t>
                        </m:r>
                      </m:sub>
                    </m:sSub>
                  </m:oMath>
                </a14:m>
                <a:r>
                  <a:rPr lang="es-CO" sz="1400"/>
                  <a:t> es el costo del fondeo de largo plazo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:r>
                  <a:rPr lang="es-CO" sz="1400"/>
                  <a:t>i es la tasa de interés aplicada por la financiación obtenida </a:t>
                </a:r>
                <a:r>
                  <a:rPr lang="es-ES" sz="1400"/>
                  <a:t>a través de los diversos mecanismos de LP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:r>
                  <a:rPr lang="es-CO" sz="1400"/>
                  <a:t>TX es la tasa impositiva</a:t>
                </a:r>
              </a:p>
            </p:txBody>
          </p:sp>
        </mc:Choice>
        <mc:Fallback xmlns="">
          <p:sp>
            <p:nvSpPr>
              <p:cNvPr id="26" name="CuadroTexto 25">
                <a:extLst>
                  <a:ext uri="{FF2B5EF4-FFF2-40B4-BE49-F238E27FC236}">
                    <a16:creationId xmlns:a16="http://schemas.microsoft.com/office/drawing/2014/main" id="{F92FC621-07A6-4520-8ACA-DDDAED942D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6133" y="3887122"/>
                <a:ext cx="4378289" cy="1519253"/>
              </a:xfrm>
              <a:prstGeom prst="rect">
                <a:avLst/>
              </a:prstGeom>
              <a:blipFill>
                <a:blip r:embed="rId2"/>
                <a:stretch>
                  <a:fillRect l="-1441" t="-820" b="-3279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CuadroTexto 35">
            <a:extLst>
              <a:ext uri="{FF2B5EF4-FFF2-40B4-BE49-F238E27FC236}">
                <a16:creationId xmlns:a16="http://schemas.microsoft.com/office/drawing/2014/main" id="{29CEC6A4-54EE-44EE-AC77-ED95D56BB13E}"/>
              </a:ext>
            </a:extLst>
          </p:cNvPr>
          <p:cNvSpPr txBox="1"/>
          <p:nvPr/>
        </p:nvSpPr>
        <p:spPr>
          <a:xfrm>
            <a:off x="6286133" y="2303582"/>
            <a:ext cx="4378290" cy="59093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marL="88900" lvl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Costo que tiene la organización para desarrollar su actividad o un proyecto de inversión a través de su financiación en forma de créditos y préstamos o emisión de deuda</a:t>
            </a:r>
          </a:p>
        </p:txBody>
      </p:sp>
      <p:sp>
        <p:nvSpPr>
          <p:cNvPr id="37" name="Rectángulo 36">
            <a:extLst>
              <a:ext uri="{FF2B5EF4-FFF2-40B4-BE49-F238E27FC236}">
                <a16:creationId xmlns:a16="http://schemas.microsoft.com/office/drawing/2014/main" id="{24BE31C3-EEEA-4725-935E-786E7F0AE1E6}"/>
              </a:ext>
            </a:extLst>
          </p:cNvPr>
          <p:cNvSpPr/>
          <p:nvPr/>
        </p:nvSpPr>
        <p:spPr>
          <a:xfrm>
            <a:off x="7356394" y="3332739"/>
            <a:ext cx="2120794" cy="437763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Flecha: hacia abajo 37">
            <a:extLst>
              <a:ext uri="{FF2B5EF4-FFF2-40B4-BE49-F238E27FC236}">
                <a16:creationId xmlns:a16="http://schemas.microsoft.com/office/drawing/2014/main" id="{E28EE0A6-EA10-4CB0-8063-1D1AF4D14A08}"/>
              </a:ext>
            </a:extLst>
          </p:cNvPr>
          <p:cNvSpPr/>
          <p:nvPr/>
        </p:nvSpPr>
        <p:spPr>
          <a:xfrm>
            <a:off x="7668768" y="2926757"/>
            <a:ext cx="243840" cy="305076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Flecha: hacia abajo 38">
            <a:extLst>
              <a:ext uri="{FF2B5EF4-FFF2-40B4-BE49-F238E27FC236}">
                <a16:creationId xmlns:a16="http://schemas.microsoft.com/office/drawing/2014/main" id="{4CDB9157-2836-432F-863C-2CF6F71C2F4A}"/>
              </a:ext>
            </a:extLst>
          </p:cNvPr>
          <p:cNvSpPr/>
          <p:nvPr/>
        </p:nvSpPr>
        <p:spPr>
          <a:xfrm>
            <a:off x="8715918" y="2926757"/>
            <a:ext cx="243840" cy="305076"/>
          </a:xfrm>
          <a:prstGeom prst="downArrow">
            <a:avLst/>
          </a:prstGeom>
          <a:solidFill>
            <a:schemeClr val="tx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uadroTexto 2">
                <a:extLst>
                  <a:ext uri="{FF2B5EF4-FFF2-40B4-BE49-F238E27FC236}">
                    <a16:creationId xmlns:a16="http://schemas.microsoft.com/office/drawing/2014/main" id="{C5CA3333-EEE1-47CA-9277-8A1DC086E76E}"/>
                  </a:ext>
                </a:extLst>
              </p:cNvPr>
              <p:cNvSpPr txBox="1"/>
              <p:nvPr/>
            </p:nvSpPr>
            <p:spPr>
              <a:xfrm>
                <a:off x="7412388" y="3413239"/>
                <a:ext cx="2043540" cy="287771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s-CO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sSubPr>
                        <m:e>
                          <m:r>
                            <a:rPr lang="es-CO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𝑲</m:t>
                          </m:r>
                        </m:e>
                        <m:sub>
                          <m:r>
                            <a:rPr lang="es-CO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𝑳𝑷</m:t>
                          </m:r>
                        </m:sub>
                      </m:sSub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𝐢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∗(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𝟏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−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𝐓𝐱</m:t>
                      </m:r>
                      <m:r>
                        <a:rPr lang="es-CO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)</m:t>
                      </m:r>
                    </m:oMath>
                  </m:oMathPara>
                </a14:m>
                <a:endParaRPr lang="es-CO">
                  <a:solidFill>
                    <a:schemeClr val="tx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" name="CuadroTexto 2">
                <a:extLst>
                  <a:ext uri="{FF2B5EF4-FFF2-40B4-BE49-F238E27FC236}">
                    <a16:creationId xmlns:a16="http://schemas.microsoft.com/office/drawing/2014/main" id="{C5CA3333-EEE1-47CA-9277-8A1DC086E7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12388" y="3413239"/>
                <a:ext cx="2043540" cy="287771"/>
              </a:xfrm>
              <a:prstGeom prst="rect">
                <a:avLst/>
              </a:prstGeom>
              <a:blipFill>
                <a:blip r:embed="rId3"/>
                <a:stretch>
                  <a:fillRect t="-8333" r="-617" b="-20833"/>
                </a:stretch>
              </a:blipFill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026BF57-108B-453F-A889-4057EBD92CB1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68009770-C76F-4DB9-9511-C81E449B33A6}"/>
              </a:ext>
            </a:extLst>
          </p:cNvPr>
          <p:cNvSpPr/>
          <p:nvPr/>
        </p:nvSpPr>
        <p:spPr>
          <a:xfrm>
            <a:off x="9154431" y="6473795"/>
            <a:ext cx="195335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</p:spTree>
    <p:extLst>
      <p:ext uri="{BB962C8B-B14F-4D97-AF65-F5344CB8AC3E}">
        <p14:creationId xmlns:p14="http://schemas.microsoft.com/office/powerpoint/2010/main" val="2723381647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EB99A00-D7A4-4909-BE0F-6B39C6FAC9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167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D63CC0D-FADF-4533-A841-20D2D565F45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Oval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02A98F0C-3940-43AA-B5AE-9FEBC55E5CB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Mix/Concentración de los Inversionistas 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37C89B31-CA6E-45B5-8BBC-8C07697D5A67}"/>
              </a:ext>
            </a:extLst>
          </p:cNvPr>
          <p:cNvSpPr/>
          <p:nvPr/>
        </p:nvSpPr>
        <p:spPr>
          <a:xfrm>
            <a:off x="1084217" y="1155507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Indicador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3F67846-F2F7-46EC-A139-B8E99B88CC2D}"/>
              </a:ext>
            </a:extLst>
          </p:cNvPr>
          <p:cNvSpPr/>
          <p:nvPr/>
        </p:nvSpPr>
        <p:spPr>
          <a:xfrm>
            <a:off x="5760533" y="1834279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Descripción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5FFE1B1B-A46B-488D-8D09-71E23A501A14}"/>
              </a:ext>
            </a:extLst>
          </p:cNvPr>
          <p:cNvSpPr/>
          <p:nvPr/>
        </p:nvSpPr>
        <p:spPr>
          <a:xfrm>
            <a:off x="1084217" y="183427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Objetivo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8DE0ECD-FA8E-491C-ACC7-D69206C720D2}"/>
              </a:ext>
            </a:extLst>
          </p:cNvPr>
          <p:cNvSpPr/>
          <p:nvPr/>
        </p:nvSpPr>
        <p:spPr>
          <a:xfrm>
            <a:off x="1084217" y="2122280"/>
            <a:ext cx="4552406" cy="933306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Monitorear el mayor o menor grado de equidad en la distribución total de los inversionistas del negocio</a:t>
            </a:r>
          </a:p>
          <a:p>
            <a:pPr marL="263525" indent="-1714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 b="1">
                <a:latin typeface="Arial" panose="020B0604020202020204" pitchFamily="34" charset="0"/>
                <a:cs typeface="Arial" panose="020B0604020202020204" pitchFamily="34" charset="0"/>
              </a:rPr>
              <a:t>Meta: 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TBD</a:t>
            </a:r>
            <a:endParaRPr lang="es-ES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ADD42EA3-AACC-4832-9EEA-DF20D1C329A4}"/>
              </a:ext>
            </a:extLst>
          </p:cNvPr>
          <p:cNvSpPr/>
          <p:nvPr/>
        </p:nvSpPr>
        <p:spPr>
          <a:xfrm>
            <a:off x="1084217" y="4725719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resultado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E51B5CD6-440E-4E5D-B66D-CE8C46CCBFEC}"/>
              </a:ext>
            </a:extLst>
          </p:cNvPr>
          <p:cNvSpPr/>
          <p:nvPr/>
        </p:nvSpPr>
        <p:spPr>
          <a:xfrm>
            <a:off x="1084217" y="5013719"/>
            <a:ext cx="4552406" cy="56925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6700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E7E90B4C-85AA-4A16-8B42-A6F1C6973B99}"/>
              </a:ext>
            </a:extLst>
          </p:cNvPr>
          <p:cNvSpPr/>
          <p:nvPr/>
        </p:nvSpPr>
        <p:spPr>
          <a:xfrm>
            <a:off x="1084217" y="5670743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Frecuencia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2445BE26-103D-4D9C-A53A-F3502F0724CB}"/>
              </a:ext>
            </a:extLst>
          </p:cNvPr>
          <p:cNvSpPr/>
          <p:nvPr/>
        </p:nvSpPr>
        <p:spPr>
          <a:xfrm>
            <a:off x="1084217" y="5958743"/>
            <a:ext cx="4552406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Mensual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CD48CE1-4078-49D0-B891-5DDC02865B37}"/>
              </a:ext>
            </a:extLst>
          </p:cNvPr>
          <p:cNvSpPr/>
          <p:nvPr/>
        </p:nvSpPr>
        <p:spPr>
          <a:xfrm>
            <a:off x="5760533" y="5670743"/>
            <a:ext cx="534725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Responsable medición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8A2DCC25-6750-44A8-9874-5FD47D20F2B8}"/>
              </a:ext>
            </a:extLst>
          </p:cNvPr>
          <p:cNvSpPr/>
          <p:nvPr/>
        </p:nvSpPr>
        <p:spPr>
          <a:xfrm>
            <a:off x="5760533" y="5958742"/>
            <a:ext cx="5347250" cy="410537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C358E730-B51B-4F53-BB1F-C00D828EB49B}"/>
              </a:ext>
            </a:extLst>
          </p:cNvPr>
          <p:cNvSpPr/>
          <p:nvPr/>
        </p:nvSpPr>
        <p:spPr>
          <a:xfrm>
            <a:off x="1084217" y="3136730"/>
            <a:ext cx="4552406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Interpretación</a:t>
            </a: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453C0E37-C681-43BE-B45F-82B38C193E60}"/>
              </a:ext>
            </a:extLst>
          </p:cNvPr>
          <p:cNvSpPr/>
          <p:nvPr/>
        </p:nvSpPr>
        <p:spPr>
          <a:xfrm>
            <a:off x="1084217" y="3424728"/>
            <a:ext cx="4552406" cy="1222021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resultado máximo del indicador es 10.000, para el caso en que un jugador concentre el total de las inversiones</a:t>
            </a:r>
          </a:p>
          <a:p>
            <a:pPr marL="263525" lvl="1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El valor del índice se reduce conforme el </a:t>
            </a:r>
            <a:r>
              <a:rPr lang="es-ES" sz="1200" err="1">
                <a:latin typeface="Arial" panose="020B0604020202020204" pitchFamily="34" charset="0"/>
                <a:cs typeface="Arial" panose="020B0604020202020204" pitchFamily="34" charset="0"/>
              </a:rPr>
              <a:t>mix</a:t>
            </a:r>
            <a:r>
              <a:rPr lang="es-ES" sz="1200">
                <a:latin typeface="Arial" panose="020B0604020202020204" pitchFamily="34" charset="0"/>
                <a:cs typeface="Arial" panose="020B0604020202020204" pitchFamily="34" charset="0"/>
              </a:rPr>
              <a:t> de inversionistas se distribuya en forma más equitativa y cuando haya un mayor de inversionistas - entre más bajo el valor del indicador mayor será el grado de diversificación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89750516-AB4C-46CF-AD6F-035F9DAC370F}"/>
              </a:ext>
            </a:extLst>
          </p:cNvPr>
          <p:cNvSpPr/>
          <p:nvPr/>
        </p:nvSpPr>
        <p:spPr>
          <a:xfrm>
            <a:off x="1084217" y="1486414"/>
            <a:ext cx="1049383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Dimensión</a:t>
            </a: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DFEE8409-551D-4064-BF5A-F9FF59485AE8}"/>
              </a:ext>
            </a:extLst>
          </p:cNvPr>
          <p:cNvSpPr/>
          <p:nvPr/>
        </p:nvSpPr>
        <p:spPr>
          <a:xfrm>
            <a:off x="2133600" y="1155507"/>
            <a:ext cx="897418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s-ES" sz="1200"/>
              <a:t>índice de Concentración de los inversionistas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C999C6-7E96-43DB-8169-34CCF01AEA98}"/>
              </a:ext>
            </a:extLst>
          </p:cNvPr>
          <p:cNvSpPr/>
          <p:nvPr/>
        </p:nvSpPr>
        <p:spPr>
          <a:xfrm>
            <a:off x="2133600" y="1486414"/>
            <a:ext cx="3503023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Financiera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C6595DF7-9AA1-48B5-8AC8-521B4F50E295}"/>
              </a:ext>
            </a:extLst>
          </p:cNvPr>
          <p:cNvSpPr/>
          <p:nvPr/>
        </p:nvSpPr>
        <p:spPr>
          <a:xfrm>
            <a:off x="5760533" y="1486414"/>
            <a:ext cx="1051200" cy="28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Instancia</a:t>
            </a: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8D3D954-458E-434A-A87B-7A070172CAB7}"/>
              </a:ext>
            </a:extLst>
          </p:cNvPr>
          <p:cNvSpPr/>
          <p:nvPr/>
        </p:nvSpPr>
        <p:spPr>
          <a:xfrm>
            <a:off x="6811733" y="1486414"/>
            <a:ext cx="4296050" cy="288000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latin typeface="Arial" panose="020B0604020202020204" pitchFamily="34" charset="0"/>
                <a:cs typeface="Arial" panose="020B0604020202020204" pitchFamily="34" charset="0"/>
              </a:rPr>
              <a:t>Comité Financiero</a:t>
            </a: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D799943-0A8C-4B6A-BFCC-C9710CBC3155}"/>
              </a:ext>
            </a:extLst>
          </p:cNvPr>
          <p:cNvSpPr/>
          <p:nvPr/>
        </p:nvSpPr>
        <p:spPr>
          <a:xfrm>
            <a:off x="5760533" y="2122278"/>
            <a:ext cx="5347250" cy="34606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es-CO" sz="120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17716CF-35B2-40B4-BEAE-C40839BFB696}"/>
              </a:ext>
            </a:extLst>
          </p:cNvPr>
          <p:cNvSpPr/>
          <p:nvPr/>
        </p:nvSpPr>
        <p:spPr>
          <a:xfrm rot="10800000">
            <a:off x="10852891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3ED58545-7301-4E8E-8F8B-C520AF41E001}"/>
              </a:ext>
            </a:extLst>
          </p:cNvPr>
          <p:cNvSpPr/>
          <p:nvPr/>
        </p:nvSpPr>
        <p:spPr>
          <a:xfrm>
            <a:off x="9154431" y="6473795"/>
            <a:ext cx="195335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Financiación Estructurada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CuadroTexto 82">
                <a:extLst>
                  <a:ext uri="{FF2B5EF4-FFF2-40B4-BE49-F238E27FC236}">
                    <a16:creationId xmlns:a16="http://schemas.microsoft.com/office/drawing/2014/main" id="{04EB3507-17CE-4475-A67C-9FF161574D7B}"/>
                  </a:ext>
                </a:extLst>
              </p:cNvPr>
              <p:cNvSpPr txBox="1"/>
              <p:nvPr/>
            </p:nvSpPr>
            <p:spPr>
              <a:xfrm>
                <a:off x="6094901" y="3771890"/>
                <a:ext cx="4757990" cy="65254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/>
                </a:solidFill>
              </a:ln>
            </p:spPr>
            <p:txBody>
              <a:bodyPr wrap="square" lIns="36000" tIns="36000" rIns="36000" bIns="36000">
                <a:spAutoFit/>
              </a:bodyPr>
              <a:lstStyle/>
              <a:p>
                <a:r>
                  <a:rPr lang="es-CO" sz="1200" b="1">
                    <a:solidFill>
                      <a:schemeClr val="accent1"/>
                    </a:solidFill>
                  </a:rPr>
                  <a:t>Donde: </a:t>
                </a:r>
              </a:p>
              <a:p>
                <a:pPr marL="268288" indent="-200025">
                  <a:spcAft>
                    <a:spcPts val="600"/>
                  </a:spcAft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s-CO" sz="14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s-CO" sz="14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𝑃</m:t>
                        </m:r>
                      </m:e>
                      <m:sub>
                        <m:r>
                          <a:rPr lang="es-CO" sz="14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𝐼𝑖</m:t>
                        </m:r>
                      </m:sub>
                    </m:sSub>
                  </m:oMath>
                </a14:m>
                <a:r>
                  <a:rPr lang="es-CO" sz="1200">
                    <a:solidFill>
                      <a:schemeClr val="accent1"/>
                    </a:solidFill>
                  </a:rPr>
                  <a:t> es la participación de cada inversionista en el mix de inversionistas de del negocio (%)</a:t>
                </a:r>
              </a:p>
            </p:txBody>
          </p:sp>
        </mc:Choice>
        <mc:Fallback xmlns="">
          <p:sp>
            <p:nvSpPr>
              <p:cNvPr id="83" name="CuadroTexto 82">
                <a:extLst>
                  <a:ext uri="{FF2B5EF4-FFF2-40B4-BE49-F238E27FC236}">
                    <a16:creationId xmlns:a16="http://schemas.microsoft.com/office/drawing/2014/main" id="{04EB3507-17CE-4475-A67C-9FF161574D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4901" y="3771890"/>
                <a:ext cx="4757990" cy="652542"/>
              </a:xfrm>
              <a:prstGeom prst="rect">
                <a:avLst/>
              </a:prstGeom>
              <a:blipFill>
                <a:blip r:embed="rId3"/>
                <a:stretch>
                  <a:fillRect l="-1064" b="-5660"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ectángulo 83">
            <a:extLst>
              <a:ext uri="{FF2B5EF4-FFF2-40B4-BE49-F238E27FC236}">
                <a16:creationId xmlns:a16="http://schemas.microsoft.com/office/drawing/2014/main" id="{29290FE4-ABB3-4947-8DC8-2969F9E2654A}"/>
              </a:ext>
            </a:extLst>
          </p:cNvPr>
          <p:cNvSpPr/>
          <p:nvPr/>
        </p:nvSpPr>
        <p:spPr>
          <a:xfrm>
            <a:off x="6094901" y="3276970"/>
            <a:ext cx="4757990" cy="442460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CuadroTexto 84">
                <a:extLst>
                  <a:ext uri="{FF2B5EF4-FFF2-40B4-BE49-F238E27FC236}">
                    <a16:creationId xmlns:a16="http://schemas.microsoft.com/office/drawing/2014/main" id="{07612016-0557-4693-AE47-E989B6B9929E}"/>
                  </a:ext>
                </a:extLst>
              </p:cNvPr>
              <p:cNvSpPr txBox="1"/>
              <p:nvPr/>
            </p:nvSpPr>
            <p:spPr>
              <a:xfrm>
                <a:off x="7506821" y="3432222"/>
                <a:ext cx="3295219" cy="1661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tx2"/>
                  </a:buClr>
                </a:pPr>
                <a:r>
                  <a:rPr lang="es-CO" sz="1200">
                    <a:solidFill>
                      <a:schemeClr val="accent1"/>
                    </a:solidFill>
                    <a:cs typeface="Arial" panose="020B0604020202020204" pitchFamily="34" charset="0"/>
                  </a:rPr>
                  <a:t>=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s-CO" sz="120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pPr>
                      <m:e>
                        <m:sSub>
                          <m:sSubPr>
                            <m:ctrlPr>
                              <a:rPr lang="es-CO" sz="120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</m:ctrlPr>
                          </m:sSubPr>
                          <m:e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(</m:t>
                            </m:r>
                            <m:r>
                              <a:rPr lang="es-CO" sz="1200" i="1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𝐼</m:t>
                            </m:r>
                            <m:r>
                              <a:rPr lang="es-CO" sz="1200" i="1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1</m:t>
                            </m:r>
                          </m:sub>
                        </m:sSub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∗100)</m:t>
                        </m:r>
                      </m:e>
                      <m:sup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2</m:t>
                        </m:r>
                      </m:sup>
                    </m:sSup>
                    <m:r>
                      <a:rPr lang="es-CO" sz="1200" b="0" i="1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+(</m:t>
                    </m:r>
                    <m:sSup>
                      <m:sSupPr>
                        <m:ctrlPr>
                          <a:rPr lang="es-CO" sz="12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pPr>
                      <m:e>
                        <m:sSub>
                          <m:sSubPr>
                            <m:ctrlPr>
                              <a:rPr lang="es-CO" sz="1200" i="1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</m:ctrlPr>
                          </m:sSubPr>
                          <m:e>
                            <m:r>
                              <a:rPr lang="es-CO" sz="1200" i="1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𝐼</m:t>
                            </m:r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2</m:t>
                            </m:r>
                          </m:sub>
                        </m:sSub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∗100)</m:t>
                        </m:r>
                      </m:e>
                      <m:sup>
                        <m:r>
                          <a:rPr lang="es-CO" sz="12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2</m:t>
                        </m:r>
                      </m:sup>
                    </m:sSup>
                    <m:r>
                      <a:rPr lang="es-CO" sz="1200" b="0" i="1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+…+</m:t>
                    </m:r>
                    <m:sSup>
                      <m:sSupPr>
                        <m:ctrlPr>
                          <a:rPr lang="es-CO" sz="12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pPr>
                      <m:e>
                        <m:sSub>
                          <m:sSubPr>
                            <m:ctrlPr>
                              <a:rPr lang="es-CO" sz="120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</m:ctrlPr>
                          </m:sSubPr>
                          <m:e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(</m:t>
                            </m:r>
                            <m:r>
                              <a:rPr lang="es-CO" sz="1200" i="1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𝑃</m:t>
                            </m:r>
                          </m:e>
                          <m:sub>
                            <m:r>
                              <a:rPr lang="es-CO" sz="1200" b="0" i="1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  <a:cs typeface="Arial" panose="020B0604020202020204" pitchFamily="34" charset="0"/>
                              </a:rPr>
                              <m:t>𝐼𝑛</m:t>
                            </m:r>
                          </m:sub>
                        </m:sSub>
                        <m:r>
                          <a:rPr lang="es-CO" sz="1200" b="0" i="1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∗100)</m:t>
                        </m:r>
                      </m:e>
                      <m:sup>
                        <m:r>
                          <a:rPr lang="es-CO" sz="1200" i="1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2</m:t>
                        </m:r>
                      </m:sup>
                    </m:sSup>
                  </m:oMath>
                </a14:m>
                <a:endParaRPr lang="es-CO" sz="1200">
                  <a:solidFill>
                    <a:schemeClr val="accent1"/>
                  </a:solidFill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85" name="CuadroTexto 84">
                <a:extLst>
                  <a:ext uri="{FF2B5EF4-FFF2-40B4-BE49-F238E27FC236}">
                    <a16:creationId xmlns:a16="http://schemas.microsoft.com/office/drawing/2014/main" id="{07612016-0557-4693-AE47-E989B6B992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6821" y="3432222"/>
                <a:ext cx="3295219" cy="166199"/>
              </a:xfrm>
              <a:prstGeom prst="rect">
                <a:avLst/>
              </a:prstGeom>
              <a:blipFill>
                <a:blip r:embed="rId4"/>
                <a:stretch>
                  <a:fillRect l="-2682" t="-42857" b="-5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s-ES_tradnl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Rectángulo 85">
            <a:extLst>
              <a:ext uri="{FF2B5EF4-FFF2-40B4-BE49-F238E27FC236}">
                <a16:creationId xmlns:a16="http://schemas.microsoft.com/office/drawing/2014/main" id="{EDA073F1-1178-4F40-A16F-E5F21FF1DDB6}"/>
              </a:ext>
            </a:extLst>
          </p:cNvPr>
          <p:cNvSpPr/>
          <p:nvPr/>
        </p:nvSpPr>
        <p:spPr>
          <a:xfrm>
            <a:off x="6094901" y="3335106"/>
            <a:ext cx="1432302" cy="32618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s-ES" sz="1200" i="1">
                <a:solidFill>
                  <a:schemeClr val="accent1"/>
                </a:solidFill>
              </a:rPr>
              <a:t>Concentración de los inversionistas</a:t>
            </a:r>
            <a:endParaRPr lang="es-CO" sz="1200" i="1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6953646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 b="1"/>
              <a:t>Fichas Compensación</a:t>
            </a:r>
          </a:p>
          <a:p>
            <a:r>
              <a:rPr lang="es-CO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3052778399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1"/>
          <a:ext cx="5615795" cy="5368710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3817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560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6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0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18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092AAC57-4896-406C-9A57-A815680A68BD}"/>
              </a:ext>
            </a:extLst>
          </p:cNvPr>
          <p:cNvGraphicFramePr>
            <a:graphicFrameLocks/>
          </p:cNvGraphicFramePr>
          <p:nvPr/>
        </p:nvGraphicFramePr>
        <p:xfrm>
          <a:off x="6611357" y="3753668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19C9B8B9-5C02-4E44-84A7-BB2B32D66807}"/>
              </a:ext>
            </a:extLst>
          </p:cNvPr>
          <p:cNvGraphicFramePr>
            <a:graphicFrameLocks/>
          </p:cNvGraphicFramePr>
          <p:nvPr/>
        </p:nvGraphicFramePr>
        <p:xfrm>
          <a:off x="6526237" y="1531687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169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0500" cy="5368711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07159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87935">
                  <a:extLst>
                    <a:ext uri="{9D8B030D-6E8A-4147-A177-3AD203B41FA5}">
                      <a16:colId xmlns:a16="http://schemas.microsoft.com/office/drawing/2014/main" val="4121570133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0369">
                  <a:extLst>
                    <a:ext uri="{9D8B030D-6E8A-4147-A177-3AD203B41FA5}">
                      <a16:colId xmlns:a16="http://schemas.microsoft.com/office/drawing/2014/main" val="3434550973"/>
                    </a:ext>
                  </a:extLst>
                </a:gridCol>
                <a:gridCol w="434029">
                  <a:extLst>
                    <a:ext uri="{9D8B030D-6E8A-4147-A177-3AD203B41FA5}">
                      <a16:colId xmlns:a16="http://schemas.microsoft.com/office/drawing/2014/main" val="2402623810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3580">
                  <a:extLst>
                    <a:ext uri="{9D8B030D-6E8A-4147-A177-3AD203B41FA5}">
                      <a16:colId xmlns:a16="http://schemas.microsoft.com/office/drawing/2014/main" val="798775885"/>
                    </a:ext>
                  </a:extLst>
                </a:gridCol>
                <a:gridCol w="674774">
                  <a:extLst>
                    <a:ext uri="{9D8B030D-6E8A-4147-A177-3AD203B41FA5}">
                      <a16:colId xmlns:a16="http://schemas.microsoft.com/office/drawing/2014/main" val="736629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26790">
                  <a:extLst>
                    <a:ext uri="{9D8B030D-6E8A-4147-A177-3AD203B41FA5}">
                      <a16:colId xmlns:a16="http://schemas.microsoft.com/office/drawing/2014/main" val="258741714"/>
                    </a:ext>
                  </a:extLst>
                </a:gridCol>
                <a:gridCol w="907159">
                  <a:extLst>
                    <a:ext uri="{9D8B030D-6E8A-4147-A177-3AD203B41FA5}">
                      <a16:colId xmlns:a16="http://schemas.microsoft.com/office/drawing/2014/main" val="182004389"/>
                    </a:ext>
                  </a:extLst>
                </a:gridCol>
              </a:tblGrid>
              <a:tr h="253066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Presidente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76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81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~55/45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271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Cumplimiento de hitos PE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Resultados financieros consolidados (ROA)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Calificación de riesgo</a:t>
                      </a:r>
                    </a:p>
                    <a:p>
                      <a:pPr algn="ctr" fontAlgn="ctr"/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(</a:t>
                      </a:r>
                      <a:r>
                        <a:rPr lang="es-CO" sz="1100" b="0" i="0" u="none" strike="noStrike" err="1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Benchmark</a:t>
                      </a:r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 País)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% Cumplimiento reportes directos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6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71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$71.553.000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904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40018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$397.119.150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$425.740.350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6.5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</a:rPr>
                        <a:t>$462.342.482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$502.091.405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$558.113.400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8.7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$620.386.177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91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9.8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  <a:latin typeface="+mj-lt"/>
                        </a:rPr>
                        <a:t>$702.520.504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66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71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7" name="Rectángulo 6">
            <a:extLst>
              <a:ext uri="{FF2B5EF4-FFF2-40B4-BE49-F238E27FC236}">
                <a16:creationId xmlns:a16="http://schemas.microsoft.com/office/drawing/2014/main" id="{B9CA6488-8ACF-4CD6-9B67-44DAE803AFD2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9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1D61E109-BC27-4A04-8FF7-24C393C1AFB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688458417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170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</a:t>
            </a:r>
            <a:r>
              <a:rPr lang="es-ES_tradnl" err="1">
                <a:latin typeface="+mj-lt"/>
              </a:rPr>
              <a:t>Talent</a:t>
            </a:r>
            <a:r>
              <a:rPr lang="es-ES_tradnl">
                <a:latin typeface="+mj-lt"/>
              </a:rPr>
              <a:t>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539747" y="4062458"/>
          <a:ext cx="3315806" cy="1991713"/>
        </p:xfrm>
        <a:graphic>
          <a:graphicData uri="http://schemas.openxmlformats.org/drawingml/2006/table">
            <a:tbl>
              <a:tblPr/>
              <a:tblGrid>
                <a:gridCol w="504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672239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7079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40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17531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</a:tblGrid>
              <a:tr h="284822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es-CO" sz="10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DIRECTOR DE GESTIÓN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46230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0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$12.500.000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244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0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30655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 err="1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</a:t>
                      </a:r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. Cambio</a:t>
                      </a: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7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179226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9541" marR="9541" marT="9541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0 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u="none" strike="noStrike">
                          <a:effectLst/>
                          <a:latin typeface="+mj-lt"/>
                        </a:rPr>
                        <a:t>$0</a:t>
                      </a:r>
                      <a:endParaRPr lang="es-CO" sz="9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7684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9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9541" marR="9541" marT="9541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1.25 </a:t>
                      </a:r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$15.625.000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452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Pago</a:t>
                      </a: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B1D45598-3D8D-40ED-A58A-177B29AC1D2C}"/>
              </a:ext>
            </a:extLst>
          </p:cNvPr>
          <p:cNvGraphicFramePr>
            <a:graphicFrameLocks noGrp="1"/>
          </p:cNvGraphicFramePr>
          <p:nvPr/>
        </p:nvGraphicFramePr>
        <p:xfrm>
          <a:off x="424901" y="1139452"/>
          <a:ext cx="11339999" cy="2628432"/>
        </p:xfrm>
        <a:graphic>
          <a:graphicData uri="http://schemas.openxmlformats.org/drawingml/2006/table">
            <a:tbl>
              <a:tblPr/>
              <a:tblGrid>
                <a:gridCol w="2163625">
                  <a:extLst>
                    <a:ext uri="{9D8B030D-6E8A-4147-A177-3AD203B41FA5}">
                      <a16:colId xmlns:a16="http://schemas.microsoft.com/office/drawing/2014/main" val="1230137488"/>
                    </a:ext>
                  </a:extLst>
                </a:gridCol>
                <a:gridCol w="1817363">
                  <a:extLst>
                    <a:ext uri="{9D8B030D-6E8A-4147-A177-3AD203B41FA5}">
                      <a16:colId xmlns:a16="http://schemas.microsoft.com/office/drawing/2014/main" val="3967402604"/>
                    </a:ext>
                  </a:extLst>
                </a:gridCol>
                <a:gridCol w="1817363">
                  <a:extLst>
                    <a:ext uri="{9D8B030D-6E8A-4147-A177-3AD203B41FA5}">
                      <a16:colId xmlns:a16="http://schemas.microsoft.com/office/drawing/2014/main" val="1165264177"/>
                    </a:ext>
                  </a:extLst>
                </a:gridCol>
                <a:gridCol w="939482">
                  <a:extLst>
                    <a:ext uri="{9D8B030D-6E8A-4147-A177-3AD203B41FA5}">
                      <a16:colId xmlns:a16="http://schemas.microsoft.com/office/drawing/2014/main" val="1934375772"/>
                    </a:ext>
                  </a:extLst>
                </a:gridCol>
                <a:gridCol w="908682">
                  <a:extLst>
                    <a:ext uri="{9D8B030D-6E8A-4147-A177-3AD203B41FA5}">
                      <a16:colId xmlns:a16="http://schemas.microsoft.com/office/drawing/2014/main" val="332857036"/>
                    </a:ext>
                  </a:extLst>
                </a:gridCol>
                <a:gridCol w="1876121">
                  <a:extLst>
                    <a:ext uri="{9D8B030D-6E8A-4147-A177-3AD203B41FA5}">
                      <a16:colId xmlns:a16="http://schemas.microsoft.com/office/drawing/2014/main" val="747077205"/>
                    </a:ext>
                  </a:extLst>
                </a:gridCol>
                <a:gridCol w="1817363">
                  <a:extLst>
                    <a:ext uri="{9D8B030D-6E8A-4147-A177-3AD203B41FA5}">
                      <a16:colId xmlns:a16="http://schemas.microsoft.com/office/drawing/2014/main" val="1237297583"/>
                    </a:ext>
                  </a:extLst>
                </a:gridCol>
              </a:tblGrid>
              <a:tr h="253066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Cargos de Staff de Presidencia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2887808"/>
                  </a:ext>
                </a:extLst>
              </a:tr>
              <a:tr h="18076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3882195"/>
                  </a:ext>
                </a:extLst>
              </a:tr>
              <a:tr h="29281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err="1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</a:t>
                      </a:r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~90/10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95581344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Cumplimiento de hitos PE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Resultados financieros consolidados (ROA)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Calificación de riesgo</a:t>
                      </a:r>
                    </a:p>
                    <a:p>
                      <a:pPr algn="ctr" fontAlgn="ctr"/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(</a:t>
                      </a:r>
                      <a:r>
                        <a:rPr lang="es-CO" sz="1100" b="0" i="0" u="none" strike="noStrike" err="1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Benchmark</a:t>
                      </a:r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 País)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% Cumplimiento reportes directos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5686540"/>
                  </a:ext>
                </a:extLst>
              </a:tr>
              <a:tr h="3416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7178582"/>
                  </a:ext>
                </a:extLst>
              </a:tr>
              <a:tr h="3416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8589924"/>
                  </a:ext>
                </a:extLst>
              </a:tr>
              <a:tr h="3416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Condiciones de Pago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1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1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1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1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El cumplimiento mínimo de los indicadores de PRESIDENCIA deben ser el 100%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02242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7FA39D9E-9D48-411C-9A1D-D9DCF2F90E8C}"/>
              </a:ext>
            </a:extLst>
          </p:cNvPr>
          <p:cNvGraphicFramePr>
            <a:graphicFrameLocks noGrp="1"/>
          </p:cNvGraphicFramePr>
          <p:nvPr/>
        </p:nvGraphicFramePr>
        <p:xfrm>
          <a:off x="3854873" y="4057862"/>
          <a:ext cx="2584442" cy="2000904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10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3366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</a:tblGrid>
              <a:tr h="284734">
                <a:tc gridSpan="3">
                  <a:txBody>
                    <a:bodyPr/>
                    <a:lstStyle/>
                    <a:p>
                      <a:pPr algn="ctr"/>
                      <a:r>
                        <a:rPr lang="es-CO" sz="1000" b="1" i="0" u="none" strike="noStrike" kern="1200">
                          <a:solidFill>
                            <a:srgbClr val="FFFFFF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SECRETARIO GENERAL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3462309"/>
                  </a:ext>
                </a:extLst>
              </a:tr>
              <a:tr h="36294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$20.000.000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245831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Bono Anual por Resultados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33905"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7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180211"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0 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u="none" strike="noStrike">
                          <a:effectLst/>
                          <a:latin typeface="+mj-lt"/>
                        </a:rPr>
                        <a:t>$0</a:t>
                      </a:r>
                      <a:endParaRPr lang="es-CO" sz="9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7525">
                <a:tc>
                  <a:txBody>
                    <a:bodyPr/>
                    <a:lstStyle/>
                    <a:p>
                      <a:pPr algn="ctr"/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1.25 </a:t>
                      </a:r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$25.000.000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5758">
                <a:tc gridSpan="3">
                  <a:txBody>
                    <a:bodyPr/>
                    <a:lstStyle/>
                    <a:p>
                      <a:pPr algn="ctr"/>
                      <a:r>
                        <a:rPr lang="es-ES" sz="9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Anual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</a:tbl>
          </a:graphicData>
        </a:graphic>
      </p:graphicFrame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3D15DD18-A8DF-465D-AA39-70E428B88651}"/>
              </a:ext>
            </a:extLst>
          </p:cNvPr>
          <p:cNvGraphicFramePr>
            <a:graphicFrameLocks noGrp="1"/>
          </p:cNvGraphicFramePr>
          <p:nvPr/>
        </p:nvGraphicFramePr>
        <p:xfrm>
          <a:off x="6438112" y="4057862"/>
          <a:ext cx="2584442" cy="2000904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10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3366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</a:tblGrid>
              <a:tr h="284734">
                <a:tc gridSpan="3">
                  <a:txBody>
                    <a:bodyPr/>
                    <a:lstStyle/>
                    <a:p>
                      <a:pPr algn="ctr"/>
                      <a:r>
                        <a:rPr lang="es-CO" sz="1000" b="1" i="0" u="none" strike="noStrike" kern="1200">
                          <a:solidFill>
                            <a:srgbClr val="FFFFFF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DIRECTOR JURÍDICO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3462309"/>
                  </a:ext>
                </a:extLst>
              </a:tr>
              <a:tr h="36294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$11.788.861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245831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Bono Anual por Resultados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33905"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7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180211"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0 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u="none" strike="noStrike">
                          <a:effectLst/>
                          <a:latin typeface="+mj-lt"/>
                        </a:rPr>
                        <a:t>$0</a:t>
                      </a:r>
                      <a:endParaRPr lang="es-CO" sz="9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7525">
                <a:tc>
                  <a:txBody>
                    <a:bodyPr/>
                    <a:lstStyle/>
                    <a:p>
                      <a:pPr algn="ctr"/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1.25 </a:t>
                      </a:r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$14.736.076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5758">
                <a:tc gridSpan="3">
                  <a:txBody>
                    <a:bodyPr/>
                    <a:lstStyle/>
                    <a:p>
                      <a:pPr algn="ctr"/>
                      <a:r>
                        <a:rPr lang="es-ES" sz="9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Anual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5D9705F1-E5CC-4B15-8604-D8915E7C0EC7}"/>
              </a:ext>
            </a:extLst>
          </p:cNvPr>
          <p:cNvGraphicFramePr>
            <a:graphicFrameLocks noGrp="1"/>
          </p:cNvGraphicFramePr>
          <p:nvPr/>
        </p:nvGraphicFramePr>
        <p:xfrm>
          <a:off x="9028967" y="4057862"/>
          <a:ext cx="2584442" cy="2000904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10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3366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</a:tblGrid>
              <a:tr h="284734">
                <a:tc gridSpan="3">
                  <a:txBody>
                    <a:bodyPr/>
                    <a:lstStyle/>
                    <a:p>
                      <a:pPr algn="ctr"/>
                      <a:r>
                        <a:rPr lang="es-CO" sz="1000" b="1" i="0" u="none" strike="noStrike" kern="1200">
                          <a:solidFill>
                            <a:srgbClr val="FFFFFF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DIRECTOR COMUNICACIONES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993462309"/>
                  </a:ext>
                </a:extLst>
              </a:tr>
              <a:tr h="36294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$12.500.000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245831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Bono Anual por Resultados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33905"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7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8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 sz="1400">
                        <a:latin typeface="+mj-lt"/>
                      </a:endParaRPr>
                    </a:p>
                  </a:txBody>
                  <a:tcPr marL="5998" marR="5998" marT="5998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180211"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>
                          <a:latin typeface="+mj-lt"/>
                          <a:cs typeface="Arial"/>
                        </a:rPr>
                        <a:t>0 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u="none" strike="noStrike">
                          <a:effectLst/>
                          <a:latin typeface="+mj-lt"/>
                        </a:rPr>
                        <a:t>$0</a:t>
                      </a:r>
                      <a:endParaRPr lang="es-CO" sz="9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7525">
                <a:tc>
                  <a:txBody>
                    <a:bodyPr/>
                    <a:lstStyle/>
                    <a:p>
                      <a:pPr algn="ctr"/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7156" marR="7156" marT="7156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1.25 </a:t>
                      </a:r>
                      <a:r>
                        <a:rPr lang="es-ES" sz="9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9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$15.625.000</a:t>
                      </a:r>
                    </a:p>
                  </a:txBody>
                  <a:tcPr marL="8659" marR="8659" marT="8659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5758">
                <a:tc gridSpan="3">
                  <a:txBody>
                    <a:bodyPr/>
                    <a:lstStyle/>
                    <a:p>
                      <a:pPr algn="ctr"/>
                      <a:r>
                        <a:rPr lang="es-ES" sz="9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Anual</a:t>
                      </a:r>
                    </a:p>
                  </a:txBody>
                  <a:tcPr marL="83127" marR="83127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</a:tbl>
          </a:graphicData>
        </a:graphic>
      </p:graphicFrame>
      <p:sp>
        <p:nvSpPr>
          <p:cNvPr id="10" name="Rectángulo 9">
            <a:extLst>
              <a:ext uri="{FF2B5EF4-FFF2-40B4-BE49-F238E27FC236}">
                <a16:creationId xmlns:a16="http://schemas.microsoft.com/office/drawing/2014/main" id="{07D6D7BF-694F-4AD3-84B8-9F014979A835}"/>
              </a:ext>
            </a:extLst>
          </p:cNvPr>
          <p:cNvSpPr/>
          <p:nvPr/>
        </p:nvSpPr>
        <p:spPr>
          <a:xfrm>
            <a:off x="9886527" y="6473797"/>
            <a:ext cx="148437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1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D756792-6A64-44CD-BF6C-BDAC202CB42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3414812102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171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289125"/>
              </p:ext>
            </p:extLst>
          </p:nvPr>
        </p:nvGraphicFramePr>
        <p:xfrm>
          <a:off x="331956" y="1022567"/>
          <a:ext cx="5827420" cy="5429909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09213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214864">
                  <a:extLst>
                    <a:ext uri="{9D8B030D-6E8A-4147-A177-3AD203B41FA5}">
                      <a16:colId xmlns:a16="http://schemas.microsoft.com/office/drawing/2014/main" val="2633981163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952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422028">
                  <a:extLst>
                    <a:ext uri="{9D8B030D-6E8A-4147-A177-3AD203B41FA5}">
                      <a16:colId xmlns:a16="http://schemas.microsoft.com/office/drawing/2014/main" val="4014694391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3379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769347">
                  <a:extLst>
                    <a:ext uri="{9D8B030D-6E8A-4147-A177-3AD203B41FA5}">
                      <a16:colId xmlns:a16="http://schemas.microsoft.com/office/drawing/2014/main" val="3275450695"/>
                    </a:ext>
                  </a:extLst>
                </a:gridCol>
                <a:gridCol w="22945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968398">
                  <a:extLst>
                    <a:ext uri="{9D8B030D-6E8A-4147-A177-3AD203B41FA5}">
                      <a16:colId xmlns:a16="http://schemas.microsoft.com/office/drawing/2014/main" val="2368026029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Innovación y Digitalización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400" b="1" i="0" u="none" strike="noStrike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hitos del plan de digitalización (1er año)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 u="none" strike="noStrike">
                          <a:effectLst/>
                        </a:rPr>
                        <a:t>Cumplimiento de los volúmenes de venta del canal digital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  <a:prstDash val="soli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 u="none" strike="noStrike">
                          <a:effectLst/>
                        </a:rPr>
                        <a:t>Contribución agregada de los canales digitales, alternos y alianzas (Ing. Operativos)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  <a:prstDash val="soli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Crecimiento neto número de clientes activos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  <a:prstDash val="soli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es-MX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NPS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  <a:prstDash val="soli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Top </a:t>
                      </a:r>
                      <a:r>
                        <a:rPr lang="es-CO" sz="1100" u="none" strike="noStrike" err="1">
                          <a:effectLst/>
                        </a:rPr>
                        <a:t>of</a:t>
                      </a:r>
                      <a:r>
                        <a:rPr lang="es-CO" sz="1100" u="none" strike="noStrike">
                          <a:effectLst/>
                        </a:rPr>
                        <a:t> </a:t>
                      </a:r>
                      <a:r>
                        <a:rPr lang="es-CO" sz="1100" u="none" strike="noStrike" err="1">
                          <a:effectLst/>
                        </a:rPr>
                        <a:t>mind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  <a:prstDash val="soli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$43.</a:t>
                      </a: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$137.264.250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$154.425.000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$174.000.000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endParaRPr lang="es-CO" sz="1100" b="1" kern="1200" baseline="0">
                        <a:solidFill>
                          <a:schemeClr val="accent1"/>
                        </a:solidFill>
                        <a:latin typeface="+mj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$196.056.338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$231.783.550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$274.021.307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$341.475.000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512879" y="148801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3941237-5B7B-4235-B8E6-713133605E5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9188F78B-D5C5-4A6B-BA41-AF55CC418FE9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711247282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172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76569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36287">
                  <a:extLst>
                    <a:ext uri="{9D8B030D-6E8A-4147-A177-3AD203B41FA5}">
                      <a16:colId xmlns:a16="http://schemas.microsoft.com/office/drawing/2014/main" val="4204321656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556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84824">
                  <a:extLst>
                    <a:ext uri="{9D8B030D-6E8A-4147-A177-3AD203B41FA5}">
                      <a16:colId xmlns:a16="http://schemas.microsoft.com/office/drawing/2014/main" val="3980126523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707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48247">
                  <a:extLst>
                    <a:ext uri="{9D8B030D-6E8A-4147-A177-3AD203B41FA5}">
                      <a16:colId xmlns:a16="http://schemas.microsoft.com/office/drawing/2014/main" val="2232157004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07285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2281795707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de Mercadeo Digital y Tradicional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Crecimiento neto número de clientes activos 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Número Leads convertidos (Efectividad)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volúmenes de venta de los canales digitales y tradicionales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Top </a:t>
                      </a:r>
                      <a:r>
                        <a:rPr kumimoji="0" lang="es-MX" sz="105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of</a:t>
                      </a:r>
                      <a:r>
                        <a:rPr kumimoji="0" lang="es-MX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s-MX" sz="105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mind</a:t>
                      </a:r>
                      <a:endParaRPr kumimoji="0" lang="es-CO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20%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15%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30%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20%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$20.000.000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$45.000.000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$51.000.000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$60.000.000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$70.600.000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$84.000.000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$99.943.343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$118.912.759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83295" y="1448973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E08FC17-19AD-4E6C-B30F-243411E5D6F2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8D6A40A4-E3BF-4568-B7EF-46D2DDFC0015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172680467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173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18335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76759">
                  <a:extLst>
                    <a:ext uri="{9D8B030D-6E8A-4147-A177-3AD203B41FA5}">
                      <a16:colId xmlns:a16="http://schemas.microsoft.com/office/drawing/2014/main" val="104950694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91545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411677">
                  <a:extLst>
                    <a:ext uri="{9D8B030D-6E8A-4147-A177-3AD203B41FA5}">
                      <a16:colId xmlns:a16="http://schemas.microsoft.com/office/drawing/2014/main" val="969365724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4756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656620">
                  <a:extLst>
                    <a:ext uri="{9D8B030D-6E8A-4147-A177-3AD203B41FA5}">
                      <a16:colId xmlns:a16="http://schemas.microsoft.com/office/drawing/2014/main" val="621558749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26790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  <a:gridCol w="918335">
                  <a:extLst>
                    <a:ext uri="{9D8B030D-6E8A-4147-A177-3AD203B41FA5}">
                      <a16:colId xmlns:a16="http://schemas.microsoft.com/office/drawing/2014/main" val="2464135657"/>
                    </a:ext>
                  </a:extLst>
                </a:gridCol>
              </a:tblGrid>
              <a:tr h="252675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Innovación en Canales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volúmenes de venta de los canales alternos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volúmenes de venta de los canales digitales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 err="1">
                          <a:effectLst/>
                        </a:rPr>
                        <a:t>QRs</a:t>
                      </a:r>
                      <a:r>
                        <a:rPr lang="es-MX" sz="1100" u="none" strike="noStrike">
                          <a:effectLst/>
                        </a:rPr>
                        <a:t> de los canales alternos y digitales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Contribución de canales alternos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$13.800.000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$20.700.000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$23.460.000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$27.600.000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$32.470.588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$38.226.000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$45.001.559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$53.820.000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47953" y="146369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3796C86-5C1B-45CF-AEA0-05CD3D2F19F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008A4D73-AEF3-4C72-A69F-1276C5D9DB29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108114153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98814" y="1532633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174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44946D7-E16C-463D-8173-FB6905829EF4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736713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57010299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556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84824">
                  <a:extLst>
                    <a:ext uri="{9D8B030D-6E8A-4147-A177-3AD203B41FA5}">
                      <a16:colId xmlns:a16="http://schemas.microsoft.com/office/drawing/2014/main" val="3039258708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17513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301441">
                  <a:extLst>
                    <a:ext uri="{9D8B030D-6E8A-4147-A177-3AD203B41FA5}">
                      <a16:colId xmlns:a16="http://schemas.microsoft.com/office/drawing/2014/main" val="1287364434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82725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748401">
                  <a:extLst>
                    <a:ext uri="{9D8B030D-6E8A-4147-A177-3AD203B41FA5}">
                      <a16:colId xmlns:a16="http://schemas.microsoft.com/office/drawing/2014/main" val="3105217284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Alianzas y Créditos de Consumo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Contribución de las alianzas</a:t>
                      </a:r>
                      <a:endParaRPr kumimoji="0" lang="es-CO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Cumplimiento de los volúmenes de venta de aliados </a:t>
                      </a:r>
                    </a:p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(presenciales, mixtos y digitales)</a:t>
                      </a:r>
                      <a:endParaRPr kumimoji="0" lang="es-CO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Cumplimiento volúmenes de venta de los productos de consumo </a:t>
                      </a:r>
                      <a:r>
                        <a:rPr kumimoji="0" lang="es-MX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(Tarjeta de Crédito, </a:t>
                      </a:r>
                      <a:r>
                        <a:rPr kumimoji="0" lang="es-MX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Credipóliza</a:t>
                      </a:r>
                      <a:r>
                        <a:rPr kumimoji="0" lang="es-MX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, Activos de Consumo)</a:t>
                      </a:r>
                      <a:endParaRPr kumimoji="0" lang="es-CO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Rentabilidad por producto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$22.000.000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$49.500.000</a:t>
                      </a:r>
                      <a:endParaRPr lang="es-CO" sz="11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$56.100.000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</a:rPr>
                        <a:t>$66.000.000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$77.660.000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$92.400.000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$109.937.677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$130.804.035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4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311EFCAF-E3F7-4843-A8B1-277435B42995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307D8013-9FF8-4092-8454-3DC7F4BF65AC}"/>
              </a:ext>
            </a:extLst>
          </p:cNvPr>
          <p:cNvSpPr/>
          <p:nvPr/>
        </p:nvSpPr>
        <p:spPr>
          <a:xfrm>
            <a:off x="10214516" y="6473797"/>
            <a:ext cx="1183917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</p:spTree>
    <p:extLst>
      <p:ext uri="{BB962C8B-B14F-4D97-AF65-F5344CB8AC3E}">
        <p14:creationId xmlns:p14="http://schemas.microsoft.com/office/powerpoint/2010/main" val="4285208147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2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508997" y="1515809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175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0500" cy="5359183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07159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87935">
                  <a:extLst>
                    <a:ext uri="{9D8B030D-6E8A-4147-A177-3AD203B41FA5}">
                      <a16:colId xmlns:a16="http://schemas.microsoft.com/office/drawing/2014/main" val="4121570133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0369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434029">
                  <a:extLst>
                    <a:ext uri="{9D8B030D-6E8A-4147-A177-3AD203B41FA5}">
                      <a16:colId xmlns:a16="http://schemas.microsoft.com/office/drawing/2014/main" val="2402623810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3580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674774">
                  <a:extLst>
                    <a:ext uri="{9D8B030D-6E8A-4147-A177-3AD203B41FA5}">
                      <a16:colId xmlns:a16="http://schemas.microsoft.com/office/drawing/2014/main" val="736629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26790">
                  <a:extLst>
                    <a:ext uri="{9D8B030D-6E8A-4147-A177-3AD203B41FA5}">
                      <a16:colId xmlns:a16="http://schemas.microsoft.com/office/drawing/2014/main" val="2831497511"/>
                    </a:ext>
                  </a:extLst>
                </a:gridCol>
                <a:gridCol w="907159">
                  <a:extLst>
                    <a:ext uri="{9D8B030D-6E8A-4147-A177-3AD203B41FA5}">
                      <a16:colId xmlns:a16="http://schemas.microsoft.com/office/drawing/2014/main" val="182004389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Comercial y de Servicio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/>
                        <a:t>Cumplimiento volúmenes de captación y colocación (tradicional)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/>
                        <a:t>Margen de Contribución de las regionales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/>
                        <a:t>Meta de Rotación de clientes (Churn rate)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/>
                        <a:t>Cumplimiento volúmenes digitales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 Cliente Externo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$35.000.000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$110.442.500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$124.250.000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</a:rPr>
                        <a:t>$140.000.000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$157.746.479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$186.492.511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$220.476.914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$274.750.000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EA3F2E2-6E7F-4A3F-AEC5-4880FAFA2AB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175E426C-577A-4ADF-B8DE-BCFA4968DC11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3123975322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98814" y="1526627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176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6983078"/>
              </p:ext>
            </p:extLst>
          </p:nvPr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de Producto Libranza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venta del producto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Rentabilidad por producto 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plan de digitalización (del producto a cargo)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$26.500.000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$59.625.000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$67.575.000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$79.500.000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$93.545.000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$111.300.000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$132.424.929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$157.559.406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08EE1D90-CBE3-4750-8938-4897CFED3016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F382742F-E62E-4DEA-8BB1-B05E2E7A810A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79503939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98814" y="152980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177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156939"/>
              </p:ext>
            </p:extLst>
          </p:nvPr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de Producto Microcrédito y Pyme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venta del producto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Rentabilidad por producto 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plan de digitalización (del producto a cargo)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$33.750.000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$38.250.000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$45.000.000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$52.950.000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$63.000.000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$74.957.507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$89.184.569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0A200332-2A41-45FE-9DB7-BF99DE693E8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E82B78DD-1508-4D97-91C2-1A3A96D98D7A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735781081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178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Captación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venta del producto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Rentabilidad por producto 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plan de digitalización (del producto a cargo)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$12.000.000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$18.000.000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$20.400.000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$24.000.000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$28.235.294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$33.240.000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$39.131.790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$46.800.000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471093" y="1589575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E7FE751-9D45-4D9E-BC13-38E685A6A57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45B66033-4B33-48F7-A1BB-AA85C5E33C17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50892787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179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Fuerzas Captadoras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captación (tradicional)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digitales de captación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Productividad FFVV (por asesor)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NPS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$13.600.886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$30.601.994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$34.682.259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$40.802.658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$48.011.128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$57.123.721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$67.965.901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$80.865.944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526951" y="1491861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AD85654-A449-422D-9532-B46768C6A86D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1937AD9B-9D31-40F1-BE64-35EE8B5514E7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899648513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84747" y="149805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180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936282"/>
              </p:ext>
            </p:extLst>
          </p:nvPr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36287">
                  <a:extLst>
                    <a:ext uri="{9D8B030D-6E8A-4147-A177-3AD203B41FA5}">
                      <a16:colId xmlns:a16="http://schemas.microsoft.com/office/drawing/2014/main" val="34143915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556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84824">
                  <a:extLst>
                    <a:ext uri="{9D8B030D-6E8A-4147-A177-3AD203B41FA5}">
                      <a16:colId xmlns:a16="http://schemas.microsoft.com/office/drawing/2014/main" val="1369050819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707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48247">
                  <a:extLst>
                    <a:ext uri="{9D8B030D-6E8A-4147-A177-3AD203B41FA5}">
                      <a16:colId xmlns:a16="http://schemas.microsoft.com/office/drawing/2014/main" val="303893900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07285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2288787947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Regional (Centro y Oriente)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venta del producto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Productividad FFVV (Ventas por asesor)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Contribución de la regional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Rotación de la planta de la regional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$17.000.000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$38.250.000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$43.350.000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$51.000.000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$60.010.000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$71.400.000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$84.951.841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$101.075.845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20E4C75-B53B-4D18-A694-25F8F932F16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0619506C-EB04-456D-A7F5-10836A3E9ECA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16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B68A4291-259F-4570-9247-559CBACEFFB8}"/>
              </a:ext>
            </a:extLst>
          </p:cNvPr>
          <p:cNvSpPr/>
          <p:nvPr/>
        </p:nvSpPr>
        <p:spPr>
          <a:xfrm>
            <a:off x="9052144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CF2A07A9-B56C-48F9-A1AB-06977641C64D}"/>
              </a:ext>
            </a:extLst>
          </p:cNvPr>
          <p:cNvSpPr/>
          <p:nvPr/>
        </p:nvSpPr>
        <p:spPr>
          <a:xfrm>
            <a:off x="7041823" y="6473797"/>
            <a:ext cx="2312172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Regional Antioquia, Sur, Costa</a:t>
            </a:r>
          </a:p>
        </p:txBody>
      </p:sp>
    </p:spTree>
    <p:extLst>
      <p:ext uri="{BB962C8B-B14F-4D97-AF65-F5344CB8AC3E}">
        <p14:creationId xmlns:p14="http://schemas.microsoft.com/office/powerpoint/2010/main" val="9978031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181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060393"/>
              </p:ext>
            </p:extLst>
          </p:nvPr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36287">
                  <a:extLst>
                    <a:ext uri="{9D8B030D-6E8A-4147-A177-3AD203B41FA5}">
                      <a16:colId xmlns:a16="http://schemas.microsoft.com/office/drawing/2014/main" val="34143915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556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84824">
                  <a:extLst>
                    <a:ext uri="{9D8B030D-6E8A-4147-A177-3AD203B41FA5}">
                      <a16:colId xmlns:a16="http://schemas.microsoft.com/office/drawing/2014/main" val="1369050819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707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48247">
                  <a:extLst>
                    <a:ext uri="{9D8B030D-6E8A-4147-A177-3AD203B41FA5}">
                      <a16:colId xmlns:a16="http://schemas.microsoft.com/office/drawing/2014/main" val="303893900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07285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2288787947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Regional (Antioquia, Sur, Costa)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venta del producto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Productividad FFVV (Ventas por asesor)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Contribución de la regional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Rotación de la planta de la regional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$33.750.000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$38.250.000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$45.000.000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$52.950.000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$63.000.000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$74.957.507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$89.184.569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" name="3 Gráfico">
            <a:extLst>
              <a:ext uri="{FF2B5EF4-FFF2-40B4-BE49-F238E27FC236}">
                <a16:creationId xmlns:a16="http://schemas.microsoft.com/office/drawing/2014/main" id="{A4B36993-5DA3-449A-BB17-AD34CE04786A}"/>
              </a:ext>
            </a:extLst>
          </p:cNvPr>
          <p:cNvGraphicFramePr>
            <a:graphicFrameLocks/>
          </p:cNvGraphicFramePr>
          <p:nvPr/>
        </p:nvGraphicFramePr>
        <p:xfrm>
          <a:off x="6498814" y="152980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9B0E01F-71BA-48CA-AB72-C8AE8A3407D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99247323-6E5B-41ED-8B0C-820ECA909E2E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  <p:sp>
        <p:nvSpPr>
          <p:cNvPr id="11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3FBF2BBA-BDAB-47CD-A86D-7DADEC4DBA1F}"/>
              </a:ext>
            </a:extLst>
          </p:cNvPr>
          <p:cNvSpPr/>
          <p:nvPr/>
        </p:nvSpPr>
        <p:spPr>
          <a:xfrm>
            <a:off x="9052144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84A4F4BE-CF4B-4A74-BEBD-DA51B7E4BB7E}"/>
              </a:ext>
            </a:extLst>
          </p:cNvPr>
          <p:cNvSpPr/>
          <p:nvPr/>
        </p:nvSpPr>
        <p:spPr>
          <a:xfrm>
            <a:off x="7871381" y="6473797"/>
            <a:ext cx="1482614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Centro y Oriente</a:t>
            </a:r>
          </a:p>
        </p:txBody>
      </p:sp>
    </p:spTree>
    <p:extLst>
      <p:ext uri="{BB962C8B-B14F-4D97-AF65-F5344CB8AC3E}">
        <p14:creationId xmlns:p14="http://schemas.microsoft.com/office/powerpoint/2010/main" val="21180548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182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Servicio al Cliente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Solución en primer contacto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% Casos atendidos por canales de autogestión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$11.411.439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$17.117.159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$19.399.446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$22.822.878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$26.850.445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$31.609.686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$37.212.503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$44.504.612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42450" y="151333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A162FE5-20C6-4075-BEED-02A352B281A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FF60D37E-063A-4DD2-B8E5-493A7CCF4612}"/>
              </a:ext>
            </a:extLst>
          </p:cNvPr>
          <p:cNvSpPr/>
          <p:nvPr/>
        </p:nvSpPr>
        <p:spPr>
          <a:xfrm>
            <a:off x="9478538" y="6473797"/>
            <a:ext cx="1919896" cy="2235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 y de Servicio</a:t>
            </a:r>
          </a:p>
        </p:txBody>
      </p:sp>
    </p:spTree>
    <p:extLst>
      <p:ext uri="{BB962C8B-B14F-4D97-AF65-F5344CB8AC3E}">
        <p14:creationId xmlns:p14="http://schemas.microsoft.com/office/powerpoint/2010/main" val="1362857426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183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842650" cy="5359183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1136606">
                  <a:extLst>
                    <a:ext uri="{9D8B030D-6E8A-4147-A177-3AD203B41FA5}">
                      <a16:colId xmlns:a16="http://schemas.microsoft.com/office/drawing/2014/main" val="83326305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1154760">
                  <a:extLst>
                    <a:ext uri="{9D8B030D-6E8A-4147-A177-3AD203B41FA5}">
                      <a16:colId xmlns:a16="http://schemas.microsoft.com/office/drawing/2014/main" val="3489118300"/>
                    </a:ext>
                  </a:extLst>
                </a:gridCol>
                <a:gridCol w="101693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33949">
                  <a:extLst>
                    <a:ext uri="{9D8B030D-6E8A-4147-A177-3AD203B41FA5}">
                      <a16:colId xmlns:a16="http://schemas.microsoft.com/office/drawing/2014/main" val="2831497511"/>
                    </a:ext>
                  </a:extLst>
                </a:gridCol>
              </a:tblGrid>
              <a:tr h="252617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Riesgo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Gastos de provisiones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u="none" strike="noStrike">
                          <a:effectLst/>
                        </a:rPr>
                        <a:t>Cumplimiento meta recuperación Cartera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MX" sz="1100" u="none" strike="noStrike">
                          <a:effectLst/>
                        </a:rPr>
                        <a:t>Contención de la cartera o Rodamiento de la cartera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100" u="none" strike="noStrike">
                          <a:effectLst/>
                        </a:rPr>
                        <a:t>NPS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$45.</a:t>
                      </a: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$144.837.450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$162.945.000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$183.600.000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$206.873.239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$244.571.608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$289.139.724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$360.315.000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668897" y="1508987"/>
          <a:ext cx="4945425" cy="20977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C883F567-CE2F-4CE6-A79C-E749AC61FA4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6E38B12A-0D4B-4B7B-B271-EDF280C2EC45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515551081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184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Nacional de Riesgos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Gastos de provisiones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Mantener los rangos de riesgos de crediticio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Mantener los rangos de riesgos de liquidez, mercado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$56.250.000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$63.750.000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$75.000.000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$88.250.000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$105.000.000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$124.929.178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$148.640.949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511892" y="1519310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E75B84A-B00B-4136-8479-DCA8F9CA41C9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89C11B95-CD7A-455F-8EBA-9748B77E8866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65697953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185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Nacional de Cobranza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Cumplimiento meta recuperación Cartera 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</a:t>
                      </a:r>
                      <a:r>
                        <a:rPr lang="es-MX" sz="1100" u="none" strike="noStrike" err="1">
                          <a:effectLst/>
                        </a:rPr>
                        <a:t>Ppto</a:t>
                      </a:r>
                      <a:r>
                        <a:rPr lang="es-MX" sz="1100" u="none" strike="noStrike">
                          <a:effectLst/>
                        </a:rPr>
                        <a:t> de Gasto de Rodamiento de la cartera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Índice de Cartera Vencida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Gasto de Cobranza por Volumen de Cartera Recuperada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$20.000.000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$45.000.000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$51.000.000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$60.000.000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$70.600.000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$84.000.000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$99.943.343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$118.912.759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83292" y="1505243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CA5E6223-28E6-4C98-B32C-473DDE7AE5A4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0253BDBD-DD2A-4C7F-9FDD-7B7248AE690C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537753484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186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37811"/>
          <a:ext cx="5863598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1100428">
                  <a:extLst>
                    <a:ext uri="{9D8B030D-6E8A-4147-A177-3AD203B41FA5}">
                      <a16:colId xmlns:a16="http://schemas.microsoft.com/office/drawing/2014/main" val="178801597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1115788">
                  <a:extLst>
                    <a:ext uri="{9D8B030D-6E8A-4147-A177-3AD203B41FA5}">
                      <a16:colId xmlns:a16="http://schemas.microsoft.com/office/drawing/2014/main" val="2899381694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4235342826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Gestión de Cobranzas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Cumplimiento meta recuperación Cartera 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</a:t>
                      </a:r>
                      <a:r>
                        <a:rPr lang="es-MX" sz="1100" u="none" strike="noStrike" err="1">
                          <a:effectLst/>
                        </a:rPr>
                        <a:t>Ppto</a:t>
                      </a:r>
                      <a:r>
                        <a:rPr lang="es-MX" sz="1100" u="none" strike="noStrike">
                          <a:effectLst/>
                        </a:rPr>
                        <a:t> de Gasto de Rodamiento de la cartera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Índice de Cartera Vencida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$19.500.000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$22.100.000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$26.000.000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$30.588.235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$36.010.000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$42.392.773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$50.700.000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13738" y="1480644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5A60008-2FE8-4ED7-8BE7-41C65FC405FA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9A70B855-8E1A-4789-8499-80D49404AF35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178869460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187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37811"/>
          <a:ext cx="5863598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7196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7575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1144981">
                  <a:extLst>
                    <a:ext uri="{9D8B030D-6E8A-4147-A177-3AD203B41FA5}">
                      <a16:colId xmlns:a16="http://schemas.microsoft.com/office/drawing/2014/main" val="1290572744"/>
                    </a:ext>
                  </a:extLst>
                </a:gridCol>
                <a:gridCol w="101693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Inteligencias Cobranzas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Gastos de provisiones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Cumplimiento meta recuperación Cartera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55%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$19.500.000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$22.100.000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$26.000.000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$30.588.235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$36.010.000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$42.392.773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$50.700.000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13738" y="1480644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FAB56F6-A0D2-4285-9D5D-3D3114962520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6FFAD4E4-67C6-471A-9F84-2BB416BE7C9D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152703304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188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Seguridad Bancaria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Índice de gestión de incidentes de seguridad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Índice de perdida de Riesgo operativo Vs. Ingresos Operacionales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NPS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$17.056.800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$25.585.200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$28.996.560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$34.113.600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$40.133.647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$47.247.336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$55.621.926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$66.521.520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05749" y="149011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317D015-D359-41A0-882E-C212881E11F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31EC7009-C1B3-4D91-BA8F-339ED1ABD90E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631673800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189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Recuperación Activos de Consumo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meta de recuperación de la cartera difícil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Gasto por Volumen Cartera Difícil Recuperada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</a:t>
                      </a:r>
                      <a:r>
                        <a:rPr lang="es-MX" sz="1100" u="none" strike="noStrike" err="1">
                          <a:effectLst/>
                        </a:rPr>
                        <a:t>Ppto</a:t>
                      </a:r>
                      <a:r>
                        <a:rPr lang="es-MX" sz="1100" u="none" strike="noStrike">
                          <a:effectLst/>
                        </a:rPr>
                        <a:t> de Gasto de Rodamiento de la cartera difícil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$17.056.800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$25.585.200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$28.996.560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$34.113.600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$40.133.647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$47.247.336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$55.621.926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$66.521.520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491682" y="149011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C005F84-E663-493C-B4B8-407E124FED8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9D00415-FC59-42D4-8D84-5F24BFFD40E0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20560931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190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Fábrica de Crédito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Productividad del equipo de la Fábrica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QR de la Fábrica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55%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$17.056.800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$25.585.200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$28.996.560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</a:rPr>
                        <a:t>$34.113.600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$40.133.647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$47.247.336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$55.621.926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$66.521.520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4" name="3 Gráfico">
            <a:extLst>
              <a:ext uri="{FF2B5EF4-FFF2-40B4-BE49-F238E27FC236}">
                <a16:creationId xmlns:a16="http://schemas.microsoft.com/office/drawing/2014/main" id="{4147926D-FFC8-43B5-A738-E5DA2A80171D}"/>
              </a:ext>
            </a:extLst>
          </p:cNvPr>
          <p:cNvGraphicFramePr>
            <a:graphicFrameLocks/>
          </p:cNvGraphicFramePr>
          <p:nvPr/>
        </p:nvGraphicFramePr>
        <p:xfrm>
          <a:off x="6484032" y="1530991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754DC38-6121-450F-BAE0-6F26EC94D9C1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64A40D76-5496-4DE4-AD89-1FA09FD496B0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2600924733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191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863598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1100428">
                  <a:extLst>
                    <a:ext uri="{9D8B030D-6E8A-4147-A177-3AD203B41FA5}">
                      <a16:colId xmlns:a16="http://schemas.microsoft.com/office/drawing/2014/main" val="2936271910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1115788">
                  <a:extLst>
                    <a:ext uri="{9D8B030D-6E8A-4147-A177-3AD203B41FA5}">
                      <a16:colId xmlns:a16="http://schemas.microsoft.com/office/drawing/2014/main" val="2934990342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2103887984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Analítica y Modelos Admin Cartera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Gastos de Provisiones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Mantener los rangos de riesgo de mercado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Mantener los rangos de riesgo crediticio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ANS Cliente Interno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40%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D4D4D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D4D4D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D4D4D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20%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$14.000.000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$21.000.000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$23.800.000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$28.000.000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$32.941.176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$38.780.000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$45.653.755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$54.600.000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41870" y="1505243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35C85A0-2F0A-4FB7-AA7C-539298F7032C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CC97ED5E-86F7-455C-9DEB-99B5879E2AB9}"/>
              </a:ext>
            </a:extLst>
          </p:cNvPr>
          <p:cNvSpPr/>
          <p:nvPr/>
        </p:nvSpPr>
        <p:spPr>
          <a:xfrm>
            <a:off x="10436726" y="647379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</p:spTree>
    <p:extLst>
      <p:ext uri="{BB962C8B-B14F-4D97-AF65-F5344CB8AC3E}">
        <p14:creationId xmlns:p14="http://schemas.microsoft.com/office/powerpoint/2010/main" val="3561096871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508997" y="1563109"/>
          <a:ext cx="5220000" cy="2138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192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36287">
                  <a:extLst>
                    <a:ext uri="{9D8B030D-6E8A-4147-A177-3AD203B41FA5}">
                      <a16:colId xmlns:a16="http://schemas.microsoft.com/office/drawing/2014/main" val="2257010299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556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84824">
                  <a:extLst>
                    <a:ext uri="{9D8B030D-6E8A-4147-A177-3AD203B41FA5}">
                      <a16:colId xmlns:a16="http://schemas.microsoft.com/office/drawing/2014/main" val="3039258708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707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48247">
                  <a:extLst>
                    <a:ext uri="{9D8B030D-6E8A-4147-A177-3AD203B41FA5}">
                      <a16:colId xmlns:a16="http://schemas.microsoft.com/office/drawing/2014/main" val="1287364434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07285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923841">
                  <a:extLst>
                    <a:ext uri="{9D8B030D-6E8A-4147-A177-3AD203B41FA5}">
                      <a16:colId xmlns:a16="http://schemas.microsoft.com/office/drawing/2014/main" val="3105217284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de Operaciones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2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Cumplimiento de los hitos de los Transformación Procesos Lean y Automatización</a:t>
                      </a:r>
                      <a:endParaRPr kumimoji="0" lang="es-CO" sz="102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2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QR´S por temas operativos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02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Gasto de Operación Volumen Desembolsado</a:t>
                      </a:r>
                      <a:endParaRPr kumimoji="0" lang="es-CO" sz="102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2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ANS del Cliente Interno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02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NPS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15%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$20.100.000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effectLst/>
                        </a:rPr>
                        <a:t>$45.225.000</a:t>
                      </a:r>
                      <a:endParaRPr lang="es-CO" sz="11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$51.255.000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</a:rPr>
                        <a:t>$60.300.000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$70.953.000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$94.420.000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$100.443.059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$119.507.323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022E3C38-2A03-41FD-BC21-2C6C5A404DE5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F5FA4CA8-2B10-4E65-AC6A-386E48E52172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</p:spTree>
    <p:extLst>
      <p:ext uri="{BB962C8B-B14F-4D97-AF65-F5344CB8AC3E}">
        <p14:creationId xmlns:p14="http://schemas.microsoft.com/office/powerpoint/2010/main" val="210005678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193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Facturación, Recaudo y Acreedores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$13.500.000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$22.950.000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$27.000.000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$31.764.706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$37.395.000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$44.023.264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$52.650.000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CuadroTexto 6">
            <a:extLst>
              <a:ext uri="{FF2B5EF4-FFF2-40B4-BE49-F238E27FC236}">
                <a16:creationId xmlns:a16="http://schemas.microsoft.com/office/drawing/2014/main" id="{4FC44500-03AF-4BC8-94B7-AD92175091AA}"/>
              </a:ext>
            </a:extLst>
          </p:cNvPr>
          <p:cNvSpPr txBox="1"/>
          <p:nvPr/>
        </p:nvSpPr>
        <p:spPr>
          <a:xfrm>
            <a:off x="9295575" y="6471687"/>
            <a:ext cx="1728000" cy="3693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Simulación Modelo de Pago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B42C0C07-7026-457B-919D-32DF72371ADE}"/>
              </a:ext>
            </a:extLst>
          </p:cNvPr>
          <p:cNvSpPr/>
          <p:nvPr/>
        </p:nvSpPr>
        <p:spPr>
          <a:xfrm>
            <a:off x="9328235" y="6473797"/>
            <a:ext cx="1980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767E3BA-CB89-4A8C-98D1-D43A53ECEF21}"/>
              </a:ext>
            </a:extLst>
          </p:cNvPr>
          <p:cNvSpPr/>
          <p:nvPr/>
        </p:nvSpPr>
        <p:spPr>
          <a:xfrm rot="10800000">
            <a:off x="1104402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480119" y="151598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05672336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194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Apertura y Desembolso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$13.500.000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$22.950.000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$27.000.000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$31.764.706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$37.395.000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$44.023.264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$52.650.000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CuadroTexto 6">
            <a:extLst>
              <a:ext uri="{FF2B5EF4-FFF2-40B4-BE49-F238E27FC236}">
                <a16:creationId xmlns:a16="http://schemas.microsoft.com/office/drawing/2014/main" id="{4FC44500-03AF-4BC8-94B7-AD92175091AA}"/>
              </a:ext>
            </a:extLst>
          </p:cNvPr>
          <p:cNvSpPr txBox="1"/>
          <p:nvPr/>
        </p:nvSpPr>
        <p:spPr>
          <a:xfrm>
            <a:off x="9295575" y="6471687"/>
            <a:ext cx="1728000" cy="3693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Simulación Modelo de Pago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B42C0C07-7026-457B-919D-32DF72371ADE}"/>
              </a:ext>
            </a:extLst>
          </p:cNvPr>
          <p:cNvSpPr/>
          <p:nvPr/>
        </p:nvSpPr>
        <p:spPr>
          <a:xfrm>
            <a:off x="9328235" y="6473797"/>
            <a:ext cx="1980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767E3BA-CB89-4A8C-98D1-D43A53ECEF21}"/>
              </a:ext>
            </a:extLst>
          </p:cNvPr>
          <p:cNvSpPr/>
          <p:nvPr/>
        </p:nvSpPr>
        <p:spPr>
          <a:xfrm rot="10800000">
            <a:off x="1104402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480119" y="151598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023576777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195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Pasivos y Tesorería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$13.500.000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$22.950.000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$27.000.000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$31.764.706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$37.395.000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$44.023.264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$52.650.000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CuadroTexto 6">
            <a:extLst>
              <a:ext uri="{FF2B5EF4-FFF2-40B4-BE49-F238E27FC236}">
                <a16:creationId xmlns:a16="http://schemas.microsoft.com/office/drawing/2014/main" id="{4FC44500-03AF-4BC8-94B7-AD92175091AA}"/>
              </a:ext>
            </a:extLst>
          </p:cNvPr>
          <p:cNvSpPr txBox="1"/>
          <p:nvPr/>
        </p:nvSpPr>
        <p:spPr>
          <a:xfrm>
            <a:off x="9295575" y="6471687"/>
            <a:ext cx="1728000" cy="3693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Simulación Modelo de Pago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B42C0C07-7026-457B-919D-32DF72371ADE}"/>
              </a:ext>
            </a:extLst>
          </p:cNvPr>
          <p:cNvSpPr/>
          <p:nvPr/>
        </p:nvSpPr>
        <p:spPr>
          <a:xfrm>
            <a:off x="9328235" y="6473797"/>
            <a:ext cx="1980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767E3BA-CB89-4A8C-98D1-D43A53ECEF21}"/>
              </a:ext>
            </a:extLst>
          </p:cNvPr>
          <p:cNvSpPr/>
          <p:nvPr/>
        </p:nvSpPr>
        <p:spPr>
          <a:xfrm rot="10800000">
            <a:off x="1104402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22323" y="151598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491007526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196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0500" cy="5359183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916100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178994">
                  <a:extLst>
                    <a:ext uri="{9D8B030D-6E8A-4147-A177-3AD203B41FA5}">
                      <a16:colId xmlns:a16="http://schemas.microsoft.com/office/drawing/2014/main" val="3512875981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98251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416147">
                  <a:extLst>
                    <a:ext uri="{9D8B030D-6E8A-4147-A177-3AD203B41FA5}">
                      <a16:colId xmlns:a16="http://schemas.microsoft.com/office/drawing/2014/main" val="423467855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5028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663326">
                  <a:extLst>
                    <a:ext uri="{9D8B030D-6E8A-4147-A177-3AD203B41FA5}">
                      <a16:colId xmlns:a16="http://schemas.microsoft.com/office/drawing/2014/main" val="16025868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217849">
                  <a:extLst>
                    <a:ext uri="{9D8B030D-6E8A-4147-A177-3AD203B41FA5}">
                      <a16:colId xmlns:a16="http://schemas.microsoft.com/office/drawing/2014/main" val="2831497511"/>
                    </a:ext>
                  </a:extLst>
                </a:gridCol>
                <a:gridCol w="916100">
                  <a:extLst>
                    <a:ext uri="{9D8B030D-6E8A-4147-A177-3AD203B41FA5}">
                      <a16:colId xmlns:a16="http://schemas.microsoft.com/office/drawing/2014/main" val="4122327593"/>
                    </a:ext>
                  </a:extLst>
                </a:gridCol>
              </a:tblGrid>
              <a:tr h="252617"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Tecnología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y avance de los proyectos a cargo - (Hitos, calidad, tiempos, </a:t>
                      </a:r>
                      <a:r>
                        <a:rPr lang="es-MX" sz="1050" u="none" strike="noStrike" err="1">
                          <a:effectLst/>
                        </a:rPr>
                        <a:t>ppto</a:t>
                      </a:r>
                      <a:r>
                        <a:rPr lang="es-MX" sz="1050" u="none" strike="noStrike">
                          <a:effectLst/>
                        </a:rPr>
                        <a:t>)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volúmenes de venta del canal digital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Disponibilidad de las plataformas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ANS del Cliente Interno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NPS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20%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20%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30%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15%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15%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$40.</a:t>
                      </a: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$126.220.000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$142.000.000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$160.000.000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$180.281.690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$213.134.299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$251.973.616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$314.000.000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CuadroTexto 2">
            <a:extLst>
              <a:ext uri="{FF2B5EF4-FFF2-40B4-BE49-F238E27FC236}">
                <a16:creationId xmlns:a16="http://schemas.microsoft.com/office/drawing/2014/main" id="{440DE79D-55EE-4B51-806E-153555F2FFEE}"/>
              </a:ext>
            </a:extLst>
          </p:cNvPr>
          <p:cNvSpPr txBox="1"/>
          <p:nvPr/>
        </p:nvSpPr>
        <p:spPr>
          <a:xfrm>
            <a:off x="9295575" y="6471687"/>
            <a:ext cx="1728000" cy="3693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Simulación Modelo de Pago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42F7A4DC-2405-4A38-B057-13AB04F3F813}"/>
              </a:ext>
            </a:extLst>
          </p:cNvPr>
          <p:cNvSpPr/>
          <p:nvPr/>
        </p:nvSpPr>
        <p:spPr>
          <a:xfrm>
            <a:off x="9328235" y="6473797"/>
            <a:ext cx="1980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EBCBD94-CD09-4C35-94D8-EDCD5BBC2E84}"/>
              </a:ext>
            </a:extLst>
          </p:cNvPr>
          <p:cNvSpPr/>
          <p:nvPr/>
        </p:nvSpPr>
        <p:spPr>
          <a:xfrm rot="10800000">
            <a:off x="1104402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494491" y="1492594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36949853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197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Desarrollo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hitos de implementación modelo de Transformación digital de la organización (Desarrollo)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Conversión a producción (Time </a:t>
                      </a:r>
                      <a:r>
                        <a:rPr lang="es-MX" sz="1050" u="none" strike="noStrike" err="1">
                          <a:effectLst/>
                        </a:rPr>
                        <a:t>to</a:t>
                      </a:r>
                      <a:r>
                        <a:rPr lang="es-MX" sz="1050" u="none" strike="noStrike">
                          <a:effectLst/>
                        </a:rPr>
                        <a:t> </a:t>
                      </a:r>
                      <a:r>
                        <a:rPr lang="es-MX" sz="1050" u="none" strike="noStrike" err="1">
                          <a:effectLst/>
                        </a:rPr>
                        <a:t>Market</a:t>
                      </a:r>
                      <a:r>
                        <a:rPr lang="es-MX" sz="1050" u="none" strike="noStrike">
                          <a:effectLst/>
                        </a:rPr>
                        <a:t>)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ANS del Cliente Interno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50%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$11.411.439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$17.117.159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$19.399.446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$22.822.878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$26.850.445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$31.609.686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$37.212.503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$44.504.612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00246" y="147113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A103E94B-7D65-40DE-B171-C2BD21DC9FB4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D444711C-CA5E-4D5B-9CBF-73D73CEDBDFD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422411493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198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Proyectos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hitos de implementación modelo de Transformación digital de la organización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caso de negocio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40%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40%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$11.411.439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$17.117.159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$19.399.446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$22.822.878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$26.850.445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$31.609.686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$37.212.503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$44.504.612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56518" y="1499268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72638D0-5708-4095-9CA8-AF6AFA6E54BB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538C5AF4-0AE2-4F74-93EB-1DE36B623E65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3148432773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199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Infraestructura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hitos del plan de modernización de la Infraestructura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Disponibilidad de las plataformas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50%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$11.411.439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$17.117.159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$19.399.446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$22.822.878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$26.850.445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$31.609.686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$37.212.503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$44.504.612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70586" y="1499268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CE20949-6D37-4D90-AF02-45C6F239C3BE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E9680BE3-5E89-4076-95AC-7A31045A6777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145844432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200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998806"/>
          <a:ext cx="5863598" cy="5344986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1100428">
                  <a:extLst>
                    <a:ext uri="{9D8B030D-6E8A-4147-A177-3AD203B41FA5}">
                      <a16:colId xmlns:a16="http://schemas.microsoft.com/office/drawing/2014/main" val="956835587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1115788">
                  <a:extLst>
                    <a:ext uri="{9D8B030D-6E8A-4147-A177-3AD203B41FA5}">
                      <a16:colId xmlns:a16="http://schemas.microsoft.com/office/drawing/2014/main" val="2465509465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2522049380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151005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Gestión de Datos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hitos de implementación modelo de Transformación digital de la organización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Materializaciones de riesgo de vulnerabilidad de datos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DQ Audit </a:t>
                      </a:r>
                      <a:r>
                        <a:rPr lang="es-MX" sz="1050" u="none" strike="noStrike" err="1">
                          <a:effectLst/>
                        </a:rPr>
                        <a:t>findings</a:t>
                      </a:r>
                      <a:r>
                        <a:rPr lang="es-MX" sz="1050" u="none" strike="noStrike">
                          <a:effectLst/>
                        </a:rPr>
                        <a:t> (Violaciones reportadas en auditoría relacionadas con mala calidad de datos)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ANS del Cliente Interno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$19.500.000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$22.100.000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$30.588.235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$36.010.000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$42.392.773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$50.700.000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485602" y="1508780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0DFA934-5E54-49B0-9773-F37B0255F951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C91A9D97-3979-4791-96D1-8A54A5217980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299186630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201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0444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602778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Soporte TI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hitos de implementación modelo de Transformación digital de la organización (Soporte)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Disponibilidad de las plataformas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050" u="none" strike="noStrike">
                          <a:effectLst/>
                        </a:rPr>
                        <a:t>ANS del Cliente Interno</a:t>
                      </a:r>
                      <a:endParaRPr lang="es-CO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55%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$11.411.439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$17.117.159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$19.399.446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$22.822.878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$26.850.445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$31.609.686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$37.212.503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$44.504.612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28382" y="1499268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58B1572-A8F8-49EC-97BF-0CD8BB71D2B6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66742B28-C589-4AA8-9050-810E306C9524}"/>
              </a:ext>
            </a:extLst>
          </p:cNvPr>
          <p:cNvSpPr/>
          <p:nvPr/>
        </p:nvSpPr>
        <p:spPr>
          <a:xfrm>
            <a:off x="10157839" y="6473795"/>
            <a:ext cx="1240595" cy="23032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</p:spTree>
    <p:extLst>
      <p:ext uri="{BB962C8B-B14F-4D97-AF65-F5344CB8AC3E}">
        <p14:creationId xmlns:p14="http://schemas.microsoft.com/office/powerpoint/2010/main" val="519487834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508997" y="154577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202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76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4070844218"/>
                    </a:ext>
                  </a:extLst>
                </a:gridCol>
                <a:gridCol w="1101380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810193689"/>
                    </a:ext>
                  </a:extLst>
                </a:gridCol>
                <a:gridCol w="11189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33384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  <a:gridCol w="1097742">
                  <a:extLst>
                    <a:ext uri="{9D8B030D-6E8A-4147-A177-3AD203B41FA5}">
                      <a16:colId xmlns:a16="http://schemas.microsoft.com/office/drawing/2014/main" val="2837056510"/>
                    </a:ext>
                  </a:extLst>
                </a:gridCol>
              </a:tblGrid>
              <a:tr h="252617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Gestión del Talento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Cumplimiento de hitos de Gestión del Talento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Rotación de la Planta</a:t>
                      </a:r>
                    </a:p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(Comercial y Admin)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Meta de Experiencia del Colaborador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ENPS - Employee Net Promoted Score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>
                          <a:latin typeface="+mj-lt"/>
                        </a:rPr>
                        <a:t>30%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s-CO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r>
                        <a:rPr lang="es-CO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100">
                          <a:latin typeface="+mj-lt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$25.000.000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$56.250.000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$63.750.000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</a:rPr>
                        <a:t>$75.000.000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$88.250.000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$105.000.000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$124.929.178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$148.640.949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sp>
        <p:nvSpPr>
          <p:cNvPr id="8" name="Rectángulo 7">
            <a:extLst>
              <a:ext uri="{FF2B5EF4-FFF2-40B4-BE49-F238E27FC236}">
                <a16:creationId xmlns:a16="http://schemas.microsoft.com/office/drawing/2014/main" id="{49936D91-B446-4401-97A1-A1629CB93CF1}"/>
              </a:ext>
            </a:extLst>
          </p:cNvPr>
          <p:cNvSpPr/>
          <p:nvPr/>
        </p:nvSpPr>
        <p:spPr>
          <a:xfrm>
            <a:off x="9761985" y="6473797"/>
            <a:ext cx="1608912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43A4ECB-1218-405F-AD2C-313FEC60A557}"/>
              </a:ext>
            </a:extLst>
          </p:cNvPr>
          <p:cNvSpPr/>
          <p:nvPr/>
        </p:nvSpPr>
        <p:spPr>
          <a:xfrm rot="10800000">
            <a:off x="11096583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</p:spTree>
    <p:extLst>
      <p:ext uri="{BB962C8B-B14F-4D97-AF65-F5344CB8AC3E}">
        <p14:creationId xmlns:p14="http://schemas.microsoft.com/office/powerpoint/2010/main" val="2848416899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203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984162" cy="5359183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1103222">
                  <a:extLst>
                    <a:ext uri="{9D8B030D-6E8A-4147-A177-3AD203B41FA5}">
                      <a16:colId xmlns:a16="http://schemas.microsoft.com/office/drawing/2014/main" val="2735846806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1121376">
                  <a:extLst>
                    <a:ext uri="{9D8B030D-6E8A-4147-A177-3AD203B41FA5}">
                      <a16:colId xmlns:a16="http://schemas.microsoft.com/office/drawing/2014/main" val="589986518"/>
                    </a:ext>
                  </a:extLst>
                </a:gridCol>
                <a:gridCol w="101693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33949">
                  <a:extLst>
                    <a:ext uri="{9D8B030D-6E8A-4147-A177-3AD203B41FA5}">
                      <a16:colId xmlns:a16="http://schemas.microsoft.com/office/drawing/2014/main" val="2831497511"/>
                    </a:ext>
                  </a:extLst>
                </a:gridCol>
              </a:tblGrid>
              <a:tr h="252617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Financiera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~60/40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Costo Financiero de la deuda a corto plazo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presupuesto de gastos generales y de administración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 los </a:t>
                      </a:r>
                      <a:r>
                        <a:rPr lang="es-MX" sz="1100" u="none" strike="noStrike" err="1">
                          <a:effectLst/>
                        </a:rPr>
                        <a:t>Covenants</a:t>
                      </a:r>
                      <a:r>
                        <a:rPr lang="es-MX" sz="1100" u="none" strike="noStrike">
                          <a:effectLst/>
                        </a:rPr>
                        <a:t> (ANS contractuales)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0" i="0" u="none" strike="noStrike">
                          <a:solidFill>
                            <a:srgbClr val="4D4D4D"/>
                          </a:solidFill>
                          <a:effectLst/>
                          <a:latin typeface="Arial" panose="020B0604020202020204" pitchFamily="34" charset="0"/>
                        </a:rPr>
                        <a:t>35%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MX" sz="11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$45.000.000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$141.997.500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$159.750.000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$180.000.000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$202.816.901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$239.776.086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$283.470.318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$353.250.000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514236" y="1526164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D877A28-330A-4057-BDCB-5A31F6424697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DF92374C-3C23-43CE-8C53-831078D2C4E2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21325004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53463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9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15" name="6 Gráfico">
            <a:extLst>
              <a:ext uri="{FF2B5EF4-FFF2-40B4-BE49-F238E27FC236}">
                <a16:creationId xmlns:a16="http://schemas.microsoft.com/office/drawing/2014/main" id="{234F7E76-63C4-444A-8955-A2EA1E937735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204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4720" cy="5359183"/>
        </p:xfrm>
        <a:graphic>
          <a:graphicData uri="http://schemas.openxmlformats.org/drawingml/2006/table">
            <a:tbl>
              <a:tblPr/>
              <a:tblGrid>
                <a:gridCol w="1045516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60128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70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8609">
                  <a:extLst>
                    <a:ext uri="{9D8B030D-6E8A-4147-A177-3AD203B41FA5}">
                      <a16:colId xmlns:a16="http://schemas.microsoft.com/office/drawing/2014/main" val="1143498656"/>
                    </a:ext>
                  </a:extLst>
                </a:gridCol>
                <a:gridCol w="692771">
                  <a:extLst>
                    <a:ext uri="{9D8B030D-6E8A-4147-A177-3AD203B41FA5}">
                      <a16:colId xmlns:a16="http://schemas.microsoft.com/office/drawing/2014/main" val="2200741948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8654">
                  <a:extLst>
                    <a:ext uri="{9D8B030D-6E8A-4147-A177-3AD203B41FA5}">
                      <a16:colId xmlns:a16="http://schemas.microsoft.com/office/drawing/2014/main" val="3886320256"/>
                    </a:ext>
                  </a:extLst>
                </a:gridCol>
                <a:gridCol w="340300">
                  <a:extLst>
                    <a:ext uri="{9D8B030D-6E8A-4147-A177-3AD203B41FA5}">
                      <a16:colId xmlns:a16="http://schemas.microsoft.com/office/drawing/2014/main" val="4066662608"/>
                    </a:ext>
                  </a:extLst>
                </a:gridCol>
                <a:gridCol w="68309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31126">
                  <a:extLst>
                    <a:ext uri="{9D8B030D-6E8A-4147-A177-3AD203B41FA5}">
                      <a16:colId xmlns:a16="http://schemas.microsoft.com/office/drawing/2014/main" val="362223821"/>
                    </a:ext>
                  </a:extLst>
                </a:gridCol>
              </a:tblGrid>
              <a:tr h="252617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Gerente de Contabilidad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~80/20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~65/35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Optimización de impuestos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Homologación de los niveles de servicio de CV y BCF (Aplica para el 1er año)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$18.122.850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$40.776.413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$46.213.268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3.0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$54.368.550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$63.973.661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4.2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$76.115.970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$90.562.910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$107.751.905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5206BF20-102F-489E-BC45-41A32BD5534D}"/>
              </a:ext>
            </a:extLst>
          </p:cNvPr>
          <p:cNvGraphicFramePr>
            <a:graphicFrameLocks/>
          </p:cNvGraphicFramePr>
          <p:nvPr/>
        </p:nvGraphicFramePr>
        <p:xfrm>
          <a:off x="6458604" y="1477108"/>
          <a:ext cx="5256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80B05F7-11D8-4FA9-802D-247191BC53DC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B9D2AD19-9C80-4F48-B95C-81F1F44B95F7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1235781262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205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Contabilidad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Optimización de impuestos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Homologación de los niveles de servicio de CV y BCF (Aplica para el 1er año)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35%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35%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30%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$15.965.000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$23.947.500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$27.140.500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$31.930.000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$37.564.706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$44.223.050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$52.061.586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$62.263.500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48459" y="1519311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C63111C-C747-4905-B562-2575E866B0D0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ED767590-1411-4AAB-9DCA-3F2719098CCD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32159091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206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Planeación Financiera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Rentabilidad del Patrimonio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MX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Efectividad de las proyecciones (volumen, liquidez y utilidad) </a:t>
                      </a:r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CO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ANS del Cliente Interno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35%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>
                          <a:latin typeface="+mj-lt"/>
                        </a:rPr>
                        <a:t>30%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$15.990.750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$23.986.125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$27.184.275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$31.981.500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$37.625.294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$44.294.378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$52.145.556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$62.363.925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26572" y="1485897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C378EC1-5886-4DC1-992F-6F751A09C5DE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831B7C67-AEF1-445A-9CB7-85049957789E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644577241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207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863598" cy="5376317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5355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971841">
                  <a:extLst>
                    <a:ext uri="{9D8B030D-6E8A-4147-A177-3AD203B41FA5}">
                      <a16:colId xmlns:a16="http://schemas.microsoft.com/office/drawing/2014/main" val="668242239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77747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1004809">
                  <a:extLst>
                    <a:ext uri="{9D8B030D-6E8A-4147-A177-3AD203B41FA5}">
                      <a16:colId xmlns:a16="http://schemas.microsoft.com/office/drawing/2014/main" val="1216014644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66768">
                  <a:extLst>
                    <a:ext uri="{9D8B030D-6E8A-4147-A177-3AD203B41FA5}">
                      <a16:colId xmlns:a16="http://schemas.microsoft.com/office/drawing/2014/main" val="2527800531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de Rentabilidad y Costos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050" u="none" strike="noStrike">
                          <a:effectLst/>
                        </a:rPr>
                        <a:t>Cumplimiento de los hitos de Implementación modelo de rentabilidad basado en el concepto central de fondos</a:t>
                      </a:r>
                      <a:endParaRPr lang="es-MX" sz="105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Rentabilidad del portafolio de productos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Rentabilidad de canales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20%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MX" sz="1100">
                          <a:latin typeface="+mj-lt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  <a:endParaRPr lang="es-CO"/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$12.900.000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$19.350.000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$21.930.000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$25.800.000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$30.352.941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$35.733.000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$42.066.674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$50.310.000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06701" y="149117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165612C2-2B6C-427D-834F-9A7ABF370408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45879A8E-57D4-421C-90A6-8FD9F54BE23B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429068207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208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Administrativo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Ahorro total de costes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del presupuesto de gastos generales y de administración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$15.990.750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$23.986.125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$27.184.275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$31.981.500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$37.625.294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$44.294.378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$52.145.556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$62.363.925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3 Gráfico">
            <a:extLst>
              <a:ext uri="{FF2B5EF4-FFF2-40B4-BE49-F238E27FC236}">
                <a16:creationId xmlns:a16="http://schemas.microsoft.com/office/drawing/2014/main" id="{4873A2FC-3B27-44D8-9B3B-C7DEA29F0E5F}"/>
              </a:ext>
            </a:extLst>
          </p:cNvPr>
          <p:cNvGraphicFramePr>
            <a:graphicFrameLocks/>
          </p:cNvGraphicFramePr>
          <p:nvPr/>
        </p:nvGraphicFramePr>
        <p:xfrm>
          <a:off x="6540641" y="1499965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E0A0DB12-8FC6-46EC-A9EB-2D29C2C48D40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C72E9B5C-974E-443F-9FAB-01B3D096FE71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</p:spTree>
    <p:extLst>
      <p:ext uri="{BB962C8B-B14F-4D97-AF65-F5344CB8AC3E}">
        <p14:creationId xmlns:p14="http://schemas.microsoft.com/office/powerpoint/2010/main" val="3958949662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209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080313"/>
              </p:ext>
            </p:extLst>
          </p:nvPr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Tesorería CV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Costo Financiero de la deuda a corto plazo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Rendimiento de las inversiones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40%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$17.056.800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$25.585.200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$28.996.560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u="none" strike="noStrike">
                          <a:solidFill>
                            <a:schemeClr val="accent1"/>
                          </a:solidFill>
                          <a:effectLst/>
                        </a:rPr>
                        <a:t>$34.113.600</a:t>
                      </a:r>
                      <a:endParaRPr lang="es-CO" sz="1100" b="1" i="0" u="none" strike="noStrike">
                        <a:solidFill>
                          <a:schemeClr val="accent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$40.133.647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$47.247.336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$55.621.926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$66.521.520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3 Gráfico">
            <a:extLst>
              <a:ext uri="{FF2B5EF4-FFF2-40B4-BE49-F238E27FC236}">
                <a16:creationId xmlns:a16="http://schemas.microsoft.com/office/drawing/2014/main" id="{F1CBB71E-0135-49DC-B304-3E6F9EC4DF90}"/>
              </a:ext>
            </a:extLst>
          </p:cNvPr>
          <p:cNvGraphicFramePr>
            <a:graphicFrameLocks/>
          </p:cNvGraphicFramePr>
          <p:nvPr/>
        </p:nvGraphicFramePr>
        <p:xfrm>
          <a:off x="6491682" y="149011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D923FBB-44E6-4079-9A97-620E5B1F4583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C69CC81B-0BEC-42FA-98E6-1F6ECCF688CF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16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F350D357-CE04-4051-AE76-51131335A4CE}"/>
              </a:ext>
            </a:extLst>
          </p:cNvPr>
          <p:cNvSpPr/>
          <p:nvPr/>
        </p:nvSpPr>
        <p:spPr>
          <a:xfrm>
            <a:off x="9389034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994D3B01-2D7E-4F81-B6C5-A48AEDA39159}"/>
              </a:ext>
            </a:extLst>
          </p:cNvPr>
          <p:cNvSpPr/>
          <p:nvPr/>
        </p:nvSpPr>
        <p:spPr>
          <a:xfrm>
            <a:off x="8337176" y="6473795"/>
            <a:ext cx="1306750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D. Tesorería CF</a:t>
            </a:r>
          </a:p>
        </p:txBody>
      </p:sp>
    </p:spTree>
    <p:extLst>
      <p:ext uri="{BB962C8B-B14F-4D97-AF65-F5344CB8AC3E}">
        <p14:creationId xmlns:p14="http://schemas.microsoft.com/office/powerpoint/2010/main" val="1885833082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210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578184"/>
              </p:ext>
            </p:extLst>
          </p:nvPr>
        </p:nvGraphicFramePr>
        <p:xfrm>
          <a:off x="331956" y="1022566"/>
          <a:ext cx="5671676" cy="5359184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50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6807">
                  <a:extLst>
                    <a:ext uri="{9D8B030D-6E8A-4147-A177-3AD203B41FA5}">
                      <a16:colId xmlns:a16="http://schemas.microsoft.com/office/drawing/2014/main" val="636993630"/>
                    </a:ext>
                  </a:extLst>
                </a:gridCol>
                <a:gridCol w="736415">
                  <a:extLst>
                    <a:ext uri="{9D8B030D-6E8A-4147-A177-3AD203B41FA5}">
                      <a16:colId xmlns:a16="http://schemas.microsoft.com/office/drawing/2014/main" val="201155386"/>
                    </a:ext>
                  </a:extLst>
                </a:gridCol>
                <a:gridCol w="419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8988">
                  <a:extLst>
                    <a:ext uri="{9D8B030D-6E8A-4147-A177-3AD203B41FA5}">
                      <a16:colId xmlns:a16="http://schemas.microsoft.com/office/drawing/2014/main" val="3798113869"/>
                    </a:ext>
                  </a:extLst>
                </a:gridCol>
                <a:gridCol w="372388">
                  <a:extLst>
                    <a:ext uri="{9D8B030D-6E8A-4147-A177-3AD203B41FA5}">
                      <a16:colId xmlns:a16="http://schemas.microsoft.com/office/drawing/2014/main" val="354429183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45125">
                  <a:extLst>
                    <a:ext uri="{9D8B030D-6E8A-4147-A177-3AD203B41FA5}">
                      <a16:colId xmlns:a16="http://schemas.microsoft.com/office/drawing/2014/main" val="458717139"/>
                    </a:ext>
                  </a:extLst>
                </a:gridCol>
              </a:tblGrid>
              <a:tr h="25267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Director Tesorería CF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~85/15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99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Costo Financiero de la deuda a corto plazo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Rendimiento de las inversiones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u="none" strike="noStrike">
                          <a:effectLst/>
                        </a:rPr>
                        <a:t>ANS del Cliente Interno</a:t>
                      </a:r>
                      <a:endParaRPr lang="es-CO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398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40%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$13.500.000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74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568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$22.917.600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$25.973.280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2.0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$30.556.800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2.4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$35.949.176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2.7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$42.321.168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$49.822.595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78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3.9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$59.585.760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0077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83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3"/>
          <a:ext cx="5615795" cy="5353461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07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61601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56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55496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80% al empleado el 20%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graphicFrame>
        <p:nvGraphicFramePr>
          <p:cNvPr id="8" name="6 Gráfico">
            <a:extLst>
              <a:ext uri="{FF2B5EF4-FFF2-40B4-BE49-F238E27FC236}">
                <a16:creationId xmlns:a16="http://schemas.microsoft.com/office/drawing/2014/main" id="{5F762210-4305-4417-82F0-4D00B7527FE1}"/>
              </a:ext>
            </a:extLst>
          </p:cNvPr>
          <p:cNvGraphicFramePr>
            <a:graphicFrameLocks/>
          </p:cNvGraphicFramePr>
          <p:nvPr/>
        </p:nvGraphicFramePr>
        <p:xfrm>
          <a:off x="6604225" y="3778930"/>
          <a:ext cx="5061600" cy="89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3 Gráfico">
            <a:extLst>
              <a:ext uri="{FF2B5EF4-FFF2-40B4-BE49-F238E27FC236}">
                <a16:creationId xmlns:a16="http://schemas.microsoft.com/office/drawing/2014/main" id="{E668A944-CD5F-436E-893A-FCFAAEF20966}"/>
              </a:ext>
            </a:extLst>
          </p:cNvPr>
          <p:cNvGraphicFramePr>
            <a:graphicFrameLocks/>
          </p:cNvGraphicFramePr>
          <p:nvPr/>
        </p:nvGraphicFramePr>
        <p:xfrm>
          <a:off x="6522323" y="1515986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B46ED3C2-0029-42A3-AD68-97187044EB0E}"/>
              </a:ext>
            </a:extLst>
          </p:cNvPr>
          <p:cNvSpPr/>
          <p:nvPr/>
        </p:nvSpPr>
        <p:spPr>
          <a:xfrm rot="10800000">
            <a:off x="11143543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8A2D0E50-DB35-4F77-AF11-97CF69BCBB79}"/>
              </a:ext>
            </a:extLst>
          </p:cNvPr>
          <p:cNvSpPr/>
          <p:nvPr/>
        </p:nvSpPr>
        <p:spPr>
          <a:xfrm>
            <a:off x="9768469" y="6473795"/>
            <a:ext cx="162996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Financiero y Admin.</a:t>
            </a:r>
          </a:p>
        </p:txBody>
      </p:sp>
      <p:sp>
        <p:nvSpPr>
          <p:cNvPr id="10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2EE4BA27-3605-4429-97E0-9204E77426FE}"/>
              </a:ext>
            </a:extLst>
          </p:cNvPr>
          <p:cNvSpPr/>
          <p:nvPr/>
        </p:nvSpPr>
        <p:spPr>
          <a:xfrm rot="10800000">
            <a:off x="9389034" y="6524156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8FB9FA7F-4050-451F-8579-4BAB7A527EE0}"/>
              </a:ext>
            </a:extLst>
          </p:cNvPr>
          <p:cNvSpPr/>
          <p:nvPr/>
        </p:nvSpPr>
        <p:spPr>
          <a:xfrm>
            <a:off x="8337176" y="6473795"/>
            <a:ext cx="1306750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D. Tesorería CV</a:t>
            </a:r>
          </a:p>
        </p:txBody>
      </p:sp>
    </p:spTree>
    <p:extLst>
      <p:ext uri="{BB962C8B-B14F-4D97-AF65-F5344CB8AC3E}">
        <p14:creationId xmlns:p14="http://schemas.microsoft.com/office/powerpoint/2010/main" val="3848322671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a 20">
            <a:extLst>
              <a:ext uri="{FF2B5EF4-FFF2-40B4-BE49-F238E27FC236}">
                <a16:creationId xmlns:a16="http://schemas.microsoft.com/office/drawing/2014/main" id="{7496467C-9B96-4E8F-B0A2-21C85340B75F}"/>
              </a:ext>
            </a:extLst>
          </p:cNvPr>
          <p:cNvGraphicFramePr>
            <a:graphicFrameLocks noGrp="1"/>
          </p:cNvGraphicFramePr>
          <p:nvPr/>
        </p:nvGraphicFramePr>
        <p:xfrm>
          <a:off x="6333713" y="1009072"/>
          <a:ext cx="5615795" cy="5372678"/>
        </p:xfrm>
        <a:graphic>
          <a:graphicData uri="http://schemas.openxmlformats.org/drawingml/2006/table">
            <a:tbl>
              <a:tblPr/>
              <a:tblGrid>
                <a:gridCol w="5615795">
                  <a:extLst>
                    <a:ext uri="{9D8B030D-6E8A-4147-A177-3AD203B41FA5}">
                      <a16:colId xmlns:a16="http://schemas.microsoft.com/office/drawing/2014/main" val="1291072435"/>
                    </a:ext>
                  </a:extLst>
                </a:gridCol>
              </a:tblGrid>
              <a:tr h="34198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200" b="1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Curva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10989"/>
                  </a:ext>
                </a:extLst>
              </a:tr>
              <a:tr h="3373667">
                <a:tc>
                  <a:txBody>
                    <a:bodyPr/>
                    <a:lstStyle/>
                    <a:p>
                      <a:pPr algn="l" fontAlgn="b"/>
                      <a:endParaRPr lang="es-CO" sz="10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3358695"/>
                  </a:ext>
                </a:extLst>
              </a:tr>
              <a:tr h="2966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Condiciones de Pago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70D9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749353"/>
                  </a:ext>
                </a:extLst>
              </a:tr>
              <a:tr h="1360361">
                <a:tc>
                  <a:txBody>
                    <a:bodyPr/>
                    <a:lstStyle/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debe cumplir la llave de entrada organizacional para el pago de la bonificación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Debe tener una antigüedad &gt; a 6 meses en la organización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Debe estar vinculado a BCF/CV/ASF al momento del pago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El cumplimiento mínimo de sus indicadores debe  ser el 90% </a:t>
                      </a:r>
                    </a:p>
                    <a:p>
                      <a:pPr marL="228600" indent="-228600" algn="just" rtl="0" fontAlgn="ctr">
                        <a:lnSpc>
                          <a:spcPct val="100000"/>
                        </a:lnSpc>
                        <a:buAutoNum type="arabicPeriod"/>
                      </a:pPr>
                      <a:r>
                        <a:rPr lang="es-CO" sz="1050" b="0" i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Se paga el 70% al empleado el 30% va a un aporte no consolidado en un fondo de pensiones (si el empleado se retira antes de 3 años no se paga esta parte del bono)</a:t>
                      </a:r>
                    </a:p>
                  </a:txBody>
                  <a:tcPr marL="0" marR="0" marT="41564" marB="41564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88315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E453BF-1A90-4BAE-97F7-D8D7286A6CB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Una medición con indicadores y metas claras sobre la gestión en cargos clave habilita el despliegue de un modelo de compensación variable que promueva la alineación y premie el resultado</a:t>
            </a:r>
          </a:p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36AB3D9-BB4B-4E69-923D-B369869E75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755086" y="6497030"/>
            <a:ext cx="1010914" cy="365124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211</a:t>
            </a:fld>
            <a:endParaRPr lang="es-ES_tradn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3D2EB36-4F75-4C43-8E6E-248B1F4BE482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>
                <a:latin typeface="+mj-lt"/>
              </a:rPr>
              <a:t>Fuente: Análisis Talent </a:t>
            </a:r>
            <a:r>
              <a:rPr lang="es-ES_tradnl" err="1">
                <a:latin typeface="+mj-lt"/>
              </a:rPr>
              <a:t>Advisor</a:t>
            </a:r>
            <a:endParaRPr lang="es-ES_tradnl">
              <a:latin typeface="+mj-lt"/>
            </a:endParaRPr>
          </a:p>
        </p:txBody>
      </p:sp>
      <p:graphicFrame>
        <p:nvGraphicFramePr>
          <p:cNvPr id="19" name="Tabla 18">
            <a:extLst>
              <a:ext uri="{FF2B5EF4-FFF2-40B4-BE49-F238E27FC236}">
                <a16:creationId xmlns:a16="http://schemas.microsoft.com/office/drawing/2014/main" id="{EC723488-4243-4E23-9BC0-DD5D967D39E8}"/>
              </a:ext>
            </a:extLst>
          </p:cNvPr>
          <p:cNvGraphicFramePr>
            <a:graphicFrameLocks noGrp="1"/>
          </p:cNvGraphicFramePr>
          <p:nvPr/>
        </p:nvGraphicFramePr>
        <p:xfrm>
          <a:off x="331956" y="1022567"/>
          <a:ext cx="5660500" cy="5359183"/>
        </p:xfrm>
        <a:graphic>
          <a:graphicData uri="http://schemas.openxmlformats.org/drawingml/2006/table">
            <a:tbl>
              <a:tblPr/>
              <a:tblGrid>
                <a:gridCol w="1080000">
                  <a:extLst>
                    <a:ext uri="{9D8B030D-6E8A-4147-A177-3AD203B41FA5}">
                      <a16:colId xmlns:a16="http://schemas.microsoft.com/office/drawing/2014/main" val="869854490"/>
                    </a:ext>
                  </a:extLst>
                </a:gridCol>
                <a:gridCol w="1095094">
                  <a:extLst>
                    <a:ext uri="{9D8B030D-6E8A-4147-A177-3AD203B41FA5}">
                      <a16:colId xmlns:a16="http://schemas.microsoft.com/office/drawing/2014/main" val="1767155456"/>
                    </a:ext>
                  </a:extLst>
                </a:gridCol>
                <a:gridCol w="38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2884">
                  <a:extLst>
                    <a:ext uri="{9D8B030D-6E8A-4147-A177-3AD203B41FA5}">
                      <a16:colId xmlns:a16="http://schemas.microsoft.com/office/drawing/2014/main" val="3820257039"/>
                    </a:ext>
                  </a:extLst>
                </a:gridCol>
                <a:gridCol w="721514">
                  <a:extLst>
                    <a:ext uri="{9D8B030D-6E8A-4147-A177-3AD203B41FA5}">
                      <a16:colId xmlns:a16="http://schemas.microsoft.com/office/drawing/2014/main" val="3838462280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0395">
                  <a:extLst>
                    <a:ext uri="{9D8B030D-6E8A-4147-A177-3AD203B41FA5}">
                      <a16:colId xmlns:a16="http://schemas.microsoft.com/office/drawing/2014/main" val="129180044"/>
                    </a:ext>
                  </a:extLst>
                </a:gridCol>
                <a:gridCol w="357959">
                  <a:extLst>
                    <a:ext uri="{9D8B030D-6E8A-4147-A177-3AD203B41FA5}">
                      <a16:colId xmlns:a16="http://schemas.microsoft.com/office/drawing/2014/main" val="1473464824"/>
                    </a:ext>
                  </a:extLst>
                </a:gridCol>
                <a:gridCol w="34925">
                  <a:extLst>
                    <a:ext uri="{9D8B030D-6E8A-4147-A177-3AD203B41FA5}">
                      <a16:colId xmlns:a16="http://schemas.microsoft.com/office/drawing/2014/main" val="194723862"/>
                    </a:ext>
                  </a:extLst>
                </a:gridCol>
                <a:gridCol w="1133949">
                  <a:extLst>
                    <a:ext uri="{9D8B030D-6E8A-4147-A177-3AD203B41FA5}">
                      <a16:colId xmlns:a16="http://schemas.microsoft.com/office/drawing/2014/main" val="2831497511"/>
                    </a:ext>
                  </a:extLst>
                </a:gridCol>
              </a:tblGrid>
              <a:tr h="252617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es-CO" sz="14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VP Financiación Estructurada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1" i="0" u="none" strike="noStrike"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1A1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0932665"/>
                  </a:ext>
                </a:extLst>
              </a:tr>
              <a:tr h="180441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Componentes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Detalles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5292527"/>
                  </a:ext>
                </a:extLst>
              </a:tr>
              <a:tr h="29229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Mix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Target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~75/25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Máximo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 kern="1200">
                          <a:solidFill>
                            <a:srgbClr val="464749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~60/40</a:t>
                      </a:r>
                      <a:endParaRPr lang="es-CO" sz="1100" b="1" i="0" u="none" strike="noStrike">
                        <a:solidFill>
                          <a:srgbClr val="464749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41590"/>
                  </a:ext>
                </a:extLst>
              </a:tr>
              <a:tr h="1110738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Métricas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Cumplimiento volúmenes de fondeo a LP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0" lang="es-CO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Costo Financiero de la deuda a largo plazo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u="none" strike="noStrike">
                          <a:effectLst/>
                        </a:rPr>
                        <a:t>Índice de Concentración de los inversionistas</a:t>
                      </a:r>
                      <a:endParaRPr lang="es-MX" sz="1100" b="0" i="0" u="none" strike="noStrike">
                        <a:solidFill>
                          <a:srgbClr val="4D4D4D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8455831"/>
                  </a:ext>
                </a:extLst>
              </a:tr>
              <a:tr h="341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Ponderación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35%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35%</a:t>
                      </a:r>
                      <a:endParaRPr lang="es-CO" sz="1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s-ES"/>
                    </a:p>
                  </a:txBody>
                  <a:tcPr marL="7984" marR="7984" marT="7984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MX" sz="1100">
                          <a:latin typeface="+mj-lt"/>
                        </a:rPr>
                        <a:t>30%</a:t>
                      </a:r>
                      <a:endParaRPr lang="es-CO" sz="1100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393912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Salario Básico</a:t>
                      </a:r>
                    </a:p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(SB)*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$35.000.000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1131175"/>
                  </a:ext>
                </a:extLst>
              </a:tr>
              <a:tr h="198694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Mecánica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Bono Anual por Resultados 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702374"/>
                  </a:ext>
                </a:extLst>
              </a:tr>
              <a:tr h="39947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Tabla de Pagos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Pto. Cambio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Porcentaje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Multiplicador</a:t>
                      </a:r>
                      <a:endParaRPr lang="es-CO" sz="1000" b="1" i="0" u="none" strike="noStrike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Valor</a:t>
                      </a:r>
                    </a:p>
                    <a:p>
                      <a:pPr 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Anual </a:t>
                      </a:r>
                      <a:endParaRPr lang="es-CO">
                        <a:latin typeface="+mj-lt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147579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Min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3.16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$110.442.500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3.55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$124.250.000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1" i="0" u="none" strike="noStrike">
                          <a:solidFill>
                            <a:schemeClr val="accent1"/>
                          </a:solidFill>
                          <a:effectLst/>
                          <a:latin typeface="+mj-lt"/>
                          <a:cs typeface="Arial"/>
                        </a:rPr>
                        <a:t>Target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 b="1" baseline="0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4.00 </a:t>
                      </a:r>
                      <a:r>
                        <a:rPr lang="es-ES" sz="1100" b="1">
                          <a:solidFill>
                            <a:schemeClr val="accent1"/>
                          </a:solidFill>
                          <a:latin typeface="+mj-lt"/>
                          <a:cs typeface="Arial"/>
                        </a:rPr>
                        <a:t>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s-CO" sz="1100" b="1" kern="1200" baseline="0">
                          <a:solidFill>
                            <a:schemeClr val="accent1"/>
                          </a:solidFill>
                          <a:latin typeface="+mj-lt"/>
                          <a:ea typeface="+mn-ea"/>
                          <a:cs typeface="Arial"/>
                        </a:rPr>
                        <a:t>$140.000.000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4.51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$157.746.479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5.33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$186.492.511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P. Inflexión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6.30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$220.476.914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  <a:cs typeface="Arial"/>
                        </a:rPr>
                        <a:t>Max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100">
                          <a:latin typeface="+mj-lt"/>
                          <a:cs typeface="Arial"/>
                        </a:rPr>
                        <a:t>7.85 SB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s-CO" sz="1100" u="none" strike="noStrike">
                          <a:effectLst/>
                        </a:rPr>
                        <a:t>$274.750.000</a:t>
                      </a:r>
                      <a:endParaRPr lang="es-CO" sz="1100" b="0" i="0" u="none" strike="noStrike">
                        <a:solidFill>
                          <a:srgbClr val="464749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799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Periodo de Pago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rtl="0" fontAlgn="ctr"/>
                      <a:r>
                        <a:rPr lang="es-CO" sz="1100" b="0" i="0" u="none" strike="noStrike">
                          <a:solidFill>
                            <a:srgbClr val="464749"/>
                          </a:solidFill>
                          <a:effectLst/>
                          <a:latin typeface="+mj-lt"/>
                        </a:rPr>
                        <a:t>Anual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9CB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803339"/>
                  </a:ext>
                </a:extLst>
              </a:tr>
              <a:tr h="3441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s-CO" sz="11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Llave de Entrada</a:t>
                      </a: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70D93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MX" sz="1100" b="0" i="0" u="none" strike="noStrike" kern="1200">
                          <a:solidFill>
                            <a:srgbClr val="464749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Cumplimiento de la meta de la UAI Consolidada (CF – CV) 2021</a:t>
                      </a:r>
                      <a:endParaRPr lang="es-CO" sz="1100" b="0" i="0" u="none" strike="noStrike" kern="1200">
                        <a:solidFill>
                          <a:srgbClr val="464749"/>
                        </a:solidFill>
                        <a:effectLst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984" marR="7984" marT="7984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0712814"/>
                  </a:ext>
                </a:extLst>
              </a:tr>
            </a:tbl>
          </a:graphicData>
        </a:graphic>
      </p:graphicFrame>
      <p:graphicFrame>
        <p:nvGraphicFramePr>
          <p:cNvPr id="37" name="6 Gráfico">
            <a:extLst>
              <a:ext uri="{FF2B5EF4-FFF2-40B4-BE49-F238E27FC236}">
                <a16:creationId xmlns:a16="http://schemas.microsoft.com/office/drawing/2014/main" id="{2A801A04-7E7C-4735-8C8B-3DFE1415E844}"/>
              </a:ext>
            </a:extLst>
          </p:cNvPr>
          <p:cNvGraphicFramePr>
            <a:graphicFrameLocks/>
          </p:cNvGraphicFramePr>
          <p:nvPr/>
        </p:nvGraphicFramePr>
        <p:xfrm>
          <a:off x="6611357" y="3749575"/>
          <a:ext cx="5060507" cy="8966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CuadroTexto 2">
            <a:extLst>
              <a:ext uri="{FF2B5EF4-FFF2-40B4-BE49-F238E27FC236}">
                <a16:creationId xmlns:a16="http://schemas.microsoft.com/office/drawing/2014/main" id="{440DE79D-55EE-4B51-806E-153555F2FFEE}"/>
              </a:ext>
            </a:extLst>
          </p:cNvPr>
          <p:cNvSpPr txBox="1"/>
          <p:nvPr/>
        </p:nvSpPr>
        <p:spPr>
          <a:xfrm>
            <a:off x="9295575" y="6471687"/>
            <a:ext cx="1728000" cy="369332"/>
          </a:xfrm>
          <a:prstGeom prst="rect">
            <a:avLst/>
          </a:prstGeom>
          <a:noFill/>
        </p:spPr>
        <p:txBody>
          <a:bodyPr wrap="square" rIns="0" rtlCol="0">
            <a:sp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Simulación Modelo de Pago</a:t>
            </a:r>
            <a:endParaRPr lang="es-E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42F7A4DC-2405-4A38-B057-13AB04F3F813}"/>
              </a:ext>
            </a:extLst>
          </p:cNvPr>
          <p:cNvSpPr/>
          <p:nvPr/>
        </p:nvSpPr>
        <p:spPr>
          <a:xfrm>
            <a:off x="9328235" y="6473797"/>
            <a:ext cx="1980000" cy="20420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Botón de acción: Hacia delante o Siguient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EBCBD94-CD09-4C35-94D8-EDCD5BBC2E84}"/>
              </a:ext>
            </a:extLst>
          </p:cNvPr>
          <p:cNvSpPr/>
          <p:nvPr/>
        </p:nvSpPr>
        <p:spPr>
          <a:xfrm rot="10800000">
            <a:off x="11044029" y="6513315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graphicFrame>
        <p:nvGraphicFramePr>
          <p:cNvPr id="15" name="3 Gráfico">
            <a:extLst>
              <a:ext uri="{FF2B5EF4-FFF2-40B4-BE49-F238E27FC236}">
                <a16:creationId xmlns:a16="http://schemas.microsoft.com/office/drawing/2014/main" id="{C5A6B5EA-B78B-4803-BBD2-BB4D6AE6E5E1}"/>
              </a:ext>
            </a:extLst>
          </p:cNvPr>
          <p:cNvGraphicFramePr>
            <a:graphicFrameLocks/>
          </p:cNvGraphicFramePr>
          <p:nvPr/>
        </p:nvGraphicFramePr>
        <p:xfrm>
          <a:off x="6498813" y="1545372"/>
          <a:ext cx="5220000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64906324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A71DE88-FB39-42CE-AE55-807D8E96D79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2593" y="3655911"/>
            <a:ext cx="7447801" cy="2395528"/>
          </a:xfrm>
        </p:spPr>
        <p:txBody>
          <a:bodyPr/>
          <a:lstStyle/>
          <a:p>
            <a:r>
              <a:rPr lang="es-CO"/>
              <a:t>Estructura Organizacional</a:t>
            </a:r>
          </a:p>
          <a:p>
            <a:r>
              <a:rPr lang="es-CO"/>
              <a:t>Fichas Perfiles y Descripciones de Cargo</a:t>
            </a:r>
          </a:p>
          <a:p>
            <a:r>
              <a:rPr lang="es-CO"/>
              <a:t>Fichas Comités</a:t>
            </a:r>
          </a:p>
          <a:p>
            <a:r>
              <a:rPr lang="es-CO"/>
              <a:t>Fichas Indicadores</a:t>
            </a:r>
          </a:p>
          <a:p>
            <a:r>
              <a:rPr lang="es-CO"/>
              <a:t>Fichas Compensación</a:t>
            </a:r>
          </a:p>
          <a:p>
            <a:r>
              <a:rPr lang="es-CO" b="1"/>
              <a:t>Modelo de Competencias</a:t>
            </a:r>
          </a:p>
        </p:txBody>
      </p:sp>
    </p:spTree>
    <p:extLst>
      <p:ext uri="{BB962C8B-B14F-4D97-AF65-F5344CB8AC3E}">
        <p14:creationId xmlns:p14="http://schemas.microsoft.com/office/powerpoint/2010/main" val="2789652523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5FF8CFAB-C52F-4342-90B9-7BDEE2CA6E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401" y="692696"/>
            <a:ext cx="7842672" cy="2087574"/>
          </a:xfrm>
        </p:spPr>
        <p:txBody>
          <a:bodyPr/>
          <a:lstStyle/>
          <a:p>
            <a:r>
              <a:rPr lang="es-ES"/>
              <a:t>Las competencias son el conjunto de </a:t>
            </a:r>
            <a:r>
              <a:rPr lang="es-ES">
                <a:highlight>
                  <a:srgbClr val="33FB97"/>
                </a:highlight>
              </a:rPr>
              <a:t>atributos de una persona </a:t>
            </a:r>
            <a:r>
              <a:rPr lang="es-ES"/>
              <a:t>(motivaciones, actitudes, conocimientos, habilidades), que se pueden observar a través de comportamientos medibles, y que diferencian de una manera sustancial a trabajadores con un </a:t>
            </a:r>
            <a:r>
              <a:rPr lang="es-ES">
                <a:highlight>
                  <a:srgbClr val="33FB97"/>
                </a:highlight>
              </a:rPr>
              <a:t>desempeño excelente </a:t>
            </a:r>
            <a:r>
              <a:rPr lang="es-ES"/>
              <a:t>de los trabajadores con desempeño normal</a:t>
            </a:r>
          </a:p>
        </p:txBody>
      </p:sp>
      <p:sp>
        <p:nvSpPr>
          <p:cNvPr id="12" name="Marcador de pie de página 4">
            <a:extLst>
              <a:ext uri="{FF2B5EF4-FFF2-40B4-BE49-F238E27FC236}">
                <a16:creationId xmlns:a16="http://schemas.microsoft.com/office/drawing/2014/main" id="{D58BFAC5-C407-4968-AB66-A60E2779CAF4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4075122885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Marcador de texto 110">
            <a:extLst>
              <a:ext uri="{FF2B5EF4-FFF2-40B4-BE49-F238E27FC236}">
                <a16:creationId xmlns:a16="http://schemas.microsoft.com/office/drawing/2014/main" id="{AEE9056A-6D58-4734-AE63-87D9B84B820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Componentes de las Competencias – Gestión por Competencias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5C197524-3E7F-4376-8988-31C130A66E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214</a:t>
            </a:fld>
            <a:endParaRPr lang="es-ES_tradn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54E29EE8-9B66-4267-9029-90E931CD7A2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s-ES_tradnl"/>
              <a:t>Fuente: Análisis Talent Advisor</a:t>
            </a:r>
          </a:p>
        </p:txBody>
      </p:sp>
      <p:sp>
        <p:nvSpPr>
          <p:cNvPr id="110" name="Marcador de texto 109">
            <a:extLst>
              <a:ext uri="{FF2B5EF4-FFF2-40B4-BE49-F238E27FC236}">
                <a16:creationId xmlns:a16="http://schemas.microsoft.com/office/drawing/2014/main" id="{3CA119E5-457B-4E0B-BCFF-35C3FA47275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conjunto de atributos de una persona se puede clasificar en competencias técnicas y comportamentales – las segundas son más difícil de evidenciar y desarrollar</a:t>
            </a:r>
            <a:endParaRPr lang="es-CO"/>
          </a:p>
        </p:txBody>
      </p:sp>
      <p:sp>
        <p:nvSpPr>
          <p:cNvPr id="106" name="Rectángulo 105">
            <a:extLst>
              <a:ext uri="{FF2B5EF4-FFF2-40B4-BE49-F238E27FC236}">
                <a16:creationId xmlns:a16="http://schemas.microsoft.com/office/drawing/2014/main" id="{5F868317-F0E1-44DE-AB15-EB83331B6B55}"/>
              </a:ext>
            </a:extLst>
          </p:cNvPr>
          <p:cNvSpPr/>
          <p:nvPr/>
        </p:nvSpPr>
        <p:spPr>
          <a:xfrm>
            <a:off x="2237509" y="1731565"/>
            <a:ext cx="7716982" cy="1743373"/>
          </a:xfrm>
          <a:prstGeom prst="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8" name="Rectángulo 107">
            <a:extLst>
              <a:ext uri="{FF2B5EF4-FFF2-40B4-BE49-F238E27FC236}">
                <a16:creationId xmlns:a16="http://schemas.microsoft.com/office/drawing/2014/main" id="{C71F61AB-D680-472D-A7E1-89B5CA852394}"/>
              </a:ext>
            </a:extLst>
          </p:cNvPr>
          <p:cNvSpPr/>
          <p:nvPr/>
        </p:nvSpPr>
        <p:spPr>
          <a:xfrm>
            <a:off x="2237509" y="3463048"/>
            <a:ext cx="7716982" cy="2617296"/>
          </a:xfrm>
          <a:prstGeom prst="rect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:a16="http://schemas.microsoft.com/office/drawing/2014/main" id="{9E5F8385-5729-43DE-B643-F7AF32BDD4DE}"/>
              </a:ext>
            </a:extLst>
          </p:cNvPr>
          <p:cNvGrpSpPr/>
          <p:nvPr/>
        </p:nvGrpSpPr>
        <p:grpSpPr>
          <a:xfrm>
            <a:off x="3148512" y="1873222"/>
            <a:ext cx="3174978" cy="779974"/>
            <a:chOff x="2867660" y="2001838"/>
            <a:chExt cx="2705100" cy="844549"/>
          </a:xfrm>
        </p:grpSpPr>
        <p:sp>
          <p:nvSpPr>
            <p:cNvPr id="13" name="Freeform 50">
              <a:extLst>
                <a:ext uri="{FF2B5EF4-FFF2-40B4-BE49-F238E27FC236}">
                  <a16:creationId xmlns:a16="http://schemas.microsoft.com/office/drawing/2014/main" id="{CB3ED79E-90FF-48C6-8711-2D8D1A90F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660" y="2079625"/>
              <a:ext cx="2701925" cy="766762"/>
            </a:xfrm>
            <a:custGeom>
              <a:avLst/>
              <a:gdLst>
                <a:gd name="T0" fmla="*/ 1917 w 1978"/>
                <a:gd name="T1" fmla="*/ 507 h 562"/>
                <a:gd name="T2" fmla="*/ 986 w 1978"/>
                <a:gd name="T3" fmla="*/ 562 h 562"/>
                <a:gd name="T4" fmla="*/ 60 w 1978"/>
                <a:gd name="T5" fmla="*/ 507 h 562"/>
                <a:gd name="T6" fmla="*/ 0 w 1978"/>
                <a:gd name="T7" fmla="*/ 0 h 562"/>
                <a:gd name="T8" fmla="*/ 989 w 1978"/>
                <a:gd name="T9" fmla="*/ 55 h 562"/>
                <a:gd name="T10" fmla="*/ 1978 w 1978"/>
                <a:gd name="T11" fmla="*/ 0 h 562"/>
                <a:gd name="T12" fmla="*/ 1917 w 1978"/>
                <a:gd name="T13" fmla="*/ 50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8" h="562">
                  <a:moveTo>
                    <a:pt x="1917" y="507"/>
                  </a:moveTo>
                  <a:cubicBezTo>
                    <a:pt x="1917" y="507"/>
                    <a:pt x="1391" y="562"/>
                    <a:pt x="986" y="562"/>
                  </a:cubicBezTo>
                  <a:cubicBezTo>
                    <a:pt x="624" y="562"/>
                    <a:pt x="60" y="507"/>
                    <a:pt x="60" y="50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41" y="55"/>
                    <a:pt x="989" y="55"/>
                  </a:cubicBezTo>
                  <a:cubicBezTo>
                    <a:pt x="1371" y="55"/>
                    <a:pt x="1978" y="0"/>
                    <a:pt x="1978" y="0"/>
                  </a:cubicBezTo>
                  <a:cubicBezTo>
                    <a:pt x="1917" y="507"/>
                    <a:pt x="1917" y="507"/>
                    <a:pt x="1917" y="50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3599">
                <a:latin typeface="+mj-lt"/>
              </a:endParaRPr>
            </a:p>
          </p:txBody>
        </p:sp>
        <p:sp>
          <p:nvSpPr>
            <p:cNvPr id="14" name="Freeform 51">
              <a:extLst>
                <a:ext uri="{FF2B5EF4-FFF2-40B4-BE49-F238E27FC236}">
                  <a16:creationId xmlns:a16="http://schemas.microsoft.com/office/drawing/2014/main" id="{E03BFEE4-CB8D-44F5-8069-ABC90E78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835" y="2001838"/>
              <a:ext cx="2701925" cy="179387"/>
            </a:xfrm>
            <a:custGeom>
              <a:avLst/>
              <a:gdLst>
                <a:gd name="T0" fmla="*/ 1978 w 1978"/>
                <a:gd name="T1" fmla="*/ 66 h 131"/>
                <a:gd name="T2" fmla="*/ 989 w 1978"/>
                <a:gd name="T3" fmla="*/ 131 h 131"/>
                <a:gd name="T4" fmla="*/ 0 w 1978"/>
                <a:gd name="T5" fmla="*/ 55 h 131"/>
                <a:gd name="T6" fmla="*/ 989 w 1978"/>
                <a:gd name="T7" fmla="*/ 0 h 131"/>
                <a:gd name="T8" fmla="*/ 1978 w 1978"/>
                <a:gd name="T9" fmla="*/ 6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8" h="131">
                  <a:moveTo>
                    <a:pt x="1978" y="66"/>
                  </a:moveTo>
                  <a:cubicBezTo>
                    <a:pt x="1978" y="96"/>
                    <a:pt x="1541" y="131"/>
                    <a:pt x="989" y="131"/>
                  </a:cubicBezTo>
                  <a:cubicBezTo>
                    <a:pt x="437" y="131"/>
                    <a:pt x="0" y="85"/>
                    <a:pt x="0" y="55"/>
                  </a:cubicBezTo>
                  <a:cubicBezTo>
                    <a:pt x="0" y="25"/>
                    <a:pt x="437" y="0"/>
                    <a:pt x="989" y="0"/>
                  </a:cubicBezTo>
                  <a:cubicBezTo>
                    <a:pt x="1541" y="0"/>
                    <a:pt x="1978" y="36"/>
                    <a:pt x="1978" y="6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3599">
                <a:latin typeface="+mj-lt"/>
              </a:endParaRPr>
            </a:p>
          </p:txBody>
        </p:sp>
      </p:grpSp>
      <p:grpSp>
        <p:nvGrpSpPr>
          <p:cNvPr id="15" name="Group 6">
            <a:extLst>
              <a:ext uri="{FF2B5EF4-FFF2-40B4-BE49-F238E27FC236}">
                <a16:creationId xmlns:a16="http://schemas.microsoft.com/office/drawing/2014/main" id="{CBB0022D-DB4A-4297-8E60-F3E8B5894220}"/>
              </a:ext>
            </a:extLst>
          </p:cNvPr>
          <p:cNvGrpSpPr/>
          <p:nvPr/>
        </p:nvGrpSpPr>
        <p:grpSpPr>
          <a:xfrm>
            <a:off x="3360923" y="2749296"/>
            <a:ext cx="2750157" cy="675881"/>
            <a:chOff x="3048635" y="2992438"/>
            <a:chExt cx="2343150" cy="731837"/>
          </a:xfrm>
        </p:grpSpPr>
        <p:sp>
          <p:nvSpPr>
            <p:cNvPr id="16" name="Freeform 54">
              <a:extLst>
                <a:ext uri="{FF2B5EF4-FFF2-40B4-BE49-F238E27FC236}">
                  <a16:creationId xmlns:a16="http://schemas.microsoft.com/office/drawing/2014/main" id="{9CB2D4F5-FD12-4689-B0D2-08DD5E13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635" y="3059113"/>
              <a:ext cx="2339975" cy="665162"/>
            </a:xfrm>
            <a:custGeom>
              <a:avLst/>
              <a:gdLst>
                <a:gd name="T0" fmla="*/ 1661 w 1714"/>
                <a:gd name="T1" fmla="*/ 439 h 487"/>
                <a:gd name="T2" fmla="*/ 854 w 1714"/>
                <a:gd name="T3" fmla="*/ 487 h 487"/>
                <a:gd name="T4" fmla="*/ 53 w 1714"/>
                <a:gd name="T5" fmla="*/ 439 h 487"/>
                <a:gd name="T6" fmla="*/ 0 w 1714"/>
                <a:gd name="T7" fmla="*/ 0 h 487"/>
                <a:gd name="T8" fmla="*/ 857 w 1714"/>
                <a:gd name="T9" fmla="*/ 48 h 487"/>
                <a:gd name="T10" fmla="*/ 1714 w 1714"/>
                <a:gd name="T11" fmla="*/ 0 h 487"/>
                <a:gd name="T12" fmla="*/ 1661 w 1714"/>
                <a:gd name="T13" fmla="*/ 43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4" h="487">
                  <a:moveTo>
                    <a:pt x="1661" y="439"/>
                  </a:moveTo>
                  <a:cubicBezTo>
                    <a:pt x="1661" y="439"/>
                    <a:pt x="1205" y="487"/>
                    <a:pt x="854" y="487"/>
                  </a:cubicBezTo>
                  <a:cubicBezTo>
                    <a:pt x="541" y="487"/>
                    <a:pt x="53" y="439"/>
                    <a:pt x="53" y="4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56" y="48"/>
                    <a:pt x="857" y="48"/>
                  </a:cubicBezTo>
                  <a:cubicBezTo>
                    <a:pt x="1188" y="48"/>
                    <a:pt x="1714" y="0"/>
                    <a:pt x="1714" y="0"/>
                  </a:cubicBezTo>
                  <a:cubicBezTo>
                    <a:pt x="1661" y="439"/>
                    <a:pt x="1661" y="439"/>
                    <a:pt x="1661" y="43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  <p:sp>
          <p:nvSpPr>
            <p:cNvPr id="17" name="Freeform 55">
              <a:extLst>
                <a:ext uri="{FF2B5EF4-FFF2-40B4-BE49-F238E27FC236}">
                  <a16:creationId xmlns:a16="http://schemas.microsoft.com/office/drawing/2014/main" id="{2A013220-A065-4803-B24A-9319C453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810" y="2992438"/>
              <a:ext cx="2339975" cy="153987"/>
            </a:xfrm>
            <a:custGeom>
              <a:avLst/>
              <a:gdLst>
                <a:gd name="T0" fmla="*/ 1714 w 1714"/>
                <a:gd name="T1" fmla="*/ 56 h 113"/>
                <a:gd name="T2" fmla="*/ 857 w 1714"/>
                <a:gd name="T3" fmla="*/ 113 h 113"/>
                <a:gd name="T4" fmla="*/ 0 w 1714"/>
                <a:gd name="T5" fmla="*/ 47 h 113"/>
                <a:gd name="T6" fmla="*/ 857 w 1714"/>
                <a:gd name="T7" fmla="*/ 0 h 113"/>
                <a:gd name="T8" fmla="*/ 1714 w 1714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4" h="113">
                  <a:moveTo>
                    <a:pt x="1714" y="56"/>
                  </a:moveTo>
                  <a:cubicBezTo>
                    <a:pt x="1714" y="82"/>
                    <a:pt x="1335" y="113"/>
                    <a:pt x="857" y="113"/>
                  </a:cubicBezTo>
                  <a:cubicBezTo>
                    <a:pt x="378" y="113"/>
                    <a:pt x="0" y="73"/>
                    <a:pt x="0" y="47"/>
                  </a:cubicBezTo>
                  <a:cubicBezTo>
                    <a:pt x="0" y="21"/>
                    <a:pt x="378" y="0"/>
                    <a:pt x="857" y="0"/>
                  </a:cubicBezTo>
                  <a:cubicBezTo>
                    <a:pt x="1335" y="0"/>
                    <a:pt x="1714" y="30"/>
                    <a:pt x="1714" y="5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</p:grpSp>
      <p:grpSp>
        <p:nvGrpSpPr>
          <p:cNvPr id="18" name="Group 9">
            <a:extLst>
              <a:ext uri="{FF2B5EF4-FFF2-40B4-BE49-F238E27FC236}">
                <a16:creationId xmlns:a16="http://schemas.microsoft.com/office/drawing/2014/main" id="{C0A9697E-8C93-40E3-A340-D994A1F5839F}"/>
              </a:ext>
            </a:extLst>
          </p:cNvPr>
          <p:cNvGrpSpPr/>
          <p:nvPr/>
        </p:nvGrpSpPr>
        <p:grpSpPr>
          <a:xfrm>
            <a:off x="3543521" y="3560978"/>
            <a:ext cx="2384960" cy="582049"/>
            <a:chOff x="3204210" y="3960813"/>
            <a:chExt cx="2032000" cy="630237"/>
          </a:xfrm>
          <a:solidFill>
            <a:schemeClr val="tx2"/>
          </a:solidFill>
        </p:grpSpPr>
        <p:sp>
          <p:nvSpPr>
            <p:cNvPr id="19" name="Freeform 58">
              <a:extLst>
                <a:ext uri="{FF2B5EF4-FFF2-40B4-BE49-F238E27FC236}">
                  <a16:creationId xmlns:a16="http://schemas.microsoft.com/office/drawing/2014/main" id="{112100EB-6CF5-4C3E-ACCB-7292FDF8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210" y="4016375"/>
              <a:ext cx="2027238" cy="574675"/>
            </a:xfrm>
            <a:custGeom>
              <a:avLst/>
              <a:gdLst>
                <a:gd name="T0" fmla="*/ 1439 w 1485"/>
                <a:gd name="T1" fmla="*/ 380 h 421"/>
                <a:gd name="T2" fmla="*/ 740 w 1485"/>
                <a:gd name="T3" fmla="*/ 421 h 421"/>
                <a:gd name="T4" fmla="*/ 45 w 1485"/>
                <a:gd name="T5" fmla="*/ 380 h 421"/>
                <a:gd name="T6" fmla="*/ 0 w 1485"/>
                <a:gd name="T7" fmla="*/ 0 h 421"/>
                <a:gd name="T8" fmla="*/ 742 w 1485"/>
                <a:gd name="T9" fmla="*/ 41 h 421"/>
                <a:gd name="T10" fmla="*/ 1485 w 1485"/>
                <a:gd name="T11" fmla="*/ 0 h 421"/>
                <a:gd name="T12" fmla="*/ 1439 w 1485"/>
                <a:gd name="T13" fmla="*/ 38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5" h="421">
                  <a:moveTo>
                    <a:pt x="1439" y="380"/>
                  </a:moveTo>
                  <a:cubicBezTo>
                    <a:pt x="1439" y="380"/>
                    <a:pt x="1044" y="421"/>
                    <a:pt x="740" y="421"/>
                  </a:cubicBezTo>
                  <a:cubicBezTo>
                    <a:pt x="469" y="421"/>
                    <a:pt x="45" y="380"/>
                    <a:pt x="45" y="3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81" y="41"/>
                    <a:pt x="742" y="41"/>
                  </a:cubicBezTo>
                  <a:cubicBezTo>
                    <a:pt x="1029" y="41"/>
                    <a:pt x="1485" y="0"/>
                    <a:pt x="1485" y="0"/>
                  </a:cubicBezTo>
                  <a:cubicBezTo>
                    <a:pt x="1439" y="380"/>
                    <a:pt x="1439" y="380"/>
                    <a:pt x="1439" y="38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  <p:sp>
          <p:nvSpPr>
            <p:cNvPr id="20" name="Freeform 59">
              <a:extLst>
                <a:ext uri="{FF2B5EF4-FFF2-40B4-BE49-F238E27FC236}">
                  <a16:creationId xmlns:a16="http://schemas.microsoft.com/office/drawing/2014/main" id="{4BD55511-9B10-4378-AC83-23526C3A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210" y="3960813"/>
              <a:ext cx="2032000" cy="117475"/>
            </a:xfrm>
            <a:custGeom>
              <a:avLst/>
              <a:gdLst>
                <a:gd name="T0" fmla="*/ 1488 w 1488"/>
                <a:gd name="T1" fmla="*/ 43 h 85"/>
                <a:gd name="T2" fmla="*/ 745 w 1488"/>
                <a:gd name="T3" fmla="*/ 85 h 85"/>
                <a:gd name="T4" fmla="*/ 0 w 1488"/>
                <a:gd name="T5" fmla="*/ 39 h 85"/>
                <a:gd name="T6" fmla="*/ 745 w 1488"/>
                <a:gd name="T7" fmla="*/ 0 h 85"/>
                <a:gd name="T8" fmla="*/ 1488 w 1488"/>
                <a:gd name="T9" fmla="*/ 4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8" h="85">
                  <a:moveTo>
                    <a:pt x="1488" y="43"/>
                  </a:moveTo>
                  <a:cubicBezTo>
                    <a:pt x="1488" y="62"/>
                    <a:pt x="1160" y="85"/>
                    <a:pt x="745" y="85"/>
                  </a:cubicBezTo>
                  <a:cubicBezTo>
                    <a:pt x="329" y="85"/>
                    <a:pt x="0" y="59"/>
                    <a:pt x="0" y="39"/>
                  </a:cubicBezTo>
                  <a:cubicBezTo>
                    <a:pt x="0" y="20"/>
                    <a:pt x="329" y="0"/>
                    <a:pt x="745" y="0"/>
                  </a:cubicBezTo>
                  <a:cubicBezTo>
                    <a:pt x="1160" y="0"/>
                    <a:pt x="1488" y="23"/>
                    <a:pt x="1488" y="4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</p:grpSp>
      <p:grpSp>
        <p:nvGrpSpPr>
          <p:cNvPr id="21" name="Group 12">
            <a:extLst>
              <a:ext uri="{FF2B5EF4-FFF2-40B4-BE49-F238E27FC236}">
                <a16:creationId xmlns:a16="http://schemas.microsoft.com/office/drawing/2014/main" id="{DE967842-F6CC-4EAE-AA3B-BAEC0C50DFF5}"/>
              </a:ext>
            </a:extLst>
          </p:cNvPr>
          <p:cNvGrpSpPr/>
          <p:nvPr/>
        </p:nvGrpSpPr>
        <p:grpSpPr>
          <a:xfrm>
            <a:off x="3703761" y="4295099"/>
            <a:ext cx="2064481" cy="495279"/>
            <a:chOff x="3340735" y="4866353"/>
            <a:chExt cx="1758950" cy="536284"/>
          </a:xfrm>
          <a:solidFill>
            <a:schemeClr val="bg2">
              <a:lumMod val="75000"/>
            </a:schemeClr>
          </a:solidFill>
        </p:grpSpPr>
        <p:sp>
          <p:nvSpPr>
            <p:cNvPr id="22" name="Freeform 62">
              <a:extLst>
                <a:ext uri="{FF2B5EF4-FFF2-40B4-BE49-F238E27FC236}">
                  <a16:creationId xmlns:a16="http://schemas.microsoft.com/office/drawing/2014/main" id="{CCAE378A-36AA-4A96-9D20-CEC0A4D3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910" y="4904162"/>
              <a:ext cx="1755775" cy="498475"/>
            </a:xfrm>
            <a:custGeom>
              <a:avLst/>
              <a:gdLst>
                <a:gd name="T0" fmla="*/ 1247 w 1286"/>
                <a:gd name="T1" fmla="*/ 330 h 365"/>
                <a:gd name="T2" fmla="*/ 641 w 1286"/>
                <a:gd name="T3" fmla="*/ 365 h 365"/>
                <a:gd name="T4" fmla="*/ 39 w 1286"/>
                <a:gd name="T5" fmla="*/ 330 h 365"/>
                <a:gd name="T6" fmla="*/ 0 w 1286"/>
                <a:gd name="T7" fmla="*/ 0 h 365"/>
                <a:gd name="T8" fmla="*/ 643 w 1286"/>
                <a:gd name="T9" fmla="*/ 36 h 365"/>
                <a:gd name="T10" fmla="*/ 1286 w 1286"/>
                <a:gd name="T11" fmla="*/ 0 h 365"/>
                <a:gd name="T12" fmla="*/ 1247 w 1286"/>
                <a:gd name="T13" fmla="*/ 33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6" h="365">
                  <a:moveTo>
                    <a:pt x="1247" y="330"/>
                  </a:moveTo>
                  <a:cubicBezTo>
                    <a:pt x="1247" y="330"/>
                    <a:pt x="905" y="365"/>
                    <a:pt x="641" y="365"/>
                  </a:cubicBezTo>
                  <a:cubicBezTo>
                    <a:pt x="406" y="365"/>
                    <a:pt x="39" y="330"/>
                    <a:pt x="39" y="33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17" y="36"/>
                    <a:pt x="643" y="36"/>
                  </a:cubicBezTo>
                  <a:cubicBezTo>
                    <a:pt x="891" y="36"/>
                    <a:pt x="1286" y="0"/>
                    <a:pt x="1286" y="0"/>
                  </a:cubicBezTo>
                  <a:cubicBezTo>
                    <a:pt x="1247" y="330"/>
                    <a:pt x="1247" y="330"/>
                    <a:pt x="1247" y="33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  <p:sp>
          <p:nvSpPr>
            <p:cNvPr id="23" name="Freeform 63">
              <a:extLst>
                <a:ext uri="{FF2B5EF4-FFF2-40B4-BE49-F238E27FC236}">
                  <a16:creationId xmlns:a16="http://schemas.microsoft.com/office/drawing/2014/main" id="{2265DA74-3D5E-45DF-9D4F-6BDAF81B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735" y="4866353"/>
              <a:ext cx="1758950" cy="100012"/>
            </a:xfrm>
            <a:custGeom>
              <a:avLst/>
              <a:gdLst>
                <a:gd name="T0" fmla="*/ 1288 w 1288"/>
                <a:gd name="T1" fmla="*/ 27 h 74"/>
                <a:gd name="T2" fmla="*/ 642 w 1288"/>
                <a:gd name="T3" fmla="*/ 74 h 74"/>
                <a:gd name="T4" fmla="*/ 0 w 1288"/>
                <a:gd name="T5" fmla="*/ 31 h 74"/>
                <a:gd name="T6" fmla="*/ 642 w 1288"/>
                <a:gd name="T7" fmla="*/ 0 h 74"/>
                <a:gd name="T8" fmla="*/ 1288 w 1288"/>
                <a:gd name="T9" fmla="*/ 2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8" h="74">
                  <a:moveTo>
                    <a:pt x="1288" y="27"/>
                  </a:moveTo>
                  <a:cubicBezTo>
                    <a:pt x="1288" y="44"/>
                    <a:pt x="1002" y="74"/>
                    <a:pt x="642" y="74"/>
                  </a:cubicBezTo>
                  <a:cubicBezTo>
                    <a:pt x="283" y="74"/>
                    <a:pt x="0" y="48"/>
                    <a:pt x="0" y="31"/>
                  </a:cubicBezTo>
                  <a:cubicBezTo>
                    <a:pt x="0" y="14"/>
                    <a:pt x="283" y="0"/>
                    <a:pt x="642" y="0"/>
                  </a:cubicBezTo>
                  <a:cubicBezTo>
                    <a:pt x="1002" y="0"/>
                    <a:pt x="1288" y="10"/>
                    <a:pt x="1288" y="27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</p:grpSp>
      <p:grpSp>
        <p:nvGrpSpPr>
          <p:cNvPr id="24" name="Group 15">
            <a:extLst>
              <a:ext uri="{FF2B5EF4-FFF2-40B4-BE49-F238E27FC236}">
                <a16:creationId xmlns:a16="http://schemas.microsoft.com/office/drawing/2014/main" id="{54942A9B-7D94-425B-A4CD-8F04BE1DCA72}"/>
              </a:ext>
            </a:extLst>
          </p:cNvPr>
          <p:cNvGrpSpPr/>
          <p:nvPr/>
        </p:nvGrpSpPr>
        <p:grpSpPr>
          <a:xfrm>
            <a:off x="4046219" y="5507818"/>
            <a:ext cx="1494857" cy="365125"/>
            <a:chOff x="3458210" y="5735638"/>
            <a:chExt cx="1524001" cy="473074"/>
          </a:xfrm>
          <a:solidFill>
            <a:schemeClr val="bg2"/>
          </a:solidFill>
        </p:grpSpPr>
        <p:sp>
          <p:nvSpPr>
            <p:cNvPr id="25" name="Freeform 66">
              <a:extLst>
                <a:ext uri="{FF2B5EF4-FFF2-40B4-BE49-F238E27FC236}">
                  <a16:creationId xmlns:a16="http://schemas.microsoft.com/office/drawing/2014/main" id="{D7D0F7F6-7B51-4E46-980C-FFC33232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798" y="5772150"/>
              <a:ext cx="1522413" cy="436562"/>
            </a:xfrm>
            <a:custGeom>
              <a:avLst/>
              <a:gdLst>
                <a:gd name="T0" fmla="*/ 1081 w 1115"/>
                <a:gd name="T1" fmla="*/ 289 h 320"/>
                <a:gd name="T2" fmla="*/ 556 w 1115"/>
                <a:gd name="T3" fmla="*/ 320 h 320"/>
                <a:gd name="T4" fmla="*/ 34 w 1115"/>
                <a:gd name="T5" fmla="*/ 289 h 320"/>
                <a:gd name="T6" fmla="*/ 0 w 1115"/>
                <a:gd name="T7" fmla="*/ 0 h 320"/>
                <a:gd name="T8" fmla="*/ 558 w 1115"/>
                <a:gd name="T9" fmla="*/ 35 h 320"/>
                <a:gd name="T10" fmla="*/ 1115 w 1115"/>
                <a:gd name="T11" fmla="*/ 4 h 320"/>
                <a:gd name="T12" fmla="*/ 1081 w 1115"/>
                <a:gd name="T13" fmla="*/ 289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5" h="320">
                  <a:moveTo>
                    <a:pt x="1081" y="289"/>
                  </a:moveTo>
                  <a:cubicBezTo>
                    <a:pt x="1081" y="289"/>
                    <a:pt x="784" y="320"/>
                    <a:pt x="556" y="320"/>
                  </a:cubicBezTo>
                  <a:cubicBezTo>
                    <a:pt x="352" y="320"/>
                    <a:pt x="34" y="289"/>
                    <a:pt x="34" y="2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2" y="35"/>
                    <a:pt x="558" y="35"/>
                  </a:cubicBezTo>
                  <a:cubicBezTo>
                    <a:pt x="773" y="35"/>
                    <a:pt x="1115" y="4"/>
                    <a:pt x="1115" y="4"/>
                  </a:cubicBezTo>
                  <a:cubicBezTo>
                    <a:pt x="1081" y="289"/>
                    <a:pt x="1081" y="289"/>
                    <a:pt x="1081" y="289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  <p:sp>
          <p:nvSpPr>
            <p:cNvPr id="26" name="Freeform 67">
              <a:extLst>
                <a:ext uri="{FF2B5EF4-FFF2-40B4-BE49-F238E27FC236}">
                  <a16:creationId xmlns:a16="http://schemas.microsoft.com/office/drawing/2014/main" id="{9426CA6E-CEDA-4AEF-BAB3-E4F6DE065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210" y="5735638"/>
              <a:ext cx="1524000" cy="87312"/>
            </a:xfrm>
            <a:custGeom>
              <a:avLst/>
              <a:gdLst>
                <a:gd name="T0" fmla="*/ 1116 w 1116"/>
                <a:gd name="T1" fmla="*/ 32 h 64"/>
                <a:gd name="T2" fmla="*/ 558 w 1116"/>
                <a:gd name="T3" fmla="*/ 64 h 64"/>
                <a:gd name="T4" fmla="*/ 0 w 1116"/>
                <a:gd name="T5" fmla="*/ 26 h 64"/>
                <a:gd name="T6" fmla="*/ 558 w 1116"/>
                <a:gd name="T7" fmla="*/ 0 h 64"/>
                <a:gd name="T8" fmla="*/ 1116 w 1116"/>
                <a:gd name="T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6" h="64">
                  <a:moveTo>
                    <a:pt x="1116" y="32"/>
                  </a:moveTo>
                  <a:cubicBezTo>
                    <a:pt x="1116" y="46"/>
                    <a:pt x="870" y="64"/>
                    <a:pt x="558" y="64"/>
                  </a:cubicBezTo>
                  <a:cubicBezTo>
                    <a:pt x="246" y="64"/>
                    <a:pt x="0" y="41"/>
                    <a:pt x="0" y="26"/>
                  </a:cubicBezTo>
                  <a:cubicBezTo>
                    <a:pt x="0" y="12"/>
                    <a:pt x="246" y="0"/>
                    <a:pt x="558" y="0"/>
                  </a:cubicBezTo>
                  <a:cubicBezTo>
                    <a:pt x="870" y="0"/>
                    <a:pt x="1116" y="17"/>
                    <a:pt x="1116" y="32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s-CO" sz="1200">
                <a:latin typeface="+mj-lt"/>
              </a:endParaRPr>
            </a:p>
          </p:txBody>
        </p:sp>
      </p:grpSp>
      <p:cxnSp>
        <p:nvCxnSpPr>
          <p:cNvPr id="40" name="Straight Arrow Connector 49">
            <a:extLst>
              <a:ext uri="{FF2B5EF4-FFF2-40B4-BE49-F238E27FC236}">
                <a16:creationId xmlns:a16="http://schemas.microsoft.com/office/drawing/2014/main" id="{2114A8C4-626F-476C-AAC2-EF18393ED07E}"/>
              </a:ext>
            </a:extLst>
          </p:cNvPr>
          <p:cNvCxnSpPr>
            <a:cxnSpLocks/>
          </p:cNvCxnSpPr>
          <p:nvPr/>
        </p:nvCxnSpPr>
        <p:spPr>
          <a:xfrm>
            <a:off x="5629482" y="2262719"/>
            <a:ext cx="921433" cy="0"/>
          </a:xfrm>
          <a:prstGeom prst="straightConnector1">
            <a:avLst/>
          </a:prstGeom>
          <a:ln w="3810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Arrow Connector 51">
            <a:extLst>
              <a:ext uri="{FF2B5EF4-FFF2-40B4-BE49-F238E27FC236}">
                <a16:creationId xmlns:a16="http://schemas.microsoft.com/office/drawing/2014/main" id="{9A863859-A4FB-40DC-9F34-660FBE4D8554}"/>
              </a:ext>
            </a:extLst>
          </p:cNvPr>
          <p:cNvCxnSpPr>
            <a:cxnSpLocks/>
          </p:cNvCxnSpPr>
          <p:nvPr/>
        </p:nvCxnSpPr>
        <p:spPr>
          <a:xfrm>
            <a:off x="5499719" y="3083387"/>
            <a:ext cx="1051196" cy="0"/>
          </a:xfrm>
          <a:prstGeom prst="straightConnector1">
            <a:avLst/>
          </a:prstGeom>
          <a:ln w="381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53">
            <a:extLst>
              <a:ext uri="{FF2B5EF4-FFF2-40B4-BE49-F238E27FC236}">
                <a16:creationId xmlns:a16="http://schemas.microsoft.com/office/drawing/2014/main" id="{6420369D-68A8-4C1F-B957-8922E0B8EEF1}"/>
              </a:ext>
            </a:extLst>
          </p:cNvPr>
          <p:cNvCxnSpPr>
            <a:cxnSpLocks/>
          </p:cNvCxnSpPr>
          <p:nvPr/>
        </p:nvCxnSpPr>
        <p:spPr>
          <a:xfrm flipV="1">
            <a:off x="5388508" y="3860341"/>
            <a:ext cx="1162407" cy="22141"/>
          </a:xfrm>
          <a:prstGeom prst="straightConnector1">
            <a:avLst/>
          </a:prstGeom>
          <a:ln w="38100">
            <a:solidFill>
              <a:schemeClr val="tx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55">
            <a:extLst>
              <a:ext uri="{FF2B5EF4-FFF2-40B4-BE49-F238E27FC236}">
                <a16:creationId xmlns:a16="http://schemas.microsoft.com/office/drawing/2014/main" id="{B0E69217-367D-439C-852F-42F3E03EE73B}"/>
              </a:ext>
            </a:extLst>
          </p:cNvPr>
          <p:cNvCxnSpPr>
            <a:cxnSpLocks/>
          </p:cNvCxnSpPr>
          <p:nvPr/>
        </p:nvCxnSpPr>
        <p:spPr>
          <a:xfrm>
            <a:off x="5215512" y="4571120"/>
            <a:ext cx="1335403" cy="0"/>
          </a:xfrm>
          <a:prstGeom prst="straightConnector1">
            <a:avLst/>
          </a:prstGeom>
          <a:ln w="38100">
            <a:solidFill>
              <a:schemeClr val="bg2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57">
            <a:extLst>
              <a:ext uri="{FF2B5EF4-FFF2-40B4-BE49-F238E27FC236}">
                <a16:creationId xmlns:a16="http://schemas.microsoft.com/office/drawing/2014/main" id="{1CFAC3A8-1882-4F48-BE49-E8D12B0E3A4E}"/>
              </a:ext>
            </a:extLst>
          </p:cNvPr>
          <p:cNvCxnSpPr>
            <a:cxnSpLocks/>
          </p:cNvCxnSpPr>
          <p:nvPr/>
        </p:nvCxnSpPr>
        <p:spPr>
          <a:xfrm flipV="1">
            <a:off x="5098124" y="5138916"/>
            <a:ext cx="1452791" cy="9217"/>
          </a:xfrm>
          <a:prstGeom prst="straightConnector1">
            <a:avLst/>
          </a:prstGeom>
          <a:ln w="38100">
            <a:solidFill>
              <a:schemeClr val="bg2">
                <a:lumMod val="9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Subtitle 2">
            <a:extLst>
              <a:ext uri="{FF2B5EF4-FFF2-40B4-BE49-F238E27FC236}">
                <a16:creationId xmlns:a16="http://schemas.microsoft.com/office/drawing/2014/main" id="{40E75A09-A28E-4DC2-A68E-259CFE49B439}"/>
              </a:ext>
            </a:extLst>
          </p:cNvPr>
          <p:cNvSpPr txBox="1">
            <a:spLocks/>
          </p:cNvSpPr>
          <p:nvPr/>
        </p:nvSpPr>
        <p:spPr>
          <a:xfrm>
            <a:off x="3725800" y="2138105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bg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Conocimientos</a:t>
            </a:r>
          </a:p>
        </p:txBody>
      </p:sp>
      <p:sp>
        <p:nvSpPr>
          <p:cNvPr id="58" name="Freeform 62">
            <a:extLst>
              <a:ext uri="{FF2B5EF4-FFF2-40B4-BE49-F238E27FC236}">
                <a16:creationId xmlns:a16="http://schemas.microsoft.com/office/drawing/2014/main" id="{4D959261-363A-4304-9A69-577F24D5E6CF}"/>
              </a:ext>
            </a:extLst>
          </p:cNvPr>
          <p:cNvSpPr>
            <a:spLocks/>
          </p:cNvSpPr>
          <p:nvPr/>
        </p:nvSpPr>
        <p:spPr bwMode="auto">
          <a:xfrm>
            <a:off x="3844944" y="4963561"/>
            <a:ext cx="1826232" cy="407970"/>
          </a:xfrm>
          <a:custGeom>
            <a:avLst/>
            <a:gdLst>
              <a:gd name="T0" fmla="*/ 1247 w 1286"/>
              <a:gd name="T1" fmla="*/ 330 h 365"/>
              <a:gd name="T2" fmla="*/ 641 w 1286"/>
              <a:gd name="T3" fmla="*/ 365 h 365"/>
              <a:gd name="T4" fmla="*/ 39 w 1286"/>
              <a:gd name="T5" fmla="*/ 330 h 365"/>
              <a:gd name="T6" fmla="*/ 0 w 1286"/>
              <a:gd name="T7" fmla="*/ 0 h 365"/>
              <a:gd name="T8" fmla="*/ 643 w 1286"/>
              <a:gd name="T9" fmla="*/ 36 h 365"/>
              <a:gd name="T10" fmla="*/ 1286 w 1286"/>
              <a:gd name="T11" fmla="*/ 0 h 365"/>
              <a:gd name="T12" fmla="*/ 1247 w 1286"/>
              <a:gd name="T13" fmla="*/ 330 h 3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6" h="365">
                <a:moveTo>
                  <a:pt x="1247" y="330"/>
                </a:moveTo>
                <a:cubicBezTo>
                  <a:pt x="1247" y="330"/>
                  <a:pt x="905" y="365"/>
                  <a:pt x="641" y="365"/>
                </a:cubicBezTo>
                <a:cubicBezTo>
                  <a:pt x="406" y="365"/>
                  <a:pt x="39" y="330"/>
                  <a:pt x="39" y="33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417" y="36"/>
                  <a:pt x="643" y="36"/>
                </a:cubicBezTo>
                <a:cubicBezTo>
                  <a:pt x="891" y="36"/>
                  <a:pt x="1286" y="0"/>
                  <a:pt x="1286" y="0"/>
                </a:cubicBezTo>
                <a:cubicBezTo>
                  <a:pt x="1247" y="330"/>
                  <a:pt x="1247" y="330"/>
                  <a:pt x="1247" y="330"/>
                </a:cubicBezTo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s-CO" sz="1200">
              <a:latin typeface="+mj-lt"/>
            </a:endParaRPr>
          </a:p>
        </p:txBody>
      </p:sp>
      <p:sp>
        <p:nvSpPr>
          <p:cNvPr id="59" name="Freeform 63">
            <a:extLst>
              <a:ext uri="{FF2B5EF4-FFF2-40B4-BE49-F238E27FC236}">
                <a16:creationId xmlns:a16="http://schemas.microsoft.com/office/drawing/2014/main" id="{087F890E-B229-40D6-8550-E2E959060439}"/>
              </a:ext>
            </a:extLst>
          </p:cNvPr>
          <p:cNvSpPr>
            <a:spLocks/>
          </p:cNvSpPr>
          <p:nvPr/>
        </p:nvSpPr>
        <p:spPr bwMode="auto">
          <a:xfrm>
            <a:off x="3841642" y="4932617"/>
            <a:ext cx="1829534" cy="81853"/>
          </a:xfrm>
          <a:custGeom>
            <a:avLst/>
            <a:gdLst>
              <a:gd name="T0" fmla="*/ 1288 w 1288"/>
              <a:gd name="T1" fmla="*/ 27 h 74"/>
              <a:gd name="T2" fmla="*/ 642 w 1288"/>
              <a:gd name="T3" fmla="*/ 74 h 74"/>
              <a:gd name="T4" fmla="*/ 0 w 1288"/>
              <a:gd name="T5" fmla="*/ 31 h 74"/>
              <a:gd name="T6" fmla="*/ 642 w 1288"/>
              <a:gd name="T7" fmla="*/ 0 h 74"/>
              <a:gd name="T8" fmla="*/ 1288 w 1288"/>
              <a:gd name="T9" fmla="*/ 27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8" h="74">
                <a:moveTo>
                  <a:pt x="1288" y="27"/>
                </a:moveTo>
                <a:cubicBezTo>
                  <a:pt x="1288" y="44"/>
                  <a:pt x="1002" y="74"/>
                  <a:pt x="642" y="74"/>
                </a:cubicBezTo>
                <a:cubicBezTo>
                  <a:pt x="283" y="74"/>
                  <a:pt x="0" y="48"/>
                  <a:pt x="0" y="31"/>
                </a:cubicBezTo>
                <a:cubicBezTo>
                  <a:pt x="0" y="14"/>
                  <a:pt x="283" y="0"/>
                  <a:pt x="642" y="0"/>
                </a:cubicBezTo>
                <a:cubicBezTo>
                  <a:pt x="1002" y="0"/>
                  <a:pt x="1288" y="10"/>
                  <a:pt x="1288" y="27"/>
                </a:cubicBezTo>
                <a:close/>
              </a:path>
            </a:pathLst>
          </a:custGeom>
          <a:solidFill>
            <a:srgbClr val="B1B1B1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s-CO" sz="1200">
              <a:latin typeface="+mj-lt"/>
            </a:endParaRPr>
          </a:p>
        </p:txBody>
      </p:sp>
      <p:cxnSp>
        <p:nvCxnSpPr>
          <p:cNvPr id="60" name="Straight Arrow Connector 57">
            <a:extLst>
              <a:ext uri="{FF2B5EF4-FFF2-40B4-BE49-F238E27FC236}">
                <a16:creationId xmlns:a16="http://schemas.microsoft.com/office/drawing/2014/main" id="{3BAD7940-9153-4953-A47B-CD2CB548CBD8}"/>
              </a:ext>
            </a:extLst>
          </p:cNvPr>
          <p:cNvCxnSpPr>
            <a:cxnSpLocks/>
          </p:cNvCxnSpPr>
          <p:nvPr/>
        </p:nvCxnSpPr>
        <p:spPr>
          <a:xfrm>
            <a:off x="5098124" y="5686753"/>
            <a:ext cx="1452791" cy="0"/>
          </a:xfrm>
          <a:prstGeom prst="straightConnector1">
            <a:avLst/>
          </a:prstGeom>
          <a:ln w="38100">
            <a:solidFill>
              <a:schemeClr val="tx2">
                <a:lumMod val="20000"/>
                <a:lumOff val="8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Subtitle 2">
            <a:extLst>
              <a:ext uri="{FF2B5EF4-FFF2-40B4-BE49-F238E27FC236}">
                <a16:creationId xmlns:a16="http://schemas.microsoft.com/office/drawing/2014/main" id="{F3D0F15D-D260-48F9-A700-C4BBE4B96416}"/>
              </a:ext>
            </a:extLst>
          </p:cNvPr>
          <p:cNvSpPr txBox="1">
            <a:spLocks/>
          </p:cNvSpPr>
          <p:nvPr/>
        </p:nvSpPr>
        <p:spPr>
          <a:xfrm>
            <a:off x="3725800" y="2964816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bg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Habilidades</a:t>
            </a:r>
          </a:p>
        </p:txBody>
      </p:sp>
      <p:sp>
        <p:nvSpPr>
          <p:cNvPr id="62" name="Subtitle 2">
            <a:extLst>
              <a:ext uri="{FF2B5EF4-FFF2-40B4-BE49-F238E27FC236}">
                <a16:creationId xmlns:a16="http://schemas.microsoft.com/office/drawing/2014/main" id="{C918CB55-ECBB-4F1D-AD09-3F8E3090509E}"/>
              </a:ext>
            </a:extLst>
          </p:cNvPr>
          <p:cNvSpPr txBox="1">
            <a:spLocks/>
          </p:cNvSpPr>
          <p:nvPr/>
        </p:nvSpPr>
        <p:spPr>
          <a:xfrm>
            <a:off x="3725800" y="3714691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bg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Red Social</a:t>
            </a:r>
          </a:p>
        </p:txBody>
      </p:sp>
      <p:sp>
        <p:nvSpPr>
          <p:cNvPr id="63" name="Subtitle 2">
            <a:extLst>
              <a:ext uri="{FF2B5EF4-FFF2-40B4-BE49-F238E27FC236}">
                <a16:creationId xmlns:a16="http://schemas.microsoft.com/office/drawing/2014/main" id="{C625ED9D-B5BF-4DBE-B68B-AC6D5C7FFA8C}"/>
              </a:ext>
            </a:extLst>
          </p:cNvPr>
          <p:cNvSpPr txBox="1">
            <a:spLocks/>
          </p:cNvSpPr>
          <p:nvPr/>
        </p:nvSpPr>
        <p:spPr>
          <a:xfrm>
            <a:off x="3725800" y="4439212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bg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Autoimagen</a:t>
            </a:r>
          </a:p>
        </p:txBody>
      </p:sp>
      <p:sp>
        <p:nvSpPr>
          <p:cNvPr id="64" name="Subtitle 2">
            <a:extLst>
              <a:ext uri="{FF2B5EF4-FFF2-40B4-BE49-F238E27FC236}">
                <a16:creationId xmlns:a16="http://schemas.microsoft.com/office/drawing/2014/main" id="{5E20245D-E371-47E4-BB16-701B67FEE6D7}"/>
              </a:ext>
            </a:extLst>
          </p:cNvPr>
          <p:cNvSpPr txBox="1">
            <a:spLocks/>
          </p:cNvSpPr>
          <p:nvPr/>
        </p:nvSpPr>
        <p:spPr>
          <a:xfrm>
            <a:off x="3725800" y="5014838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tx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Rasgos</a:t>
            </a:r>
          </a:p>
        </p:txBody>
      </p:sp>
      <p:sp>
        <p:nvSpPr>
          <p:cNvPr id="65" name="Subtitle 2">
            <a:extLst>
              <a:ext uri="{FF2B5EF4-FFF2-40B4-BE49-F238E27FC236}">
                <a16:creationId xmlns:a16="http://schemas.microsoft.com/office/drawing/2014/main" id="{CC2973D7-527A-4044-9C4A-CDDB11E31B15}"/>
              </a:ext>
            </a:extLst>
          </p:cNvPr>
          <p:cNvSpPr txBox="1">
            <a:spLocks/>
          </p:cNvSpPr>
          <p:nvPr/>
        </p:nvSpPr>
        <p:spPr>
          <a:xfrm>
            <a:off x="3725800" y="5540008"/>
            <a:ext cx="2094206" cy="314159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650"/>
              </a:lnSpc>
            </a:pPr>
            <a:r>
              <a:rPr lang="es-CO" sz="1400">
                <a:solidFill>
                  <a:schemeClr val="tx1"/>
                </a:solidFill>
                <a:latin typeface="+mj-lt"/>
                <a:ea typeface="Lato Light" panose="020F0502020204030203" pitchFamily="34" charset="0"/>
                <a:cs typeface="Mukta ExtraLight" panose="020B0000000000000000" pitchFamily="34" charset="77"/>
              </a:rPr>
              <a:t>Motivos</a:t>
            </a:r>
          </a:p>
        </p:txBody>
      </p:sp>
      <p:sp>
        <p:nvSpPr>
          <p:cNvPr id="73" name="CuadroTexto 72">
            <a:extLst>
              <a:ext uri="{FF2B5EF4-FFF2-40B4-BE49-F238E27FC236}">
                <a16:creationId xmlns:a16="http://schemas.microsoft.com/office/drawing/2014/main" id="{1994A4EA-A76F-4C96-BD45-1FA0F0D46681}"/>
              </a:ext>
            </a:extLst>
          </p:cNvPr>
          <p:cNvSpPr txBox="1"/>
          <p:nvPr/>
        </p:nvSpPr>
        <p:spPr>
          <a:xfrm rot="16200000">
            <a:off x="5876664" y="4575237"/>
            <a:ext cx="1976278" cy="313932"/>
          </a:xfrm>
          <a:prstGeom prst="rect">
            <a:avLst/>
          </a:prstGeom>
          <a:solidFill>
            <a:schemeClr val="bg2"/>
          </a:solidFill>
        </p:spPr>
        <p:txBody>
          <a:bodyPr wrap="square" lIns="36000" rIns="36000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600" b="1">
                <a:latin typeface="Arial" panose="020B0604020202020204" pitchFamily="34" charset="0"/>
                <a:cs typeface="Arial" panose="020B0604020202020204" pitchFamily="34" charset="0"/>
              </a:rPr>
              <a:t>Comportamentales</a:t>
            </a:r>
          </a:p>
        </p:txBody>
      </p:sp>
      <p:sp>
        <p:nvSpPr>
          <p:cNvPr id="74" name="CuadroTexto 73">
            <a:extLst>
              <a:ext uri="{FF2B5EF4-FFF2-40B4-BE49-F238E27FC236}">
                <a16:creationId xmlns:a16="http://schemas.microsoft.com/office/drawing/2014/main" id="{C6615E55-BFE5-4FE1-A8A0-FFB9D8F4D5BF}"/>
              </a:ext>
            </a:extLst>
          </p:cNvPr>
          <p:cNvSpPr txBox="1"/>
          <p:nvPr/>
        </p:nvSpPr>
        <p:spPr>
          <a:xfrm rot="16200000">
            <a:off x="6365715" y="2458883"/>
            <a:ext cx="998176" cy="313932"/>
          </a:xfrm>
          <a:prstGeom prst="rect">
            <a:avLst/>
          </a:prstGeom>
          <a:solidFill>
            <a:schemeClr val="accent4"/>
          </a:solidFill>
        </p:spPr>
        <p:txBody>
          <a:bodyPr wrap="square" lIns="0" rIns="0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Técnicas</a:t>
            </a:r>
          </a:p>
        </p:txBody>
      </p:sp>
      <p:cxnSp>
        <p:nvCxnSpPr>
          <p:cNvPr id="76" name="Conector recto 75">
            <a:extLst>
              <a:ext uri="{FF2B5EF4-FFF2-40B4-BE49-F238E27FC236}">
                <a16:creationId xmlns:a16="http://schemas.microsoft.com/office/drawing/2014/main" id="{6ABA7E40-A9D9-45B3-BC9B-A3D0960DD31C}"/>
              </a:ext>
            </a:extLst>
          </p:cNvPr>
          <p:cNvCxnSpPr>
            <a:cxnSpLocks/>
          </p:cNvCxnSpPr>
          <p:nvPr/>
        </p:nvCxnSpPr>
        <p:spPr>
          <a:xfrm>
            <a:off x="2237509" y="3461084"/>
            <a:ext cx="7716982" cy="196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CuadroTexto 80">
            <a:extLst>
              <a:ext uri="{FF2B5EF4-FFF2-40B4-BE49-F238E27FC236}">
                <a16:creationId xmlns:a16="http://schemas.microsoft.com/office/drawing/2014/main" id="{3B7D4702-82DB-4658-9B71-C7D5D0899118}"/>
              </a:ext>
            </a:extLst>
          </p:cNvPr>
          <p:cNvSpPr txBox="1"/>
          <p:nvPr/>
        </p:nvSpPr>
        <p:spPr>
          <a:xfrm>
            <a:off x="7030882" y="2038893"/>
            <a:ext cx="2426041" cy="120032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s-ES" sz="1200">
                <a:solidFill>
                  <a:schemeClr val="accent1"/>
                </a:solidFill>
              </a:rPr>
              <a:t>El conjunto de Conocimiento y Habilidades; por estar más en la </a:t>
            </a:r>
            <a:r>
              <a:rPr lang="es-ES" sz="1200" b="1">
                <a:solidFill>
                  <a:schemeClr val="accent1"/>
                </a:solidFill>
              </a:rPr>
              <a:t>SUPERFICIE</a:t>
            </a:r>
            <a:r>
              <a:rPr lang="es-ES" sz="1200">
                <a:solidFill>
                  <a:schemeClr val="accent1"/>
                </a:solidFill>
              </a:rPr>
              <a:t> de nuestra estructura Competencias, se pueden aprender a través de capacitación formal o informal</a:t>
            </a:r>
          </a:p>
        </p:txBody>
      </p:sp>
      <p:sp>
        <p:nvSpPr>
          <p:cNvPr id="82" name="CuadroTexto 81">
            <a:extLst>
              <a:ext uri="{FF2B5EF4-FFF2-40B4-BE49-F238E27FC236}">
                <a16:creationId xmlns:a16="http://schemas.microsoft.com/office/drawing/2014/main" id="{99FB377E-0ED4-4D52-A82C-BAE71C62EDA2}"/>
              </a:ext>
            </a:extLst>
          </p:cNvPr>
          <p:cNvSpPr txBox="1"/>
          <p:nvPr/>
        </p:nvSpPr>
        <p:spPr>
          <a:xfrm>
            <a:off x="7073186" y="4110857"/>
            <a:ext cx="2383737" cy="120032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s-ES" sz="1200"/>
              <a:t>El conjunto de características que están mas en la </a:t>
            </a:r>
            <a:r>
              <a:rPr lang="es-ES" sz="1200" b="1"/>
              <a:t>PROFUNDIDAD</a:t>
            </a:r>
            <a:r>
              <a:rPr lang="es-ES" sz="1200"/>
              <a:t> de nuestra estructura Competencias, es más difícil de evidenciar y desarrollar</a:t>
            </a:r>
          </a:p>
        </p:txBody>
      </p:sp>
    </p:spTree>
    <p:extLst>
      <p:ext uri="{BB962C8B-B14F-4D97-AF65-F5344CB8AC3E}">
        <p14:creationId xmlns:p14="http://schemas.microsoft.com/office/powerpoint/2010/main" val="46278328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99F76BB4-6B22-4A1F-B18D-D7361EED920F}"/>
              </a:ext>
            </a:extLst>
          </p:cNvPr>
          <p:cNvSpPr/>
          <p:nvPr/>
        </p:nvSpPr>
        <p:spPr>
          <a:xfrm>
            <a:off x="424900" y="1711743"/>
            <a:ext cx="5322487" cy="3590384"/>
          </a:xfrm>
          <a:prstGeom prst="rect">
            <a:avLst/>
          </a:prstGeom>
          <a:solidFill>
            <a:schemeClr val="bg2"/>
          </a:solidFill>
          <a:ln>
            <a:noFill/>
            <a:prstDash val="dash"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2160935-A33B-49AF-998E-FC2F1D43060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CO"/>
              <a:t>Niveles de Competencias</a:t>
            </a:r>
          </a:p>
        </p:txBody>
      </p:sp>
      <p:sp>
        <p:nvSpPr>
          <p:cNvPr id="16" name="Marcador de texto 15">
            <a:extLst>
              <a:ext uri="{FF2B5EF4-FFF2-40B4-BE49-F238E27FC236}">
                <a16:creationId xmlns:a16="http://schemas.microsoft.com/office/drawing/2014/main" id="{8D5ACE0D-F030-435A-929C-AF92313BCE8D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es-CO"/>
              <a:t>Niveles de Cargos</a:t>
            </a:r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97FBBB74-50B6-4337-B443-0C3135230D8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215</a:t>
            </a:fld>
            <a:endParaRPr lang="es-ES_tradn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7C17DC89-6D2E-41D4-8CD0-174D9326763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Se definió un modelo competencias a dos niveles (corporativas y directivas) – </a:t>
            </a:r>
            <a:r>
              <a:rPr lang="es-ES"/>
              <a:t>los cargos fueron segmentados de acuerdo con el impacto de sus acciones y decisiones al negocio</a:t>
            </a:r>
          </a:p>
          <a:p>
            <a:endParaRPr lang="es-CO"/>
          </a:p>
        </p:txBody>
      </p:sp>
      <p:sp>
        <p:nvSpPr>
          <p:cNvPr id="97" name="Botón de acción: Hacia delante o Siguiente 3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6249D87-8E8D-4988-8C18-241CAF4AAC4A}"/>
              </a:ext>
            </a:extLst>
          </p:cNvPr>
          <p:cNvSpPr/>
          <p:nvPr/>
        </p:nvSpPr>
        <p:spPr>
          <a:xfrm rot="10800000">
            <a:off x="403005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99" name="Botón de acción: Hacia delante o Siguiente 32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EA3B26F8-101B-432D-8D3D-12383230B756}"/>
              </a:ext>
            </a:extLst>
          </p:cNvPr>
          <p:cNvSpPr/>
          <p:nvPr/>
        </p:nvSpPr>
        <p:spPr>
          <a:xfrm rot="10800000">
            <a:off x="10961159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1" name="Botón de acción: Hacia delante o Siguiente 32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42A47A0-FD55-4A31-9BDF-30EF0D727C01}"/>
              </a:ext>
            </a:extLst>
          </p:cNvPr>
          <p:cNvSpPr/>
          <p:nvPr/>
        </p:nvSpPr>
        <p:spPr>
          <a:xfrm rot="10800000">
            <a:off x="5295313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3" name="Rectángulo 102">
            <a:extLst>
              <a:ext uri="{FF2B5EF4-FFF2-40B4-BE49-F238E27FC236}">
                <a16:creationId xmlns:a16="http://schemas.microsoft.com/office/drawing/2014/main" id="{D9E95019-876D-42D3-88D3-4A231371D57E}"/>
              </a:ext>
            </a:extLst>
          </p:cNvPr>
          <p:cNvSpPr/>
          <p:nvPr/>
        </p:nvSpPr>
        <p:spPr>
          <a:xfrm>
            <a:off x="4419133" y="6471686"/>
            <a:ext cx="117778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Comercial</a:t>
            </a:r>
          </a:p>
        </p:txBody>
      </p:sp>
      <p:sp>
        <p:nvSpPr>
          <p:cNvPr id="105" name="Botón de acción: Hacia delante o Siguiente 32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F9A313A3-3A04-4FAB-8C93-3A08938CFA5D}"/>
              </a:ext>
            </a:extLst>
          </p:cNvPr>
          <p:cNvSpPr/>
          <p:nvPr/>
        </p:nvSpPr>
        <p:spPr>
          <a:xfrm rot="10800000">
            <a:off x="644400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6DC38F6D-C99C-4178-8CA3-A739BEBB5361}"/>
              </a:ext>
            </a:extLst>
          </p:cNvPr>
          <p:cNvSpPr/>
          <p:nvPr/>
        </p:nvSpPr>
        <p:spPr>
          <a:xfrm>
            <a:off x="5747387" y="6471686"/>
            <a:ext cx="961708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Riesgo</a:t>
            </a:r>
          </a:p>
        </p:txBody>
      </p:sp>
      <p:sp>
        <p:nvSpPr>
          <p:cNvPr id="109" name="Botón de acción: Hacia delante o Siguiente 3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CF510FF5-4A70-4D7B-8142-30C103E0B5EB}"/>
              </a:ext>
            </a:extLst>
          </p:cNvPr>
          <p:cNvSpPr/>
          <p:nvPr/>
        </p:nvSpPr>
        <p:spPr>
          <a:xfrm rot="10800000">
            <a:off x="7824397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1" name="Rectángulo 110">
            <a:extLst>
              <a:ext uri="{FF2B5EF4-FFF2-40B4-BE49-F238E27FC236}">
                <a16:creationId xmlns:a16="http://schemas.microsoft.com/office/drawing/2014/main" id="{65ADBCD3-8A9F-4433-8FC1-D07D1A49B705}"/>
              </a:ext>
            </a:extLst>
          </p:cNvPr>
          <p:cNvSpPr/>
          <p:nvPr/>
        </p:nvSpPr>
        <p:spPr>
          <a:xfrm>
            <a:off x="6859567" y="6471686"/>
            <a:ext cx="124059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Operaciones</a:t>
            </a:r>
          </a:p>
        </p:txBody>
      </p:sp>
      <p:sp>
        <p:nvSpPr>
          <p:cNvPr id="113" name="Botón de acción: Hacia delante o Siguiente 3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2BF95E72-0267-4D44-A3B8-4FAB8A4167B2}"/>
              </a:ext>
            </a:extLst>
          </p:cNvPr>
          <p:cNvSpPr/>
          <p:nvPr/>
        </p:nvSpPr>
        <p:spPr>
          <a:xfrm rot="10800000">
            <a:off x="9173461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04092772-0149-4AD4-BDC6-797E43F30AD2}"/>
              </a:ext>
            </a:extLst>
          </p:cNvPr>
          <p:cNvSpPr/>
          <p:nvPr/>
        </p:nvSpPr>
        <p:spPr>
          <a:xfrm>
            <a:off x="8250634" y="6471686"/>
            <a:ext cx="1240595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Tecnología</a:t>
            </a:r>
          </a:p>
        </p:txBody>
      </p:sp>
      <p:sp>
        <p:nvSpPr>
          <p:cNvPr id="117" name="Rectángulo 116">
            <a:extLst>
              <a:ext uri="{FF2B5EF4-FFF2-40B4-BE49-F238E27FC236}">
                <a16:creationId xmlns:a16="http://schemas.microsoft.com/office/drawing/2014/main" id="{F8E0A3C2-D9CA-437E-BE26-65D064BB1683}"/>
              </a:ext>
            </a:extLst>
          </p:cNvPr>
          <p:cNvSpPr/>
          <p:nvPr/>
        </p:nvSpPr>
        <p:spPr>
          <a:xfrm>
            <a:off x="1579077" y="6471686"/>
            <a:ext cx="1484370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Staff de Presidencia</a:t>
            </a:r>
          </a:p>
        </p:txBody>
      </p:sp>
      <p:sp>
        <p:nvSpPr>
          <p:cNvPr id="119" name="Botón de acción: Hacia delante o Siguiente 3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95BB6383-B745-4701-9874-D9E9ED1E16D3}"/>
              </a:ext>
            </a:extLst>
          </p:cNvPr>
          <p:cNvSpPr/>
          <p:nvPr/>
        </p:nvSpPr>
        <p:spPr>
          <a:xfrm rot="10800000">
            <a:off x="2823428" y="6524073"/>
            <a:ext cx="234000" cy="129600"/>
          </a:xfrm>
          <a:prstGeom prst="actionButtonForwardNex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CA" sz="1400"/>
          </a:p>
        </p:txBody>
      </p:sp>
      <p:sp>
        <p:nvSpPr>
          <p:cNvPr id="121" name="Rectángulo 120">
            <a:extLst>
              <a:ext uri="{FF2B5EF4-FFF2-40B4-BE49-F238E27FC236}">
                <a16:creationId xmlns:a16="http://schemas.microsoft.com/office/drawing/2014/main" id="{61627512-E768-499E-B62B-95B7A319D3DE}"/>
              </a:ext>
            </a:extLst>
          </p:cNvPr>
          <p:cNvSpPr/>
          <p:nvPr/>
        </p:nvSpPr>
        <p:spPr>
          <a:xfrm>
            <a:off x="9641699" y="6471686"/>
            <a:ext cx="1581136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G. Gestión del Talento</a:t>
            </a:r>
          </a:p>
        </p:txBody>
      </p:sp>
      <p:sp>
        <p:nvSpPr>
          <p:cNvPr id="123" name="Rectángulo 122">
            <a:extLst>
              <a:ext uri="{FF2B5EF4-FFF2-40B4-BE49-F238E27FC236}">
                <a16:creationId xmlns:a16="http://schemas.microsoft.com/office/drawing/2014/main" id="{D5641FED-8FD8-4E46-A56F-0CAABA2DEDF4}"/>
              </a:ext>
            </a:extLst>
          </p:cNvPr>
          <p:cNvSpPr/>
          <p:nvPr/>
        </p:nvSpPr>
        <p:spPr>
          <a:xfrm>
            <a:off x="3213919" y="6471686"/>
            <a:ext cx="1054742" cy="216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000">
                <a:latin typeface="Arial" panose="020B0604020202020204" pitchFamily="34" charset="0"/>
                <a:cs typeface="Arial" panose="020B0604020202020204" pitchFamily="34" charset="0"/>
              </a:rPr>
              <a:t>VP Innovación</a:t>
            </a:r>
          </a:p>
        </p:txBody>
      </p:sp>
      <p:sp>
        <p:nvSpPr>
          <p:cNvPr id="35" name="Rectangle 71">
            <a:extLst>
              <a:ext uri="{FF2B5EF4-FFF2-40B4-BE49-F238E27FC236}">
                <a16:creationId xmlns:a16="http://schemas.microsoft.com/office/drawing/2014/main" id="{C45344A4-72DF-4A3D-8374-29E48C7E06EE}"/>
              </a:ext>
            </a:extLst>
          </p:cNvPr>
          <p:cNvSpPr/>
          <p:nvPr/>
        </p:nvSpPr>
        <p:spPr>
          <a:xfrm>
            <a:off x="6652460" y="1713457"/>
            <a:ext cx="1150597" cy="540000"/>
          </a:xfrm>
          <a:prstGeom prst="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Alta </a:t>
            </a:r>
            <a:b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Dirección</a:t>
            </a:r>
          </a:p>
        </p:txBody>
      </p:sp>
      <p:sp>
        <p:nvSpPr>
          <p:cNvPr id="36" name="Rectangle 71">
            <a:extLst>
              <a:ext uri="{FF2B5EF4-FFF2-40B4-BE49-F238E27FC236}">
                <a16:creationId xmlns:a16="http://schemas.microsoft.com/office/drawing/2014/main" id="{9E223E35-0EAA-40EC-964E-945DA5A02529}"/>
              </a:ext>
            </a:extLst>
          </p:cNvPr>
          <p:cNvSpPr/>
          <p:nvPr/>
        </p:nvSpPr>
        <p:spPr>
          <a:xfrm>
            <a:off x="6652460" y="2458082"/>
            <a:ext cx="1150597" cy="540000"/>
          </a:xfrm>
          <a:prstGeom prst="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Gerente / Director</a:t>
            </a:r>
          </a:p>
        </p:txBody>
      </p:sp>
      <p:sp>
        <p:nvSpPr>
          <p:cNvPr id="42" name="Rectangle 71">
            <a:extLst>
              <a:ext uri="{FF2B5EF4-FFF2-40B4-BE49-F238E27FC236}">
                <a16:creationId xmlns:a16="http://schemas.microsoft.com/office/drawing/2014/main" id="{5039955B-7F71-4761-A8A9-9752F52E22B4}"/>
              </a:ext>
            </a:extLst>
          </p:cNvPr>
          <p:cNvSpPr/>
          <p:nvPr/>
        </p:nvSpPr>
        <p:spPr>
          <a:xfrm>
            <a:off x="6652460" y="3211902"/>
            <a:ext cx="1150597" cy="540000"/>
          </a:xfrm>
          <a:prstGeom prst="rect">
            <a:avLst/>
          </a:prstGeom>
          <a:solidFill>
            <a:schemeClr val="accent4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Jefe / Coordinador</a:t>
            </a:r>
          </a:p>
        </p:txBody>
      </p:sp>
      <p:sp>
        <p:nvSpPr>
          <p:cNvPr id="43" name="Rectangle 71">
            <a:extLst>
              <a:ext uri="{FF2B5EF4-FFF2-40B4-BE49-F238E27FC236}">
                <a16:creationId xmlns:a16="http://schemas.microsoft.com/office/drawing/2014/main" id="{B3093A13-1C5A-4254-A392-AA08CB7B6FFD}"/>
              </a:ext>
            </a:extLst>
          </p:cNvPr>
          <p:cNvSpPr/>
          <p:nvPr/>
        </p:nvSpPr>
        <p:spPr>
          <a:xfrm>
            <a:off x="6652460" y="3924134"/>
            <a:ext cx="1150597" cy="540000"/>
          </a:xfrm>
          <a:prstGeom prst="rect">
            <a:avLst/>
          </a:prstGeom>
          <a:solidFill>
            <a:srgbClr val="B1B1B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Profesional / Analista</a:t>
            </a:r>
          </a:p>
        </p:txBody>
      </p:sp>
      <p:sp>
        <p:nvSpPr>
          <p:cNvPr id="44" name="Rectangle 71">
            <a:extLst>
              <a:ext uri="{FF2B5EF4-FFF2-40B4-BE49-F238E27FC236}">
                <a16:creationId xmlns:a16="http://schemas.microsoft.com/office/drawing/2014/main" id="{D8CE073D-588D-4954-92BA-26A25B728A66}"/>
              </a:ext>
            </a:extLst>
          </p:cNvPr>
          <p:cNvSpPr/>
          <p:nvPr/>
        </p:nvSpPr>
        <p:spPr>
          <a:xfrm>
            <a:off x="6652460" y="4762128"/>
            <a:ext cx="1150597" cy="540000"/>
          </a:xfrm>
          <a:prstGeom prst="rect">
            <a:avLst/>
          </a:prstGeom>
          <a:solidFill>
            <a:srgbClr val="B1B1B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2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Asistente / Auxiliar</a:t>
            </a:r>
          </a:p>
        </p:txBody>
      </p:sp>
      <p:sp>
        <p:nvSpPr>
          <p:cNvPr id="65" name="Subtitle 2">
            <a:extLst>
              <a:ext uri="{FF2B5EF4-FFF2-40B4-BE49-F238E27FC236}">
                <a16:creationId xmlns:a16="http://schemas.microsoft.com/office/drawing/2014/main" id="{0B4CF68F-4102-4B74-9BC8-9384D6A95E74}"/>
              </a:ext>
            </a:extLst>
          </p:cNvPr>
          <p:cNvSpPr txBox="1">
            <a:spLocks/>
          </p:cNvSpPr>
          <p:nvPr/>
        </p:nvSpPr>
        <p:spPr>
          <a:xfrm>
            <a:off x="7804900" y="1711742"/>
            <a:ext cx="3924000" cy="540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s-CO"/>
            </a:defPPr>
            <a:lvl1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defRPr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0850" algn="l"/>
            <a:r>
              <a:rPr lang="es-CO">
                <a:solidFill>
                  <a:schemeClr val="tx1"/>
                </a:solidFill>
              </a:rPr>
              <a:t>Presidente - Vicepresidentes</a:t>
            </a:r>
          </a:p>
        </p:txBody>
      </p:sp>
      <p:sp>
        <p:nvSpPr>
          <p:cNvPr id="91" name="Subtitle 2">
            <a:extLst>
              <a:ext uri="{FF2B5EF4-FFF2-40B4-BE49-F238E27FC236}">
                <a16:creationId xmlns:a16="http://schemas.microsoft.com/office/drawing/2014/main" id="{C8E40A47-A77B-4EAD-AA9D-BEE1AB4B41EA}"/>
              </a:ext>
            </a:extLst>
          </p:cNvPr>
          <p:cNvSpPr txBox="1">
            <a:spLocks/>
          </p:cNvSpPr>
          <p:nvPr/>
        </p:nvSpPr>
        <p:spPr>
          <a:xfrm>
            <a:off x="7804900" y="2463748"/>
            <a:ext cx="3924000" cy="540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s-CO"/>
            </a:defPPr>
            <a:lvl1pPr marL="4508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CO"/>
              <a:t>Gerente –  Director - Secretario General – Gerente Regional</a:t>
            </a:r>
          </a:p>
        </p:txBody>
      </p:sp>
      <p:sp>
        <p:nvSpPr>
          <p:cNvPr id="95" name="Subtitle 2">
            <a:extLst>
              <a:ext uri="{FF2B5EF4-FFF2-40B4-BE49-F238E27FC236}">
                <a16:creationId xmlns:a16="http://schemas.microsoft.com/office/drawing/2014/main" id="{E43E61BB-6FC1-4790-9DB7-30153B310937}"/>
              </a:ext>
            </a:extLst>
          </p:cNvPr>
          <p:cNvSpPr txBox="1">
            <a:spLocks/>
          </p:cNvSpPr>
          <p:nvPr/>
        </p:nvSpPr>
        <p:spPr>
          <a:xfrm>
            <a:off x="7804900" y="3205314"/>
            <a:ext cx="3924000" cy="540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s-CO"/>
            </a:defPPr>
            <a:lvl1pPr marL="4508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CO"/>
              <a:t>Jefe – Oficial – Coordinador – Líder – Supervisor – Gerente de Zona – Director de Oficina</a:t>
            </a:r>
          </a:p>
        </p:txBody>
      </p:sp>
      <p:sp>
        <p:nvSpPr>
          <p:cNvPr id="96" name="Subtitle 2">
            <a:extLst>
              <a:ext uri="{FF2B5EF4-FFF2-40B4-BE49-F238E27FC236}">
                <a16:creationId xmlns:a16="http://schemas.microsoft.com/office/drawing/2014/main" id="{4CAE5B66-7A1D-477C-8129-45740AC1C4F6}"/>
              </a:ext>
            </a:extLst>
          </p:cNvPr>
          <p:cNvSpPr txBox="1">
            <a:spLocks/>
          </p:cNvSpPr>
          <p:nvPr/>
        </p:nvSpPr>
        <p:spPr>
          <a:xfrm>
            <a:off x="7804900" y="3924134"/>
            <a:ext cx="3924000" cy="540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s-CO"/>
            </a:defPPr>
            <a:lvl1pPr marL="4508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CO"/>
              <a:t>Auditor – Especialista – Profesional – Director Capacitación – Abogado – Analista – CISO</a:t>
            </a:r>
          </a:p>
        </p:txBody>
      </p:sp>
      <p:sp>
        <p:nvSpPr>
          <p:cNvPr id="135" name="Subtitle 2">
            <a:extLst>
              <a:ext uri="{FF2B5EF4-FFF2-40B4-BE49-F238E27FC236}">
                <a16:creationId xmlns:a16="http://schemas.microsoft.com/office/drawing/2014/main" id="{6D56677E-6809-4A14-9B14-F59A7EE87CE3}"/>
              </a:ext>
            </a:extLst>
          </p:cNvPr>
          <p:cNvSpPr txBox="1">
            <a:spLocks/>
          </p:cNvSpPr>
          <p:nvPr/>
        </p:nvSpPr>
        <p:spPr>
          <a:xfrm>
            <a:off x="7804900" y="4762128"/>
            <a:ext cx="3924000" cy="540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s-CO"/>
            </a:defPPr>
            <a:lvl1pPr marL="45085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CO"/>
              <a:t>Asesor – Asistente – Ejecutivo – Gestor – Orientador – Facilitador – Auxiliar – Conductor – Técnico - Verificador</a:t>
            </a:r>
          </a:p>
        </p:txBody>
      </p:sp>
      <p:sp>
        <p:nvSpPr>
          <p:cNvPr id="136" name="Flecha: hacia abajo 135">
            <a:extLst>
              <a:ext uri="{FF2B5EF4-FFF2-40B4-BE49-F238E27FC236}">
                <a16:creationId xmlns:a16="http://schemas.microsoft.com/office/drawing/2014/main" id="{290F2535-ED8C-429D-BA47-0F4067A807BC}"/>
              </a:ext>
            </a:extLst>
          </p:cNvPr>
          <p:cNvSpPr/>
          <p:nvPr/>
        </p:nvSpPr>
        <p:spPr>
          <a:xfrm rot="10800000">
            <a:off x="6268283" y="1699796"/>
            <a:ext cx="273618" cy="3602331"/>
          </a:xfrm>
          <a:prstGeom prst="downArrow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rot="0" spcFirstLastPara="0" vertOverflow="overflow" horzOverflow="overflow" vert="vert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Nivel Organizacional</a:t>
            </a:r>
          </a:p>
        </p:txBody>
      </p:sp>
      <p:pic>
        <p:nvPicPr>
          <p:cNvPr id="138" name="Imagen 137" descr="Icono&#10;&#10;Descripción generada automáticamente">
            <a:extLst>
              <a:ext uri="{FF2B5EF4-FFF2-40B4-BE49-F238E27FC236}">
                <a16:creationId xmlns:a16="http://schemas.microsoft.com/office/drawing/2014/main" id="{19787B12-6DB1-4BBE-BD0B-3BBA7263B6E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4160" y="1775729"/>
            <a:ext cx="412642" cy="412642"/>
          </a:xfrm>
          <a:prstGeom prst="rect">
            <a:avLst/>
          </a:prstGeom>
        </p:spPr>
      </p:pic>
      <p:sp>
        <p:nvSpPr>
          <p:cNvPr id="139" name="Elipse 138">
            <a:extLst>
              <a:ext uri="{FF2B5EF4-FFF2-40B4-BE49-F238E27FC236}">
                <a16:creationId xmlns:a16="http://schemas.microsoft.com/office/drawing/2014/main" id="{121A5DFC-C6CC-416C-979A-8D56AC976E22}"/>
              </a:ext>
            </a:extLst>
          </p:cNvPr>
          <p:cNvSpPr/>
          <p:nvPr/>
        </p:nvSpPr>
        <p:spPr>
          <a:xfrm>
            <a:off x="7944039" y="1797556"/>
            <a:ext cx="192883" cy="192883"/>
          </a:xfrm>
          <a:prstGeom prst="ellipse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pic>
        <p:nvPicPr>
          <p:cNvPr id="141" name="Imagen 140" descr="Icono&#10;&#10;Descripción generada automáticamente">
            <a:extLst>
              <a:ext uri="{FF2B5EF4-FFF2-40B4-BE49-F238E27FC236}">
                <a16:creationId xmlns:a16="http://schemas.microsoft.com/office/drawing/2014/main" id="{F80AA7A2-E3FA-421B-8C2A-17F4F71A877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4160" y="2533175"/>
            <a:ext cx="412642" cy="412642"/>
          </a:xfrm>
          <a:prstGeom prst="rect">
            <a:avLst/>
          </a:prstGeom>
        </p:spPr>
      </p:pic>
      <p:sp>
        <p:nvSpPr>
          <p:cNvPr id="142" name="Elipse 141">
            <a:extLst>
              <a:ext uri="{FF2B5EF4-FFF2-40B4-BE49-F238E27FC236}">
                <a16:creationId xmlns:a16="http://schemas.microsoft.com/office/drawing/2014/main" id="{56CAF925-8A55-47C0-AB6B-7DC9C9391978}"/>
              </a:ext>
            </a:extLst>
          </p:cNvPr>
          <p:cNvSpPr/>
          <p:nvPr/>
        </p:nvSpPr>
        <p:spPr>
          <a:xfrm>
            <a:off x="7944039" y="2555002"/>
            <a:ext cx="192883" cy="192883"/>
          </a:xfrm>
          <a:prstGeom prst="ellipse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pic>
        <p:nvPicPr>
          <p:cNvPr id="147" name="Imagen 146" descr="Icono&#10;&#10;Descripción generada automáticamente">
            <a:extLst>
              <a:ext uri="{FF2B5EF4-FFF2-40B4-BE49-F238E27FC236}">
                <a16:creationId xmlns:a16="http://schemas.microsoft.com/office/drawing/2014/main" id="{4B99B66D-B621-498A-9F53-5B83DD31513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24396" y="3295788"/>
            <a:ext cx="412642" cy="412642"/>
          </a:xfrm>
          <a:prstGeom prst="rect">
            <a:avLst/>
          </a:prstGeom>
        </p:spPr>
      </p:pic>
      <p:sp>
        <p:nvSpPr>
          <p:cNvPr id="148" name="Elipse 147">
            <a:extLst>
              <a:ext uri="{FF2B5EF4-FFF2-40B4-BE49-F238E27FC236}">
                <a16:creationId xmlns:a16="http://schemas.microsoft.com/office/drawing/2014/main" id="{126C273A-9CD3-409C-A791-3B7FD815CF68}"/>
              </a:ext>
            </a:extLst>
          </p:cNvPr>
          <p:cNvSpPr/>
          <p:nvPr/>
        </p:nvSpPr>
        <p:spPr>
          <a:xfrm>
            <a:off x="7934275" y="3317615"/>
            <a:ext cx="192883" cy="192883"/>
          </a:xfrm>
          <a:prstGeom prst="ellipse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grpSp>
        <p:nvGrpSpPr>
          <p:cNvPr id="149" name="Grupo 148">
            <a:extLst>
              <a:ext uri="{FF2B5EF4-FFF2-40B4-BE49-F238E27FC236}">
                <a16:creationId xmlns:a16="http://schemas.microsoft.com/office/drawing/2014/main" id="{06C39138-56C0-42DB-90F6-0BCE92556060}"/>
              </a:ext>
            </a:extLst>
          </p:cNvPr>
          <p:cNvGrpSpPr/>
          <p:nvPr/>
        </p:nvGrpSpPr>
        <p:grpSpPr>
          <a:xfrm>
            <a:off x="7819571" y="4007114"/>
            <a:ext cx="414000" cy="414000"/>
            <a:chOff x="6551234" y="4872273"/>
            <a:chExt cx="414000" cy="414000"/>
          </a:xfrm>
        </p:grpSpPr>
        <p:pic>
          <p:nvPicPr>
            <p:cNvPr id="150" name="Imagen 149" descr="Icono&#10;&#10;Descripción generada automáticamente">
              <a:extLst>
                <a:ext uri="{FF2B5EF4-FFF2-40B4-BE49-F238E27FC236}">
                  <a16:creationId xmlns:a16="http://schemas.microsoft.com/office/drawing/2014/main" id="{C9977A76-A97A-4EAC-8F77-8CF4E2D7D99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551234" y="4872273"/>
              <a:ext cx="414000" cy="414000"/>
            </a:xfrm>
            <a:prstGeom prst="rect">
              <a:avLst/>
            </a:prstGeom>
          </p:spPr>
        </p:pic>
        <p:sp>
          <p:nvSpPr>
            <p:cNvPr id="151" name="Elipse 150">
              <a:extLst>
                <a:ext uri="{FF2B5EF4-FFF2-40B4-BE49-F238E27FC236}">
                  <a16:creationId xmlns:a16="http://schemas.microsoft.com/office/drawing/2014/main" id="{5D27DCD3-AD6D-41F5-B9C5-4738D9B9E7BC}"/>
                </a:ext>
              </a:extLst>
            </p:cNvPr>
            <p:cNvSpPr/>
            <p:nvPr/>
          </p:nvSpPr>
          <p:spPr>
            <a:xfrm>
              <a:off x="6661792" y="4895096"/>
              <a:ext cx="192883" cy="192883"/>
            </a:xfrm>
            <a:prstGeom prst="ellipse">
              <a:avLst/>
            </a:prstGeom>
            <a:solidFill>
              <a:schemeClr val="bg2"/>
            </a:solidFill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14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</p:grpSp>
      <p:grpSp>
        <p:nvGrpSpPr>
          <p:cNvPr id="152" name="Grupo 151">
            <a:extLst>
              <a:ext uri="{FF2B5EF4-FFF2-40B4-BE49-F238E27FC236}">
                <a16:creationId xmlns:a16="http://schemas.microsoft.com/office/drawing/2014/main" id="{82174631-FE2E-4517-8085-5271BE0E760F}"/>
              </a:ext>
            </a:extLst>
          </p:cNvPr>
          <p:cNvGrpSpPr/>
          <p:nvPr/>
        </p:nvGrpSpPr>
        <p:grpSpPr>
          <a:xfrm>
            <a:off x="7819570" y="4845402"/>
            <a:ext cx="414000" cy="414000"/>
            <a:chOff x="6991245" y="5682097"/>
            <a:chExt cx="414000" cy="414000"/>
          </a:xfrm>
        </p:grpSpPr>
        <p:pic>
          <p:nvPicPr>
            <p:cNvPr id="153" name="Imagen 152" descr="Icono&#10;&#10;Descripción generada automáticamente">
              <a:extLst>
                <a:ext uri="{FF2B5EF4-FFF2-40B4-BE49-F238E27FC236}">
                  <a16:creationId xmlns:a16="http://schemas.microsoft.com/office/drawing/2014/main" id="{5EEED181-C3F4-44D7-880D-7882F3F840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991245" y="5682097"/>
              <a:ext cx="414000" cy="414000"/>
            </a:xfrm>
            <a:prstGeom prst="rect">
              <a:avLst/>
            </a:prstGeom>
          </p:spPr>
        </p:pic>
        <p:sp>
          <p:nvSpPr>
            <p:cNvPr id="154" name="Elipse 153">
              <a:extLst>
                <a:ext uri="{FF2B5EF4-FFF2-40B4-BE49-F238E27FC236}">
                  <a16:creationId xmlns:a16="http://schemas.microsoft.com/office/drawing/2014/main" id="{407B7E80-001A-4F59-9A15-64D6009E38F3}"/>
                </a:ext>
              </a:extLst>
            </p:cNvPr>
            <p:cNvSpPr/>
            <p:nvPr/>
          </p:nvSpPr>
          <p:spPr>
            <a:xfrm>
              <a:off x="7101803" y="5704920"/>
              <a:ext cx="192883" cy="192883"/>
            </a:xfrm>
            <a:prstGeom prst="ellipse">
              <a:avLst/>
            </a:prstGeom>
            <a:solidFill>
              <a:schemeClr val="bg2"/>
            </a:solidFill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</a:pPr>
              <a:r>
                <a:rPr lang="es-CO" sz="14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6" name="Rectángulo 5">
            <a:extLst>
              <a:ext uri="{FF2B5EF4-FFF2-40B4-BE49-F238E27FC236}">
                <a16:creationId xmlns:a16="http://schemas.microsoft.com/office/drawing/2014/main" id="{489F78B5-9C2A-4EE3-B0D5-E1C56A359D24}"/>
              </a:ext>
            </a:extLst>
          </p:cNvPr>
          <p:cNvSpPr/>
          <p:nvPr/>
        </p:nvSpPr>
        <p:spPr>
          <a:xfrm>
            <a:off x="617889" y="2174620"/>
            <a:ext cx="288000" cy="1187508"/>
          </a:xfrm>
          <a:prstGeom prst="rect">
            <a:avLst/>
          </a:prstGeom>
          <a:solidFill>
            <a:schemeClr val="accent1"/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100">
                <a:solidFill>
                  <a:schemeClr val="bg1"/>
                </a:solidFill>
              </a:rPr>
              <a:t>Corporativas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14735F99-C326-48C7-82CF-DDCC5829E17C}"/>
              </a:ext>
            </a:extLst>
          </p:cNvPr>
          <p:cNvSpPr/>
          <p:nvPr/>
        </p:nvSpPr>
        <p:spPr>
          <a:xfrm>
            <a:off x="617889" y="3651251"/>
            <a:ext cx="290932" cy="1188000"/>
          </a:xfrm>
          <a:prstGeom prst="rect">
            <a:avLst/>
          </a:prstGeom>
          <a:solidFill>
            <a:schemeClr val="accent1"/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100">
                <a:solidFill>
                  <a:schemeClr val="bg1"/>
                </a:solidFill>
              </a:rPr>
              <a:t>Directivas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26BCA3E9-37E3-44B1-B895-069B35E149B2}"/>
              </a:ext>
            </a:extLst>
          </p:cNvPr>
          <p:cNvSpPr/>
          <p:nvPr/>
        </p:nvSpPr>
        <p:spPr>
          <a:xfrm rot="5400000">
            <a:off x="3359229" y="245413"/>
            <a:ext cx="288000" cy="4187372"/>
          </a:xfrm>
          <a:prstGeom prst="rect">
            <a:avLst/>
          </a:prstGeom>
          <a:solidFill>
            <a:schemeClr val="accent3"/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bg1"/>
                </a:solidFill>
              </a:rPr>
              <a:t>Orientación a Resultados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2DC17679-574D-45B9-B6BD-C5E42D4ABCC5}"/>
              </a:ext>
            </a:extLst>
          </p:cNvPr>
          <p:cNvSpPr/>
          <p:nvPr/>
        </p:nvSpPr>
        <p:spPr>
          <a:xfrm rot="5400000">
            <a:off x="3359832" y="690819"/>
            <a:ext cx="288000" cy="4186166"/>
          </a:xfrm>
          <a:prstGeom prst="rect">
            <a:avLst/>
          </a:prstGeom>
          <a:solidFill>
            <a:schemeClr val="accent3"/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bg1"/>
                </a:solidFill>
              </a:rPr>
              <a:t>Orientación al Servicio</a:t>
            </a: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1FF4E340-0391-46E0-942D-67298C697CBE}"/>
              </a:ext>
            </a:extLst>
          </p:cNvPr>
          <p:cNvSpPr/>
          <p:nvPr/>
        </p:nvSpPr>
        <p:spPr>
          <a:xfrm rot="5400000">
            <a:off x="3358626" y="1140771"/>
            <a:ext cx="288000" cy="4186166"/>
          </a:xfrm>
          <a:prstGeom prst="rect">
            <a:avLst/>
          </a:prstGeom>
          <a:solidFill>
            <a:schemeClr val="accent3"/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bg1"/>
                </a:solidFill>
              </a:rPr>
              <a:t>Trabajo Colaborativo</a:t>
            </a: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581DC19C-BB1E-4EFD-AFA3-C79C7042F760}"/>
              </a:ext>
            </a:extLst>
          </p:cNvPr>
          <p:cNvSpPr/>
          <p:nvPr/>
        </p:nvSpPr>
        <p:spPr>
          <a:xfrm rot="5400000">
            <a:off x="3360176" y="1703719"/>
            <a:ext cx="288000" cy="4183065"/>
          </a:xfrm>
          <a:prstGeom prst="rect">
            <a:avLst/>
          </a:prstGeom>
          <a:solidFill>
            <a:schemeClr val="accent4"/>
          </a:solidFill>
          <a:ln w="3175">
            <a:solidFill>
              <a:srgbClr val="D9D9D9"/>
            </a:solidFill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Visión Estratégica</a:t>
            </a: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10164D40-27B8-459A-890F-BD653F8F5505}"/>
              </a:ext>
            </a:extLst>
          </p:cNvPr>
          <p:cNvSpPr/>
          <p:nvPr/>
        </p:nvSpPr>
        <p:spPr>
          <a:xfrm rot="5400000">
            <a:off x="3360177" y="2153719"/>
            <a:ext cx="288000" cy="4183064"/>
          </a:xfrm>
          <a:prstGeom prst="rect">
            <a:avLst/>
          </a:prstGeom>
          <a:solidFill>
            <a:schemeClr val="accent4"/>
          </a:solidFill>
          <a:ln w="3175">
            <a:solidFill>
              <a:srgbClr val="D9D9D9"/>
            </a:solidFill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Inspirar a Otros</a:t>
            </a: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F95B3117-78EE-4BAB-9A27-27C28069256B}"/>
              </a:ext>
            </a:extLst>
          </p:cNvPr>
          <p:cNvSpPr/>
          <p:nvPr/>
        </p:nvSpPr>
        <p:spPr>
          <a:xfrm rot="5400000">
            <a:off x="3360177" y="2603719"/>
            <a:ext cx="288000" cy="4183064"/>
          </a:xfrm>
          <a:prstGeom prst="rect">
            <a:avLst/>
          </a:prstGeom>
          <a:solidFill>
            <a:schemeClr val="accent4"/>
          </a:solidFill>
          <a:ln w="3175">
            <a:solidFill>
              <a:srgbClr val="D9D9D9"/>
            </a:solidFill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200">
                <a:solidFill>
                  <a:schemeClr val="accent1"/>
                </a:solidFill>
              </a:rPr>
              <a:t>Empoderar</a:t>
            </a:r>
          </a:p>
        </p:txBody>
      </p:sp>
      <p:sp>
        <p:nvSpPr>
          <p:cNvPr id="78" name="Rectángulo 77">
            <a:extLst>
              <a:ext uri="{FF2B5EF4-FFF2-40B4-BE49-F238E27FC236}">
                <a16:creationId xmlns:a16="http://schemas.microsoft.com/office/drawing/2014/main" id="{5AEA7C4D-2343-41D3-A5AD-26C09A2AE426}"/>
              </a:ext>
            </a:extLst>
          </p:cNvPr>
          <p:cNvSpPr/>
          <p:nvPr/>
        </p:nvSpPr>
        <p:spPr>
          <a:xfrm>
            <a:off x="1016448" y="2174620"/>
            <a:ext cx="288000" cy="11875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Todos</a:t>
            </a:r>
          </a:p>
        </p:txBody>
      </p:sp>
      <p:sp>
        <p:nvSpPr>
          <p:cNvPr id="79" name="Rectángulo 78">
            <a:extLst>
              <a:ext uri="{FF2B5EF4-FFF2-40B4-BE49-F238E27FC236}">
                <a16:creationId xmlns:a16="http://schemas.microsoft.com/office/drawing/2014/main" id="{0552A068-1982-4DEF-909B-B77CB8DBA0CB}"/>
              </a:ext>
            </a:extLst>
          </p:cNvPr>
          <p:cNvSpPr/>
          <p:nvPr/>
        </p:nvSpPr>
        <p:spPr>
          <a:xfrm>
            <a:off x="1014982" y="3651251"/>
            <a:ext cx="290932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vert270" rtlCol="0" anchor="ctr"/>
          <a:lstStyle/>
          <a:p>
            <a:pPr algn="ctr"/>
            <a:r>
              <a:rPr lang="es-CO" sz="1100">
                <a:solidFill>
                  <a:schemeClr val="accent1"/>
                </a:solidFill>
              </a:rPr>
              <a:t>Lideres</a:t>
            </a:r>
          </a:p>
        </p:txBody>
      </p:sp>
      <p:sp>
        <p:nvSpPr>
          <p:cNvPr id="82" name="Marcador de pie de página 4">
            <a:extLst>
              <a:ext uri="{FF2B5EF4-FFF2-40B4-BE49-F238E27FC236}">
                <a16:creationId xmlns:a16="http://schemas.microsoft.com/office/drawing/2014/main" id="{805C6546-D1D3-4034-9108-2C8893A6BF95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</a:t>
            </a:r>
            <a:br>
              <a:rPr lang="es-ES_tradnl"/>
            </a:br>
            <a:r>
              <a:rPr lang="es-ES_tradnl"/>
              <a:t>Talent Advisor</a:t>
            </a:r>
          </a:p>
        </p:txBody>
      </p:sp>
    </p:spTree>
    <p:extLst>
      <p:ext uri="{BB962C8B-B14F-4D97-AF65-F5344CB8AC3E}">
        <p14:creationId xmlns:p14="http://schemas.microsoft.com/office/powerpoint/2010/main" val="507030669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9A42891F-52DF-49D7-BC5C-5D563E50DBC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El primer nivel incluye las Competencias Corporativas, asociadas a todos los colabores de la organización </a:t>
            </a:r>
          </a:p>
        </p:txBody>
      </p:sp>
      <p:sp>
        <p:nvSpPr>
          <p:cNvPr id="25" name="Elipse 24">
            <a:extLst>
              <a:ext uri="{FF2B5EF4-FFF2-40B4-BE49-F238E27FC236}">
                <a16:creationId xmlns:a16="http://schemas.microsoft.com/office/drawing/2014/main" id="{D391E4E1-2506-4EEB-905D-920AE6C873A8}"/>
              </a:ext>
            </a:extLst>
          </p:cNvPr>
          <p:cNvSpPr/>
          <p:nvPr/>
        </p:nvSpPr>
        <p:spPr>
          <a:xfrm>
            <a:off x="4744900" y="3724990"/>
            <a:ext cx="2700000" cy="2700000"/>
          </a:xfrm>
          <a:prstGeom prst="ellipse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</a:pPr>
            <a:r>
              <a:rPr lang="es-CO" sz="1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Competencias Corporativas</a:t>
            </a:r>
          </a:p>
          <a:p>
            <a:pPr marL="171450" indent="-171450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4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Competencias asociadas a todos los colaboradores de la Organización</a:t>
            </a:r>
          </a:p>
          <a:p>
            <a:pPr marL="171450" indent="-171450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Elipse 25">
            <a:extLst>
              <a:ext uri="{FF2B5EF4-FFF2-40B4-BE49-F238E27FC236}">
                <a16:creationId xmlns:a16="http://schemas.microsoft.com/office/drawing/2014/main" id="{6E12E5F4-1464-433B-B944-DCECC8232DEA}"/>
              </a:ext>
            </a:extLst>
          </p:cNvPr>
          <p:cNvSpPr/>
          <p:nvPr/>
        </p:nvSpPr>
        <p:spPr>
          <a:xfrm>
            <a:off x="2309168" y="2514197"/>
            <a:ext cx="1544226" cy="1514434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Orientación a resultados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Hacemos que las cosas pasen</a:t>
            </a:r>
            <a:endParaRPr lang="es-CO" sz="12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Elipse 26">
            <a:extLst>
              <a:ext uri="{FF2B5EF4-FFF2-40B4-BE49-F238E27FC236}">
                <a16:creationId xmlns:a16="http://schemas.microsoft.com/office/drawing/2014/main" id="{1730E310-1955-4B2C-998F-EC84B4DFF7A0}"/>
              </a:ext>
            </a:extLst>
          </p:cNvPr>
          <p:cNvSpPr/>
          <p:nvPr/>
        </p:nvSpPr>
        <p:spPr>
          <a:xfrm>
            <a:off x="8341804" y="2664880"/>
            <a:ext cx="1541028" cy="1452385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2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Trabajo Colaborativo 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Llegamos todos a la meta</a:t>
            </a:r>
            <a:endParaRPr lang="es-CO" sz="12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8" name="Conector recto 27">
            <a:extLst>
              <a:ext uri="{FF2B5EF4-FFF2-40B4-BE49-F238E27FC236}">
                <a16:creationId xmlns:a16="http://schemas.microsoft.com/office/drawing/2014/main" id="{C7F10FA3-6F53-4E3D-A33E-176F78A2D791}"/>
              </a:ext>
            </a:extLst>
          </p:cNvPr>
          <p:cNvCxnSpPr/>
          <p:nvPr/>
        </p:nvCxnSpPr>
        <p:spPr>
          <a:xfrm>
            <a:off x="3783496" y="3638848"/>
            <a:ext cx="961404" cy="566587"/>
          </a:xfrm>
          <a:prstGeom prst="line">
            <a:avLst/>
          </a:prstGeom>
          <a:ln w="762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Elipse 28">
            <a:extLst>
              <a:ext uri="{FF2B5EF4-FFF2-40B4-BE49-F238E27FC236}">
                <a16:creationId xmlns:a16="http://schemas.microsoft.com/office/drawing/2014/main" id="{A8E1912C-B927-4FCB-A7E1-7971FC88E0CC}"/>
              </a:ext>
            </a:extLst>
          </p:cNvPr>
          <p:cNvSpPr/>
          <p:nvPr/>
        </p:nvSpPr>
        <p:spPr>
          <a:xfrm>
            <a:off x="5325485" y="1082207"/>
            <a:ext cx="1544226" cy="1514435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3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Orientación al Servicio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Garantizamos la mejor experiencia</a:t>
            </a:r>
            <a:endParaRPr lang="es-CO" sz="11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0" name="Grupo 67">
            <a:extLst>
              <a:ext uri="{FF2B5EF4-FFF2-40B4-BE49-F238E27FC236}">
                <a16:creationId xmlns:a16="http://schemas.microsoft.com/office/drawing/2014/main" id="{33801441-E2D4-4074-BB9A-50101800BA33}"/>
              </a:ext>
            </a:extLst>
          </p:cNvPr>
          <p:cNvGrpSpPr/>
          <p:nvPr/>
        </p:nvGrpSpPr>
        <p:grpSpPr>
          <a:xfrm>
            <a:off x="3961456" y="3656615"/>
            <a:ext cx="532800" cy="531051"/>
            <a:chOff x="782922" y="1756877"/>
            <a:chExt cx="784162" cy="768626"/>
          </a:xfrm>
          <a:solidFill>
            <a:schemeClr val="accent1"/>
          </a:solidFill>
        </p:grpSpPr>
        <p:sp>
          <p:nvSpPr>
            <p:cNvPr id="31" name="Elipse 68">
              <a:extLst>
                <a:ext uri="{FF2B5EF4-FFF2-40B4-BE49-F238E27FC236}">
                  <a16:creationId xmlns:a16="http://schemas.microsoft.com/office/drawing/2014/main" id="{EBB8C16E-8268-4891-AD74-E5A1512D3084}"/>
                </a:ext>
              </a:extLst>
            </p:cNvPr>
            <p:cNvSpPr/>
            <p:nvPr/>
          </p:nvSpPr>
          <p:spPr>
            <a:xfrm>
              <a:off x="782922" y="1756877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32" name="Imagen 69">
              <a:extLst>
                <a:ext uri="{FF2B5EF4-FFF2-40B4-BE49-F238E27FC236}">
                  <a16:creationId xmlns:a16="http://schemas.microsoft.com/office/drawing/2014/main" id="{B7581E5A-B85D-4529-94FA-32EDDEE9A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bg1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5756" y="1904931"/>
              <a:ext cx="424257" cy="424257"/>
            </a:xfrm>
            <a:prstGeom prst="rect">
              <a:avLst/>
            </a:prstGeom>
            <a:grpFill/>
          </p:spPr>
        </p:pic>
      </p:grpSp>
      <p:cxnSp>
        <p:nvCxnSpPr>
          <p:cNvPr id="33" name="Conector recto 32">
            <a:extLst>
              <a:ext uri="{FF2B5EF4-FFF2-40B4-BE49-F238E27FC236}">
                <a16:creationId xmlns:a16="http://schemas.microsoft.com/office/drawing/2014/main" id="{A2E65FBE-7786-4E0E-98BA-54BC88C46549}"/>
              </a:ext>
            </a:extLst>
          </p:cNvPr>
          <p:cNvCxnSpPr/>
          <p:nvPr/>
        </p:nvCxnSpPr>
        <p:spPr>
          <a:xfrm flipV="1">
            <a:off x="7444900" y="3724990"/>
            <a:ext cx="961200" cy="565200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70720D52-398A-4825-855D-61129B664D05}"/>
              </a:ext>
            </a:extLst>
          </p:cNvPr>
          <p:cNvCxnSpPr/>
          <p:nvPr/>
        </p:nvCxnSpPr>
        <p:spPr>
          <a:xfrm>
            <a:off x="6097598" y="2559167"/>
            <a:ext cx="0" cy="932671"/>
          </a:xfrm>
          <a:prstGeom prst="line">
            <a:avLst/>
          </a:prstGeom>
          <a:ln w="762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upo 73">
            <a:extLst>
              <a:ext uri="{FF2B5EF4-FFF2-40B4-BE49-F238E27FC236}">
                <a16:creationId xmlns:a16="http://schemas.microsoft.com/office/drawing/2014/main" id="{7D4AFF36-AB34-4646-A638-5C5125F9A9C0}"/>
              </a:ext>
            </a:extLst>
          </p:cNvPr>
          <p:cNvGrpSpPr/>
          <p:nvPr/>
        </p:nvGrpSpPr>
        <p:grpSpPr>
          <a:xfrm>
            <a:off x="5828499" y="2724410"/>
            <a:ext cx="532800" cy="532800"/>
            <a:chOff x="-425833" y="4208805"/>
            <a:chExt cx="784162" cy="768626"/>
          </a:xfrm>
          <a:solidFill>
            <a:schemeClr val="accent3"/>
          </a:solidFill>
        </p:grpSpPr>
        <p:sp>
          <p:nvSpPr>
            <p:cNvPr id="36" name="Elipse 74">
              <a:extLst>
                <a:ext uri="{FF2B5EF4-FFF2-40B4-BE49-F238E27FC236}">
                  <a16:creationId xmlns:a16="http://schemas.microsoft.com/office/drawing/2014/main" id="{20EFBF7F-BCFC-4905-8B9A-66C9740BF8C9}"/>
                </a:ext>
              </a:extLst>
            </p:cNvPr>
            <p:cNvSpPr/>
            <p:nvPr/>
          </p:nvSpPr>
          <p:spPr>
            <a:xfrm>
              <a:off x="-425833" y="4208805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37" name="Imagen 75">
              <a:extLst>
                <a:ext uri="{FF2B5EF4-FFF2-40B4-BE49-F238E27FC236}">
                  <a16:creationId xmlns:a16="http://schemas.microsoft.com/office/drawing/2014/main" id="{F80097EE-F58A-4C0D-8C04-C9619BD40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64435" y="4362104"/>
              <a:ext cx="461366" cy="461366"/>
            </a:xfrm>
            <a:prstGeom prst="rect">
              <a:avLst/>
            </a:prstGeom>
            <a:grpFill/>
          </p:spPr>
        </p:pic>
      </p:grpSp>
      <p:grpSp>
        <p:nvGrpSpPr>
          <p:cNvPr id="38" name="Grupo 79">
            <a:extLst>
              <a:ext uri="{FF2B5EF4-FFF2-40B4-BE49-F238E27FC236}">
                <a16:creationId xmlns:a16="http://schemas.microsoft.com/office/drawing/2014/main" id="{323D98DB-14D7-4AB3-B564-04AFF5A50EF7}"/>
              </a:ext>
            </a:extLst>
          </p:cNvPr>
          <p:cNvGrpSpPr/>
          <p:nvPr/>
        </p:nvGrpSpPr>
        <p:grpSpPr>
          <a:xfrm>
            <a:off x="7682848" y="3724990"/>
            <a:ext cx="532800" cy="532800"/>
            <a:chOff x="481083" y="5440343"/>
            <a:chExt cx="784162" cy="768626"/>
          </a:xfrm>
          <a:solidFill>
            <a:schemeClr val="accent2"/>
          </a:solidFill>
        </p:grpSpPr>
        <p:sp>
          <p:nvSpPr>
            <p:cNvPr id="39" name="Elipse 80">
              <a:extLst>
                <a:ext uri="{FF2B5EF4-FFF2-40B4-BE49-F238E27FC236}">
                  <a16:creationId xmlns:a16="http://schemas.microsoft.com/office/drawing/2014/main" id="{BDF40E10-734B-44AF-A6EA-31CB6EB3090C}"/>
                </a:ext>
              </a:extLst>
            </p:cNvPr>
            <p:cNvSpPr/>
            <p:nvPr/>
          </p:nvSpPr>
          <p:spPr>
            <a:xfrm>
              <a:off x="481083" y="5440343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0" name="Imagen 81">
              <a:extLst>
                <a:ext uri="{FF2B5EF4-FFF2-40B4-BE49-F238E27FC236}">
                  <a16:creationId xmlns:a16="http://schemas.microsoft.com/office/drawing/2014/main" id="{C7B843C7-ABEE-4055-9797-37FF800B68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0422" y="5581988"/>
              <a:ext cx="424257" cy="424257"/>
            </a:xfrm>
            <a:prstGeom prst="rect">
              <a:avLst/>
            </a:prstGeom>
            <a:grpFill/>
          </p:spPr>
        </p:pic>
      </p:grpSp>
      <p:sp>
        <p:nvSpPr>
          <p:cNvPr id="41" name="Arco de bloque 40">
            <a:extLst>
              <a:ext uri="{FF2B5EF4-FFF2-40B4-BE49-F238E27FC236}">
                <a16:creationId xmlns:a16="http://schemas.microsoft.com/office/drawing/2014/main" id="{02F2621A-EDA9-4051-8FC7-7C4D8E8A0326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0800000"/>
              <a:gd name="adj2" fmla="val 21508561"/>
              <a:gd name="adj3" fmla="val 5191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Arco de bloque 41">
            <a:extLst>
              <a:ext uri="{FF2B5EF4-FFF2-40B4-BE49-F238E27FC236}">
                <a16:creationId xmlns:a16="http://schemas.microsoft.com/office/drawing/2014/main" id="{742C0F04-28CE-4D68-9C59-EBFB5F866257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3854379"/>
              <a:gd name="adj2" fmla="val 21508561"/>
              <a:gd name="adj3" fmla="val 5191"/>
            </a:avLst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Arco de bloque 42">
            <a:extLst>
              <a:ext uri="{FF2B5EF4-FFF2-40B4-BE49-F238E27FC236}">
                <a16:creationId xmlns:a16="http://schemas.microsoft.com/office/drawing/2014/main" id="{423EB502-C81C-4D8F-A4E9-E027B983B8C6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8705627"/>
              <a:gd name="adj2" fmla="val 21508561"/>
              <a:gd name="adj3" fmla="val 5191"/>
            </a:avLst>
          </a:prstGeom>
          <a:solidFill>
            <a:schemeClr val="accent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" name="Marcador de pie de página 4">
            <a:extLst>
              <a:ext uri="{FF2B5EF4-FFF2-40B4-BE49-F238E27FC236}">
                <a16:creationId xmlns:a16="http://schemas.microsoft.com/office/drawing/2014/main" id="{FC3C7BCD-4983-45BE-ABA8-BE9196C23A2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1032788778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Orientación a resultados - Hacemos que las cosas pasen</a:t>
            </a:r>
            <a:br>
              <a:rPr lang="es-ES"/>
            </a:br>
            <a:endParaRPr lang="es-ES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Cumplimos con los compromisos con oportunidad y calidad, enfrentando los obstáculos con creatividad y generando oportunidades de mejora continua, que nos permitan lograr y superar las metas establecidas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217</a:t>
            </a:fld>
            <a:endParaRPr lang="es-ES_tradnl"/>
          </a:p>
        </p:txBody>
      </p:sp>
      <p:sp>
        <p:nvSpPr>
          <p:cNvPr id="3" name="Marcador de pie de página 4">
            <a:extLst>
              <a:ext uri="{FF2B5EF4-FFF2-40B4-BE49-F238E27FC236}">
                <a16:creationId xmlns:a16="http://schemas.microsoft.com/office/drawing/2014/main" id="{D6EC8A4F-51AE-4700-BF8A-B3936DD4A96A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2627910916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6F25C380-9115-40EE-A1A4-73C74C2DEC0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218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6F795FA9-3842-4344-B8B5-2AC98DE71BD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Orientación a resultados – Hacemos que las cosas pasen</a:t>
            </a:r>
          </a:p>
          <a:p>
            <a:endParaRPr lang="es-CO"/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B9EAF9DC-2982-4753-A774-F04D66CCA28E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1444401"/>
          <a:ext cx="11087101" cy="678180"/>
        </p:xfrm>
        <a:graphic>
          <a:graphicData uri="http://schemas.openxmlformats.org/drawingml/2006/table">
            <a:tbl>
              <a:tblPr firstCol="1" bandRow="1" bandCol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62550736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000609660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71550336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05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Asistente</a:t>
                      </a:r>
                      <a:b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Auxiliar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Lleva a cabo las actividades bajo su responsabilidad en los tiempos acordados y con la calidad esperada.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656617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Organiza sus actividades con criterios claros de urgencia e importancia.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68751266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Demuestra  dinamismo en su forma de trabajar, transmitiendo a otros vitalidad y energía.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3207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Ve posibilidades de actuación aún en situaciones negativas y trabaja con constancia para conseguir los objetivos planteados.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04476948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15F10554-DB01-47C1-BFE2-96D26305B535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2245793"/>
          <a:ext cx="11087101" cy="708660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398484001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1925938547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2748899634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marL="0" algn="ctr" defTabSz="457200" rtl="0" eaLnBrk="1" fontAlgn="ctr" latinLnBrk="0" hangingPunct="1"/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1" u="none" strike="noStrike" kern="120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Profesional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Analista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Identifica oportunidades de mejora en los procesos en los que participa y propone soluciones de mejora para los mismos.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632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Utiliza herramientas de medición prácticos para evidenciar la consecución de sus resultados.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95744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Propone soluciones y alternativas, manteniendo el foco en el resultado esperado.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627528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Actúa oportunamente para superar los obstáculos presentados en el día a día.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6016308"/>
                  </a:ext>
                </a:extLst>
              </a:tr>
            </a:tbl>
          </a:graphicData>
        </a:graphic>
      </p:graphicFrame>
      <p:graphicFrame>
        <p:nvGraphicFramePr>
          <p:cNvPr id="12" name="Tabla 11">
            <a:extLst>
              <a:ext uri="{FF2B5EF4-FFF2-40B4-BE49-F238E27FC236}">
                <a16:creationId xmlns:a16="http://schemas.microsoft.com/office/drawing/2014/main" id="{C251E8C3-0397-49AD-8BD5-5FC207ADC83E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3077665"/>
          <a:ext cx="11087101" cy="1043940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21255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 la ejecución de las acciones de acuerdo con las prioridades a corto y mediano plazo; controla y encamina los resultados que no se estén dando dentro de su área.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Establece prioridades y objetivos retadores pero alcanzables para sí y para otros, de gran impacto y valor agregado para la organización.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Actúa dando ejemplo de serenidad en contextos conflictivos o no habituales y mantiene su estado de ánimo y su calidad de trabajo.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Planifica y actúa con constancia de acuerdo con las prioridades hasta lograr los objetivos de mediano plazo, superando obstáculos con creatividad y criterio, analizando diferentes escenarios de actuación.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04099"/>
                  </a:ext>
                </a:extLst>
              </a:tr>
            </a:tbl>
          </a:graphicData>
        </a:graphic>
      </p:graphicFrame>
      <p:graphicFrame>
        <p:nvGraphicFramePr>
          <p:cNvPr id="14" name="Tabla 13">
            <a:extLst>
              <a:ext uri="{FF2B5EF4-FFF2-40B4-BE49-F238E27FC236}">
                <a16:creationId xmlns:a16="http://schemas.microsoft.com/office/drawing/2014/main" id="{748A350E-5402-41B1-BF59-FA62ED275B6B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4244817"/>
          <a:ext cx="11087101" cy="1043940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4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Diseña y asigna planes de acción y actividades que permitan lograr y superar los objetivos propuestos.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Plantea alternativas viables para llegar y sobrepasar el resultado organizacional, aprovecha su conocimiento y experiencia en el área, realizando el análisis costo - beneficio de las acciones.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Planea y actúa con constancia, corrigiendo comportamientos para conseguir los objetivos en todas las circunstancias del largo plazo.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Evalúa y monitorea permanentemente los indicadores de su área, estructurando estrategias y planes de contingencia que garanticen y/o excedan el cumplimiento de las metas.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394115"/>
                  </a:ext>
                </a:extLst>
              </a:tr>
            </a:tbl>
          </a:graphicData>
        </a:graphic>
      </p:graphicFrame>
      <p:graphicFrame>
        <p:nvGraphicFramePr>
          <p:cNvPr id="16" name="Tabla 15">
            <a:extLst>
              <a:ext uri="{FF2B5EF4-FFF2-40B4-BE49-F238E27FC236}">
                <a16:creationId xmlns:a16="http://schemas.microsoft.com/office/drawing/2014/main" id="{BB553938-3D49-454E-97E2-38672B116C4F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5411970"/>
          <a:ext cx="11087101" cy="876300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5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Diseña planes directamente relacionados con los objetivos corporativos, estableciendo los estándares y normas a cumplir.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Proyecta los rendimientos sobre la inversión y el análisis costo - beneficio de las acciones, y actúa en consecuencia.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Promueve en sus colaboradores el asumir riesgos calculados en el intento de hacer cosas nuevas, apoyándolos en el proceso.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Ante situaciones con altos niveles de tensión mantiene de manera constante su nivel de desempeño y su buena disposición, y promueve esta competencia en su equipo de trabajo ofreciendo retroalimentación.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623514"/>
                  </a:ext>
                </a:extLst>
              </a:tr>
            </a:tbl>
          </a:graphicData>
        </a:graphic>
      </p:graphicFrame>
      <p:sp>
        <p:nvSpPr>
          <p:cNvPr id="22" name="Marcador de pie de página 4">
            <a:extLst>
              <a:ext uri="{FF2B5EF4-FFF2-40B4-BE49-F238E27FC236}">
                <a16:creationId xmlns:a16="http://schemas.microsoft.com/office/drawing/2014/main" id="{10768325-0130-4F9F-8925-E1FAC91C56E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856988782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Orientación Al Servicio - Garantizamos la mejor experiencia</a:t>
            </a:r>
            <a:endParaRPr lang="es-CO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Tenemos una actitud permanente de ayuda y servicio hacia nuestra red de contactos, anticipándonos, satisfaciendo y superando sus necesidades y expectativas y reconociéndolos como la razón de ser de la Organización. A través de nuestro servicio, fortalecemos la imagen de la Organización y el posicionamiento de nuestros productos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219</a:t>
            </a:fld>
            <a:endParaRPr lang="es-ES_tradnl"/>
          </a:p>
        </p:txBody>
      </p:sp>
      <p:sp>
        <p:nvSpPr>
          <p:cNvPr id="29" name="Marcador de pie de página 4">
            <a:extLst>
              <a:ext uri="{FF2B5EF4-FFF2-40B4-BE49-F238E27FC236}">
                <a16:creationId xmlns:a16="http://schemas.microsoft.com/office/drawing/2014/main" id="{9454C6A9-5169-4947-A29F-9D5558F06FAA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1702183637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AD980A-F067-4778-94D6-880EA52C83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220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D4D787A6-22A5-4FBE-AB33-4A542C11A2D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Orientación al Servicio – Garantizamos la mejor experiencia</a:t>
            </a:r>
          </a:p>
        </p:txBody>
      </p:sp>
      <p:graphicFrame>
        <p:nvGraphicFramePr>
          <p:cNvPr id="18" name="Tabla 17">
            <a:extLst>
              <a:ext uri="{FF2B5EF4-FFF2-40B4-BE49-F238E27FC236}">
                <a16:creationId xmlns:a16="http://schemas.microsoft.com/office/drawing/2014/main" id="{85913AAD-0184-4EF0-8F20-85C523DEED5F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1444401"/>
          <a:ext cx="11087101" cy="678180"/>
        </p:xfrm>
        <a:graphic>
          <a:graphicData uri="http://schemas.openxmlformats.org/drawingml/2006/table">
            <a:tbl>
              <a:tblPr firstCol="1" bandRow="1" bandCol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62550736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000609660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71550336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05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Asistente</a:t>
                      </a:r>
                      <a:b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Auxiliar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Ofrece un servicio oportuno y de calidad a sus grupos de interés, buscando siempre la satisfacción de sus necesidades.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656617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Mantiene una actitud constante y genuina de servicio, demostrando amabilidad, respeto y cordialidad a sus grupos de interés.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68751266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Colabora con otras personas de la empresa para dar la mejor respuesta al cliente.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3207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05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Escucha activamente y comprende las necesidades expresadas por la otra parte.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04476948"/>
                  </a:ext>
                </a:extLst>
              </a:tr>
            </a:tbl>
          </a:graphicData>
        </a:graphic>
      </p:graphicFrame>
      <p:graphicFrame>
        <p:nvGraphicFramePr>
          <p:cNvPr id="20" name="Tabla 19">
            <a:extLst>
              <a:ext uri="{FF2B5EF4-FFF2-40B4-BE49-F238E27FC236}">
                <a16:creationId xmlns:a16="http://schemas.microsoft.com/office/drawing/2014/main" id="{D05CA801-00F8-4D79-A776-209CC55B0522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2270007"/>
          <a:ext cx="11087101" cy="876300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398484001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1925938547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2748899634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marL="0" algn="ctr" defTabSz="457200" rtl="0" eaLnBrk="1" fontAlgn="ctr" latinLnBrk="0" hangingPunct="1"/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1" u="none" strike="noStrike" kern="120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Profesional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Analista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Actualiza permanentemente a sus grupos de interés y presta una atención grata y amable, haciendo seguimiento a la satisfacción del  cliente.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632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Actúa oportunamente en los procesos transversales en los que participa, a fin de optimizar los tiempos de respuesta a requerimientos internos y externos.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95744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Atiende oportunamente los requerimientos de los clientes, orientándose a satisfacer sus necesidades.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627528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Mantiene actualizados a los clientes con relación a los asuntos en curso y responde a sus preguntas, quejas o problemas.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6016308"/>
                  </a:ext>
                </a:extLst>
              </a:tr>
            </a:tbl>
          </a:graphicData>
        </a:graphic>
      </p:graphicFrame>
      <p:graphicFrame>
        <p:nvGraphicFramePr>
          <p:cNvPr id="22" name="Tabla 21">
            <a:extLst>
              <a:ext uri="{FF2B5EF4-FFF2-40B4-BE49-F238E27FC236}">
                <a16:creationId xmlns:a16="http://schemas.microsoft.com/office/drawing/2014/main" id="{86EAC976-B2B7-46B7-ABD3-9C567C8504B7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3293733"/>
          <a:ext cx="11087101" cy="911693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21255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Indaga y mantiene una comunicación abierta con sus grupos de interés, sobre sus expectativas y nivel de satisfacción, y se preocupa porque ellos también conozcan la suyas.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Asesora a sus clientes internos y externos en la toma de decisiones referentes a su área de conocimiento.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Identifica formas de superar las expectativas de sus clientes, brindando soluciones efectivas.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Soluciona los problemas de los clientes con rapidez, comprometiéndose personalmente en su resolución.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04099"/>
                  </a:ext>
                </a:extLst>
              </a:tr>
            </a:tbl>
          </a:graphicData>
        </a:graphic>
      </p:graphicFrame>
      <p:graphicFrame>
        <p:nvGraphicFramePr>
          <p:cNvPr id="24" name="Tabla 23">
            <a:extLst>
              <a:ext uri="{FF2B5EF4-FFF2-40B4-BE49-F238E27FC236}">
                <a16:creationId xmlns:a16="http://schemas.microsoft.com/office/drawing/2014/main" id="{7330BAA4-38E6-4739-A98A-39D033C225C0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4352852"/>
          <a:ext cx="11087101" cy="779446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4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Incentiva, a través del ejemplo, la aplicación del servicio con estándares de calidad.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Garantiza la satisfacción de las expectativas de los clientes internos y externos, ofreciendo un servicio cálido, oportuno, eficiente y profesional.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Identifica y anticipa las necesidades de los clientes con el fin de adecuar los productos y servicios bajo su responsabilidad.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Identifica puntos críticos en la atención y se anticipa a futuros inconvenientes, desarrollando nuevas formas de hacer las cosas.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394115"/>
                  </a:ext>
                </a:extLst>
              </a:tr>
            </a:tbl>
          </a:graphicData>
        </a:graphic>
      </p:graphicFrame>
      <p:graphicFrame>
        <p:nvGraphicFramePr>
          <p:cNvPr id="26" name="Tabla 25">
            <a:extLst>
              <a:ext uri="{FF2B5EF4-FFF2-40B4-BE49-F238E27FC236}">
                <a16:creationId xmlns:a16="http://schemas.microsoft.com/office/drawing/2014/main" id="{6A7BF0B2-D94A-4884-BD56-340B7262788F}"/>
              </a:ext>
            </a:extLst>
          </p:cNvPr>
          <p:cNvGraphicFramePr>
            <a:graphicFrameLocks noGrp="1"/>
          </p:cNvGraphicFramePr>
          <p:nvPr/>
        </p:nvGraphicFramePr>
        <p:xfrm>
          <a:off x="677799" y="5279722"/>
          <a:ext cx="11087101" cy="1079333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5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Identifica cada uno de los grupos de interés (accionistas, proveedores, clientes, gobierno, etc.), creando estrategias para atender a cada uno de acuerdo con su rol.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Diseña las estrategias de negocio, teniendo en cuenta a sus grupos de interés y la satisfacción de sus necesidades.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Indaga proactivamente más allá de las necesidades manifestadas por los clientes; diseña y estructura productos y servicios que satisfagan esas necesidades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Establece una relación con perspectivas de largo plazo con el cliente, para atender sus necesidades.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623514"/>
                  </a:ext>
                </a:extLst>
              </a:tr>
            </a:tbl>
          </a:graphicData>
        </a:graphic>
      </p:graphicFrame>
      <p:sp>
        <p:nvSpPr>
          <p:cNvPr id="27" name="Marcador de pie de página 4">
            <a:extLst>
              <a:ext uri="{FF2B5EF4-FFF2-40B4-BE49-F238E27FC236}">
                <a16:creationId xmlns:a16="http://schemas.microsoft.com/office/drawing/2014/main" id="{79E747AE-A983-40A5-8F75-CB981039218F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1008903285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Trabajo Colaborativo - Llegamos todos a la meta</a:t>
            </a:r>
            <a:br>
              <a:rPr lang="es-ES"/>
            </a:br>
            <a:endParaRPr lang="es-ES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Generamos sinergias que permitan una interacción articulada dentro de la Organización, entendiendo el negocio como un todo y no de forma individual. Demostramos un alto grado de compromiso con otros, comunicándonos de forma efectiva y respetuosa, con el fin de construir en equipo aportes que generen valor y nos permitan alcanzar las metas compartidas.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221</a:t>
            </a:fld>
            <a:endParaRPr lang="es-ES_tradnl"/>
          </a:p>
        </p:txBody>
      </p:sp>
      <p:sp>
        <p:nvSpPr>
          <p:cNvPr id="2" name="Marcador de pie de página 4">
            <a:extLst>
              <a:ext uri="{FF2B5EF4-FFF2-40B4-BE49-F238E27FC236}">
                <a16:creationId xmlns:a16="http://schemas.microsoft.com/office/drawing/2014/main" id="{F84A7A65-8179-4037-A155-99D010C0B576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353701146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AD980A-F067-4778-94D6-880EA52C83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222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D4D787A6-22A5-4FBE-AB33-4A542C11A2D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Trabajo Colaborativo - </a:t>
            </a:r>
            <a:r>
              <a:rPr lang="es-ES"/>
              <a:t>Llegamos todos a la meta</a:t>
            </a:r>
          </a:p>
        </p:txBody>
      </p:sp>
      <p:graphicFrame>
        <p:nvGraphicFramePr>
          <p:cNvPr id="18" name="Tabla 17">
            <a:extLst>
              <a:ext uri="{FF2B5EF4-FFF2-40B4-BE49-F238E27FC236}">
                <a16:creationId xmlns:a16="http://schemas.microsoft.com/office/drawing/2014/main" id="{85913AAD-0184-4EF0-8F20-85C523DEED5F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1444401"/>
          <a:ext cx="11087101" cy="708660"/>
        </p:xfrm>
        <a:graphic>
          <a:graphicData uri="http://schemas.openxmlformats.org/drawingml/2006/table">
            <a:tbl>
              <a:tblPr firstCol="1" bandRow="1" bandCol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62550736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000609660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71550336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05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Asistente</a:t>
                      </a:r>
                      <a:b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050" u="none" strike="noStrike">
                          <a:solidFill>
                            <a:schemeClr val="accent1"/>
                          </a:solidFill>
                          <a:effectLst/>
                        </a:rPr>
                        <a:t>Auxiliar</a:t>
                      </a:r>
                      <a:endParaRPr lang="es-CO" sz="105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Asume apropiadamente su responsabilidad y participa con otros para el logro del resultado.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9656617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Aporta y genera ideas que faciliten el logro de los objetivos, comunicándolas oportunamente.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68751266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Establece relaciones cercanas, amables y respetuosas con los demás.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3207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Habla con claridad de los temas que maneja, buscando que los demás los comprendan adecuadamente.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04476948"/>
                  </a:ext>
                </a:extLst>
              </a:tr>
            </a:tbl>
          </a:graphicData>
        </a:graphic>
      </p:graphicFrame>
      <p:graphicFrame>
        <p:nvGraphicFramePr>
          <p:cNvPr id="20" name="Tabla 19">
            <a:extLst>
              <a:ext uri="{FF2B5EF4-FFF2-40B4-BE49-F238E27FC236}">
                <a16:creationId xmlns:a16="http://schemas.microsoft.com/office/drawing/2014/main" id="{D05CA801-00F8-4D79-A776-209CC55B0522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2334777"/>
          <a:ext cx="11087101" cy="708660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398484001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1925938547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2748899634"/>
                    </a:ext>
                  </a:extLst>
                </a:gridCol>
              </a:tblGrid>
              <a:tr h="139148">
                <a:tc rowSpan="4">
                  <a:txBody>
                    <a:bodyPr/>
                    <a:lstStyle/>
                    <a:p>
                      <a:pPr marL="0" algn="ctr" defTabSz="457200" rtl="0" eaLnBrk="1" fontAlgn="ctr" latinLnBrk="0" hangingPunct="1"/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 kern="120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1" u="none" strike="noStrike" kern="120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Profesional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Analista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Interactúa adecuadamente comunicando y compartiendo su conocimiento con otros para alcanzar los objetivos del grupo.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63252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En su relación con los miembros de la organización respeta sus opiniones y valora los diferentes aportes y las contribuciones de los mismos.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95744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Se comunica de forma asertiva, manteniendo un buen trato con todas las personas.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6275283"/>
                  </a:ext>
                </a:extLst>
              </a:tr>
              <a:tr h="13914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Se muestra receptivo ante la retroalimentación que le brindan los miembros de la organización, tomándola como una forma de aprender.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6016308"/>
                  </a:ext>
                </a:extLst>
              </a:tr>
            </a:tbl>
          </a:graphicData>
        </a:graphic>
      </p:graphicFrame>
      <p:graphicFrame>
        <p:nvGraphicFramePr>
          <p:cNvPr id="22" name="Tabla 21">
            <a:extLst>
              <a:ext uri="{FF2B5EF4-FFF2-40B4-BE49-F238E27FC236}">
                <a16:creationId xmlns:a16="http://schemas.microsoft.com/office/drawing/2014/main" id="{86EAC976-B2B7-46B7-ABD3-9C567C8504B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3225152"/>
          <a:ext cx="11087101" cy="779446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21255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Se desempeña con eficiencia, entendiendo cómo el cumplimiento de sus actividades impacta en las diferentes áreas.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Contribuye por iniciativa propia, en forma cooperativa y coordinada con las personas y equipos  en los que participa en la búsqueda del resultado.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Mantiene relaciones productivas con clientes, colegas y compañeros de trabajo.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Llega a acuerdos con los diferentes miembros de la organización, manteniendo claridad en la oferta de valor presentada, desde el inicio hasta el final.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04099"/>
                  </a:ext>
                </a:extLst>
              </a:tr>
            </a:tbl>
          </a:graphicData>
        </a:graphic>
      </p:graphicFrame>
      <p:graphicFrame>
        <p:nvGraphicFramePr>
          <p:cNvPr id="24" name="Tabla 23">
            <a:extLst>
              <a:ext uri="{FF2B5EF4-FFF2-40B4-BE49-F238E27FC236}">
                <a16:creationId xmlns:a16="http://schemas.microsoft.com/office/drawing/2014/main" id="{7330BAA4-38E6-4739-A98A-39D033C225C0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4186313"/>
          <a:ext cx="11087101" cy="911693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4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Desarrolla las estrategias y los planes de acción de su área, identificando a la compañía como un todo y no sólo como los procesos de su área.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Diseña estrategias orientadas a alcanzar el objetivo común más que intereses individuales.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Comparte información importante para su área y la compañía, utilizando los canales de comunicación adecuados.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Desarrolla y promueve un clima caracterizado por la comunicación, la confianza, la cooperación y la motivación, con el fin de generar soluciones efectivas en momentos en los que se generan conflictos internos.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394115"/>
                  </a:ext>
                </a:extLst>
              </a:tr>
            </a:tbl>
          </a:graphicData>
        </a:graphic>
      </p:graphicFrame>
      <p:graphicFrame>
        <p:nvGraphicFramePr>
          <p:cNvPr id="26" name="Tabla 25">
            <a:extLst>
              <a:ext uri="{FF2B5EF4-FFF2-40B4-BE49-F238E27FC236}">
                <a16:creationId xmlns:a16="http://schemas.microsoft.com/office/drawing/2014/main" id="{6A7BF0B2-D94A-4884-BD56-340B7262788F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5279722"/>
          <a:ext cx="11087101" cy="1043940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13914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5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Orienta sus decisiones y actuaciones para conseguir metas organizacionales, generando sinergias con otras áreas con el fin de movilizar los procesos de manera integrada.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Cuando lo considera necesario, reorienta la estructura del equipo para impactar la efectividad del mismo.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13914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Comunica a los principales grupos de interés el estado y avance del logro de las metas bajo su responsabilidad.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  <a:tr h="21255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Construye redes de relaciones y contactos estratégicos, que le permitan identificar oportunidades relacionadas con los negocios, y actúa en consecuencia.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623514"/>
                  </a:ext>
                </a:extLst>
              </a:tr>
            </a:tbl>
          </a:graphicData>
        </a:graphic>
      </p:graphicFrame>
      <p:sp>
        <p:nvSpPr>
          <p:cNvPr id="11" name="Marcador de pie de página 4">
            <a:extLst>
              <a:ext uri="{FF2B5EF4-FFF2-40B4-BE49-F238E27FC236}">
                <a16:creationId xmlns:a16="http://schemas.microsoft.com/office/drawing/2014/main" id="{BF995FEB-687A-473B-80D2-9ACCF5259928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2762438073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9A42891F-52DF-49D7-BC5C-5D563E50DBC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El segundo nivel incluye las Competencias Directivas, asociadas a </a:t>
            </a:r>
            <a:r>
              <a:rPr lang="es-ES"/>
              <a:t>los colaboradores que ocupan cargos con responsabilidad sobre otros cargos</a:t>
            </a:r>
            <a:endParaRPr lang="es-CO"/>
          </a:p>
        </p:txBody>
      </p:sp>
      <p:sp>
        <p:nvSpPr>
          <p:cNvPr id="25" name="Elipse 24">
            <a:extLst>
              <a:ext uri="{FF2B5EF4-FFF2-40B4-BE49-F238E27FC236}">
                <a16:creationId xmlns:a16="http://schemas.microsoft.com/office/drawing/2014/main" id="{D391E4E1-2506-4EEB-905D-920AE6C873A8}"/>
              </a:ext>
            </a:extLst>
          </p:cNvPr>
          <p:cNvSpPr/>
          <p:nvPr/>
        </p:nvSpPr>
        <p:spPr>
          <a:xfrm>
            <a:off x="4744900" y="3724990"/>
            <a:ext cx="2700000" cy="2700000"/>
          </a:xfrm>
          <a:prstGeom prst="ellipse">
            <a:avLst/>
          </a:prstGeom>
          <a:solidFill>
            <a:schemeClr val="bg2"/>
          </a:solidFill>
        </p:spPr>
        <p:txBody>
          <a:bodyPr rot="0" spcFirstLastPara="0" vertOverflow="overflow" horzOverflow="overflow" vert="horz" wrap="square" lIns="0" tIns="45720" rIns="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</a:pPr>
            <a:r>
              <a:rPr lang="es-CO" sz="1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Competencias Directivas</a:t>
            </a:r>
          </a:p>
        </p:txBody>
      </p:sp>
      <p:sp>
        <p:nvSpPr>
          <p:cNvPr id="26" name="Elipse 25">
            <a:extLst>
              <a:ext uri="{FF2B5EF4-FFF2-40B4-BE49-F238E27FC236}">
                <a16:creationId xmlns:a16="http://schemas.microsoft.com/office/drawing/2014/main" id="{6E12E5F4-1464-433B-B944-DCECC8232DEA}"/>
              </a:ext>
            </a:extLst>
          </p:cNvPr>
          <p:cNvSpPr/>
          <p:nvPr/>
        </p:nvSpPr>
        <p:spPr>
          <a:xfrm>
            <a:off x="2309168" y="2514197"/>
            <a:ext cx="1544226" cy="1514434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Visión Estratégica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Nos anticipamos</a:t>
            </a:r>
            <a:endParaRPr lang="es-CO" sz="12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Elipse 26">
            <a:extLst>
              <a:ext uri="{FF2B5EF4-FFF2-40B4-BE49-F238E27FC236}">
                <a16:creationId xmlns:a16="http://schemas.microsoft.com/office/drawing/2014/main" id="{1730E310-1955-4B2C-998F-EC84B4DFF7A0}"/>
              </a:ext>
            </a:extLst>
          </p:cNvPr>
          <p:cNvSpPr/>
          <p:nvPr/>
        </p:nvSpPr>
        <p:spPr>
          <a:xfrm>
            <a:off x="8341804" y="2664880"/>
            <a:ext cx="1541028" cy="1452385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2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Empoderar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ES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Confiamos en el talento</a:t>
            </a:r>
            <a:endParaRPr lang="es-CO" sz="12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8" name="Conector recto 27">
            <a:extLst>
              <a:ext uri="{FF2B5EF4-FFF2-40B4-BE49-F238E27FC236}">
                <a16:creationId xmlns:a16="http://schemas.microsoft.com/office/drawing/2014/main" id="{C7F10FA3-6F53-4E3D-A33E-176F78A2D791}"/>
              </a:ext>
            </a:extLst>
          </p:cNvPr>
          <p:cNvCxnSpPr/>
          <p:nvPr/>
        </p:nvCxnSpPr>
        <p:spPr>
          <a:xfrm>
            <a:off x="3783496" y="3638848"/>
            <a:ext cx="961404" cy="566587"/>
          </a:xfrm>
          <a:prstGeom prst="line">
            <a:avLst/>
          </a:prstGeom>
          <a:ln w="762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Elipse 28">
            <a:extLst>
              <a:ext uri="{FF2B5EF4-FFF2-40B4-BE49-F238E27FC236}">
                <a16:creationId xmlns:a16="http://schemas.microsoft.com/office/drawing/2014/main" id="{A8E1912C-B927-4FCB-A7E1-7971FC88E0CC}"/>
              </a:ext>
            </a:extLst>
          </p:cNvPr>
          <p:cNvSpPr/>
          <p:nvPr/>
        </p:nvSpPr>
        <p:spPr>
          <a:xfrm>
            <a:off x="5325485" y="1082207"/>
            <a:ext cx="1544226" cy="1514435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accent3"/>
            </a:solidFill>
          </a:ln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4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Inspirar a Otros</a:t>
            </a:r>
          </a:p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</a:pPr>
            <a:r>
              <a:rPr lang="es-CO" sz="12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Lideramos con el ejemplo</a:t>
            </a:r>
            <a:endParaRPr lang="es-CO" sz="110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0" name="Grupo 67">
            <a:extLst>
              <a:ext uri="{FF2B5EF4-FFF2-40B4-BE49-F238E27FC236}">
                <a16:creationId xmlns:a16="http://schemas.microsoft.com/office/drawing/2014/main" id="{33801441-E2D4-4074-BB9A-50101800BA33}"/>
              </a:ext>
            </a:extLst>
          </p:cNvPr>
          <p:cNvGrpSpPr/>
          <p:nvPr/>
        </p:nvGrpSpPr>
        <p:grpSpPr>
          <a:xfrm>
            <a:off x="3961456" y="3656615"/>
            <a:ext cx="532800" cy="531051"/>
            <a:chOff x="782922" y="1756877"/>
            <a:chExt cx="784162" cy="768626"/>
          </a:xfrm>
          <a:solidFill>
            <a:schemeClr val="accent1"/>
          </a:solidFill>
        </p:grpSpPr>
        <p:sp>
          <p:nvSpPr>
            <p:cNvPr id="31" name="Elipse 68">
              <a:extLst>
                <a:ext uri="{FF2B5EF4-FFF2-40B4-BE49-F238E27FC236}">
                  <a16:creationId xmlns:a16="http://schemas.microsoft.com/office/drawing/2014/main" id="{EBB8C16E-8268-4891-AD74-E5A1512D3084}"/>
                </a:ext>
              </a:extLst>
            </p:cNvPr>
            <p:cNvSpPr/>
            <p:nvPr/>
          </p:nvSpPr>
          <p:spPr>
            <a:xfrm>
              <a:off x="782922" y="1756877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32" name="Imagen 69">
              <a:extLst>
                <a:ext uri="{FF2B5EF4-FFF2-40B4-BE49-F238E27FC236}">
                  <a16:creationId xmlns:a16="http://schemas.microsoft.com/office/drawing/2014/main" id="{B7581E5A-B85D-4529-94FA-32EDDEE9A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bg1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5756" y="1904931"/>
              <a:ext cx="424257" cy="424257"/>
            </a:xfrm>
            <a:prstGeom prst="rect">
              <a:avLst/>
            </a:prstGeom>
            <a:grpFill/>
          </p:spPr>
        </p:pic>
      </p:grpSp>
      <p:cxnSp>
        <p:nvCxnSpPr>
          <p:cNvPr id="33" name="Conector recto 32">
            <a:extLst>
              <a:ext uri="{FF2B5EF4-FFF2-40B4-BE49-F238E27FC236}">
                <a16:creationId xmlns:a16="http://schemas.microsoft.com/office/drawing/2014/main" id="{A2E65FBE-7786-4E0E-98BA-54BC88C46549}"/>
              </a:ext>
            </a:extLst>
          </p:cNvPr>
          <p:cNvCxnSpPr/>
          <p:nvPr/>
        </p:nvCxnSpPr>
        <p:spPr>
          <a:xfrm flipV="1">
            <a:off x="7444900" y="3724990"/>
            <a:ext cx="961200" cy="565200"/>
          </a:xfrm>
          <a:prstGeom prst="line">
            <a:avLst/>
          </a:prstGeom>
          <a:ln w="762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70720D52-398A-4825-855D-61129B664D05}"/>
              </a:ext>
            </a:extLst>
          </p:cNvPr>
          <p:cNvCxnSpPr/>
          <p:nvPr/>
        </p:nvCxnSpPr>
        <p:spPr>
          <a:xfrm>
            <a:off x="6097598" y="2559167"/>
            <a:ext cx="0" cy="932671"/>
          </a:xfrm>
          <a:prstGeom prst="line">
            <a:avLst/>
          </a:prstGeom>
          <a:ln w="762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upo 73">
            <a:extLst>
              <a:ext uri="{FF2B5EF4-FFF2-40B4-BE49-F238E27FC236}">
                <a16:creationId xmlns:a16="http://schemas.microsoft.com/office/drawing/2014/main" id="{7D4AFF36-AB34-4646-A638-5C5125F9A9C0}"/>
              </a:ext>
            </a:extLst>
          </p:cNvPr>
          <p:cNvGrpSpPr/>
          <p:nvPr/>
        </p:nvGrpSpPr>
        <p:grpSpPr>
          <a:xfrm>
            <a:off x="5828499" y="2724410"/>
            <a:ext cx="532800" cy="532800"/>
            <a:chOff x="-425833" y="4208805"/>
            <a:chExt cx="784162" cy="768626"/>
          </a:xfrm>
          <a:solidFill>
            <a:schemeClr val="accent3"/>
          </a:solidFill>
        </p:grpSpPr>
        <p:sp>
          <p:nvSpPr>
            <p:cNvPr id="36" name="Elipse 74">
              <a:extLst>
                <a:ext uri="{FF2B5EF4-FFF2-40B4-BE49-F238E27FC236}">
                  <a16:creationId xmlns:a16="http://schemas.microsoft.com/office/drawing/2014/main" id="{20EFBF7F-BCFC-4905-8B9A-66C9740BF8C9}"/>
                </a:ext>
              </a:extLst>
            </p:cNvPr>
            <p:cNvSpPr/>
            <p:nvPr/>
          </p:nvSpPr>
          <p:spPr>
            <a:xfrm>
              <a:off x="-425833" y="4208805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37" name="Imagen 75">
              <a:extLst>
                <a:ext uri="{FF2B5EF4-FFF2-40B4-BE49-F238E27FC236}">
                  <a16:creationId xmlns:a16="http://schemas.microsoft.com/office/drawing/2014/main" id="{F80097EE-F58A-4C0D-8C04-C9619BD40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64435" y="4362104"/>
              <a:ext cx="461366" cy="461366"/>
            </a:xfrm>
            <a:prstGeom prst="rect">
              <a:avLst/>
            </a:prstGeom>
            <a:grpFill/>
          </p:spPr>
        </p:pic>
      </p:grpSp>
      <p:grpSp>
        <p:nvGrpSpPr>
          <p:cNvPr id="38" name="Grupo 79">
            <a:extLst>
              <a:ext uri="{FF2B5EF4-FFF2-40B4-BE49-F238E27FC236}">
                <a16:creationId xmlns:a16="http://schemas.microsoft.com/office/drawing/2014/main" id="{323D98DB-14D7-4AB3-B564-04AFF5A50EF7}"/>
              </a:ext>
            </a:extLst>
          </p:cNvPr>
          <p:cNvGrpSpPr/>
          <p:nvPr/>
        </p:nvGrpSpPr>
        <p:grpSpPr>
          <a:xfrm>
            <a:off x="7682848" y="3724990"/>
            <a:ext cx="532800" cy="532800"/>
            <a:chOff x="481083" y="5440343"/>
            <a:chExt cx="784162" cy="768626"/>
          </a:xfrm>
          <a:solidFill>
            <a:schemeClr val="accent2"/>
          </a:solidFill>
        </p:grpSpPr>
        <p:sp>
          <p:nvSpPr>
            <p:cNvPr id="39" name="Elipse 80">
              <a:extLst>
                <a:ext uri="{FF2B5EF4-FFF2-40B4-BE49-F238E27FC236}">
                  <a16:creationId xmlns:a16="http://schemas.microsoft.com/office/drawing/2014/main" id="{BDF40E10-734B-44AF-A6EA-31CB6EB3090C}"/>
                </a:ext>
              </a:extLst>
            </p:cNvPr>
            <p:cNvSpPr/>
            <p:nvPr/>
          </p:nvSpPr>
          <p:spPr>
            <a:xfrm>
              <a:off x="481083" y="5440343"/>
              <a:ext cx="784162" cy="768626"/>
            </a:xfrm>
            <a:prstGeom prst="ellipse">
              <a:avLst/>
            </a:prstGeom>
            <a:grpFill/>
          </p:spPr>
          <p:txBody>
  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 algn="l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bg2"/>
                </a:buClr>
                <a:buFont typeface="Arial" panose="020B0604020202020204" pitchFamily="34" charset="0"/>
                <a:buChar char="•"/>
              </a:pPr>
              <a:endParaRPr lang="es-CO" sz="1200" err="1">
                <a:solidFill>
                  <a:schemeClr val="bg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0" name="Imagen 81">
              <a:extLst>
                <a:ext uri="{FF2B5EF4-FFF2-40B4-BE49-F238E27FC236}">
                  <a16:creationId xmlns:a16="http://schemas.microsoft.com/office/drawing/2014/main" id="{C7B843C7-ABEE-4055-9797-37FF800B68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0422" y="5581988"/>
              <a:ext cx="424257" cy="424257"/>
            </a:xfrm>
            <a:prstGeom prst="rect">
              <a:avLst/>
            </a:prstGeom>
            <a:grpFill/>
          </p:spPr>
        </p:pic>
      </p:grpSp>
      <p:sp>
        <p:nvSpPr>
          <p:cNvPr id="41" name="Arco de bloque 40">
            <a:extLst>
              <a:ext uri="{FF2B5EF4-FFF2-40B4-BE49-F238E27FC236}">
                <a16:creationId xmlns:a16="http://schemas.microsoft.com/office/drawing/2014/main" id="{02F2621A-EDA9-4051-8FC7-7C4D8E8A0326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0800000"/>
              <a:gd name="adj2" fmla="val 21508561"/>
              <a:gd name="adj3" fmla="val 5191"/>
            </a:avLst>
          </a:prstGeom>
          <a:solidFill>
            <a:schemeClr val="accent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Arco de bloque 41">
            <a:extLst>
              <a:ext uri="{FF2B5EF4-FFF2-40B4-BE49-F238E27FC236}">
                <a16:creationId xmlns:a16="http://schemas.microsoft.com/office/drawing/2014/main" id="{742C0F04-28CE-4D68-9C59-EBFB5F866257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3854379"/>
              <a:gd name="adj2" fmla="val 21508561"/>
              <a:gd name="adj3" fmla="val 5191"/>
            </a:avLst>
          </a:prstGeom>
          <a:solidFill>
            <a:schemeClr val="accent3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Arco de bloque 42">
            <a:extLst>
              <a:ext uri="{FF2B5EF4-FFF2-40B4-BE49-F238E27FC236}">
                <a16:creationId xmlns:a16="http://schemas.microsoft.com/office/drawing/2014/main" id="{423EB502-C81C-4D8F-A4E9-E027B983B8C6}"/>
              </a:ext>
            </a:extLst>
          </p:cNvPr>
          <p:cNvSpPr/>
          <p:nvPr/>
        </p:nvSpPr>
        <p:spPr>
          <a:xfrm>
            <a:off x="4433414" y="3419061"/>
            <a:ext cx="3322971" cy="3418164"/>
          </a:xfrm>
          <a:prstGeom prst="blockArc">
            <a:avLst>
              <a:gd name="adj1" fmla="val 18705627"/>
              <a:gd name="adj2" fmla="val 21508561"/>
              <a:gd name="adj3" fmla="val 5191"/>
            </a:avLst>
          </a:prstGeom>
          <a:solidFill>
            <a:schemeClr val="accent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CD608972-154D-4761-928F-26838315D339}"/>
              </a:ext>
            </a:extLst>
          </p:cNvPr>
          <p:cNvSpPr txBox="1"/>
          <p:nvPr/>
        </p:nvSpPr>
        <p:spPr>
          <a:xfrm>
            <a:off x="4923825" y="4714599"/>
            <a:ext cx="2342148" cy="10618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4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Competencias asociadas a los colaboradores que ocupan cargos con responsabilidad sobre otros cargos</a:t>
            </a:r>
          </a:p>
        </p:txBody>
      </p:sp>
      <p:sp>
        <p:nvSpPr>
          <p:cNvPr id="23" name="Marcador de pie de página 4">
            <a:extLst>
              <a:ext uri="{FF2B5EF4-FFF2-40B4-BE49-F238E27FC236}">
                <a16:creationId xmlns:a16="http://schemas.microsoft.com/office/drawing/2014/main" id="{0EB09C41-5068-4017-A16B-299FCC23F8D1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751083643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Visión Estratégica - Nos anticipamos</a:t>
            </a:r>
            <a:br>
              <a:rPr lang="es-ES"/>
            </a:br>
            <a:r>
              <a:rPr lang="es-ES"/>
              <a:t> </a:t>
            </a:r>
            <a:br>
              <a:rPr lang="es-ES"/>
            </a:br>
            <a:br>
              <a:rPr lang="es-ES"/>
            </a:br>
            <a:endParaRPr lang="es-ES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Analizamos las situaciones desde una perspectiva integral, identificando sus elementos y su relación con el entorno, para plantear diferentes alternativas. Retamos la manera actual de hacer las cosas, explorando nuevas posibilidades y nos anticipamos a las implicaciones de una situación en las acciones y decisiones tomadas. 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224</a:t>
            </a:fld>
            <a:endParaRPr lang="es-ES_tradnl"/>
          </a:p>
        </p:txBody>
      </p:sp>
      <p:sp>
        <p:nvSpPr>
          <p:cNvPr id="2" name="Marcador de pie de página 4">
            <a:extLst>
              <a:ext uri="{FF2B5EF4-FFF2-40B4-BE49-F238E27FC236}">
                <a16:creationId xmlns:a16="http://schemas.microsoft.com/office/drawing/2014/main" id="{80A466DC-96D7-45DE-B7C9-BC16B80437AC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2298521573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576B189-0BD9-44CC-96BD-54F19E45EC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225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783AAAD2-B1DA-444E-9389-615F8839CDE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Visión Estratégica - Nos anticipamos</a:t>
            </a:r>
          </a:p>
          <a:p>
            <a:endParaRPr lang="es-CO"/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F61C5103-DABC-4F6B-80B2-336A354900E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1803040"/>
          <a:ext cx="11087101" cy="1027284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38852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Tiene una visión global e identifica los asuntos organizacionales más importantes en el corto y mediano plazo, detectando las oportunidades y dificultades relacionadas.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19962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Efectúa control y seguimiento de sus resultados y de los procesos a su cargo desde el punto de vista general de la compañía.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19962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Asume la responsabilidad de las decisiones tomadas.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  <a:tr h="23950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Toma decisiones y genera soluciones con base en la conexión de información, analizando pros y contras.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04099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869F9585-CE65-48C9-A96C-C2F5C30E38F5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2943188"/>
          <a:ext cx="11087101" cy="1027284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19962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Formula estrategias alineando la gestión y los resultados de su área a la visión de largo plazo del negocio.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23950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Estudia y analiza la dinámica de la industria y el entorno, planteando estrategias de negocio, identificando oportunidades a largo plazo.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199627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Apoya las decisiones que benefician a toda la organización, aunque puedan resultar impopulares o vayan en contra de su área en el corto plazo.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  <a:tr h="388522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Se asegura que el grupo disponga de la información necesaria para realizar su trabajo y expone con argumentos las razones en las que se basan las decisiones tomadas.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394115"/>
                  </a:ext>
                </a:extLst>
              </a:tr>
            </a:tbl>
          </a:graphicData>
        </a:graphic>
      </p:graphicFrame>
      <p:graphicFrame>
        <p:nvGraphicFramePr>
          <p:cNvPr id="12" name="Tabla 11">
            <a:extLst>
              <a:ext uri="{FF2B5EF4-FFF2-40B4-BE49-F238E27FC236}">
                <a16:creationId xmlns:a16="http://schemas.microsoft.com/office/drawing/2014/main" id="{36A03CC6-CC33-4FB6-BCB4-447D927C18A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4083336"/>
          <a:ext cx="11087101" cy="1253010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40028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Identifica y evalúa los riesgos asociados a la consecución de los objetivos organizacionales, manteniendo y mejorando el posicionamiento de la empresa frente al mercado.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400288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Establece un plan de acción para alcanzar un objetivo o visión a largo plazo, incluyendo múltiples escenarios y planes de contingencia con base en la identificación de una gran variedad de problemas potenciales o posibilidades futuras del negocio.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205673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 creativo en alternativas y soluciones, capaz de innovar y de analizar las situaciones desde diferentes perspectivas.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  <a:tr h="246761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Basado en cifras, datos y hechos reales, asume riesgos y toma decisiones.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623514"/>
                  </a:ext>
                </a:extLst>
              </a:tr>
            </a:tbl>
          </a:graphicData>
        </a:graphic>
      </p:graphicFrame>
      <p:sp>
        <p:nvSpPr>
          <p:cNvPr id="13" name="Marcador de pie de página 4">
            <a:extLst>
              <a:ext uri="{FF2B5EF4-FFF2-40B4-BE49-F238E27FC236}">
                <a16:creationId xmlns:a16="http://schemas.microsoft.com/office/drawing/2014/main" id="{447D9393-55B3-42B5-81E7-B3C2E913391C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1652920258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Inspirar a Otros - Lideramos con el ejemplo</a:t>
            </a:r>
            <a:br>
              <a:rPr lang="es-ES"/>
            </a:br>
            <a:endParaRPr lang="es-ES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Motivamos las acciones de otros a través del ejemplo, somos coherentes en el discurso y la actuación. Creemos en el potencial individual y colectivo de los equipos, valoramos y facilitamos la construcción conjunta de soluciones, garantizando resultados ágiles y sostenibles.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226</a:t>
            </a:fld>
            <a:endParaRPr lang="es-ES_tradnl"/>
          </a:p>
        </p:txBody>
      </p:sp>
      <p:sp>
        <p:nvSpPr>
          <p:cNvPr id="2" name="Marcador de pie de página 4">
            <a:extLst>
              <a:ext uri="{FF2B5EF4-FFF2-40B4-BE49-F238E27FC236}">
                <a16:creationId xmlns:a16="http://schemas.microsoft.com/office/drawing/2014/main" id="{F8AA3695-A7F5-4843-AAF0-3219768A74DE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4266633766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576B189-0BD9-44CC-96BD-54F19E45EC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227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783AAAD2-B1DA-444E-9389-615F8839CDE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Inspirar a Otros - Lideramos con el ejemplo</a:t>
            </a:r>
          </a:p>
          <a:p>
            <a:endParaRPr lang="es-CO"/>
          </a:p>
          <a:p>
            <a:endParaRPr lang="es-CO"/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F61C5103-DABC-4F6B-80B2-336A354900E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1803039"/>
          <a:ext cx="11087101" cy="741554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27805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Trabaja habitualmente con buen nivel de energía, y logra que el equipo rinda en la misma medida.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231752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Es confiable y es buscado como referente para resolver dudas, por su reconocida experiencia.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231752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El grupo lo percibe como lider para llevar adelante proyectos en los que se le reconoce su experiencia.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869F9585-CE65-48C9-A96C-C2F5C30E38F5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2669854"/>
          <a:ext cx="11087101" cy="884407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21331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Es confiable, y un referente que genera lealtad.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255930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Motiva a cada uno de acuerdo con sus necesidades, y en </a:t>
                      </a:r>
                      <a:r>
                        <a:rPr lang="es-CO" sz="1100" u="none" strike="noStrike" err="1">
                          <a:solidFill>
                            <a:schemeClr val="accent1"/>
                          </a:solidFill>
                          <a:effectLst/>
                        </a:rPr>
                        <a:t>pos</a:t>
                      </a: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 del logro de los objetivos generales e individuales de desarrollo.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415162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Tiene energía y perseverancia y las transmite con su ejemplo a los demás, logrando que su gente desarrolle también sus tareas con alto nivel de energia.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</a:tbl>
          </a:graphicData>
        </a:graphic>
      </p:graphicFrame>
      <p:graphicFrame>
        <p:nvGraphicFramePr>
          <p:cNvPr id="12" name="Tabla 11">
            <a:extLst>
              <a:ext uri="{FF2B5EF4-FFF2-40B4-BE49-F238E27FC236}">
                <a16:creationId xmlns:a16="http://schemas.microsoft.com/office/drawing/2014/main" id="{36A03CC6-CC33-4FB6-BCB4-447D927C18A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3679521"/>
          <a:ext cx="11087101" cy="884407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22411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Orienta la acción de sus grupos en la dirección necesaria para el logro de los objetivos.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224114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Inspira con su ejemplo ; brinda valores de acción.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436179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Fija objetivos, los transmite claramente, realiza su seguimiento y da coaching y feedback sobre el avance registrado, integrando opiniones de los diversos integrantes de cada grupo.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</a:tbl>
          </a:graphicData>
        </a:graphic>
      </p:graphicFrame>
      <p:sp>
        <p:nvSpPr>
          <p:cNvPr id="9" name="Marcador de pie de página 4">
            <a:extLst>
              <a:ext uri="{FF2B5EF4-FFF2-40B4-BE49-F238E27FC236}">
                <a16:creationId xmlns:a16="http://schemas.microsoft.com/office/drawing/2014/main" id="{BEA93189-3B9B-4E8C-80B6-F1558ADDE0EB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86054050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B0DB0778-913D-4E58-AD88-255E08A8F7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Empoderar - Confiamos en el talento</a:t>
            </a:r>
            <a:br>
              <a:rPr lang="es-ES"/>
            </a:br>
            <a:endParaRPr lang="es-ES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9A130152-F204-45B2-A5D7-6E7208B79F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449263" indent="-274638"/>
            <a:r>
              <a:rPr lang="es-ES" sz="2000"/>
              <a:t>Orientamos y delegamos actividades a nuestros colaboradores, brindándoles capacidad de actuación y confiando en que pueden asumir responsabilidades de mayor alcance. Facilitamos el desarrollo de sus competencias generando oportunidades de crecimiento integral, a través de retroalimentación oportuna que logre mejores resultados.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7C87D96-2030-4A0F-A239-4D8C1F3D5EC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180763" y="6448425"/>
            <a:ext cx="1011237" cy="365125"/>
          </a:xfrm>
        </p:spPr>
        <p:txBody>
          <a:bodyPr/>
          <a:lstStyle/>
          <a:p>
            <a:fld id="{D78FD53B-C5CD-D448-BDB2-D08197FF28F2}" type="slidenum">
              <a:rPr lang="es-ES_tradnl" smtClean="0"/>
              <a:pPr/>
              <a:t>228</a:t>
            </a:fld>
            <a:endParaRPr lang="es-ES_tradnl"/>
          </a:p>
        </p:txBody>
      </p:sp>
      <p:sp>
        <p:nvSpPr>
          <p:cNvPr id="2" name="Marcador de pie de página 4">
            <a:extLst>
              <a:ext uri="{FF2B5EF4-FFF2-40B4-BE49-F238E27FC236}">
                <a16:creationId xmlns:a16="http://schemas.microsoft.com/office/drawing/2014/main" id="{AD773399-285B-4F31-85EF-63AF59108677}"/>
              </a:ext>
            </a:extLst>
          </p:cNvPr>
          <p:cNvSpPr txBox="1">
            <a:spLocks/>
          </p:cNvSpPr>
          <p:nvPr/>
        </p:nvSpPr>
        <p:spPr>
          <a:xfrm>
            <a:off x="426000" y="6448250"/>
            <a:ext cx="10080000" cy="365125"/>
          </a:xfrm>
          <a:prstGeom prst="rect">
            <a:avLst/>
          </a:prstGeom>
        </p:spPr>
        <p:txBody>
          <a:bodyPr/>
          <a:lstStyle>
            <a:defPPr>
              <a:defRPr lang="es-C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_tradnl" sz="900">
                <a:solidFill>
                  <a:srgbClr val="949494"/>
                </a:solidFill>
              </a:rPr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3588096385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576B189-0BD9-44CC-96BD-54F19E45EC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229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783AAAD2-B1DA-444E-9389-615F8839CDE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CO"/>
              <a:t>Empoderar – Confiamos en el talento</a:t>
            </a:r>
          </a:p>
          <a:p>
            <a:endParaRPr lang="es-CO"/>
          </a:p>
          <a:p>
            <a:endParaRPr lang="es-CO"/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F61C5103-DABC-4F6B-80B2-336A354900E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1803040"/>
          <a:ext cx="11087101" cy="884407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2784311526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19583486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174658461"/>
                    </a:ext>
                  </a:extLst>
                </a:gridCol>
              </a:tblGrid>
              <a:tr h="43617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Jefe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Coordinador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Asigna responsabilidades y los recursos necesarios para realizarlas, demostrando confianza en la habilidad de su equipo para llevarlas a cabo, con un nivel adecuado de desempeño.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213279"/>
                  </a:ext>
                </a:extLst>
              </a:tr>
              <a:tr h="224114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Confía en el criterio de la gente y en que saben lo que están haciendo.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47918"/>
                  </a:ext>
                </a:extLst>
              </a:tr>
              <a:tr h="224114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Cree, y lo manifiesta abiertamente, en el potencial, la voluntad y la posibilidad de que las personas aprendan y mejoren su desempeño.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74718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869F9585-CE65-48C9-A96C-C2F5C30E38F5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2813815"/>
          <a:ext cx="11087101" cy="884407"/>
        </p:xfrm>
        <a:graphic>
          <a:graphicData uri="http://schemas.openxmlformats.org/drawingml/2006/table">
            <a:tbl>
              <a:tblPr firstCol="1" bandRow="1">
                <a:tableStyleId>{D27102A9-8310-4765-A935-A1911B00CA55}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3838579983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326045767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3256193443"/>
                    </a:ext>
                  </a:extLst>
                </a:gridCol>
              </a:tblGrid>
              <a:tr h="22411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Gerente</a:t>
                      </a:r>
                      <a:b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Director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Valora las capacidades de las personas a su cargo, delegando autoridad y responsabilidades, para que éstas se desarrollen.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76791"/>
                  </a:ext>
                </a:extLst>
              </a:tr>
              <a:tr h="436179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Delega de manera oportuna y objetiva las actividades, teniendo en cuenta las fortalezas y oportunidades de mejora de las personas; generando conocimiento y oportunidades de crecimiento integral.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07764"/>
                  </a:ext>
                </a:extLst>
              </a:tr>
              <a:tr h="224114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Impulsa, define e implementa proyectos o retos adicionales al cargo, para generar aprendizaje y desarrollo de su personal.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145713"/>
                  </a:ext>
                </a:extLst>
              </a:tr>
            </a:tbl>
          </a:graphicData>
        </a:graphic>
      </p:graphicFrame>
      <p:graphicFrame>
        <p:nvGraphicFramePr>
          <p:cNvPr id="12" name="Tabla 11">
            <a:extLst>
              <a:ext uri="{FF2B5EF4-FFF2-40B4-BE49-F238E27FC236}">
                <a16:creationId xmlns:a16="http://schemas.microsoft.com/office/drawing/2014/main" id="{36A03CC6-CC33-4FB6-BCB4-447D927C18A7}"/>
              </a:ext>
            </a:extLst>
          </p:cNvPr>
          <p:cNvGraphicFramePr>
            <a:graphicFrameLocks noGrp="1"/>
          </p:cNvGraphicFramePr>
          <p:nvPr/>
        </p:nvGraphicFramePr>
        <p:xfrm>
          <a:off x="552449" y="3871668"/>
          <a:ext cx="11087101" cy="699135"/>
        </p:xfrm>
        <a:graphic>
          <a:graphicData uri="http://schemas.openxmlformats.org/drawingml/2006/table">
            <a:tbl>
              <a:tblPr firstCol="1" bandRow="1">
                <a:tableStyleId>{9D7B26C5-4107-4FEC-AEDC-1716B250A1EF}</a:tableStyleId>
              </a:tblPr>
              <a:tblGrid>
                <a:gridCol w="830778">
                  <a:extLst>
                    <a:ext uri="{9D8B030D-6E8A-4147-A177-3AD203B41FA5}">
                      <a16:colId xmlns:a16="http://schemas.microsoft.com/office/drawing/2014/main" val="1028507415"/>
                    </a:ext>
                  </a:extLst>
                </a:gridCol>
                <a:gridCol w="830777">
                  <a:extLst>
                    <a:ext uri="{9D8B030D-6E8A-4147-A177-3AD203B41FA5}">
                      <a16:colId xmlns:a16="http://schemas.microsoft.com/office/drawing/2014/main" val="2293106419"/>
                    </a:ext>
                  </a:extLst>
                </a:gridCol>
                <a:gridCol w="9425546">
                  <a:extLst>
                    <a:ext uri="{9D8B030D-6E8A-4147-A177-3AD203B41FA5}">
                      <a16:colId xmlns:a16="http://schemas.microsoft.com/office/drawing/2014/main" val="591688082"/>
                    </a:ext>
                  </a:extLst>
                </a:gridCol>
              </a:tblGrid>
              <a:tr h="23304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Nivel </a:t>
                      </a:r>
                      <a:b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es-CO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endParaRPr lang="es-CO" sz="1100" b="0" i="0" u="none" strike="noStrike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s-CO" sz="1100" u="none" strike="noStrike">
                          <a:solidFill>
                            <a:schemeClr val="accent1"/>
                          </a:solidFill>
                          <a:effectLst/>
                        </a:rPr>
                        <a:t>Alta Dirección</a:t>
                      </a:r>
                      <a:endParaRPr lang="es-CO" sz="1100" b="0" i="0" u="none" strike="noStrike">
                        <a:solidFill>
                          <a:schemeClr val="accent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Da la oportunidad de cometer errores y aprender de ellos en un ambiente de mejora continua.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525348"/>
                  </a:ext>
                </a:extLst>
              </a:tr>
              <a:tr h="233045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Acuerda y pone en marcha las consecuencias relacionadas con el desempeño.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499528"/>
                  </a:ext>
                </a:extLst>
              </a:tr>
              <a:tr h="233045"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CO" sz="1100" b="0" i="0" u="none" strike="noStrike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Orienta al equipo hacia la excelencia y los motiva a resultados ambiciosos.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469662"/>
                  </a:ext>
                </a:extLst>
              </a:tr>
            </a:tbl>
          </a:graphicData>
        </a:graphic>
      </p:graphicFrame>
      <p:sp>
        <p:nvSpPr>
          <p:cNvPr id="9" name="Marcador de pie de página 4">
            <a:extLst>
              <a:ext uri="{FF2B5EF4-FFF2-40B4-BE49-F238E27FC236}">
                <a16:creationId xmlns:a16="http://schemas.microsoft.com/office/drawing/2014/main" id="{DFA7E06D-7F72-4681-AFA7-A32F347B34EA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677019809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4C61CD3-BCA6-46D2-AE1E-E22A1F310BE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s-ES"/>
              <a:t>Metodología de Valoración de Competencias – Metodología 360°</a:t>
            </a:r>
            <a:endParaRPr lang="es-CO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45CE3E12-BFFA-4A13-94EC-DBD18924C8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8FD53B-C5CD-D448-BDB2-D08197FF28F2}" type="slidenum">
              <a:rPr lang="es-ES_tradnl" smtClean="0"/>
              <a:pPr/>
              <a:t>230</a:t>
            </a:fld>
            <a:endParaRPr lang="es-ES_tradnl"/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6D9264A5-8657-4DBC-BC52-0EE13127005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s-ES"/>
              <a:t>El proceso de valoración de competencias esta definido bajo una metodología 360º o enfoque multirreferencial que busca objetivar el proceso de valoración</a:t>
            </a: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9F371A80-5BCF-4BEA-A502-AF68BCE2FC31}"/>
              </a:ext>
            </a:extLst>
          </p:cNvPr>
          <p:cNvSpPr/>
          <p:nvPr/>
        </p:nvSpPr>
        <p:spPr>
          <a:xfrm>
            <a:off x="2035080" y="2313695"/>
            <a:ext cx="2995197" cy="2995197"/>
          </a:xfrm>
          <a:prstGeom prst="ellipse">
            <a:avLst/>
          </a:prstGeom>
          <a:solidFill>
            <a:srgbClr val="D9D9D9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913DA6ED-F60C-4F4F-B331-2F3BC5B359B9}"/>
              </a:ext>
            </a:extLst>
          </p:cNvPr>
          <p:cNvSpPr/>
          <p:nvPr/>
        </p:nvSpPr>
        <p:spPr>
          <a:xfrm>
            <a:off x="2250084" y="2528699"/>
            <a:ext cx="2565190" cy="2565190"/>
          </a:xfrm>
          <a:prstGeom prst="ellipse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9938" name="Picture 2" descr="Avatar Icon Outline - Icon Shop - Download free icons for commercial use">
            <a:extLst>
              <a:ext uri="{FF2B5EF4-FFF2-40B4-BE49-F238E27FC236}">
                <a16:creationId xmlns:a16="http://schemas.microsoft.com/office/drawing/2014/main" id="{36355913-3345-4DDA-A8B1-FF4676A14A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4812" y="3453145"/>
            <a:ext cx="700700" cy="700700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12" name="Picture 2" descr="Avatar Icon Outline - Icon Shop - Download free icons for commercial use">
            <a:extLst>
              <a:ext uri="{FF2B5EF4-FFF2-40B4-BE49-F238E27FC236}">
                <a16:creationId xmlns:a16="http://schemas.microsoft.com/office/drawing/2014/main" id="{A732B69D-65BC-4FC5-84BC-9688CE407F9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03" r="9743"/>
          <a:stretch/>
        </p:blipFill>
        <p:spPr bwMode="auto">
          <a:xfrm>
            <a:off x="3254659" y="1991489"/>
            <a:ext cx="556039" cy="699821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15" name="Picture 2" descr="Avatar Icon Outline - Icon Shop - Download free icons for commercial use">
            <a:extLst>
              <a:ext uri="{FF2B5EF4-FFF2-40B4-BE49-F238E27FC236}">
                <a16:creationId xmlns:a16="http://schemas.microsoft.com/office/drawing/2014/main" id="{D664139B-6D3D-4DFE-8EED-750B5FB527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5272" y="3460743"/>
            <a:ext cx="699821" cy="699821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39942" name="Picture 6" descr="Group Icon Outline - Icon Shop - Download free icons for commercial use">
            <a:extLst>
              <a:ext uri="{FF2B5EF4-FFF2-40B4-BE49-F238E27FC236}">
                <a16:creationId xmlns:a16="http://schemas.microsoft.com/office/drawing/2014/main" id="{3DB9D9FC-2440-49B9-8AC4-8BCF22C7084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3107878" y="4852924"/>
            <a:ext cx="849599" cy="849599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9" name="Rectángulo 8">
            <a:extLst>
              <a:ext uri="{FF2B5EF4-FFF2-40B4-BE49-F238E27FC236}">
                <a16:creationId xmlns:a16="http://schemas.microsoft.com/office/drawing/2014/main" id="{D43CEF90-F013-4C4B-82F2-159F64A407DC}"/>
              </a:ext>
            </a:extLst>
          </p:cNvPr>
          <p:cNvSpPr/>
          <p:nvPr/>
        </p:nvSpPr>
        <p:spPr>
          <a:xfrm>
            <a:off x="1901769" y="3358221"/>
            <a:ext cx="904865" cy="9048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19BF03DA-ACC7-4E53-8BFD-B7ACEB224E8D}"/>
              </a:ext>
            </a:extLst>
          </p:cNvPr>
          <p:cNvSpPr txBox="1"/>
          <p:nvPr/>
        </p:nvSpPr>
        <p:spPr>
          <a:xfrm>
            <a:off x="3247571" y="1674149"/>
            <a:ext cx="55603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400" b="1">
                <a:solidFill>
                  <a:srgbClr val="0810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Jefe</a:t>
            </a:r>
          </a:p>
        </p:txBody>
      </p:sp>
      <p:sp>
        <p:nvSpPr>
          <p:cNvPr id="18" name="CuadroTexto 17">
            <a:extLst>
              <a:ext uri="{FF2B5EF4-FFF2-40B4-BE49-F238E27FC236}">
                <a16:creationId xmlns:a16="http://schemas.microsoft.com/office/drawing/2014/main" id="{8E1A6710-9D1D-4744-B667-73A53C815A03}"/>
              </a:ext>
            </a:extLst>
          </p:cNvPr>
          <p:cNvSpPr txBox="1"/>
          <p:nvPr/>
        </p:nvSpPr>
        <p:spPr>
          <a:xfrm>
            <a:off x="2772990" y="5702523"/>
            <a:ext cx="1505200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400" b="1">
                <a:solidFill>
                  <a:srgbClr val="7E81B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Colaboradores</a:t>
            </a:r>
          </a:p>
        </p:txBody>
      </p:sp>
      <p:sp>
        <p:nvSpPr>
          <p:cNvPr id="19" name="CuadroTexto 18">
            <a:extLst>
              <a:ext uri="{FF2B5EF4-FFF2-40B4-BE49-F238E27FC236}">
                <a16:creationId xmlns:a16="http://schemas.microsoft.com/office/drawing/2014/main" id="{8F5A9D1C-AD79-4472-913C-1C6957CBBFB6}"/>
              </a:ext>
            </a:extLst>
          </p:cNvPr>
          <p:cNvSpPr txBox="1"/>
          <p:nvPr/>
        </p:nvSpPr>
        <p:spPr>
          <a:xfrm>
            <a:off x="5122166" y="3665758"/>
            <a:ext cx="81280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400" b="1">
                <a:solidFill>
                  <a:srgbClr val="4147B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Pares</a:t>
            </a: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14238FA8-CFA8-4CBF-A485-22ECD03105AE}"/>
              </a:ext>
            </a:extLst>
          </p:cNvPr>
          <p:cNvSpPr txBox="1"/>
          <p:nvPr/>
        </p:nvSpPr>
        <p:spPr>
          <a:xfrm>
            <a:off x="947791" y="3531374"/>
            <a:ext cx="934522" cy="4819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400" b="1">
                <a:solidFill>
                  <a:srgbClr val="04047B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Clientes Internos</a:t>
            </a:r>
          </a:p>
        </p:txBody>
      </p:sp>
      <p:pic>
        <p:nvPicPr>
          <p:cNvPr id="21" name="Picture 2" descr="Avatar Icon Outline - Icon Shop - Download free icons for commercial use">
            <a:extLst>
              <a:ext uri="{FF2B5EF4-FFF2-40B4-BE49-F238E27FC236}">
                <a16:creationId xmlns:a16="http://schemas.microsoft.com/office/drawing/2014/main" id="{C2918227-2CD7-4A6E-A090-9A5C9281D0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82768" y="3349877"/>
            <a:ext cx="699821" cy="699821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3" name="Flecha: a la derecha 12">
            <a:extLst>
              <a:ext uri="{FF2B5EF4-FFF2-40B4-BE49-F238E27FC236}">
                <a16:creationId xmlns:a16="http://schemas.microsoft.com/office/drawing/2014/main" id="{1C00265A-871F-4268-BDD2-35577E9BCA83}"/>
              </a:ext>
            </a:extLst>
          </p:cNvPr>
          <p:cNvSpPr/>
          <p:nvPr/>
        </p:nvSpPr>
        <p:spPr>
          <a:xfrm>
            <a:off x="2505050" y="3574448"/>
            <a:ext cx="421188" cy="485987"/>
          </a:xfrm>
          <a:prstGeom prst="rightArrow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Flecha: a la derecha 24">
            <a:extLst>
              <a:ext uri="{FF2B5EF4-FFF2-40B4-BE49-F238E27FC236}">
                <a16:creationId xmlns:a16="http://schemas.microsoft.com/office/drawing/2014/main" id="{0D80D016-1E74-4784-A3DC-34D3D85C389C}"/>
              </a:ext>
            </a:extLst>
          </p:cNvPr>
          <p:cNvSpPr/>
          <p:nvPr/>
        </p:nvSpPr>
        <p:spPr>
          <a:xfrm rot="10800000">
            <a:off x="4164084" y="3574448"/>
            <a:ext cx="421188" cy="485987"/>
          </a:xfrm>
          <a:prstGeom prst="rightArrow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Flecha: a la derecha 25">
            <a:extLst>
              <a:ext uri="{FF2B5EF4-FFF2-40B4-BE49-F238E27FC236}">
                <a16:creationId xmlns:a16="http://schemas.microsoft.com/office/drawing/2014/main" id="{ECFD2E07-AB2A-42F6-B004-429EE4611495}"/>
              </a:ext>
            </a:extLst>
          </p:cNvPr>
          <p:cNvSpPr/>
          <p:nvPr/>
        </p:nvSpPr>
        <p:spPr>
          <a:xfrm rot="5400000">
            <a:off x="3322084" y="2762223"/>
            <a:ext cx="421188" cy="485987"/>
          </a:xfrm>
          <a:prstGeom prst="rightArrow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Flecha: a la derecha 26">
            <a:extLst>
              <a:ext uri="{FF2B5EF4-FFF2-40B4-BE49-F238E27FC236}">
                <a16:creationId xmlns:a16="http://schemas.microsoft.com/office/drawing/2014/main" id="{E8B32D3A-20F2-4F43-9856-1D40FE8D2A04}"/>
              </a:ext>
            </a:extLst>
          </p:cNvPr>
          <p:cNvSpPr/>
          <p:nvPr/>
        </p:nvSpPr>
        <p:spPr>
          <a:xfrm rot="16200000">
            <a:off x="3322084" y="4388021"/>
            <a:ext cx="421188" cy="485987"/>
          </a:xfrm>
          <a:prstGeom prst="rightArrow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4625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s-CO" sz="1200" err="1">
              <a:solidFill>
                <a:schemeClr val="bg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C32729FB-5F30-40E9-B653-35FCB33A5196}"/>
              </a:ext>
            </a:extLst>
          </p:cNvPr>
          <p:cNvSpPr txBox="1"/>
          <p:nvPr/>
        </p:nvSpPr>
        <p:spPr>
          <a:xfrm>
            <a:off x="2759203" y="4094122"/>
            <a:ext cx="1615475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2"/>
              </a:buClr>
            </a:pPr>
            <a:r>
              <a:rPr lang="es-CO" sz="1400" b="1">
                <a:latin typeface="Arial" panose="020B0604020202020204" pitchFamily="34" charset="0"/>
                <a:cs typeface="Arial" panose="020B0604020202020204" pitchFamily="34" charset="0"/>
              </a:rPr>
              <a:t>Autoevaluación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C0E00941-25BD-429C-B2B5-CB0A30887C5F}"/>
              </a:ext>
            </a:extLst>
          </p:cNvPr>
          <p:cNvSpPr/>
          <p:nvPr/>
        </p:nvSpPr>
        <p:spPr>
          <a:xfrm>
            <a:off x="6711521" y="2994080"/>
            <a:ext cx="4602067" cy="1002378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71463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6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Proceso que mide el nivel de desarrollo y ajuste al modelo definido por BCF-CV; todo en el marco de mejoramiento continuo en términos comportamentales.</a:t>
            </a:r>
          </a:p>
        </p:txBody>
      </p:sp>
      <p:sp>
        <p:nvSpPr>
          <p:cNvPr id="32" name="Rectángulo 31">
            <a:extLst>
              <a:ext uri="{FF2B5EF4-FFF2-40B4-BE49-F238E27FC236}">
                <a16:creationId xmlns:a16="http://schemas.microsoft.com/office/drawing/2014/main" id="{B9993DA8-D549-44B9-8236-F67420156B92}"/>
              </a:ext>
            </a:extLst>
          </p:cNvPr>
          <p:cNvSpPr/>
          <p:nvPr/>
        </p:nvSpPr>
        <p:spPr>
          <a:xfrm>
            <a:off x="6711521" y="4251132"/>
            <a:ext cx="4602067" cy="631492"/>
          </a:xfrm>
          <a:prstGeom prst="rect">
            <a:avLst/>
          </a:prstGeom>
          <a:solidFill>
            <a:schemeClr val="accent4"/>
          </a:solidFill>
          <a:ln>
            <a:solidFill>
              <a:schemeClr val="accent1"/>
            </a:solidFill>
          </a:ln>
        </p:spPr>
        <p:txBody>
    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71463" indent="-174625" algn="l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es-ES" sz="16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Metodología 360º o enfoque multirreferencial que busca objetivar el proceso de valoración</a:t>
            </a:r>
          </a:p>
        </p:txBody>
      </p:sp>
      <p:sp>
        <p:nvSpPr>
          <p:cNvPr id="28" name="Marcador de pie de página 4">
            <a:extLst>
              <a:ext uri="{FF2B5EF4-FFF2-40B4-BE49-F238E27FC236}">
                <a16:creationId xmlns:a16="http://schemas.microsoft.com/office/drawing/2014/main" id="{8B385044-1746-E140-87C6-8449A3D925A3}"/>
              </a:ext>
            </a:extLst>
          </p:cNvPr>
          <p:cNvSpPr>
            <a:spLocks noGrp="1"/>
          </p:cNvSpPr>
          <p:nvPr>
            <p:ph type="ftr" sz="quarter" idx="28"/>
          </p:nvPr>
        </p:nvSpPr>
        <p:spPr>
          <a:xfrm>
            <a:off x="426000" y="6448250"/>
            <a:ext cx="10080000" cy="365125"/>
          </a:xfrm>
        </p:spPr>
        <p:txBody>
          <a:bodyPr/>
          <a:lstStyle/>
          <a:p>
            <a:r>
              <a:rPr lang="es-ES_tradnl"/>
              <a:t>Fuente: Análisis Talent Advisor</a:t>
            </a:r>
          </a:p>
        </p:txBody>
      </p:sp>
    </p:spTree>
    <p:extLst>
      <p:ext uri="{BB962C8B-B14F-4D97-AF65-F5344CB8AC3E}">
        <p14:creationId xmlns:p14="http://schemas.microsoft.com/office/powerpoint/2010/main" val="3600034207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D1322642-0529-45E5-BD22-9816D34ADA4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75248" y="329055"/>
            <a:ext cx="1867078" cy="622359"/>
          </a:xfrm>
          <a:prstGeom prst="rect">
            <a:avLst/>
          </a:prstGeom>
        </p:spPr>
      </p:pic>
      <p:pic>
        <p:nvPicPr>
          <p:cNvPr id="6" name="Imagen 5">
            <a:extLst>
              <a:ext uri="{FF2B5EF4-FFF2-40B4-BE49-F238E27FC236}">
                <a16:creationId xmlns:a16="http://schemas.microsoft.com/office/drawing/2014/main" id="{0F413F4C-F3BF-44AA-983A-A29BA0BF85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0999" y="396920"/>
            <a:ext cx="3826221" cy="486626"/>
          </a:xfrm>
          <a:prstGeom prst="rect">
            <a:avLst/>
          </a:prstGeom>
        </p:spPr>
      </p:pic>
      <p:pic>
        <p:nvPicPr>
          <p:cNvPr id="8" name="Picture 2" descr="Talent Advisor">
            <a:extLst>
              <a:ext uri="{FF2B5EF4-FFF2-40B4-BE49-F238E27FC236}">
                <a16:creationId xmlns:a16="http://schemas.microsoft.com/office/drawing/2014/main" id="{055892EF-2984-4429-815F-2DBB8531AD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428" y="883546"/>
            <a:ext cx="1466350" cy="47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80514166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02232326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TCXY.rLqWy4WDEL9TfPw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Tema de Office">
  <a:themeElements>
    <a:clrScheme name="Oval">
      <a:dk1>
        <a:srgbClr val="4D4D4D"/>
      </a:dk1>
      <a:lt1>
        <a:srgbClr val="FFFFFF"/>
      </a:lt1>
      <a:dk2>
        <a:srgbClr val="787878"/>
      </a:dk2>
      <a:lt2>
        <a:srgbClr val="F0F0F0"/>
      </a:lt2>
      <a:accent1>
        <a:srgbClr val="070D93"/>
      </a:accent1>
      <a:accent2>
        <a:srgbClr val="333BF5"/>
      </a:accent2>
      <a:accent3>
        <a:srgbClr val="777DF9"/>
      </a:accent3>
      <a:accent4>
        <a:srgbClr val="BBBEFC"/>
      </a:accent4>
      <a:accent5>
        <a:srgbClr val="FFCB27"/>
      </a:accent5>
      <a:accent6>
        <a:srgbClr val="33F893"/>
      </a:accent6>
      <a:hlink>
        <a:srgbClr val="ACAED4"/>
      </a:hlink>
      <a:folHlink>
        <a:srgbClr val="494EAC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</a:spPr>
      <a:bodyPr rot="0" spcFirstLastPara="0" vertOverflow="overflow" horzOverflow="overflow" vert="horz" wrap="square" lIns="36000" tIns="45720" rIns="36000" bIns="45720" numCol="1" spcCol="0" rtlCol="0" fromWordArt="0" anchor="t" anchorCtr="0" forceAA="0" compatLnSpc="1">
        <a:prstTxWarp prst="textNoShape">
          <a:avLst/>
        </a:prstTxWarp>
        <a:noAutofit/>
      </a:bodyPr>
      <a:lstStyle>
        <a:defPPr marL="174625" indent="-174625" algn="l">
          <a:lnSpc>
            <a:spcPct val="90000"/>
          </a:lnSpc>
          <a:spcBef>
            <a:spcPts val="300"/>
          </a:spcBef>
          <a:spcAft>
            <a:spcPts val="300"/>
          </a:spcAft>
          <a:buClr>
            <a:schemeClr val="bg2"/>
          </a:buClr>
          <a:buFont typeface="Arial" panose="020B0604020202020204" pitchFamily="34" charset="0"/>
          <a:buChar char="•"/>
          <a:defRPr sz="1200" dirty="0" err="1" smtClean="0">
            <a:solidFill>
              <a:schemeClr val="bg2"/>
            </a:solidFill>
            <a:latin typeface="Arial" panose="020B0604020202020204" pitchFamily="34" charset="0"/>
            <a:cs typeface="Arial" panose="020B0604020202020204" pitchFamily="34" charset="0"/>
          </a:defRPr>
        </a:defPPr>
      </a:lstStyle>
    </a:spDef>
    <a:lnDef>
      <a:spPr>
        <a:ln w="12700">
          <a:solidFill>
            <a:schemeClr val="accent6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 marL="174625" indent="-174625" algn="l">
          <a:lnSpc>
            <a:spcPct val="90000"/>
          </a:lnSpc>
          <a:spcBef>
            <a:spcPts val="300"/>
          </a:spcBef>
          <a:spcAft>
            <a:spcPts val="300"/>
          </a:spcAft>
          <a:buClr>
            <a:schemeClr val="tx2"/>
          </a:buClr>
          <a:buFont typeface="Arial" panose="020B0604020202020204" pitchFamily="34" charset="0"/>
          <a:buChar char="•"/>
          <a:defRPr sz="1200" dirty="0" smtClean="0"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" id="{674B75B8-E2C4-4EC5-8CC1-D2DFE3C7E280}" vid="{37579D15-8938-4E00-A5AA-B0CD8C66D408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FC50B8FACEEE9E46B2EE9BC0A789E13F" ma:contentTypeVersion="5" ma:contentTypeDescription="Create a new document." ma:contentTypeScope="" ma:versionID="8d697419b7820347df0113e74858cbc7">
  <xsd:schema xmlns:xsd="http://www.w3.org/2001/XMLSchema" xmlns:xs="http://www.w3.org/2001/XMLSchema" xmlns:p="http://schemas.microsoft.com/office/2006/metadata/properties" xmlns:ns2="13c2a277-921e-4c25-a3ea-b2a362e6404d" targetNamespace="http://schemas.microsoft.com/office/2006/metadata/properties" ma:root="true" ma:fieldsID="bce53da689f4be9b1da78e089045fe05" ns2:_="">
    <xsd:import namespace="13c2a277-921e-4c25-a3ea-b2a362e6404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3c2a277-921e-4c25-a3ea-b2a362e6404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0F944755-B958-4688-A767-3C92249F9E46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3457CA98-E210-4EEF-9144-8D4DE8622BE7}">
  <ds:schemaRefs>
    <ds:schemaRef ds:uri="13c2a277-921e-4c25-a3ea-b2a362e6404d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B6CDF712-40FA-4E84-BBC5-1907F0712659}">
  <ds:schemaRefs>
    <ds:schemaRef ds:uri="13c2a277-921e-4c25-a3ea-b2a362e6404d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blank</Template>
  <TotalTime>0</TotalTime>
  <Words>49086</Words>
  <Application>Microsoft Office PowerPoint</Application>
  <PresentationFormat>Widescreen</PresentationFormat>
  <Paragraphs>8708</Paragraphs>
  <Slides>232</Slides>
  <Notes>25</Notes>
  <HiddenSlides>1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232</vt:i4>
      </vt:variant>
    </vt:vector>
  </HeadingPairs>
  <TitlesOfParts>
    <vt:vector size="233" baseType="lpstr">
      <vt:lpstr>Tema de Office</vt:lpstr>
      <vt:lpstr>Revisión del modelo organizacional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Las competencias son el conjunto de atributos de una persona (motivaciones, actitudes, conocimientos, habilidades), que se pueden observar a través de comportamientos medibles, y que diferencian de una manera sustancial a trabajadores con un desempeño excelente de los trabajadores con desempeño normal</vt:lpstr>
      <vt:lpstr>PowerPoint Presentation</vt:lpstr>
      <vt:lpstr>PowerPoint Presentation</vt:lpstr>
      <vt:lpstr>PowerPoint Presentation</vt:lpstr>
      <vt:lpstr>Orientación a resultados - Hacemos que las cosas pasen </vt:lpstr>
      <vt:lpstr>PowerPoint Presentation</vt:lpstr>
      <vt:lpstr>Orientación Al Servicio - Garantizamos la mejor experiencia</vt:lpstr>
      <vt:lpstr>PowerPoint Presentation</vt:lpstr>
      <vt:lpstr>Trabajo Colaborativo - Llegamos todos a la meta </vt:lpstr>
      <vt:lpstr>PowerPoint Presentation</vt:lpstr>
      <vt:lpstr>PowerPoint Presentation</vt:lpstr>
      <vt:lpstr>Visión Estratégica - Nos anticipamos    </vt:lpstr>
      <vt:lpstr>PowerPoint Presentation</vt:lpstr>
      <vt:lpstr>Inspirar a Otros - Lideramos con el ejemplo </vt:lpstr>
      <vt:lpstr>PowerPoint Presentation</vt:lpstr>
      <vt:lpstr>Empoderar - Confiamos en el talento 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Gianfranco Vietto</dc:creator>
  <cp:lastModifiedBy>Andrea Caycedo</cp:lastModifiedBy>
  <cp:revision>2</cp:revision>
  <dcterms:created xsi:type="dcterms:W3CDTF">2020-09-22T23:38:12Z</dcterms:created>
  <dcterms:modified xsi:type="dcterms:W3CDTF">2025-11-05T12:23:30Z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0x010100FC50B8FACEEE9E46B2EE9BC0A789E13F</vt:lpwstr>
  </property>
</Properties>
</file>